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6" r:id="rId51"/>
    <p:sldId id="307" r:id="rId52"/>
    <p:sldId id="308" r:id="rId53"/>
    <p:sldId id="309" r:id="rId54"/>
    <p:sldId id="310" r:id="rId55"/>
    <p:sldId id="311" r:id="rId56"/>
    <p:sldId id="312" r:id="rId57"/>
    <p:sldId id="313" r:id="rId58"/>
  </p:sldIdLst>
  <p:sldSz cx="14630400" cy="8229600"/>
  <p:notesSz cx="8229600" cy="14630400"/>
  <p:embeddedFontLst>
    <p:embeddedFont>
      <p:font typeface="Cambria Math" panose="02040503050406030204" pitchFamily="18" charset="0"/>
      <p:regular r:id="rId60"/>
    </p:embeddedFont>
    <p:embeddedFont>
      <p:font typeface="Consolas" panose="020B0609020204030204" pitchFamily="49" charset="0"/>
      <p:regular r:id="rId61"/>
      <p:bold r:id="rId62"/>
      <p:italic r:id="rId63"/>
      <p:boldItalic r:id="rId64"/>
    </p:embeddedFont>
    <p:embeddedFont>
      <p:font typeface="Geist" pitchFamily="2" charset="0"/>
      <p:regular r:id="rId65"/>
      <p:bold r:id="rId66"/>
    </p:embeddedFont>
    <p:embeddedFont>
      <p:font typeface="Noto Serif SC Bold" panose="02020200000000000000" pitchFamily="18" charset="-128"/>
      <p:bold r:id="rId67"/>
    </p:embeddedFont>
    <p:embeddedFont>
      <p:font typeface="Noto Serif SC Light" panose="02020200000000000000" pitchFamily="18" charset="-128"/>
      <p:regular r:id="rId6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8" d="100"/>
          <a:sy n="68" d="100"/>
        </p:scale>
        <p:origin x="64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4.fntdata"/><Relationship Id="rId68"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568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5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lide 5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lide 5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lide 5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lide 5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lide 5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lide 5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lide 5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lide 5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lide 6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9.xml"/><Relationship Id="rId6" Type="http://schemas.openxmlformats.org/officeDocument/2006/relationships/image" Target="../media/image23.sv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37.xml"/><Relationship Id="rId1" Type="http://schemas.openxmlformats.org/officeDocument/2006/relationships/slideLayout" Target="../slideLayouts/slideLayout38.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4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0.xml"/></Relationships>
</file>

<file path=ppt/slides/_rels/slide50.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52.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4.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53.xml"/><Relationship Id="rId1" Type="http://schemas.openxmlformats.org/officeDocument/2006/relationships/slideLayout" Target="../slideLayouts/slideLayout5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56.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5.xml"/><Relationship Id="rId1" Type="http://schemas.openxmlformats.org/officeDocument/2006/relationships/slideLayout" Target="../slideLayouts/slideLayout57.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6.xml"/><Relationship Id="rId1" Type="http://schemas.openxmlformats.org/officeDocument/2006/relationships/slideLayout" Target="../slideLayouts/slideLayout58.xml"/><Relationship Id="rId4" Type="http://schemas.openxmlformats.org/officeDocument/2006/relationships/image" Target="../media/image53.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59.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076222" y="2549578"/>
            <a:ext cx="8477955" cy="1240155"/>
          </a:xfrm>
          <a:prstGeom prst="rect">
            <a:avLst/>
          </a:prstGeom>
          <a:noFill/>
          <a:ln/>
        </p:spPr>
        <p:txBody>
          <a:bodyPr wrap="square" lIns="0" tIns="0" rIns="0" bIns="0" rtlCol="0" anchor="t"/>
          <a:lstStyle/>
          <a:p>
            <a:pPr marL="0" indent="0" algn="l">
              <a:lnSpc>
                <a:spcPts val="4850"/>
              </a:lnSpc>
              <a:buNone/>
            </a:pPr>
            <a:r>
              <a:rPr lang="en-US" sz="4400" b="1" dirty="0">
                <a:solidFill>
                  <a:srgbClr val="006747"/>
                </a:solidFill>
                <a:latin typeface="Noto Serif SC Bold" pitchFamily="34" charset="0"/>
                <a:ea typeface="Noto Serif SC Bold" pitchFamily="34" charset="-122"/>
                <a:cs typeface="Noto Serif SC Bold" pitchFamily="34" charset="-120"/>
              </a:rPr>
              <a:t>ĐA NHIỆM VÀ DỮ LIỆU JSON</a:t>
            </a:r>
            <a:endParaRPr lang="en-US" sz="4400" dirty="0"/>
          </a:p>
        </p:txBody>
      </p:sp>
      <p:sp>
        <p:nvSpPr>
          <p:cNvPr id="4" name="Text 1"/>
          <p:cNvSpPr/>
          <p:nvPr/>
        </p:nvSpPr>
        <p:spPr>
          <a:xfrm>
            <a:off x="2185183" y="3872881"/>
            <a:ext cx="10260033" cy="483837"/>
          </a:xfrm>
          <a:prstGeom prst="rect">
            <a:avLst/>
          </a:prstGeom>
          <a:noFill/>
          <a:ln/>
        </p:spPr>
        <p:txBody>
          <a:bodyPr wrap="none" lIns="0" tIns="0" rIns="0" bIns="0" rtlCol="0" anchor="t"/>
          <a:lstStyle/>
          <a:p>
            <a:pPr marL="0" indent="0" algn="l">
              <a:lnSpc>
                <a:spcPts val="2500"/>
              </a:lnSpc>
              <a:buNone/>
            </a:pPr>
            <a:r>
              <a:rPr lang="en-US" sz="2800" dirty="0">
                <a:solidFill>
                  <a:srgbClr val="4B4A4A"/>
                </a:solidFill>
                <a:latin typeface="Geist" pitchFamily="34" charset="0"/>
                <a:ea typeface="Geist" pitchFamily="34" charset="-122"/>
                <a:cs typeface="Geist" pitchFamily="34" charset="-120"/>
              </a:rPr>
              <a:t>Khám phá kỹ thuật lập trình không chặn và chuẩn hóa dữ liệu</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12091"/>
            <a:ext cx="3517583" cy="310158"/>
          </a:xfrm>
          <a:prstGeom prst="rect">
            <a:avLst/>
          </a:prstGeom>
          <a:noFill/>
          <a:ln/>
        </p:spPr>
        <p:txBody>
          <a:bodyPr wrap="none" lIns="0" tIns="0" rIns="0" bIns="0" rtlCol="0" anchor="t"/>
          <a:lstStyle/>
          <a:p>
            <a:pPr marL="0" indent="0" algn="l">
              <a:lnSpc>
                <a:spcPts val="2400"/>
              </a:lnSpc>
              <a:buNone/>
            </a:pPr>
            <a:r>
              <a:rPr lang="en-US" sz="2500" b="1" dirty="0" err="1">
                <a:solidFill>
                  <a:srgbClr val="006747"/>
                </a:solidFill>
                <a:latin typeface="Noto Serif SC Bold" pitchFamily="34" charset="0"/>
                <a:ea typeface="Noto Serif SC Bold" pitchFamily="34" charset="-122"/>
                <a:cs typeface="Noto Serif SC Bold" pitchFamily="34" charset="-120"/>
              </a:rPr>
              <a:t>Mục</a:t>
            </a:r>
            <a:r>
              <a:rPr lang="en-US" sz="2500" b="1" dirty="0">
                <a:solidFill>
                  <a:srgbClr val="006747"/>
                </a:solidFill>
                <a:latin typeface="Noto Serif SC Bold" pitchFamily="34" charset="0"/>
                <a:ea typeface="Noto Serif SC Bold" pitchFamily="34" charset="-122"/>
                <a:cs typeface="Noto Serif SC Bold" pitchFamily="34" charset="-120"/>
              </a:rPr>
              <a:t> </a:t>
            </a:r>
            <a:r>
              <a:rPr lang="en-US" sz="2500" b="1" dirty="0" err="1">
                <a:solidFill>
                  <a:srgbClr val="006747"/>
                </a:solidFill>
                <a:latin typeface="Noto Serif SC Bold" pitchFamily="34" charset="0"/>
                <a:ea typeface="Noto Serif SC Bold" pitchFamily="34" charset="-122"/>
                <a:cs typeface="Noto Serif SC Bold" pitchFamily="34" charset="-120"/>
              </a:rPr>
              <a:t>tiêu</a:t>
            </a:r>
            <a:endParaRPr lang="en-US" sz="2500" dirty="0"/>
          </a:p>
        </p:txBody>
      </p:sp>
      <p:sp>
        <p:nvSpPr>
          <p:cNvPr id="3" name="Text 1"/>
          <p:cNvSpPr/>
          <p:nvPr/>
        </p:nvSpPr>
        <p:spPr>
          <a:xfrm>
            <a:off x="793790" y="2696766"/>
            <a:ext cx="198358" cy="248007"/>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Noto Serif SC Light" pitchFamily="34" charset="0"/>
                <a:ea typeface="Noto Serif SC Light" pitchFamily="34" charset="-122"/>
                <a:cs typeface="Noto Serif SC Light" pitchFamily="34" charset="-120"/>
              </a:rPr>
              <a:t>01</a:t>
            </a:r>
            <a:endParaRPr lang="en-US" dirty="0"/>
          </a:p>
        </p:txBody>
      </p:sp>
      <p:sp>
        <p:nvSpPr>
          <p:cNvPr id="4" name="Shape 2"/>
          <p:cNvSpPr/>
          <p:nvPr/>
        </p:nvSpPr>
        <p:spPr>
          <a:xfrm>
            <a:off x="793790" y="3011091"/>
            <a:ext cx="6422231" cy="22860"/>
          </a:xfrm>
          <a:prstGeom prst="rect">
            <a:avLst/>
          </a:prstGeom>
          <a:solidFill>
            <a:srgbClr val="006747"/>
          </a:solidFill>
          <a:ln/>
        </p:spPr>
      </p:sp>
      <p:sp>
        <p:nvSpPr>
          <p:cNvPr id="5" name="Text 3"/>
          <p:cNvSpPr/>
          <p:nvPr/>
        </p:nvSpPr>
        <p:spPr>
          <a:xfrm>
            <a:off x="793790" y="3155990"/>
            <a:ext cx="2943344"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Hiểu vấn đề của delay()</a:t>
            </a:r>
            <a:endParaRPr lang="en-US" dirty="0"/>
          </a:p>
        </p:txBody>
      </p:sp>
      <p:sp>
        <p:nvSpPr>
          <p:cNvPr id="6" name="Text 4"/>
          <p:cNvSpPr/>
          <p:nvPr/>
        </p:nvSpPr>
        <p:spPr>
          <a:xfrm>
            <a:off x="793790" y="3585210"/>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Tại sao lệnh delay() lại nguy hiểm trong hệ thống thực tế và cách nó làm "tê liệt" vi xử lý</a:t>
            </a:r>
            <a:endParaRPr lang="en-US" dirty="0"/>
          </a:p>
        </p:txBody>
      </p:sp>
      <p:sp>
        <p:nvSpPr>
          <p:cNvPr id="7" name="Text 5"/>
          <p:cNvSpPr/>
          <p:nvPr/>
        </p:nvSpPr>
        <p:spPr>
          <a:xfrm>
            <a:off x="7414379" y="2696766"/>
            <a:ext cx="198358" cy="248007"/>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Noto Serif SC Light" pitchFamily="34" charset="0"/>
                <a:ea typeface="Noto Serif SC Light" pitchFamily="34" charset="-122"/>
                <a:cs typeface="Noto Serif SC Light" pitchFamily="34" charset="-120"/>
              </a:rPr>
              <a:t>02</a:t>
            </a:r>
            <a:endParaRPr lang="en-US" dirty="0"/>
          </a:p>
        </p:txBody>
      </p:sp>
      <p:sp>
        <p:nvSpPr>
          <p:cNvPr id="8" name="Shape 6"/>
          <p:cNvSpPr/>
          <p:nvPr/>
        </p:nvSpPr>
        <p:spPr>
          <a:xfrm>
            <a:off x="7414379" y="3011091"/>
            <a:ext cx="6422231" cy="22860"/>
          </a:xfrm>
          <a:prstGeom prst="rect">
            <a:avLst/>
          </a:prstGeom>
          <a:solidFill>
            <a:srgbClr val="006747"/>
          </a:solidFill>
          <a:ln/>
        </p:spPr>
      </p:sp>
      <p:sp>
        <p:nvSpPr>
          <p:cNvPr id="9" name="Text 7"/>
          <p:cNvSpPr/>
          <p:nvPr/>
        </p:nvSpPr>
        <p:spPr>
          <a:xfrm>
            <a:off x="7414379" y="3155990"/>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Làm chủ millis()</a:t>
            </a:r>
            <a:endParaRPr lang="en-US" dirty="0"/>
          </a:p>
        </p:txBody>
      </p:sp>
      <p:sp>
        <p:nvSpPr>
          <p:cNvPr id="10" name="Text 8"/>
          <p:cNvSpPr/>
          <p:nvPr/>
        </p:nvSpPr>
        <p:spPr>
          <a:xfrm>
            <a:off x="7414379" y="3585210"/>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Kỹ thuật đa nhiệm sử dụng đồng hồ bấm giờ để xử lý nhiều công việc đồng thời</a:t>
            </a:r>
            <a:endParaRPr lang="en-US" dirty="0"/>
          </a:p>
        </p:txBody>
      </p:sp>
      <p:sp>
        <p:nvSpPr>
          <p:cNvPr id="11" name="Text 9"/>
          <p:cNvSpPr/>
          <p:nvPr/>
        </p:nvSpPr>
        <p:spPr>
          <a:xfrm>
            <a:off x="793790" y="4567476"/>
            <a:ext cx="198358" cy="248007"/>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Noto Serif SC Light" pitchFamily="34" charset="0"/>
                <a:ea typeface="Noto Serif SC Light" pitchFamily="34" charset="-122"/>
                <a:cs typeface="Noto Serif SC Light" pitchFamily="34" charset="-120"/>
              </a:rPr>
              <a:t>03</a:t>
            </a:r>
            <a:endParaRPr lang="en-US" dirty="0"/>
          </a:p>
        </p:txBody>
      </p:sp>
      <p:sp>
        <p:nvSpPr>
          <p:cNvPr id="12" name="Shape 10"/>
          <p:cNvSpPr/>
          <p:nvPr/>
        </p:nvSpPr>
        <p:spPr>
          <a:xfrm>
            <a:off x="793790" y="4881801"/>
            <a:ext cx="6422231" cy="22860"/>
          </a:xfrm>
          <a:prstGeom prst="rect">
            <a:avLst/>
          </a:prstGeom>
          <a:solidFill>
            <a:srgbClr val="006747"/>
          </a:solidFill>
          <a:ln/>
        </p:spPr>
      </p:sp>
      <p:sp>
        <p:nvSpPr>
          <p:cNvPr id="13" name="Text 11"/>
          <p:cNvSpPr/>
          <p:nvPr/>
        </p:nvSpPr>
        <p:spPr>
          <a:xfrm>
            <a:off x="793790" y="5026700"/>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Khám phá JSON</a:t>
            </a:r>
            <a:endParaRPr lang="en-US" dirty="0"/>
          </a:p>
        </p:txBody>
      </p:sp>
      <p:sp>
        <p:nvSpPr>
          <p:cNvPr id="14" name="Text 12"/>
          <p:cNvSpPr/>
          <p:nvPr/>
        </p:nvSpPr>
        <p:spPr>
          <a:xfrm>
            <a:off x="793790" y="5455920"/>
            <a:ext cx="642223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Cấu trúc dữ liệu chuẩn quốc tế để đóng gói thông tin cảm biến trước khi gửi lên mạng</a:t>
            </a:r>
            <a:endParaRPr lang="en-US" dirty="0"/>
          </a:p>
        </p:txBody>
      </p:sp>
      <p:sp>
        <p:nvSpPr>
          <p:cNvPr id="15" name="Text 13"/>
          <p:cNvSpPr/>
          <p:nvPr/>
        </p:nvSpPr>
        <p:spPr>
          <a:xfrm>
            <a:off x="7414379" y="4567476"/>
            <a:ext cx="198358" cy="248007"/>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Noto Serif SC Light" pitchFamily="34" charset="0"/>
                <a:ea typeface="Noto Serif SC Light" pitchFamily="34" charset="-122"/>
                <a:cs typeface="Noto Serif SC Light" pitchFamily="34" charset="-120"/>
              </a:rPr>
              <a:t>04</a:t>
            </a:r>
            <a:endParaRPr lang="en-US" dirty="0"/>
          </a:p>
        </p:txBody>
      </p:sp>
      <p:sp>
        <p:nvSpPr>
          <p:cNvPr id="16" name="Shape 14"/>
          <p:cNvSpPr/>
          <p:nvPr/>
        </p:nvSpPr>
        <p:spPr>
          <a:xfrm>
            <a:off x="7414379" y="4881801"/>
            <a:ext cx="6422231" cy="22860"/>
          </a:xfrm>
          <a:prstGeom prst="rect">
            <a:avLst/>
          </a:prstGeom>
          <a:solidFill>
            <a:srgbClr val="006747"/>
          </a:solidFill>
          <a:ln/>
        </p:spPr>
      </p:sp>
      <p:sp>
        <p:nvSpPr>
          <p:cNvPr id="17" name="Text 15"/>
          <p:cNvSpPr/>
          <p:nvPr/>
        </p:nvSpPr>
        <p:spPr>
          <a:xfrm>
            <a:off x="7414379" y="5026700"/>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Thực hành code</a:t>
            </a:r>
            <a:endParaRPr lang="en-US" dirty="0"/>
          </a:p>
        </p:txBody>
      </p:sp>
      <p:sp>
        <p:nvSpPr>
          <p:cNvPr id="18" name="Text 16"/>
          <p:cNvSpPr/>
          <p:nvPr/>
        </p:nvSpPr>
        <p:spPr>
          <a:xfrm>
            <a:off x="7414379" y="5455920"/>
            <a:ext cx="642223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Xây dựng hệ thống đa nhiệm thực tế với LED và cảm biến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538835" y="1612051"/>
            <a:ext cx="7552730"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PHẦN 1: VẤN ĐỀ CỦA DELAY()</a:t>
            </a:r>
            <a:endParaRPr lang="en-US" sz="3900" dirty="0"/>
          </a:p>
        </p:txBody>
      </p:sp>
      <p:sp>
        <p:nvSpPr>
          <p:cNvPr id="3" name="Text 1"/>
          <p:cNvSpPr/>
          <p:nvPr/>
        </p:nvSpPr>
        <p:spPr>
          <a:xfrm>
            <a:off x="1433036" y="3143242"/>
            <a:ext cx="11764328" cy="1240393"/>
          </a:xfrm>
          <a:prstGeom prst="rect">
            <a:avLst/>
          </a:prstGeom>
          <a:noFill/>
          <a:ln/>
        </p:spPr>
        <p:txBody>
          <a:bodyPr wrap="none" lIns="0" tIns="0" rIns="0" bIns="0" rtlCol="0" anchor="t"/>
          <a:lstStyle/>
          <a:p>
            <a:pPr marL="0" indent="0" algn="l">
              <a:lnSpc>
                <a:spcPts val="9750"/>
              </a:lnSpc>
              <a:buNone/>
            </a:pPr>
            <a:r>
              <a:rPr lang="en-US" sz="7800" b="1" dirty="0">
                <a:solidFill>
                  <a:srgbClr val="006747"/>
                </a:solidFill>
                <a:latin typeface="Noto Serif SC Bold" pitchFamily="34" charset="0"/>
                <a:ea typeface="Noto Serif SC Bold" pitchFamily="34" charset="-122"/>
                <a:cs typeface="Noto Serif SC Bold" pitchFamily="34" charset="-120"/>
              </a:rPr>
              <a:t>Tại sao phải bỏ delay()?</a:t>
            </a:r>
            <a:endParaRPr lang="en-US" sz="7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97042"/>
            <a:ext cx="4942284"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Kịch bản </a:t>
            </a:r>
            <a:r>
              <a:rPr lang="en-US" sz="3100" b="1" dirty="0" err="1">
                <a:solidFill>
                  <a:srgbClr val="006747"/>
                </a:solidFill>
                <a:latin typeface="Noto Serif SC Bold" pitchFamily="34" charset="0"/>
                <a:ea typeface="Noto Serif SC Bold" pitchFamily="34" charset="-122"/>
                <a:cs typeface="Noto Serif SC Bold" pitchFamily="34" charset="-120"/>
              </a:rPr>
              <a:t>thực</a:t>
            </a:r>
            <a:r>
              <a:rPr lang="en-US" sz="3100" b="1" dirty="0">
                <a:solidFill>
                  <a:srgbClr val="006747"/>
                </a:solidFill>
                <a:latin typeface="Noto Serif SC Bold" pitchFamily="34" charset="0"/>
                <a:ea typeface="Noto Serif SC Bold" pitchFamily="34" charset="-122"/>
                <a:cs typeface="Noto Serif SC Bold" pitchFamily="34" charset="-120"/>
              </a:rPr>
              <a:t> </a:t>
            </a:r>
            <a:r>
              <a:rPr lang="en-US" sz="3100" b="1" dirty="0" err="1">
                <a:solidFill>
                  <a:srgbClr val="006747"/>
                </a:solidFill>
                <a:latin typeface="Noto Serif SC Bold" pitchFamily="34" charset="0"/>
                <a:ea typeface="Noto Serif SC Bold" pitchFamily="34" charset="-122"/>
                <a:cs typeface="Noto Serif SC Bold" pitchFamily="34" charset="-120"/>
              </a:rPr>
              <a:t>tế</a:t>
            </a:r>
            <a:endParaRPr lang="en-US" sz="3100" dirty="0"/>
          </a:p>
        </p:txBody>
      </p:sp>
      <p:sp>
        <p:nvSpPr>
          <p:cNvPr id="3" name="Text 1"/>
          <p:cNvSpPr/>
          <p:nvPr/>
        </p:nvSpPr>
        <p:spPr>
          <a:xfrm>
            <a:off x="793790" y="2089190"/>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006747"/>
                </a:solidFill>
                <a:latin typeface="Noto Serif SC Bold" pitchFamily="34" charset="0"/>
                <a:ea typeface="Noto Serif SC Bold" pitchFamily="34" charset="-122"/>
                <a:cs typeface="Noto Serif SC Bold" pitchFamily="34" charset="-120"/>
              </a:rPr>
              <a:t>Yêu cầu hệ thống</a:t>
            </a:r>
            <a:endParaRPr lang="en-US" sz="2000" dirty="0"/>
          </a:p>
        </p:txBody>
      </p:sp>
      <p:sp>
        <p:nvSpPr>
          <p:cNvPr id="4" name="Text 2"/>
          <p:cNvSpPr/>
          <p:nvPr/>
        </p:nvSpPr>
        <p:spPr>
          <a:xfrm>
            <a:off x="793790" y="2597706"/>
            <a:ext cx="6279356"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Tưởng tượng các bạn đang xây dựng một hệ thống báo cháy thông minh cho gia đình. Hệ thống cần thực hiện đồng thời nhiều nhiệm vụ quan trọng:</a:t>
            </a:r>
            <a:endParaRPr lang="en-US" dirty="0"/>
          </a:p>
        </p:txBody>
      </p:sp>
      <p:sp>
        <p:nvSpPr>
          <p:cNvPr id="5" name="Text 3"/>
          <p:cNvSpPr/>
          <p:nvPr/>
        </p:nvSpPr>
        <p:spPr>
          <a:xfrm>
            <a:off x="793790" y="372891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Liên tục đọc nhiệt độ từ cảm biến DHT11</a:t>
            </a:r>
            <a:endParaRPr lang="en-US" dirty="0"/>
          </a:p>
        </p:txBody>
      </p:sp>
      <p:sp>
        <p:nvSpPr>
          <p:cNvPr id="6" name="Text 4"/>
          <p:cNvSpPr/>
          <p:nvPr/>
        </p:nvSpPr>
        <p:spPr>
          <a:xfrm>
            <a:off x="793790" y="4115872"/>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Khi nhiệt độ vượt quá 50°C, kích hoạt còi báo động</a:t>
            </a:r>
            <a:endParaRPr lang="en-US" dirty="0"/>
          </a:p>
        </p:txBody>
      </p:sp>
      <p:sp>
        <p:nvSpPr>
          <p:cNvPr id="7" name="Text 5"/>
          <p:cNvSpPr/>
          <p:nvPr/>
        </p:nvSpPr>
        <p:spPr>
          <a:xfrm>
            <a:off x="793790" y="4502825"/>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Đèn LED nhấp nháy mỗi 2 giây để báo hiệu hệ thống đang hoạt động bình thường</a:t>
            </a:r>
            <a:endParaRPr lang="en-US" dirty="0"/>
          </a:p>
        </p:txBody>
      </p:sp>
      <p:sp>
        <p:nvSpPr>
          <p:cNvPr id="8" name="Text 6"/>
          <p:cNvSpPr/>
          <p:nvPr/>
        </p:nvSpPr>
        <p:spPr>
          <a:xfrm>
            <a:off x="793790" y="520731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Hiển thị thông tin lên màn hình LCD</a:t>
            </a:r>
            <a:endParaRPr lang="en-US" dirty="0"/>
          </a:p>
        </p:txBody>
      </p:sp>
      <p:sp>
        <p:nvSpPr>
          <p:cNvPr id="9" name="Text 7"/>
          <p:cNvSpPr/>
          <p:nvPr/>
        </p:nvSpPr>
        <p:spPr>
          <a:xfrm>
            <a:off x="7564874" y="2089190"/>
            <a:ext cx="3375898" cy="310158"/>
          </a:xfrm>
          <a:prstGeom prst="rect">
            <a:avLst/>
          </a:prstGeom>
          <a:noFill/>
          <a:ln/>
        </p:spPr>
        <p:txBody>
          <a:bodyPr wrap="none" lIns="0" tIns="0" rIns="0" bIns="0" rtlCol="0" anchor="t"/>
          <a:lstStyle/>
          <a:p>
            <a:pPr marL="0" indent="0" algn="l">
              <a:lnSpc>
                <a:spcPts val="2400"/>
              </a:lnSpc>
              <a:buNone/>
            </a:pPr>
            <a:r>
              <a:rPr lang="en-US" sz="2400" b="1" dirty="0">
                <a:solidFill>
                  <a:srgbClr val="006747"/>
                </a:solidFill>
                <a:latin typeface="Noto Serif SC Bold" pitchFamily="34" charset="0"/>
                <a:ea typeface="Noto Serif SC Bold" pitchFamily="34" charset="-122"/>
                <a:cs typeface="Noto Serif SC Bold" pitchFamily="34" charset="-120"/>
              </a:rPr>
              <a:t>Code "ngây thơ" với delay()</a:t>
            </a:r>
            <a:endParaRPr lang="en-US" sz="2400" dirty="0"/>
          </a:p>
        </p:txBody>
      </p:sp>
      <p:sp>
        <p:nvSpPr>
          <p:cNvPr id="10" name="Shape 8"/>
          <p:cNvSpPr/>
          <p:nvPr/>
        </p:nvSpPr>
        <p:spPr>
          <a:xfrm>
            <a:off x="7564874" y="2622590"/>
            <a:ext cx="6279356" cy="3790593"/>
          </a:xfrm>
          <a:prstGeom prst="roundRect">
            <a:avLst>
              <a:gd name="adj" fmla="val 4712"/>
            </a:avLst>
          </a:prstGeom>
          <a:solidFill>
            <a:srgbClr val="D8ECE5"/>
          </a:solidFill>
          <a:ln/>
        </p:spPr>
      </p:sp>
      <p:sp>
        <p:nvSpPr>
          <p:cNvPr id="11" name="Shape 9"/>
          <p:cNvSpPr/>
          <p:nvPr/>
        </p:nvSpPr>
        <p:spPr>
          <a:xfrm>
            <a:off x="7554992" y="2622590"/>
            <a:ext cx="6299121" cy="3790593"/>
          </a:xfrm>
          <a:prstGeom prst="roundRect">
            <a:avLst>
              <a:gd name="adj" fmla="val 785"/>
            </a:avLst>
          </a:prstGeom>
          <a:solidFill>
            <a:srgbClr val="D8ECE5"/>
          </a:solidFill>
          <a:ln/>
        </p:spPr>
      </p:sp>
      <p:sp>
        <p:nvSpPr>
          <p:cNvPr id="12" name="Text 10"/>
          <p:cNvSpPr/>
          <p:nvPr/>
        </p:nvSpPr>
        <p:spPr>
          <a:xfrm>
            <a:off x="7753350" y="2771418"/>
            <a:ext cx="5902404" cy="3492937"/>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loop()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readTemperature();</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if (temp &gt; 50)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soundAlarm();</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digitalWrite(LED, HIGH);</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delay(2000); // ĐÂY LÀ VẤN ĐỀ!</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digitalWrite(LED, LOW);</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delay(2000); // VI XỬ LÝ "NGỦ" 2 GIÂY</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13" name="Text 11"/>
          <p:cNvSpPr/>
          <p:nvPr/>
        </p:nvSpPr>
        <p:spPr>
          <a:xfrm>
            <a:off x="7564874" y="6636425"/>
            <a:ext cx="6279356"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Trong tổng cộng 4 giây delay, vi xử lý hoàn toàn bị "đóng băng"</a:t>
            </a:r>
            <a:endParaRPr lang="en-US" dirty="0"/>
          </a:p>
        </p:txBody>
      </p:sp>
      <p:sp>
        <p:nvSpPr>
          <p:cNvPr id="14" name="Rectangle 13">
            <a:extLst>
              <a:ext uri="{FF2B5EF4-FFF2-40B4-BE49-F238E27FC236}">
                <a16:creationId xmlns:a16="http://schemas.microsoft.com/office/drawing/2014/main" id="{F8613FE3-7BFC-7A87-894E-8E9A733F116D}"/>
              </a:ext>
            </a:extLst>
          </p:cNvPr>
          <p:cNvSpPr/>
          <p:nvPr/>
        </p:nvSpPr>
        <p:spPr>
          <a:xfrm>
            <a:off x="7905509" y="4965539"/>
            <a:ext cx="1632030" cy="381965"/>
          </a:xfrm>
          <a:prstGeom prst="rect">
            <a:avLst/>
          </a:prstGeom>
          <a:noFill/>
          <a:ln w="1905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FE7FD9CA-EF57-7A3E-6E53-0B479C774055}"/>
              </a:ext>
            </a:extLst>
          </p:cNvPr>
          <p:cNvSpPr/>
          <p:nvPr/>
        </p:nvSpPr>
        <p:spPr>
          <a:xfrm>
            <a:off x="7905509" y="5591798"/>
            <a:ext cx="1632030" cy="381965"/>
          </a:xfrm>
          <a:prstGeom prst="rect">
            <a:avLst/>
          </a:prstGeom>
          <a:noFill/>
          <a:ln w="1905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ppt_x"/>
                                          </p:val>
                                        </p:tav>
                                        <p:tav tm="100000">
                                          <p:val>
                                            <p:strVal val="#ppt_x"/>
                                          </p:val>
                                        </p:tav>
                                      </p:tavLst>
                                    </p:anim>
                                    <p:anim calcmode="lin" valueType="num">
                                      <p:cBhvr additive="base">
                                        <p:cTn id="47" dur="500" fill="hold"/>
                                        <p:tgtEl>
                                          <p:spTgt spid="14"/>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4423" y="326684"/>
            <a:ext cx="4007287"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Hậu quả của delay()</a:t>
            </a:r>
            <a:endParaRPr lang="en-US" sz="3100" dirty="0"/>
          </a:p>
        </p:txBody>
      </p:sp>
      <p:sp>
        <p:nvSpPr>
          <p:cNvPr id="3" name="Shape 1"/>
          <p:cNvSpPr/>
          <p:nvPr/>
        </p:nvSpPr>
        <p:spPr>
          <a:xfrm>
            <a:off x="296421" y="1136809"/>
            <a:ext cx="4215289" cy="2134195"/>
          </a:xfrm>
          <a:prstGeom prst="roundRect">
            <a:avLst>
              <a:gd name="adj" fmla="val 8370"/>
            </a:avLst>
          </a:prstGeom>
          <a:solidFill>
            <a:srgbClr val="006747"/>
          </a:solidFill>
          <a:ln w="7620">
            <a:solidFill>
              <a:srgbClr val="198060"/>
            </a:solidFill>
            <a:prstDash val="solid"/>
          </a:ln>
        </p:spPr>
      </p:sp>
      <p:sp>
        <p:nvSpPr>
          <p:cNvPr id="4" name="Text 2"/>
          <p:cNvSpPr/>
          <p:nvPr/>
        </p:nvSpPr>
        <p:spPr>
          <a:xfrm>
            <a:off x="502399" y="1342787"/>
            <a:ext cx="3698677" cy="33301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Noto Serif SC Bold" pitchFamily="34" charset="0"/>
                <a:ea typeface="Noto Serif SC Bold" pitchFamily="34" charset="-122"/>
                <a:cs typeface="Noto Serif SC Bold" pitchFamily="34" charset="-120"/>
              </a:rPr>
              <a:t>🔥</a:t>
            </a:r>
            <a:r>
              <a:rPr lang="en-US" sz="1950" b="1" dirty="0">
                <a:solidFill>
                  <a:srgbClr val="FFFFFF"/>
                </a:solidFill>
                <a:latin typeface="Noto Serif SC Bold" pitchFamily="34" charset="0"/>
                <a:ea typeface="Noto Serif SC Bold" pitchFamily="34" charset="-122"/>
                <a:cs typeface="Noto Serif SC Bold" pitchFamily="34" charset="-120"/>
              </a:rPr>
              <a:t> Mất phản ứng ngay lập tức</a:t>
            </a:r>
            <a:endParaRPr lang="en-US" sz="1950" dirty="0"/>
          </a:p>
        </p:txBody>
      </p:sp>
      <p:sp>
        <p:nvSpPr>
          <p:cNvPr id="5" name="Text 3"/>
          <p:cNvSpPr/>
          <p:nvPr/>
        </p:nvSpPr>
        <p:spPr>
          <a:xfrm>
            <a:off x="502399" y="1794867"/>
            <a:ext cx="3803333" cy="1270159"/>
          </a:xfrm>
          <a:prstGeom prst="rect">
            <a:avLst/>
          </a:prstGeom>
          <a:noFill/>
          <a:ln/>
        </p:spPr>
        <p:txBody>
          <a:bodyPr wrap="square" lIns="0" tIns="0" rIns="0" bIns="0" rtlCol="0" anchor="t"/>
          <a:lstStyle/>
          <a:p>
            <a:pPr marL="0" indent="0" algn="l">
              <a:lnSpc>
                <a:spcPts val="2500"/>
              </a:lnSpc>
              <a:buNone/>
            </a:pPr>
            <a:r>
              <a:rPr lang="en-US" dirty="0">
                <a:solidFill>
                  <a:srgbClr val="FFFFFF"/>
                </a:solidFill>
                <a:latin typeface="Geist" pitchFamily="34" charset="0"/>
                <a:ea typeface="Geist" pitchFamily="34" charset="-122"/>
                <a:cs typeface="Geist" pitchFamily="34" charset="-120"/>
              </a:rPr>
              <a:t>Trong 4 giây đang delay để nháy LED, nếu nhà bốc cháy và nhiệt độ tăng vọt, ESP32 HOÀN TOÀN KHÔNG BIẾT vì nó đang "ngủ say"</a:t>
            </a:r>
            <a:endParaRPr lang="en-US" dirty="0"/>
          </a:p>
        </p:txBody>
      </p:sp>
      <p:sp>
        <p:nvSpPr>
          <p:cNvPr id="6" name="Shape 4"/>
          <p:cNvSpPr/>
          <p:nvPr/>
        </p:nvSpPr>
        <p:spPr>
          <a:xfrm>
            <a:off x="5104507" y="1136809"/>
            <a:ext cx="4215408" cy="2134195"/>
          </a:xfrm>
          <a:prstGeom prst="roundRect">
            <a:avLst>
              <a:gd name="adj" fmla="val 8370"/>
            </a:avLst>
          </a:prstGeom>
          <a:solidFill>
            <a:srgbClr val="335E23"/>
          </a:solidFill>
          <a:ln w="7620">
            <a:solidFill>
              <a:srgbClr val="4C773C"/>
            </a:solidFill>
            <a:prstDash val="solid"/>
          </a:ln>
        </p:spPr>
      </p:sp>
      <p:sp>
        <p:nvSpPr>
          <p:cNvPr id="7" name="Text 5"/>
          <p:cNvSpPr/>
          <p:nvPr/>
        </p:nvSpPr>
        <p:spPr>
          <a:xfrm>
            <a:off x="5310485" y="1342787"/>
            <a:ext cx="3803452" cy="643176"/>
          </a:xfrm>
          <a:prstGeom prst="rect">
            <a:avLst/>
          </a:prstGeom>
          <a:noFill/>
          <a:ln/>
        </p:spPr>
        <p:txBody>
          <a:bodyPr wrap="square" lIns="0" tIns="0" rIns="0" bIns="0" rtlCol="0" anchor="t"/>
          <a:lstStyle/>
          <a:p>
            <a:pPr marL="0" indent="0" algn="l">
              <a:lnSpc>
                <a:spcPts val="2400"/>
              </a:lnSpc>
              <a:buNone/>
            </a:pPr>
            <a:r>
              <a:rPr lang="en-US" sz="1950" b="1" dirty="0">
                <a:solidFill>
                  <a:srgbClr val="000000"/>
                </a:solidFill>
                <a:latin typeface="Noto Serif SC Bold" pitchFamily="34" charset="0"/>
                <a:ea typeface="Noto Serif SC Bold" pitchFamily="34" charset="-122"/>
                <a:cs typeface="Noto Serif SC Bold" pitchFamily="34" charset="-120"/>
              </a:rPr>
              <a:t>⏱️</a:t>
            </a:r>
            <a:r>
              <a:rPr lang="en-US" sz="1950" b="1" dirty="0">
                <a:solidFill>
                  <a:srgbClr val="FFFFFF"/>
                </a:solidFill>
                <a:latin typeface="Noto Serif SC Bold" pitchFamily="34" charset="0"/>
                <a:ea typeface="Noto Serif SC Bold" pitchFamily="34" charset="-122"/>
                <a:cs typeface="Noto Serif SC Bold" pitchFamily="34" charset="-120"/>
              </a:rPr>
              <a:t> Hệ thống trở nên chậm chạp</a:t>
            </a:r>
            <a:endParaRPr lang="en-US" sz="1950" dirty="0"/>
          </a:p>
        </p:txBody>
      </p:sp>
      <p:sp>
        <p:nvSpPr>
          <p:cNvPr id="8" name="Text 6"/>
          <p:cNvSpPr/>
          <p:nvPr/>
        </p:nvSpPr>
        <p:spPr>
          <a:xfrm>
            <a:off x="5310485" y="2105025"/>
            <a:ext cx="3803452" cy="952619"/>
          </a:xfrm>
          <a:prstGeom prst="rect">
            <a:avLst/>
          </a:prstGeom>
          <a:noFill/>
          <a:ln/>
        </p:spPr>
        <p:txBody>
          <a:bodyPr wrap="square" lIns="0" tIns="0" rIns="0" bIns="0" rtlCol="0" anchor="t"/>
          <a:lstStyle/>
          <a:p>
            <a:pPr marL="0" indent="0" algn="l">
              <a:lnSpc>
                <a:spcPts val="2500"/>
              </a:lnSpc>
              <a:buNone/>
            </a:pPr>
            <a:r>
              <a:rPr lang="en-US" dirty="0">
                <a:solidFill>
                  <a:srgbClr val="FFFFFF"/>
                </a:solidFill>
                <a:latin typeface="Geist" pitchFamily="34" charset="0"/>
                <a:ea typeface="Geist" pitchFamily="34" charset="-122"/>
                <a:cs typeface="Geist" pitchFamily="34" charset="-120"/>
              </a:rPr>
              <a:t>Nút bấm khẩn cấp được nhấn nhưng phải đợi đến khi delay() kết thúc mới được xử lý - có thể là 2 giây sau!</a:t>
            </a:r>
            <a:endParaRPr lang="en-US" dirty="0"/>
          </a:p>
        </p:txBody>
      </p:sp>
      <p:sp>
        <p:nvSpPr>
          <p:cNvPr id="9" name="Shape 7"/>
          <p:cNvSpPr/>
          <p:nvPr/>
        </p:nvSpPr>
        <p:spPr>
          <a:xfrm>
            <a:off x="9912712" y="1136809"/>
            <a:ext cx="4215289" cy="2134195"/>
          </a:xfrm>
          <a:prstGeom prst="roundRect">
            <a:avLst>
              <a:gd name="adj" fmla="val 8370"/>
            </a:avLst>
          </a:prstGeom>
          <a:solidFill>
            <a:srgbClr val="8CAB18"/>
          </a:solidFill>
          <a:ln w="7620">
            <a:solidFill>
              <a:srgbClr val="729100"/>
            </a:solidFill>
            <a:prstDash val="solid"/>
          </a:ln>
        </p:spPr>
      </p:sp>
      <p:sp>
        <p:nvSpPr>
          <p:cNvPr id="10" name="Text 8"/>
          <p:cNvSpPr/>
          <p:nvPr/>
        </p:nvSpPr>
        <p:spPr>
          <a:xfrm>
            <a:off x="10118690" y="1342787"/>
            <a:ext cx="3591282" cy="33301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Noto Serif SC Bold" pitchFamily="34" charset="0"/>
                <a:ea typeface="Noto Serif SC Bold" pitchFamily="34" charset="-122"/>
                <a:cs typeface="Noto Serif SC Bold" pitchFamily="34" charset="-120"/>
              </a:rPr>
              <a:t>🚫 Không thể làm nhiều việc</a:t>
            </a:r>
            <a:endParaRPr lang="en-US" sz="1950" dirty="0"/>
          </a:p>
        </p:txBody>
      </p:sp>
      <p:sp>
        <p:nvSpPr>
          <p:cNvPr id="11" name="Text 9"/>
          <p:cNvSpPr/>
          <p:nvPr/>
        </p:nvSpPr>
        <p:spPr>
          <a:xfrm>
            <a:off x="10118690" y="1794867"/>
            <a:ext cx="3803333" cy="952619"/>
          </a:xfrm>
          <a:prstGeom prst="rect">
            <a:avLst/>
          </a:prstGeom>
          <a:noFill/>
          <a:ln/>
        </p:spPr>
        <p:txBody>
          <a:bodyPr wrap="square" lIns="0" tIns="0" rIns="0" bIns="0" rtlCol="0" anchor="t"/>
          <a:lstStyle/>
          <a:p>
            <a:pPr marL="0" indent="0" algn="l">
              <a:lnSpc>
                <a:spcPts val="2500"/>
              </a:lnSpc>
              <a:buNone/>
            </a:pPr>
            <a:r>
              <a:rPr lang="en-US" dirty="0">
                <a:solidFill>
                  <a:srgbClr val="000000"/>
                </a:solidFill>
                <a:latin typeface="Geist" pitchFamily="34" charset="0"/>
                <a:ea typeface="Geist" pitchFamily="34" charset="-122"/>
                <a:cs typeface="Geist" pitchFamily="34" charset="-120"/>
              </a:rPr>
              <a:t>Muốn vừa nháy LED, vừa đọc cảm biến, vừa cập nhật màn hình? KHÔNG THỂ với delay()</a:t>
            </a:r>
            <a:endParaRPr lang="en-US" dirty="0"/>
          </a:p>
        </p:txBody>
      </p:sp>
      <p:sp>
        <p:nvSpPr>
          <p:cNvPr id="12" name="Text 10"/>
          <p:cNvSpPr/>
          <p:nvPr/>
        </p:nvSpPr>
        <p:spPr>
          <a:xfrm>
            <a:off x="296420" y="5706956"/>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Trong các hệ thống thực tế như nhà thông minh, xe tự hành, thiết bị y tế, việc "bị chặn" dù chỉ vài mili giây cũng có thể dẫn đến hậu quả nghiêm trọng.</a:t>
            </a:r>
            <a:endParaRPr lang="en-US" dirty="0"/>
          </a:p>
        </p:txBody>
      </p:sp>
      <p:sp>
        <p:nvSpPr>
          <p:cNvPr id="14" name="TextBox 13">
            <a:extLst>
              <a:ext uri="{FF2B5EF4-FFF2-40B4-BE49-F238E27FC236}">
                <a16:creationId xmlns:a16="http://schemas.microsoft.com/office/drawing/2014/main" id="{0B97AF4E-EC92-43FD-752C-6619A059526F}"/>
              </a:ext>
            </a:extLst>
          </p:cNvPr>
          <p:cNvSpPr txBox="1"/>
          <p:nvPr/>
        </p:nvSpPr>
        <p:spPr>
          <a:xfrm>
            <a:off x="296420" y="4628719"/>
            <a:ext cx="11799123" cy="369332"/>
          </a:xfrm>
          <a:prstGeom prst="rect">
            <a:avLst/>
          </a:prstGeom>
          <a:noFill/>
        </p:spPr>
        <p:txBody>
          <a:bodyPr wrap="square">
            <a:spAutoFit/>
          </a:bodyPr>
          <a:lstStyle/>
          <a:p>
            <a:r>
              <a:rPr lang="en-US" sz="1800" dirty="0" err="1">
                <a:solidFill>
                  <a:srgbClr val="4B4A4A"/>
                </a:solidFill>
                <a:latin typeface="Geist" pitchFamily="34" charset="0"/>
                <a:ea typeface="Geist" pitchFamily="34" charset="-122"/>
                <a:cs typeface="Geist" pitchFamily="34" charset="-120"/>
              </a:rPr>
              <a:t>Đây</a:t>
            </a:r>
            <a:r>
              <a:rPr lang="en-US" sz="1800" dirty="0">
                <a:solidFill>
                  <a:srgbClr val="4B4A4A"/>
                </a:solidFill>
                <a:latin typeface="Geist" pitchFamily="34" charset="0"/>
                <a:ea typeface="Geist" pitchFamily="34" charset="-122"/>
                <a:cs typeface="Geist" pitchFamily="34" charset="-120"/>
              </a:rPr>
              <a:t> </a:t>
            </a:r>
            <a:r>
              <a:rPr lang="en-US" sz="1800" dirty="0" err="1">
                <a:solidFill>
                  <a:srgbClr val="4B4A4A"/>
                </a:solidFill>
                <a:latin typeface="Geist" pitchFamily="34" charset="0"/>
                <a:ea typeface="Geist" pitchFamily="34" charset="-122"/>
                <a:cs typeface="Geist" pitchFamily="34" charset="-120"/>
              </a:rPr>
              <a:t>chính</a:t>
            </a:r>
            <a:r>
              <a:rPr lang="en-US" sz="1800" dirty="0">
                <a:solidFill>
                  <a:srgbClr val="4B4A4A"/>
                </a:solidFill>
                <a:latin typeface="Geist" pitchFamily="34" charset="0"/>
                <a:ea typeface="Geist" pitchFamily="34" charset="-122"/>
                <a:cs typeface="Geist" pitchFamily="34" charset="-120"/>
              </a:rPr>
              <a:t> </a:t>
            </a:r>
            <a:r>
              <a:rPr lang="en-US" sz="1800" dirty="0" err="1">
                <a:solidFill>
                  <a:srgbClr val="4B4A4A"/>
                </a:solidFill>
                <a:latin typeface="Geist" pitchFamily="34" charset="0"/>
                <a:ea typeface="Geist" pitchFamily="34" charset="-122"/>
                <a:cs typeface="Geist" pitchFamily="34" charset="-120"/>
              </a:rPr>
              <a:t>là</a:t>
            </a:r>
            <a:r>
              <a:rPr lang="en-US" sz="1800" dirty="0">
                <a:solidFill>
                  <a:srgbClr val="4B4A4A"/>
                </a:solidFill>
                <a:latin typeface="Geist" pitchFamily="34" charset="0"/>
                <a:ea typeface="Geist" pitchFamily="34" charset="-122"/>
                <a:cs typeface="Geist" pitchFamily="34" charset="-120"/>
              </a:rPr>
              <a:t> </a:t>
            </a:r>
            <a:r>
              <a:rPr lang="en-US" sz="1800" b="1" dirty="0">
                <a:solidFill>
                  <a:srgbClr val="4B4A4A"/>
                </a:solidFill>
                <a:latin typeface="Geist" pitchFamily="34" charset="0"/>
                <a:ea typeface="Geist" pitchFamily="34" charset="-122"/>
                <a:cs typeface="Geist" pitchFamily="34" charset="-120"/>
              </a:rPr>
              <a:t>Blocking Code</a:t>
            </a:r>
            <a:r>
              <a:rPr lang="en-US" sz="1800" dirty="0">
                <a:solidFill>
                  <a:srgbClr val="4B4A4A"/>
                </a:solidFill>
                <a:latin typeface="Geist" pitchFamily="34" charset="0"/>
                <a:ea typeface="Geist" pitchFamily="34" charset="-122"/>
                <a:cs typeface="Geist" pitchFamily="34" charset="-120"/>
              </a:rPr>
              <a:t> (Code </a:t>
            </a:r>
            <a:r>
              <a:rPr lang="en-US" sz="1800" dirty="0" err="1">
                <a:solidFill>
                  <a:srgbClr val="4B4A4A"/>
                </a:solidFill>
                <a:latin typeface="Geist" pitchFamily="34" charset="0"/>
                <a:ea typeface="Geist" pitchFamily="34" charset="-122"/>
                <a:cs typeface="Geist" pitchFamily="34" charset="-120"/>
              </a:rPr>
              <a:t>chặn</a:t>
            </a:r>
            <a:r>
              <a:rPr lang="en-US" sz="1800" dirty="0">
                <a:solidFill>
                  <a:srgbClr val="4B4A4A"/>
                </a:solidFill>
                <a:latin typeface="Geist" pitchFamily="34" charset="0"/>
                <a:ea typeface="Geist" pitchFamily="34" charset="-122"/>
                <a:cs typeface="Geist" pitchFamily="34" charset="-120"/>
              </a:rPr>
              <a:t>) - </a:t>
            </a:r>
            <a:r>
              <a:rPr lang="en-US" sz="1800" dirty="0" err="1">
                <a:solidFill>
                  <a:srgbClr val="4B4A4A"/>
                </a:solidFill>
                <a:latin typeface="Geist" pitchFamily="34" charset="0"/>
                <a:ea typeface="Geist" pitchFamily="34" charset="-122"/>
                <a:cs typeface="Geist" pitchFamily="34" charset="-120"/>
              </a:rPr>
              <a:t>kẻ</a:t>
            </a:r>
            <a:r>
              <a:rPr lang="en-US" sz="1800" dirty="0">
                <a:solidFill>
                  <a:srgbClr val="4B4A4A"/>
                </a:solidFill>
                <a:latin typeface="Geist" pitchFamily="34" charset="0"/>
                <a:ea typeface="Geist" pitchFamily="34" charset="-122"/>
                <a:cs typeface="Geist" pitchFamily="34" charset="-120"/>
              </a:rPr>
              <a:t> </a:t>
            </a:r>
            <a:r>
              <a:rPr lang="en-US" sz="1800" dirty="0" err="1">
                <a:solidFill>
                  <a:srgbClr val="4B4A4A"/>
                </a:solidFill>
                <a:latin typeface="Geist" pitchFamily="34" charset="0"/>
                <a:ea typeface="Geist" pitchFamily="34" charset="-122"/>
                <a:cs typeface="Geist" pitchFamily="34" charset="-120"/>
              </a:rPr>
              <a:t>thù</a:t>
            </a:r>
            <a:r>
              <a:rPr lang="en-US" sz="1800" dirty="0">
                <a:solidFill>
                  <a:srgbClr val="4B4A4A"/>
                </a:solidFill>
                <a:latin typeface="Geist" pitchFamily="34" charset="0"/>
                <a:ea typeface="Geist" pitchFamily="34" charset="-122"/>
                <a:cs typeface="Geist" pitchFamily="34" charset="-120"/>
              </a:rPr>
              <a:t> </a:t>
            </a:r>
            <a:r>
              <a:rPr lang="en-US" sz="1800" dirty="0" err="1">
                <a:solidFill>
                  <a:srgbClr val="4B4A4A"/>
                </a:solidFill>
                <a:latin typeface="Geist" pitchFamily="34" charset="0"/>
                <a:ea typeface="Geist" pitchFamily="34" charset="-122"/>
                <a:cs typeface="Geist" pitchFamily="34" charset="-120"/>
              </a:rPr>
              <a:t>số</a:t>
            </a:r>
            <a:r>
              <a:rPr lang="en-US" sz="1800" dirty="0">
                <a:solidFill>
                  <a:srgbClr val="4B4A4A"/>
                </a:solidFill>
                <a:latin typeface="Geist" pitchFamily="34" charset="0"/>
                <a:ea typeface="Geist" pitchFamily="34" charset="-122"/>
                <a:cs typeface="Geist" pitchFamily="34" charset="-120"/>
              </a:rPr>
              <a:t> 1 </a:t>
            </a:r>
            <a:r>
              <a:rPr lang="en-US" sz="1800" dirty="0" err="1">
                <a:solidFill>
                  <a:srgbClr val="4B4A4A"/>
                </a:solidFill>
                <a:latin typeface="Geist" pitchFamily="34" charset="0"/>
                <a:ea typeface="Geist" pitchFamily="34" charset="-122"/>
                <a:cs typeface="Geist" pitchFamily="34" charset="-120"/>
              </a:rPr>
              <a:t>của</a:t>
            </a:r>
            <a:r>
              <a:rPr lang="en-US" sz="1800" dirty="0">
                <a:solidFill>
                  <a:srgbClr val="4B4A4A"/>
                </a:solidFill>
                <a:latin typeface="Geist" pitchFamily="34" charset="0"/>
                <a:ea typeface="Geist" pitchFamily="34" charset="-122"/>
                <a:cs typeface="Geist" pitchFamily="34" charset="-120"/>
              </a:rPr>
              <a:t> </a:t>
            </a:r>
            <a:r>
              <a:rPr lang="en-US" sz="1800" dirty="0" err="1">
                <a:solidFill>
                  <a:srgbClr val="4B4A4A"/>
                </a:solidFill>
                <a:latin typeface="Geist" pitchFamily="34" charset="0"/>
                <a:ea typeface="Geist" pitchFamily="34" charset="-122"/>
                <a:cs typeface="Geist" pitchFamily="34" charset="-120"/>
              </a:rPr>
              <a:t>lập</a:t>
            </a:r>
            <a:r>
              <a:rPr lang="en-US" sz="1800" dirty="0">
                <a:solidFill>
                  <a:srgbClr val="4B4A4A"/>
                </a:solidFill>
                <a:latin typeface="Geist" pitchFamily="34" charset="0"/>
                <a:ea typeface="Geist" pitchFamily="34" charset="-122"/>
                <a:cs typeface="Geist" pitchFamily="34" charset="-120"/>
              </a:rPr>
              <a:t> </a:t>
            </a:r>
            <a:r>
              <a:rPr lang="en-US" sz="1800" dirty="0" err="1">
                <a:solidFill>
                  <a:srgbClr val="4B4A4A"/>
                </a:solidFill>
                <a:latin typeface="Geist" pitchFamily="34" charset="0"/>
                <a:ea typeface="Geist" pitchFamily="34" charset="-122"/>
                <a:cs typeface="Geist" pitchFamily="34" charset="-120"/>
              </a:rPr>
              <a:t>trình</a:t>
            </a:r>
            <a:r>
              <a:rPr lang="en-US" sz="1800" dirty="0">
                <a:solidFill>
                  <a:srgbClr val="4B4A4A"/>
                </a:solidFill>
                <a:latin typeface="Geist" pitchFamily="34" charset="0"/>
                <a:ea typeface="Geist" pitchFamily="34" charset="-122"/>
                <a:cs typeface="Geist" pitchFamily="34" charset="-120"/>
              </a:rPr>
              <a:t> IoT </a:t>
            </a:r>
            <a:r>
              <a:rPr lang="en-US" sz="1800" dirty="0" err="1">
                <a:solidFill>
                  <a:srgbClr val="4B4A4A"/>
                </a:solidFill>
                <a:latin typeface="Geist" pitchFamily="34" charset="0"/>
                <a:ea typeface="Geist" pitchFamily="34" charset="-122"/>
                <a:cs typeface="Geist" pitchFamily="34" charset="-120"/>
              </a:rPr>
              <a:t>chuyên</a:t>
            </a:r>
            <a:r>
              <a:rPr lang="en-US" sz="1800" dirty="0">
                <a:solidFill>
                  <a:srgbClr val="4B4A4A"/>
                </a:solidFill>
                <a:latin typeface="Geist" pitchFamily="34" charset="0"/>
                <a:ea typeface="Geist" pitchFamily="34" charset="-122"/>
                <a:cs typeface="Geist" pitchFamily="34" charset="-120"/>
              </a:rPr>
              <a:t> </a:t>
            </a:r>
            <a:r>
              <a:rPr lang="en-US" sz="1800" dirty="0" err="1">
                <a:solidFill>
                  <a:srgbClr val="4B4A4A"/>
                </a:solidFill>
                <a:latin typeface="Geist" pitchFamily="34" charset="0"/>
                <a:ea typeface="Geist" pitchFamily="34" charset="-122"/>
                <a:cs typeface="Geist" pitchFamily="34" charset="-120"/>
              </a:rPr>
              <a:t>nghiệp</a:t>
            </a:r>
            <a:r>
              <a:rPr lang="en-US" sz="1800" dirty="0">
                <a:solidFill>
                  <a:srgbClr val="4B4A4A"/>
                </a:solidFill>
                <a:latin typeface="Geist" pitchFamily="34" charset="0"/>
                <a:ea typeface="Geist" pitchFamily="34" charset="-122"/>
                <a:cs typeface="Geist" pitchFamily="34" charset="-120"/>
              </a:rPr>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2"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917227" y="474429"/>
            <a:ext cx="4234339"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Phép so sánh dễ hiểu</a:t>
            </a:r>
            <a:endParaRPr lang="en-US" sz="3100" dirty="0"/>
          </a:p>
        </p:txBody>
      </p:sp>
      <p:sp>
        <p:nvSpPr>
          <p:cNvPr id="4" name="Text 1"/>
          <p:cNvSpPr/>
          <p:nvPr/>
        </p:nvSpPr>
        <p:spPr>
          <a:xfrm>
            <a:off x="6178589" y="1323975"/>
            <a:ext cx="6227899" cy="620316"/>
          </a:xfrm>
          <a:prstGeom prst="rect">
            <a:avLst/>
          </a:prstGeom>
          <a:noFill/>
          <a:ln/>
        </p:spPr>
        <p:txBody>
          <a:bodyPr wrap="squar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Dùng delay() = Làm việc tuần tự</a:t>
            </a:r>
            <a:endParaRPr lang="en-US" sz="1950" dirty="0"/>
          </a:p>
        </p:txBody>
      </p:sp>
      <p:sp>
        <p:nvSpPr>
          <p:cNvPr id="5" name="Text 2"/>
          <p:cNvSpPr/>
          <p:nvPr/>
        </p:nvSpPr>
        <p:spPr>
          <a:xfrm>
            <a:off x="6178589" y="1840715"/>
            <a:ext cx="3536156" cy="317540"/>
          </a:xfrm>
          <a:prstGeom prst="rect">
            <a:avLst/>
          </a:prstGeom>
          <a:noFill/>
          <a:ln/>
        </p:spPr>
        <p:txBody>
          <a:bodyPr wrap="none" lIns="0" tIns="0" rIns="0" bIns="0" rtlCol="0" anchor="t"/>
          <a:lstStyle/>
          <a:p>
            <a:pPr marL="0" indent="0" algn="l">
              <a:lnSpc>
                <a:spcPts val="2500"/>
              </a:lnSpc>
              <a:buNone/>
            </a:pPr>
            <a:r>
              <a:rPr lang="en-US" dirty="0" err="1">
                <a:solidFill>
                  <a:srgbClr val="4B4A4A"/>
                </a:solidFill>
                <a:latin typeface="Geist" pitchFamily="34" charset="0"/>
                <a:ea typeface="Geist" pitchFamily="34" charset="-122"/>
                <a:cs typeface="Geist" pitchFamily="34" charset="-120"/>
              </a:rPr>
              <a:t>Giống</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như</a:t>
            </a:r>
            <a:r>
              <a:rPr lang="en-US" dirty="0">
                <a:solidFill>
                  <a:srgbClr val="4B4A4A"/>
                </a:solidFill>
                <a:latin typeface="Geist" pitchFamily="34" charset="0"/>
                <a:ea typeface="Geist" pitchFamily="34" charset="-122"/>
                <a:cs typeface="Geist" pitchFamily="34" charset="-120"/>
              </a:rPr>
              <a:t>:</a:t>
            </a:r>
            <a:endParaRPr lang="en-US" dirty="0"/>
          </a:p>
        </p:txBody>
      </p:sp>
      <p:sp>
        <p:nvSpPr>
          <p:cNvPr id="6" name="Text 3"/>
          <p:cNvSpPr/>
          <p:nvPr/>
        </p:nvSpPr>
        <p:spPr>
          <a:xfrm>
            <a:off x="6178589" y="2336849"/>
            <a:ext cx="35361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dirty="0">
                <a:solidFill>
                  <a:srgbClr val="4B4A4A"/>
                </a:solidFill>
                <a:latin typeface="Geist" pitchFamily="34" charset="0"/>
                <a:ea typeface="Geist" pitchFamily="34" charset="-122"/>
                <a:cs typeface="Geist" pitchFamily="34" charset="-120"/>
              </a:rPr>
              <a:t>Nấu cơm xong hoàn toàn (20 phút)</a:t>
            </a:r>
            <a:endParaRPr lang="en-US" dirty="0"/>
          </a:p>
        </p:txBody>
      </p:sp>
      <p:sp>
        <p:nvSpPr>
          <p:cNvPr id="7" name="Text 4"/>
          <p:cNvSpPr/>
          <p:nvPr/>
        </p:nvSpPr>
        <p:spPr>
          <a:xfrm>
            <a:off x="6178589" y="2723802"/>
            <a:ext cx="35361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2"/>
            </a:pPr>
            <a:r>
              <a:rPr lang="en-US" dirty="0">
                <a:solidFill>
                  <a:srgbClr val="4B4A4A"/>
                </a:solidFill>
                <a:latin typeface="Geist" pitchFamily="34" charset="0"/>
                <a:ea typeface="Geist" pitchFamily="34" charset="-122"/>
                <a:cs typeface="Geist" pitchFamily="34" charset="-120"/>
              </a:rPr>
              <a:t>Mới bắt đầu rửa rau (5 phút)</a:t>
            </a:r>
            <a:endParaRPr lang="en-US" dirty="0"/>
          </a:p>
        </p:txBody>
      </p:sp>
      <p:sp>
        <p:nvSpPr>
          <p:cNvPr id="8" name="Text 5"/>
          <p:cNvSpPr/>
          <p:nvPr/>
        </p:nvSpPr>
        <p:spPr>
          <a:xfrm>
            <a:off x="6178589" y="3110755"/>
            <a:ext cx="35361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3"/>
            </a:pPr>
            <a:r>
              <a:rPr lang="en-US" dirty="0">
                <a:solidFill>
                  <a:srgbClr val="4B4A4A"/>
                </a:solidFill>
                <a:latin typeface="Geist" pitchFamily="34" charset="0"/>
                <a:ea typeface="Geist" pitchFamily="34" charset="-122"/>
                <a:cs typeface="Geist" pitchFamily="34" charset="-120"/>
              </a:rPr>
              <a:t>Rồi mới nấu canh (10 phút)</a:t>
            </a:r>
            <a:endParaRPr lang="en-US" dirty="0"/>
          </a:p>
        </p:txBody>
      </p:sp>
      <p:sp>
        <p:nvSpPr>
          <p:cNvPr id="9" name="Text 6"/>
          <p:cNvSpPr/>
          <p:nvPr/>
        </p:nvSpPr>
        <p:spPr>
          <a:xfrm>
            <a:off x="6178589" y="3606888"/>
            <a:ext cx="3536156"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highlight>
                  <a:srgbClr val="E5F9F2"/>
                </a:highlight>
                <a:latin typeface="Geist" pitchFamily="34" charset="0"/>
                <a:ea typeface="Geist" pitchFamily="34" charset="-122"/>
                <a:cs typeface="Geist" pitchFamily="34" charset="-120"/>
              </a:rPr>
              <a:t>Tổng thời gian: 35 phút</a:t>
            </a:r>
            <a:endParaRPr lang="en-US" dirty="0"/>
          </a:p>
        </p:txBody>
      </p:sp>
      <p:sp>
        <p:nvSpPr>
          <p:cNvPr id="10" name="Text 7"/>
          <p:cNvSpPr/>
          <p:nvPr/>
        </p:nvSpPr>
        <p:spPr>
          <a:xfrm>
            <a:off x="7315200" y="4457836"/>
            <a:ext cx="5760720" cy="620316"/>
          </a:xfrm>
          <a:prstGeom prst="rect">
            <a:avLst/>
          </a:prstGeom>
          <a:noFill/>
          <a:ln/>
        </p:spPr>
        <p:txBody>
          <a:bodyPr wrap="squar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Dùng millis() = Làm song song</a:t>
            </a:r>
            <a:endParaRPr lang="en-US" sz="1950" dirty="0"/>
          </a:p>
        </p:txBody>
      </p:sp>
      <p:sp>
        <p:nvSpPr>
          <p:cNvPr id="11" name="Text 8"/>
          <p:cNvSpPr/>
          <p:nvPr/>
        </p:nvSpPr>
        <p:spPr>
          <a:xfrm>
            <a:off x="7315200" y="5276510"/>
            <a:ext cx="5667022" cy="317540"/>
          </a:xfrm>
          <a:prstGeom prst="rect">
            <a:avLst/>
          </a:prstGeom>
          <a:noFill/>
          <a:ln/>
        </p:spPr>
        <p:txBody>
          <a:bodyPr wrap="none" lIns="0" tIns="0" rIns="0" bIns="0" rtlCol="0" anchor="t"/>
          <a:lstStyle/>
          <a:p>
            <a:pPr marL="0" indent="0" algn="l">
              <a:lnSpc>
                <a:spcPts val="2500"/>
              </a:lnSpc>
              <a:buNone/>
            </a:pPr>
            <a:r>
              <a:rPr lang="en-US" dirty="0" err="1">
                <a:solidFill>
                  <a:srgbClr val="4B4A4A"/>
                </a:solidFill>
                <a:latin typeface="Geist" pitchFamily="34" charset="0"/>
                <a:ea typeface="Geist" pitchFamily="34" charset="-122"/>
                <a:cs typeface="Geist" pitchFamily="34" charset="-120"/>
              </a:rPr>
              <a:t>Có</a:t>
            </a:r>
            <a:r>
              <a:rPr lang="en-US" dirty="0">
                <a:solidFill>
                  <a:srgbClr val="4B4A4A"/>
                </a:solidFill>
                <a:latin typeface="Geist" pitchFamily="34" charset="0"/>
                <a:ea typeface="Geist" pitchFamily="34" charset="-122"/>
                <a:cs typeface="Geist" pitchFamily="34" charset="-120"/>
              </a:rPr>
              <a:t> thể:</a:t>
            </a:r>
            <a:endParaRPr lang="en-US" dirty="0"/>
          </a:p>
        </p:txBody>
      </p:sp>
      <p:sp>
        <p:nvSpPr>
          <p:cNvPr id="12" name="Text 9"/>
          <p:cNvSpPr/>
          <p:nvPr/>
        </p:nvSpPr>
        <p:spPr>
          <a:xfrm>
            <a:off x="7315200" y="5772644"/>
            <a:ext cx="5667022"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dirty="0">
                <a:solidFill>
                  <a:srgbClr val="4B4A4A"/>
                </a:solidFill>
                <a:latin typeface="Geist" pitchFamily="34" charset="0"/>
                <a:ea typeface="Geist" pitchFamily="34" charset="-122"/>
                <a:cs typeface="Geist" pitchFamily="34" charset="-120"/>
              </a:rPr>
              <a:t>Cho gạo vào nồi cơm (tự động nấu)</a:t>
            </a:r>
            <a:endParaRPr lang="en-US" dirty="0"/>
          </a:p>
        </p:txBody>
      </p:sp>
      <p:sp>
        <p:nvSpPr>
          <p:cNvPr id="13" name="Text 10"/>
          <p:cNvSpPr/>
          <p:nvPr/>
        </p:nvSpPr>
        <p:spPr>
          <a:xfrm>
            <a:off x="7315200" y="6159597"/>
            <a:ext cx="5667022"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2"/>
            </a:pPr>
            <a:r>
              <a:rPr lang="en-US" dirty="0">
                <a:solidFill>
                  <a:srgbClr val="4B4A4A"/>
                </a:solidFill>
                <a:latin typeface="Geist" pitchFamily="34" charset="0"/>
                <a:ea typeface="Geist" pitchFamily="34" charset="-122"/>
                <a:cs typeface="Geist" pitchFamily="34" charset="-120"/>
              </a:rPr>
              <a:t>Trong khi chờ, rửa rau</a:t>
            </a:r>
            <a:endParaRPr lang="en-US" dirty="0"/>
          </a:p>
        </p:txBody>
      </p:sp>
      <p:sp>
        <p:nvSpPr>
          <p:cNvPr id="14" name="Text 11"/>
          <p:cNvSpPr/>
          <p:nvPr/>
        </p:nvSpPr>
        <p:spPr>
          <a:xfrm>
            <a:off x="7315200" y="6546550"/>
            <a:ext cx="5667022"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3"/>
            </a:pPr>
            <a:r>
              <a:rPr lang="en-US" dirty="0">
                <a:solidFill>
                  <a:srgbClr val="4B4A4A"/>
                </a:solidFill>
                <a:latin typeface="Geist" pitchFamily="34" charset="0"/>
                <a:ea typeface="Geist" pitchFamily="34" charset="-122"/>
                <a:cs typeface="Geist" pitchFamily="34" charset="-120"/>
              </a:rPr>
              <a:t>Đồng thời nấu canh</a:t>
            </a:r>
            <a:endParaRPr lang="en-US" dirty="0"/>
          </a:p>
        </p:txBody>
      </p:sp>
      <p:sp>
        <p:nvSpPr>
          <p:cNvPr id="15" name="Text 12"/>
          <p:cNvSpPr/>
          <p:nvPr/>
        </p:nvSpPr>
        <p:spPr>
          <a:xfrm>
            <a:off x="7315200" y="7042683"/>
            <a:ext cx="5667022"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Tổng thời gian: 20 phút (tiết kiệm gần một nửa!)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678311" y="2552470"/>
            <a:ext cx="8726311" cy="1240155"/>
          </a:xfrm>
          <a:prstGeom prst="rect">
            <a:avLst/>
          </a:prstGeom>
          <a:noFill/>
          <a:ln/>
        </p:spPr>
        <p:txBody>
          <a:bodyPr wrap="square" lIns="0" tIns="0" rIns="0" bIns="0" rtlCol="0" anchor="t"/>
          <a:lstStyle/>
          <a:p>
            <a:pPr marL="0" indent="0" algn="ctr">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GIẢI PHÁP: MILLIS()  </a:t>
            </a:r>
          </a:p>
          <a:p>
            <a:pPr marL="0" indent="0" algn="ctr">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ĐỒNG HỒ BẤM GIỜ THẦN THÁNH</a:t>
            </a:r>
            <a:endParaRPr lang="en-US" sz="3900" dirty="0"/>
          </a:p>
        </p:txBody>
      </p:sp>
      <p:sp>
        <p:nvSpPr>
          <p:cNvPr id="4" name="Text 1"/>
          <p:cNvSpPr/>
          <p:nvPr/>
        </p:nvSpPr>
        <p:spPr>
          <a:xfrm>
            <a:off x="5839923" y="5677130"/>
            <a:ext cx="8463099" cy="1886426"/>
          </a:xfrm>
          <a:prstGeom prst="rect">
            <a:avLst/>
          </a:prstGeom>
          <a:noFill/>
          <a:ln/>
        </p:spPr>
        <p:txBody>
          <a:bodyPr wrap="square" lIns="0" tIns="0" rIns="0" bIns="0" rtlCol="0" anchor="t"/>
          <a:lstStyle/>
          <a:p>
            <a:pPr marL="0" indent="0" algn="l">
              <a:lnSpc>
                <a:spcPts val="6700"/>
              </a:lnSpc>
              <a:buNone/>
            </a:pPr>
            <a:r>
              <a:rPr lang="en-US" sz="4400" b="1" i="1" dirty="0">
                <a:solidFill>
                  <a:srgbClr val="006747"/>
                </a:solidFill>
                <a:latin typeface="Noto Serif SC Bold" pitchFamily="34" charset="0"/>
                <a:ea typeface="Noto Serif SC Bold" pitchFamily="34" charset="-122"/>
                <a:cs typeface="Noto Serif SC Bold" pitchFamily="34" charset="-120"/>
              </a:rPr>
              <a:t>Làm chủ thời gian, </a:t>
            </a:r>
          </a:p>
          <a:p>
            <a:pPr marL="0" indent="0" algn="l">
              <a:lnSpc>
                <a:spcPts val="6700"/>
              </a:lnSpc>
              <a:buNone/>
            </a:pPr>
            <a:r>
              <a:rPr lang="en-US" sz="4400" b="1" i="1" dirty="0" err="1">
                <a:solidFill>
                  <a:srgbClr val="006747"/>
                </a:solidFill>
                <a:latin typeface="Noto Serif SC Bold" pitchFamily="34" charset="0"/>
                <a:ea typeface="Noto Serif SC Bold" pitchFamily="34" charset="-122"/>
                <a:cs typeface="Noto Serif SC Bold" pitchFamily="34" charset="-120"/>
              </a:rPr>
              <a:t>không</a:t>
            </a:r>
            <a:r>
              <a:rPr lang="en-US" sz="4400" b="1" i="1" dirty="0">
                <a:solidFill>
                  <a:srgbClr val="006747"/>
                </a:solidFill>
                <a:latin typeface="Noto Serif SC Bold" pitchFamily="34" charset="0"/>
                <a:ea typeface="Noto Serif SC Bold" pitchFamily="34" charset="-122"/>
                <a:cs typeface="Noto Serif SC Bold" pitchFamily="34" charset="-120"/>
              </a:rPr>
              <a:t> bị thời gian làm chủ</a:t>
            </a:r>
            <a:endParaRPr lang="en-US" sz="4400"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572823"/>
            <a:ext cx="3969425"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millis() là gì?</a:t>
            </a:r>
            <a:endParaRPr lang="en-US" sz="3100" dirty="0"/>
          </a:p>
        </p:txBody>
      </p:sp>
      <p:sp>
        <p:nvSpPr>
          <p:cNvPr id="3" name="Text 1"/>
          <p:cNvSpPr/>
          <p:nvPr/>
        </p:nvSpPr>
        <p:spPr>
          <a:xfrm>
            <a:off x="793790" y="1255274"/>
            <a:ext cx="11040533" cy="635079"/>
          </a:xfrm>
          <a:prstGeom prst="rect">
            <a:avLst/>
          </a:prstGeom>
          <a:noFill/>
          <a:ln/>
        </p:spPr>
        <p:txBody>
          <a:bodyPr wrap="square" lIns="0" tIns="0" rIns="0" bIns="0" rtlCol="0" anchor="t"/>
          <a:lstStyle/>
          <a:p>
            <a:pPr marL="285750" indent="-285750" algn="l">
              <a:lnSpc>
                <a:spcPts val="2500"/>
              </a:lnSpc>
              <a:buFont typeface="Arial" panose="020B0604020202020204" pitchFamily="34" charset="0"/>
              <a:buChar char="•"/>
            </a:pPr>
            <a:r>
              <a:rPr lang="en-US" b="1" dirty="0">
                <a:solidFill>
                  <a:srgbClr val="4B4A4A"/>
                </a:solidFill>
                <a:latin typeface="Geist" pitchFamily="34" charset="0"/>
                <a:ea typeface="Geist" pitchFamily="34" charset="-122"/>
                <a:cs typeface="Geist" pitchFamily="34" charset="-120"/>
              </a:rPr>
              <a:t>millis()</a:t>
            </a:r>
            <a:r>
              <a:rPr lang="en-US" dirty="0">
                <a:solidFill>
                  <a:srgbClr val="4B4A4A"/>
                </a:solidFill>
                <a:latin typeface="Geist" pitchFamily="34" charset="0"/>
                <a:ea typeface="Geist" pitchFamily="34" charset="-122"/>
                <a:cs typeface="Geist" pitchFamily="34" charset="-120"/>
              </a:rPr>
              <a:t> là một hàm đặc biệt trong Arduino/ESP32 trả về số mili-giây (milliseconds) đã trôi qua kể từ khi board được khởi động hoặc reset.</a:t>
            </a:r>
            <a:endParaRPr lang="en-US" dirty="0"/>
          </a:p>
        </p:txBody>
      </p:sp>
      <p:sp>
        <p:nvSpPr>
          <p:cNvPr id="4" name="Text 2"/>
          <p:cNvSpPr/>
          <p:nvPr/>
        </p:nvSpPr>
        <p:spPr>
          <a:xfrm>
            <a:off x="793790" y="2046224"/>
            <a:ext cx="11040533" cy="635079"/>
          </a:xfrm>
          <a:prstGeom prst="rect">
            <a:avLst/>
          </a:prstGeom>
          <a:noFill/>
          <a:ln/>
        </p:spPr>
        <p:txBody>
          <a:bodyPr wrap="square" lIns="0" tIns="0" rIns="0" bIns="0" rtlCol="0" anchor="t"/>
          <a:lstStyle/>
          <a:p>
            <a:pPr marL="285750" indent="-285750" algn="l">
              <a:lnSpc>
                <a:spcPts val="2500"/>
              </a:lnSpc>
              <a:buFont typeface="Arial" panose="020B0604020202020204" pitchFamily="34" charset="0"/>
              <a:buChar char="•"/>
            </a:pPr>
            <a:r>
              <a:rPr lang="en-US" dirty="0">
                <a:solidFill>
                  <a:srgbClr val="4B4A4A"/>
                </a:solidFill>
                <a:latin typeface="Geist" pitchFamily="34" charset="0"/>
                <a:ea typeface="Geist" pitchFamily="34" charset="-122"/>
                <a:cs typeface="Geist" pitchFamily="34" charset="-120"/>
              </a:rPr>
              <a:t>Hãy tưởng tượng </a:t>
            </a:r>
            <a:r>
              <a:rPr lang="en-US" b="1" dirty="0">
                <a:solidFill>
                  <a:srgbClr val="4B4A4A"/>
                </a:solidFill>
                <a:latin typeface="Geist" pitchFamily="34" charset="0"/>
                <a:ea typeface="Geist" pitchFamily="34" charset="-122"/>
                <a:cs typeface="Geist" pitchFamily="34" charset="-120"/>
              </a:rPr>
              <a:t>millis()</a:t>
            </a:r>
            <a:r>
              <a:rPr lang="en-US" dirty="0">
                <a:solidFill>
                  <a:srgbClr val="4B4A4A"/>
                </a:solidFill>
                <a:latin typeface="Geist" pitchFamily="34" charset="0"/>
                <a:ea typeface="Geist" pitchFamily="34" charset="-122"/>
                <a:cs typeface="Geist" pitchFamily="34" charset="-120"/>
              </a:rPr>
              <a:t> như một chiếc đồng hồ bấm giờ chạy liên tục từ lúc bạn cắm nguồn vào ESP32. Nó đếm: 1ms, 2ms, 3ms, 4ms... và không bao giờ dừng lại.</a:t>
            </a:r>
            <a:endParaRPr lang="en-US" dirty="0"/>
          </a:p>
        </p:txBody>
      </p:sp>
      <p:sp>
        <p:nvSpPr>
          <p:cNvPr id="5" name="Text 3"/>
          <p:cNvSpPr/>
          <p:nvPr/>
        </p:nvSpPr>
        <p:spPr>
          <a:xfrm>
            <a:off x="793790" y="3264259"/>
            <a:ext cx="2636163"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Đặc điểm quan trọng</a:t>
            </a:r>
            <a:endParaRPr lang="en-US" sz="1950" dirty="0"/>
          </a:p>
        </p:txBody>
      </p:sp>
      <p:sp>
        <p:nvSpPr>
          <p:cNvPr id="6" name="Text 4"/>
          <p:cNvSpPr/>
          <p:nvPr/>
        </p:nvSpPr>
        <p:spPr>
          <a:xfrm>
            <a:off x="793790" y="3839229"/>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Không chặn code</a:t>
            </a:r>
            <a:r>
              <a:rPr lang="en-US" dirty="0">
                <a:solidFill>
                  <a:srgbClr val="4B4A4A"/>
                </a:solidFill>
                <a:latin typeface="Geist" pitchFamily="34" charset="0"/>
                <a:ea typeface="Geist" pitchFamily="34" charset="-122"/>
                <a:cs typeface="Geist" pitchFamily="34" charset="-120"/>
              </a:rPr>
              <a:t>: millis() chỉ trả về giá trị rồi cho code chạy tiếp ngay lập tức</a:t>
            </a:r>
            <a:endParaRPr lang="en-US" dirty="0"/>
          </a:p>
        </p:txBody>
      </p:sp>
      <p:sp>
        <p:nvSpPr>
          <p:cNvPr id="7" name="Text 5"/>
          <p:cNvSpPr/>
          <p:nvPr/>
        </p:nvSpPr>
        <p:spPr>
          <a:xfrm>
            <a:off x="793789" y="4393216"/>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Luôn tăng dần</a:t>
            </a:r>
            <a:r>
              <a:rPr lang="en-US" dirty="0">
                <a:solidFill>
                  <a:srgbClr val="4B4A4A"/>
                </a:solidFill>
                <a:latin typeface="Geist" pitchFamily="34" charset="0"/>
                <a:ea typeface="Geist" pitchFamily="34" charset="-122"/>
                <a:cs typeface="Geist" pitchFamily="34" charset="-120"/>
              </a:rPr>
              <a:t>: Giá trị tăng đều đặn, mỗi mili-giây tăng thêm 1</a:t>
            </a:r>
            <a:endParaRPr lang="en-US" dirty="0"/>
          </a:p>
        </p:txBody>
      </p:sp>
      <p:sp>
        <p:nvSpPr>
          <p:cNvPr id="8" name="Text 6"/>
          <p:cNvSpPr/>
          <p:nvPr/>
        </p:nvSpPr>
        <p:spPr>
          <a:xfrm>
            <a:off x="793788" y="4947203"/>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Kiểu dữ liệu lớn</a:t>
            </a:r>
            <a:r>
              <a:rPr lang="en-US" dirty="0">
                <a:solidFill>
                  <a:srgbClr val="4B4A4A"/>
                </a:solidFill>
                <a:latin typeface="Geist" pitchFamily="34" charset="0"/>
                <a:ea typeface="Geist" pitchFamily="34" charset="-122"/>
                <a:cs typeface="Geist" pitchFamily="34" charset="-120"/>
              </a:rPr>
              <a:t>: Dùng unsigned long (4 bytes) để lưu số rất lớn</a:t>
            </a:r>
            <a:endParaRPr lang="en-US" dirty="0"/>
          </a:p>
        </p:txBody>
      </p:sp>
      <p:sp>
        <p:nvSpPr>
          <p:cNvPr id="9" name="Text 7"/>
          <p:cNvSpPr/>
          <p:nvPr/>
        </p:nvSpPr>
        <p:spPr>
          <a:xfrm>
            <a:off x="793787" y="5506065"/>
            <a:ext cx="7632025"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Tràn sau 49 ngày</a:t>
            </a:r>
            <a:r>
              <a:rPr lang="en-US" dirty="0">
                <a:solidFill>
                  <a:srgbClr val="4B4A4A"/>
                </a:solidFill>
                <a:latin typeface="Geist" pitchFamily="34" charset="0"/>
                <a:ea typeface="Geist" pitchFamily="34" charset="-122"/>
                <a:cs typeface="Geist" pitchFamily="34" charset="-120"/>
              </a:rPr>
              <a:t>: Sau khoảng 49.7 ngày chạy liên tục, giá trị sẽ quay về 0</a:t>
            </a:r>
            <a:endParaRPr lang="en-US" dirty="0"/>
          </a:p>
        </p:txBody>
      </p:sp>
      <p:sp>
        <p:nvSpPr>
          <p:cNvPr id="10" name="Shape 8"/>
          <p:cNvSpPr/>
          <p:nvPr/>
        </p:nvSpPr>
        <p:spPr>
          <a:xfrm>
            <a:off x="9591754" y="2963822"/>
            <a:ext cx="4926568" cy="4824651"/>
          </a:xfrm>
          <a:prstGeom prst="roundRect">
            <a:avLst>
              <a:gd name="adj" fmla="val 3702"/>
            </a:avLst>
          </a:prstGeom>
          <a:solidFill>
            <a:srgbClr val="B3FFE7"/>
          </a:solidFill>
          <a:ln/>
        </p:spPr>
      </p:sp>
      <p:pic>
        <p:nvPicPr>
          <p:cNvPr id="11" name="Image 0" descr="preencoded.png"/>
          <p:cNvPicPr>
            <a:picLocks noChangeAspect="1"/>
          </p:cNvPicPr>
          <p:nvPr/>
        </p:nvPicPr>
        <p:blipFill>
          <a:blip r:embed="rId3"/>
          <a:stretch>
            <a:fillRect/>
          </a:stretch>
        </p:blipFill>
        <p:spPr>
          <a:xfrm>
            <a:off x="9790112" y="3253739"/>
            <a:ext cx="310039" cy="248007"/>
          </a:xfrm>
          <a:prstGeom prst="rect">
            <a:avLst/>
          </a:prstGeom>
        </p:spPr>
      </p:pic>
      <p:sp>
        <p:nvSpPr>
          <p:cNvPr id="12" name="Text 9"/>
          <p:cNvSpPr/>
          <p:nvPr/>
        </p:nvSpPr>
        <p:spPr>
          <a:xfrm>
            <a:off x="10298509" y="321171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Noto Serif SC Bold" pitchFamily="34" charset="0"/>
                <a:ea typeface="Noto Serif SC Bold" pitchFamily="34" charset="-122"/>
                <a:cs typeface="Noto Serif SC Bold" pitchFamily="34" charset="-120"/>
              </a:rPr>
              <a:t>Ví dụ trực quan</a:t>
            </a:r>
            <a:endParaRPr lang="en-US" sz="1950" dirty="0"/>
          </a:p>
        </p:txBody>
      </p:sp>
      <p:sp>
        <p:nvSpPr>
          <p:cNvPr id="13" name="Text 10"/>
          <p:cNvSpPr/>
          <p:nvPr/>
        </p:nvSpPr>
        <p:spPr>
          <a:xfrm>
            <a:off x="10298509" y="3720226"/>
            <a:ext cx="4021455" cy="31754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latin typeface="Geist" pitchFamily="34" charset="0"/>
                <a:ea typeface="Geist" pitchFamily="34" charset="-122"/>
                <a:cs typeface="Geist" pitchFamily="34" charset="-120"/>
              </a:rPr>
              <a:t>Thời điểm ESP32 khởi động:</a:t>
            </a:r>
            <a:endParaRPr lang="en-US" sz="1550" dirty="0"/>
          </a:p>
        </p:txBody>
      </p:sp>
      <p:sp>
        <p:nvSpPr>
          <p:cNvPr id="14" name="Text 11"/>
          <p:cNvSpPr/>
          <p:nvPr/>
        </p:nvSpPr>
        <p:spPr>
          <a:xfrm>
            <a:off x="10298509" y="4216360"/>
            <a:ext cx="4021455"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Geist" pitchFamily="34" charset="0"/>
                <a:ea typeface="Geist" pitchFamily="34" charset="-122"/>
                <a:cs typeface="Geist" pitchFamily="34" charset="-120"/>
              </a:rPr>
              <a:t>millis() = 0</a:t>
            </a:r>
            <a:endParaRPr lang="en-US" sz="1550" dirty="0"/>
          </a:p>
        </p:txBody>
      </p:sp>
      <p:sp>
        <p:nvSpPr>
          <p:cNvPr id="15" name="Text 12"/>
          <p:cNvSpPr/>
          <p:nvPr/>
        </p:nvSpPr>
        <p:spPr>
          <a:xfrm>
            <a:off x="10298509" y="4712493"/>
            <a:ext cx="4021455" cy="31754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latin typeface="Geist" pitchFamily="34" charset="0"/>
                <a:ea typeface="Geist" pitchFamily="34" charset="-122"/>
                <a:cs typeface="Geist" pitchFamily="34" charset="-120"/>
              </a:rPr>
              <a:t>Sau 1 giây:</a:t>
            </a:r>
            <a:endParaRPr lang="en-US" sz="1550" dirty="0"/>
          </a:p>
        </p:txBody>
      </p:sp>
      <p:sp>
        <p:nvSpPr>
          <p:cNvPr id="16" name="Text 13"/>
          <p:cNvSpPr/>
          <p:nvPr/>
        </p:nvSpPr>
        <p:spPr>
          <a:xfrm>
            <a:off x="10298509" y="5208626"/>
            <a:ext cx="4021455"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Geist" pitchFamily="34" charset="0"/>
                <a:ea typeface="Geist" pitchFamily="34" charset="-122"/>
                <a:cs typeface="Geist" pitchFamily="34" charset="-120"/>
              </a:rPr>
              <a:t>millis() = 1000</a:t>
            </a:r>
            <a:endParaRPr lang="en-US" sz="1550" dirty="0"/>
          </a:p>
        </p:txBody>
      </p:sp>
      <p:sp>
        <p:nvSpPr>
          <p:cNvPr id="17" name="Text 14"/>
          <p:cNvSpPr/>
          <p:nvPr/>
        </p:nvSpPr>
        <p:spPr>
          <a:xfrm>
            <a:off x="10298509" y="5704760"/>
            <a:ext cx="4021455" cy="31754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latin typeface="Geist" pitchFamily="34" charset="0"/>
                <a:ea typeface="Geist" pitchFamily="34" charset="-122"/>
                <a:cs typeface="Geist" pitchFamily="34" charset="-120"/>
              </a:rPr>
              <a:t>Sau 2.5 giây:</a:t>
            </a:r>
            <a:endParaRPr lang="en-US" sz="1550" dirty="0"/>
          </a:p>
        </p:txBody>
      </p:sp>
      <p:sp>
        <p:nvSpPr>
          <p:cNvPr id="18" name="Text 15"/>
          <p:cNvSpPr/>
          <p:nvPr/>
        </p:nvSpPr>
        <p:spPr>
          <a:xfrm>
            <a:off x="10298509" y="6200893"/>
            <a:ext cx="4021455"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Geist" pitchFamily="34" charset="0"/>
                <a:ea typeface="Geist" pitchFamily="34" charset="-122"/>
                <a:cs typeface="Geist" pitchFamily="34" charset="-120"/>
              </a:rPr>
              <a:t>millis() = 2500</a:t>
            </a:r>
            <a:endParaRPr lang="en-US" sz="1550" dirty="0"/>
          </a:p>
        </p:txBody>
      </p:sp>
      <p:sp>
        <p:nvSpPr>
          <p:cNvPr id="19" name="Text 16"/>
          <p:cNvSpPr/>
          <p:nvPr/>
        </p:nvSpPr>
        <p:spPr>
          <a:xfrm>
            <a:off x="10298509" y="6697027"/>
            <a:ext cx="4021455" cy="31754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latin typeface="Geist" pitchFamily="34" charset="0"/>
                <a:ea typeface="Geist" pitchFamily="34" charset="-122"/>
                <a:cs typeface="Geist" pitchFamily="34" charset="-120"/>
              </a:rPr>
              <a:t>Sau 1 phút:</a:t>
            </a:r>
            <a:endParaRPr lang="en-US" sz="1550" dirty="0"/>
          </a:p>
        </p:txBody>
      </p:sp>
      <p:sp>
        <p:nvSpPr>
          <p:cNvPr id="20" name="Text 17"/>
          <p:cNvSpPr/>
          <p:nvPr/>
        </p:nvSpPr>
        <p:spPr>
          <a:xfrm>
            <a:off x="10298509" y="7193160"/>
            <a:ext cx="4021455"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Geist" pitchFamily="34" charset="0"/>
                <a:ea typeface="Geist" pitchFamily="34" charset="-122"/>
                <a:cs typeface="Geist" pitchFamily="34" charset="-120"/>
              </a:rPr>
              <a:t>millis() = 60000</a:t>
            </a:r>
            <a:endParaRPr lang="en-US" sz="15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10"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500"/>
                                        <p:tgtEl>
                                          <p:spTgt spid="1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519266"/>
            <a:ext cx="7207329"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Công </a:t>
            </a:r>
            <a:r>
              <a:rPr lang="en-US" sz="3100" b="1" dirty="0" err="1">
                <a:solidFill>
                  <a:srgbClr val="006747"/>
                </a:solidFill>
                <a:latin typeface="Noto Serif SC Bold" pitchFamily="34" charset="0"/>
                <a:ea typeface="Noto Serif SC Bold" pitchFamily="34" charset="-122"/>
                <a:cs typeface="Noto Serif SC Bold" pitchFamily="34" charset="-120"/>
              </a:rPr>
              <a:t>thức</a:t>
            </a:r>
            <a:r>
              <a:rPr lang="en-US" sz="3100" b="1" dirty="0">
                <a:solidFill>
                  <a:srgbClr val="006747"/>
                </a:solidFill>
                <a:latin typeface="Noto Serif SC Bold" pitchFamily="34" charset="0"/>
                <a:ea typeface="Noto Serif SC Bold" pitchFamily="34" charset="-122"/>
                <a:cs typeface="Noto Serif SC Bold" pitchFamily="34" charset="-120"/>
              </a:rPr>
              <a:t> </a:t>
            </a:r>
            <a:r>
              <a:rPr lang="en-US" sz="3100" b="1" dirty="0" err="1">
                <a:solidFill>
                  <a:srgbClr val="006747"/>
                </a:solidFill>
                <a:latin typeface="Noto Serif SC Bold" pitchFamily="34" charset="0"/>
                <a:ea typeface="Noto Serif SC Bold" pitchFamily="34" charset="-122"/>
                <a:cs typeface="Noto Serif SC Bold" pitchFamily="34" charset="-120"/>
              </a:rPr>
              <a:t>của</a:t>
            </a:r>
            <a:r>
              <a:rPr lang="en-US" sz="3100" b="1" dirty="0">
                <a:solidFill>
                  <a:srgbClr val="006747"/>
                </a:solidFill>
                <a:latin typeface="Noto Serif SC Bold" pitchFamily="34" charset="0"/>
                <a:ea typeface="Noto Serif SC Bold" pitchFamily="34" charset="-122"/>
                <a:cs typeface="Noto Serif SC Bold" pitchFamily="34" charset="-120"/>
              </a:rPr>
              <a:t> đa nhiệm</a:t>
            </a:r>
            <a:endParaRPr lang="en-US" sz="3100" dirty="0"/>
          </a:p>
        </p:txBody>
      </p:sp>
      <p:sp>
        <p:nvSpPr>
          <p:cNvPr id="3" name="Text 1"/>
          <p:cNvSpPr/>
          <p:nvPr/>
        </p:nvSpPr>
        <p:spPr>
          <a:xfrm>
            <a:off x="1572724" y="1406367"/>
            <a:ext cx="1077732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Thay vì dùng delay() để chờ đợi, chúng ta sẽ liên tục so sánh thời gian hiện tại với thời gian mốc đã lưu. Khi đủ khoảng thời gian mong muốn, ta mới thực hiện công việc.</a:t>
            </a:r>
            <a:endParaRPr lang="en-US" dirty="0"/>
          </a:p>
        </p:txBody>
      </p:sp>
      <p:sp>
        <p:nvSpPr>
          <p:cNvPr id="6" name="Text 3"/>
          <p:cNvSpPr/>
          <p:nvPr/>
        </p:nvSpPr>
        <p:spPr>
          <a:xfrm>
            <a:off x="793790" y="3272490"/>
            <a:ext cx="1304282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Viết bằng code:</a:t>
            </a:r>
            <a:endParaRPr lang="en-US" dirty="0"/>
          </a:p>
        </p:txBody>
      </p:sp>
      <p:sp>
        <p:nvSpPr>
          <p:cNvPr id="7" name="Text 4"/>
          <p:cNvSpPr/>
          <p:nvPr/>
        </p:nvSpPr>
        <p:spPr>
          <a:xfrm>
            <a:off x="793790" y="4168735"/>
            <a:ext cx="13042821" cy="346948"/>
          </a:xfrm>
          <a:prstGeom prst="rect">
            <a:avLst/>
          </a:prstGeom>
          <a:noFill/>
          <a:ln/>
        </p:spPr>
        <p:txBody>
          <a:bodyPr wrap="none" lIns="0" tIns="0" rIns="0" bIns="0" rtlCol="0" anchor="t"/>
          <a:lstStyle/>
          <a:p>
            <a:pPr marL="0" indent="0" algn="l">
              <a:lnSpc>
                <a:spcPts val="2800"/>
              </a:lnSpc>
              <a:buNone/>
            </a:pPr>
            <a:endParaRPr lang="en-US" sz="1750" dirty="0"/>
          </a:p>
        </p:txBody>
      </p:sp>
      <p:pic>
        <p:nvPicPr>
          <p:cNvPr id="8" name="Image 1" descr="preencoded.png"/>
          <p:cNvPicPr>
            <a:picLocks noChangeAspect="1"/>
          </p:cNvPicPr>
          <p:nvPr/>
        </p:nvPicPr>
        <p:blipFill>
          <a:blip r:embed="rId3"/>
          <a:stretch>
            <a:fillRect/>
          </a:stretch>
        </p:blipFill>
        <p:spPr>
          <a:xfrm>
            <a:off x="793790" y="3590030"/>
            <a:ext cx="13042821" cy="346948"/>
          </a:xfrm>
          <a:prstGeom prst="rect">
            <a:avLst/>
          </a:prstGeom>
        </p:spPr>
      </p:pic>
      <p:pic>
        <p:nvPicPr>
          <p:cNvPr id="9" name="Image 2" descr="preencoded.png"/>
          <p:cNvPicPr>
            <a:picLocks noChangeAspect="1"/>
          </p:cNvPicPr>
          <p:nvPr/>
        </p:nvPicPr>
        <p:blipFill>
          <a:blip r:embed="rId4"/>
          <a:stretch>
            <a:fillRect/>
          </a:stretch>
        </p:blipFill>
        <p:spPr>
          <a:xfrm>
            <a:off x="793790" y="4766786"/>
            <a:ext cx="4347567" cy="793790"/>
          </a:xfrm>
          <a:prstGeom prst="rect">
            <a:avLst/>
          </a:prstGeom>
        </p:spPr>
      </p:pic>
      <p:sp>
        <p:nvSpPr>
          <p:cNvPr id="10" name="Text 5"/>
          <p:cNvSpPr/>
          <p:nvPr/>
        </p:nvSpPr>
        <p:spPr>
          <a:xfrm>
            <a:off x="992148" y="575893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currentMillis</a:t>
            </a:r>
            <a:endParaRPr lang="en-US" sz="1950" dirty="0"/>
          </a:p>
        </p:txBody>
      </p:sp>
      <p:sp>
        <p:nvSpPr>
          <p:cNvPr id="11" name="Text 6"/>
          <p:cNvSpPr/>
          <p:nvPr/>
        </p:nvSpPr>
        <p:spPr>
          <a:xfrm>
            <a:off x="992148" y="6188154"/>
            <a:ext cx="395085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Thời gian ngay bây giờ (millis())</a:t>
            </a:r>
            <a:endParaRPr lang="en-US" dirty="0"/>
          </a:p>
        </p:txBody>
      </p:sp>
      <p:pic>
        <p:nvPicPr>
          <p:cNvPr id="12" name="Image 3" descr="preencoded.png"/>
          <p:cNvPicPr>
            <a:picLocks noChangeAspect="1"/>
          </p:cNvPicPr>
          <p:nvPr/>
        </p:nvPicPr>
        <p:blipFill>
          <a:blip r:embed="rId5"/>
          <a:stretch>
            <a:fillRect/>
          </a:stretch>
        </p:blipFill>
        <p:spPr>
          <a:xfrm>
            <a:off x="5141357" y="4766786"/>
            <a:ext cx="4347567" cy="793790"/>
          </a:xfrm>
          <a:prstGeom prst="rect">
            <a:avLst/>
          </a:prstGeom>
        </p:spPr>
      </p:pic>
      <p:sp>
        <p:nvSpPr>
          <p:cNvPr id="13" name="Text 7"/>
          <p:cNvSpPr/>
          <p:nvPr/>
        </p:nvSpPr>
        <p:spPr>
          <a:xfrm>
            <a:off x="5339715" y="575893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previousMillis</a:t>
            </a:r>
            <a:endParaRPr lang="en-US" sz="1950" dirty="0"/>
          </a:p>
        </p:txBody>
      </p:sp>
      <p:sp>
        <p:nvSpPr>
          <p:cNvPr id="14" name="Text 8"/>
          <p:cNvSpPr/>
          <p:nvPr/>
        </p:nvSpPr>
        <p:spPr>
          <a:xfrm>
            <a:off x="5339715" y="6188154"/>
            <a:ext cx="395085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Thời điểm lần cuối ta làm việc này</a:t>
            </a:r>
            <a:endParaRPr lang="en-US" dirty="0"/>
          </a:p>
        </p:txBody>
      </p:sp>
      <p:pic>
        <p:nvPicPr>
          <p:cNvPr id="15" name="Image 4" descr="preencoded.png"/>
          <p:cNvPicPr>
            <a:picLocks noChangeAspect="1"/>
          </p:cNvPicPr>
          <p:nvPr/>
        </p:nvPicPr>
        <p:blipFill>
          <a:blip r:embed="rId6"/>
          <a:stretch>
            <a:fillRect/>
          </a:stretch>
        </p:blipFill>
        <p:spPr>
          <a:xfrm>
            <a:off x="9488924" y="4766786"/>
            <a:ext cx="4347567" cy="793790"/>
          </a:xfrm>
          <a:prstGeom prst="rect">
            <a:avLst/>
          </a:prstGeom>
        </p:spPr>
      </p:pic>
      <p:sp>
        <p:nvSpPr>
          <p:cNvPr id="16" name="Text 9"/>
          <p:cNvSpPr/>
          <p:nvPr/>
        </p:nvSpPr>
        <p:spPr>
          <a:xfrm>
            <a:off x="9687282" y="575893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interval</a:t>
            </a:r>
            <a:endParaRPr lang="en-US" sz="1950" dirty="0"/>
          </a:p>
        </p:txBody>
      </p:sp>
      <p:sp>
        <p:nvSpPr>
          <p:cNvPr id="17" name="Text 10"/>
          <p:cNvSpPr/>
          <p:nvPr/>
        </p:nvSpPr>
        <p:spPr>
          <a:xfrm>
            <a:off x="9687282" y="6188154"/>
            <a:ext cx="395085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Khoảng thời gian muốn chờ (ví dụ: 1000ms = 1 giây)</a:t>
            </a:r>
            <a:endParaRPr lang="en-US"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0E5AC43-E6AD-19F9-3E65-9D53419316C9}"/>
                  </a:ext>
                </a:extLst>
              </p:cNvPr>
              <p:cNvSpPr txBox="1"/>
              <p:nvPr/>
            </p:nvSpPr>
            <p:spPr>
              <a:xfrm>
                <a:off x="3183466" y="2472302"/>
                <a:ext cx="9561690" cy="369332"/>
              </a:xfrm>
              <a:prstGeom prst="rect">
                <a:avLst/>
              </a:prstGeom>
              <a:noFill/>
            </p:spPr>
            <p:txBody>
              <a:bodyPr wrap="square">
                <a:spAutoFit/>
              </a:bodyPr>
              <a:lstStyle/>
              <a:p>
                <a:r>
                  <a:rPr lang="en-US" b="1" dirty="0">
                    <a:solidFill>
                      <a:srgbClr val="4B4A4A"/>
                    </a:solidFill>
                    <a:latin typeface="Geist" pitchFamily="34" charset="0"/>
                    <a:ea typeface="Geist" pitchFamily="34" charset="-122"/>
                    <a:cs typeface="Geist" pitchFamily="34" charset="-120"/>
                  </a:rPr>
                  <a:t>Thời_gian_hiện</a:t>
                </a:r>
                <a:r>
                  <a:rPr lang="en-US" b="1" dirty="0" err="1">
                    <a:solidFill>
                      <a:srgbClr val="4B4A4A"/>
                    </a:solidFill>
                    <a:latin typeface="Geist" pitchFamily="34" charset="0"/>
                    <a:ea typeface="Geist" pitchFamily="34" charset="-122"/>
                    <a:cs typeface="Geist" pitchFamily="34" charset="-120"/>
                  </a:rPr>
                  <a:t>_tại</a:t>
                </a:r>
                <a:r>
                  <a:rPr lang="en-US" b="1" dirty="0">
                    <a:solidFill>
                      <a:srgbClr val="4B4A4A"/>
                    </a:solidFill>
                    <a:latin typeface="Geist" pitchFamily="34" charset="0"/>
                    <a:ea typeface="Geist" pitchFamily="34" charset="-122"/>
                    <a:cs typeface="Geist" pitchFamily="34" charset="-120"/>
                  </a:rPr>
                  <a:t> – </a:t>
                </a:r>
                <a:r>
                  <a:rPr lang="en-US" b="1" dirty="0" err="1">
                    <a:solidFill>
                      <a:srgbClr val="4B4A4A"/>
                    </a:solidFill>
                    <a:latin typeface="Geist" pitchFamily="34" charset="0"/>
                    <a:ea typeface="Geist" pitchFamily="34" charset="-122"/>
                    <a:cs typeface="Geist" pitchFamily="34" charset="-120"/>
                  </a:rPr>
                  <a:t>Thời_gian_trước</a:t>
                </a:r>
                <a:r>
                  <a:rPr lang="en-US" b="1" dirty="0">
                    <a:solidFill>
                      <a:srgbClr val="4B4A4A"/>
                    </a:solidFill>
                    <a:latin typeface="Geist" pitchFamily="34" charset="0"/>
                    <a:ea typeface="Geist" pitchFamily="34" charset="-122"/>
                    <a:cs typeface="Geist" pitchFamily="34" charset="-120"/>
                  </a:rPr>
                  <a:t> </a:t>
                </a:r>
                <a14:m>
                  <m:oMath xmlns:m="http://schemas.openxmlformats.org/officeDocument/2006/math">
                    <m:r>
                      <a:rPr lang="en-US" b="1">
                        <a:solidFill>
                          <a:srgbClr val="4B4A4A"/>
                        </a:solidFill>
                        <a:latin typeface="Cambria Math" panose="02040503050406030204" pitchFamily="18" charset="0"/>
                        <a:ea typeface="Geist" pitchFamily="34" charset="-122"/>
                        <a:cs typeface="Geist" pitchFamily="34" charset="-120"/>
                      </a:rPr>
                      <m:t>≥ </m:t>
                    </m:r>
                  </m:oMath>
                </a14:m>
                <a:r>
                  <a:rPr lang="en-US" b="1" dirty="0">
                    <a:solidFill>
                      <a:srgbClr val="4B4A4A"/>
                    </a:solidFill>
                    <a:latin typeface="Geist" pitchFamily="34" charset="0"/>
                    <a:ea typeface="Geist" pitchFamily="34" charset="-122"/>
                    <a:cs typeface="Geist" pitchFamily="34" charset="-120"/>
                  </a:rPr>
                  <a:t> </a:t>
                </a:r>
                <a:r>
                  <a:rPr lang="en-US" b="1" dirty="0" err="1">
                    <a:solidFill>
                      <a:srgbClr val="4B4A4A"/>
                    </a:solidFill>
                    <a:latin typeface="Geist" pitchFamily="34" charset="0"/>
                    <a:ea typeface="Geist" pitchFamily="34" charset="-122"/>
                    <a:cs typeface="Geist" pitchFamily="34" charset="-120"/>
                  </a:rPr>
                  <a:t>Khoảng_thời_gian_chờ</a:t>
                </a:r>
                <a:endParaRPr lang="en-US" b="1" dirty="0">
                  <a:solidFill>
                    <a:srgbClr val="4B4A4A"/>
                  </a:solidFill>
                  <a:latin typeface="Geist" pitchFamily="34" charset="0"/>
                  <a:ea typeface="Geist" pitchFamily="34" charset="-122"/>
                  <a:cs typeface="Geist" pitchFamily="34" charset="-120"/>
                </a:endParaRPr>
              </a:p>
            </p:txBody>
          </p:sp>
        </mc:Choice>
        <mc:Fallback xmlns="">
          <p:sp>
            <p:nvSpPr>
              <p:cNvPr id="19" name="TextBox 18">
                <a:extLst>
                  <a:ext uri="{FF2B5EF4-FFF2-40B4-BE49-F238E27FC236}">
                    <a16:creationId xmlns:a16="http://schemas.microsoft.com/office/drawing/2014/main" id="{E0E5AC43-E6AD-19F9-3E65-9D53419316C9}"/>
                  </a:ext>
                </a:extLst>
              </p:cNvPr>
              <p:cNvSpPr txBox="1">
                <a:spLocks noRot="1" noChangeAspect="1" noMove="1" noResize="1" noEditPoints="1" noAdjustHandles="1" noChangeArrowheads="1" noChangeShapeType="1" noTextEdit="1"/>
              </p:cNvSpPr>
              <p:nvPr/>
            </p:nvSpPr>
            <p:spPr>
              <a:xfrm>
                <a:off x="3183466" y="2472302"/>
                <a:ext cx="9561690" cy="369332"/>
              </a:xfrm>
              <a:prstGeom prst="rect">
                <a:avLst/>
              </a:prstGeom>
              <a:blipFill>
                <a:blip r:embed="rId7"/>
                <a:stretch>
                  <a:fillRect l="-510" t="-13333" b="-2666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3" grpId="0" animBg="1"/>
      <p:bldP spid="14" grpId="0" animBg="1"/>
      <p:bldP spid="16" grpId="0" animBg="1"/>
      <p:bldP spid="17" grpId="0" animBg="1"/>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97430"/>
          </a:xfrm>
          <a:prstGeom prst="rect">
            <a:avLst/>
          </a:prstGeom>
        </p:spPr>
      </p:pic>
      <p:sp>
        <p:nvSpPr>
          <p:cNvPr id="3" name="Text 0"/>
          <p:cNvSpPr/>
          <p:nvPr/>
        </p:nvSpPr>
        <p:spPr>
          <a:xfrm>
            <a:off x="700207" y="2669500"/>
            <a:ext cx="6611303" cy="437674"/>
          </a:xfrm>
          <a:prstGeom prst="rect">
            <a:avLst/>
          </a:prstGeom>
          <a:noFill/>
          <a:ln/>
        </p:spPr>
        <p:txBody>
          <a:bodyPr wrap="none" lIns="0" tIns="0" rIns="0" bIns="0" rtlCol="0" anchor="t"/>
          <a:lstStyle/>
          <a:p>
            <a:pPr marL="0" indent="0" algn="l">
              <a:lnSpc>
                <a:spcPts val="3400"/>
              </a:lnSpc>
              <a:buNone/>
            </a:pPr>
            <a:r>
              <a:rPr lang="en-US" sz="2750" b="1" dirty="0">
                <a:solidFill>
                  <a:srgbClr val="006747"/>
                </a:solidFill>
                <a:latin typeface="Noto Serif SC Bold" pitchFamily="34" charset="0"/>
                <a:ea typeface="Noto Serif SC Bold" pitchFamily="34" charset="-122"/>
                <a:cs typeface="Noto Serif SC Bold" pitchFamily="34" charset="-120"/>
              </a:rPr>
              <a:t>Minh họa cách hoạt động của millis()</a:t>
            </a:r>
            <a:endParaRPr lang="en-US" sz="2750" dirty="0"/>
          </a:p>
        </p:txBody>
      </p:sp>
      <p:sp>
        <p:nvSpPr>
          <p:cNvPr id="4" name="Text 1"/>
          <p:cNvSpPr/>
          <p:nvPr/>
        </p:nvSpPr>
        <p:spPr>
          <a:xfrm>
            <a:off x="700207" y="3544729"/>
            <a:ext cx="2885122" cy="273487"/>
          </a:xfrm>
          <a:prstGeom prst="rect">
            <a:avLst/>
          </a:prstGeom>
          <a:noFill/>
          <a:ln/>
        </p:spPr>
        <p:txBody>
          <a:bodyPr wrap="none" lIns="0" tIns="0" rIns="0" bIns="0" rtlCol="0" anchor="t"/>
          <a:lstStyle/>
          <a:p>
            <a:pPr marL="0" indent="0" algn="l">
              <a:lnSpc>
                <a:spcPts val="2150"/>
              </a:lnSpc>
              <a:buNone/>
            </a:pPr>
            <a:r>
              <a:rPr lang="en-US" b="1" dirty="0">
                <a:solidFill>
                  <a:srgbClr val="006747"/>
                </a:solidFill>
                <a:latin typeface="Noto Serif SC Bold" pitchFamily="34" charset="0"/>
                <a:ea typeface="Noto Serif SC Bold" pitchFamily="34" charset="-122"/>
                <a:cs typeface="Noto Serif SC Bold" pitchFamily="34" charset="-120"/>
              </a:rPr>
              <a:t>Bước 1: Lưu mốc thời gian</a:t>
            </a:r>
            <a:endParaRPr lang="en-US" dirty="0"/>
          </a:p>
        </p:txBody>
      </p:sp>
      <p:sp>
        <p:nvSpPr>
          <p:cNvPr id="5" name="Shape 2"/>
          <p:cNvSpPr/>
          <p:nvPr/>
        </p:nvSpPr>
        <p:spPr>
          <a:xfrm>
            <a:off x="700207" y="4015145"/>
            <a:ext cx="6401514" cy="822484"/>
          </a:xfrm>
          <a:prstGeom prst="roundRect">
            <a:avLst>
              <a:gd name="adj" fmla="val 19155"/>
            </a:avLst>
          </a:prstGeom>
          <a:solidFill>
            <a:srgbClr val="D8ECE5"/>
          </a:solidFill>
          <a:ln/>
        </p:spPr>
      </p:sp>
      <p:sp>
        <p:nvSpPr>
          <p:cNvPr id="6" name="Shape 3"/>
          <p:cNvSpPr/>
          <p:nvPr/>
        </p:nvSpPr>
        <p:spPr>
          <a:xfrm>
            <a:off x="691515" y="4015145"/>
            <a:ext cx="6418898" cy="822484"/>
          </a:xfrm>
          <a:prstGeom prst="roundRect">
            <a:avLst>
              <a:gd name="adj" fmla="val 3193"/>
            </a:avLst>
          </a:prstGeom>
          <a:solidFill>
            <a:srgbClr val="D8ECE5"/>
          </a:solidFill>
          <a:ln/>
        </p:spPr>
      </p:sp>
      <p:sp>
        <p:nvSpPr>
          <p:cNvPr id="7" name="Text 4"/>
          <p:cNvSpPr/>
          <p:nvPr/>
        </p:nvSpPr>
        <p:spPr>
          <a:xfrm>
            <a:off x="866537" y="4146352"/>
            <a:ext cx="6068854" cy="560070"/>
          </a:xfrm>
          <a:prstGeom prst="rect">
            <a:avLst/>
          </a:prstGeom>
          <a:noFill/>
          <a:ln/>
        </p:spPr>
        <p:txBody>
          <a:bodyPr wrap="square" lIns="0" tIns="0" rIns="0" bIns="0" rtlCol="0" anchor="t"/>
          <a:lstStyle/>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unsigned long previousMillis = 0;</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unsigned long interval = 1000; // 1 giây</a:t>
            </a:r>
            <a:endParaRPr lang="en-US" dirty="0"/>
          </a:p>
        </p:txBody>
      </p:sp>
      <p:sp>
        <p:nvSpPr>
          <p:cNvPr id="8" name="Text 5"/>
          <p:cNvSpPr/>
          <p:nvPr/>
        </p:nvSpPr>
        <p:spPr>
          <a:xfrm>
            <a:off x="700207" y="5034558"/>
            <a:ext cx="6401514" cy="280035"/>
          </a:xfrm>
          <a:prstGeom prst="rect">
            <a:avLst/>
          </a:prstGeom>
          <a:noFill/>
          <a:ln/>
        </p:spPr>
        <p:txBody>
          <a:bodyPr wrap="none" lIns="0" tIns="0" rIns="0" bIns="0" rtlCol="0" anchor="t"/>
          <a:lstStyle/>
          <a:p>
            <a:pPr marL="0" indent="0" algn="l">
              <a:lnSpc>
                <a:spcPts val="2200"/>
              </a:lnSpc>
              <a:buNone/>
            </a:pPr>
            <a:r>
              <a:rPr lang="en-US" dirty="0">
                <a:solidFill>
                  <a:srgbClr val="4B4A4A"/>
                </a:solidFill>
                <a:latin typeface="Geist" pitchFamily="34" charset="0"/>
                <a:ea typeface="Geist" pitchFamily="34" charset="-122"/>
                <a:cs typeface="Geist" pitchFamily="34" charset="-120"/>
              </a:rPr>
              <a:t>Khi bắt đầu, ta lưu mốc thời gian là 0</a:t>
            </a:r>
            <a:endParaRPr lang="en-US" dirty="0"/>
          </a:p>
        </p:txBody>
      </p:sp>
      <p:sp>
        <p:nvSpPr>
          <p:cNvPr id="9" name="Text 6"/>
          <p:cNvSpPr/>
          <p:nvPr/>
        </p:nvSpPr>
        <p:spPr>
          <a:xfrm>
            <a:off x="7711320" y="3074314"/>
            <a:ext cx="2767489" cy="273487"/>
          </a:xfrm>
          <a:prstGeom prst="rect">
            <a:avLst/>
          </a:prstGeom>
          <a:noFill/>
          <a:ln/>
        </p:spPr>
        <p:txBody>
          <a:bodyPr wrap="none" lIns="0" tIns="0" rIns="0" bIns="0" rtlCol="0" anchor="t"/>
          <a:lstStyle/>
          <a:p>
            <a:pPr marL="0" indent="0" algn="l">
              <a:lnSpc>
                <a:spcPts val="2150"/>
              </a:lnSpc>
              <a:buNone/>
            </a:pPr>
            <a:r>
              <a:rPr lang="en-US" b="1" dirty="0">
                <a:solidFill>
                  <a:srgbClr val="006747"/>
                </a:solidFill>
                <a:latin typeface="Noto Serif SC Bold" pitchFamily="34" charset="0"/>
                <a:ea typeface="Noto Serif SC Bold" pitchFamily="34" charset="-122"/>
                <a:cs typeface="Noto Serif SC Bold" pitchFamily="34" charset="-120"/>
              </a:rPr>
              <a:t>Bước 2: Liên tục kiểm tra</a:t>
            </a:r>
            <a:endParaRPr lang="en-US" dirty="0"/>
          </a:p>
        </p:txBody>
      </p:sp>
      <p:sp>
        <p:nvSpPr>
          <p:cNvPr id="10" name="Shape 7"/>
          <p:cNvSpPr/>
          <p:nvPr/>
        </p:nvSpPr>
        <p:spPr>
          <a:xfrm>
            <a:off x="7711320" y="3544730"/>
            <a:ext cx="6401514" cy="3062764"/>
          </a:xfrm>
          <a:prstGeom prst="roundRect">
            <a:avLst>
              <a:gd name="adj" fmla="val 5144"/>
            </a:avLst>
          </a:prstGeom>
          <a:solidFill>
            <a:srgbClr val="D8ECE5"/>
          </a:solidFill>
          <a:ln/>
        </p:spPr>
      </p:sp>
      <p:sp>
        <p:nvSpPr>
          <p:cNvPr id="11" name="Shape 8"/>
          <p:cNvSpPr/>
          <p:nvPr/>
        </p:nvSpPr>
        <p:spPr>
          <a:xfrm>
            <a:off x="7702629" y="3544729"/>
            <a:ext cx="6836091" cy="3356499"/>
          </a:xfrm>
          <a:prstGeom prst="roundRect">
            <a:avLst>
              <a:gd name="adj" fmla="val 857"/>
            </a:avLst>
          </a:prstGeom>
          <a:solidFill>
            <a:srgbClr val="D8ECE5"/>
          </a:solidFill>
          <a:ln/>
        </p:spPr>
      </p:sp>
      <p:sp>
        <p:nvSpPr>
          <p:cNvPr id="12" name="Text 9"/>
          <p:cNvSpPr/>
          <p:nvPr/>
        </p:nvSpPr>
        <p:spPr>
          <a:xfrm>
            <a:off x="7877649" y="3675937"/>
            <a:ext cx="6661071" cy="2800350"/>
          </a:xfrm>
          <a:prstGeom prst="rect">
            <a:avLst/>
          </a:prstGeom>
          <a:noFill/>
          <a:ln/>
        </p:spPr>
        <p:txBody>
          <a:bodyPr wrap="square" lIns="0" tIns="0" rIns="0" bIns="0" rtlCol="0" anchor="t"/>
          <a:lstStyle/>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loop() {</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  unsigned long currentMillis = millis();</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  if (currentMillis - previousMillis &gt;= interval) {</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    // Đã đủ 1 giây rồi!</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    previousMillis = currentMillis;</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    // Làm công việc (nháy LED, đọc sensor...)</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  // Code khác vẫn chạy bình thường!</a:t>
            </a:r>
            <a:endParaRPr lang="en-US" dirty="0"/>
          </a:p>
          <a:p>
            <a:pPr marL="0" indent="0" algn="l">
              <a:lnSpc>
                <a:spcPts val="22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13" name="Text 10"/>
          <p:cNvSpPr/>
          <p:nvPr/>
        </p:nvSpPr>
        <p:spPr>
          <a:xfrm>
            <a:off x="304087" y="6480004"/>
            <a:ext cx="13229987" cy="1549579"/>
          </a:xfrm>
          <a:prstGeom prst="rect">
            <a:avLst/>
          </a:prstGeom>
          <a:noFill/>
          <a:ln/>
        </p:spPr>
        <p:txBody>
          <a:bodyPr wrap="square" lIns="0" tIns="0" rIns="0" bIns="0" rtlCol="0" anchor="t"/>
          <a:lstStyle/>
          <a:p>
            <a:pPr marL="0" indent="0" algn="l">
              <a:lnSpc>
                <a:spcPts val="2200"/>
              </a:lnSpc>
              <a:buNone/>
            </a:pPr>
            <a:r>
              <a:rPr lang="en-US" b="1" dirty="0">
                <a:solidFill>
                  <a:srgbClr val="4B4A4A"/>
                </a:solidFill>
                <a:latin typeface="Geist" pitchFamily="34" charset="0"/>
                <a:ea typeface="Geist" pitchFamily="34" charset="-122"/>
                <a:cs typeface="Geist" pitchFamily="34" charset="-120"/>
              </a:rPr>
              <a:t>Điểm mạnh: </a:t>
            </a:r>
          </a:p>
          <a:p>
            <a:pPr marL="0" indent="0" algn="l">
              <a:lnSpc>
                <a:spcPts val="2200"/>
              </a:lnSpc>
              <a:buNone/>
            </a:pPr>
            <a:r>
              <a:rPr lang="en-US" dirty="0">
                <a:solidFill>
                  <a:srgbClr val="4B4A4A"/>
                </a:solidFill>
                <a:latin typeface="Geist" pitchFamily="34" charset="0"/>
                <a:ea typeface="Geist" pitchFamily="34" charset="-122"/>
                <a:cs typeface="Geist" pitchFamily="34" charset="-120"/>
              </a:rPr>
              <a:t>Trong khi chờ đủ 1 giây, ESP32 vẫn có thể </a:t>
            </a:r>
            <a:r>
              <a:rPr lang="en-US" dirty="0" err="1">
                <a:solidFill>
                  <a:srgbClr val="4B4A4A"/>
                </a:solidFill>
                <a:latin typeface="Geist" pitchFamily="34" charset="0"/>
                <a:ea typeface="Geist" pitchFamily="34" charset="-122"/>
                <a:cs typeface="Geist" pitchFamily="34" charset="-120"/>
              </a:rPr>
              <a:t>làm</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các</a:t>
            </a:r>
            <a:r>
              <a:rPr lang="en-US" dirty="0">
                <a:solidFill>
                  <a:srgbClr val="4B4A4A"/>
                </a:solidFill>
                <a:latin typeface="Geist" pitchFamily="34" charset="0"/>
                <a:ea typeface="Geist" pitchFamily="34" charset="-122"/>
                <a:cs typeface="Geist" pitchFamily="34" charset="-120"/>
              </a:rPr>
              <a:t> việc khác. </a:t>
            </a:r>
          </a:p>
          <a:p>
            <a:pPr marL="0" indent="0" algn="l">
              <a:lnSpc>
                <a:spcPts val="2200"/>
              </a:lnSpc>
              <a:buNone/>
            </a:pPr>
            <a:r>
              <a:rPr lang="en-US" dirty="0" err="1">
                <a:solidFill>
                  <a:srgbClr val="4B4A4A"/>
                </a:solidFill>
                <a:latin typeface="Geist" pitchFamily="34" charset="0"/>
                <a:ea typeface="Geist" pitchFamily="34" charset="-122"/>
                <a:cs typeface="Geist" pitchFamily="34" charset="-120"/>
              </a:rPr>
              <a:t>Nó</a:t>
            </a:r>
            <a:r>
              <a:rPr lang="en-US" dirty="0">
                <a:solidFill>
                  <a:srgbClr val="4B4A4A"/>
                </a:solidFill>
                <a:latin typeface="Geist" pitchFamily="34" charset="0"/>
                <a:ea typeface="Geist" pitchFamily="34" charset="-122"/>
                <a:cs typeface="Geist" pitchFamily="34" charset="-120"/>
              </a:rPr>
              <a:t> không "ngủ" như delay(), mà chỉ "liếc đồng hồ" mỗi lần loop() chạy qua.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46117" y="744630"/>
            <a:ext cx="6692265"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Tại sao phải dùng unsigned long?</a:t>
            </a:r>
            <a:endParaRPr lang="en-US" sz="3100" dirty="0"/>
          </a:p>
        </p:txBody>
      </p:sp>
      <p:sp>
        <p:nvSpPr>
          <p:cNvPr id="3" name="Shape 1"/>
          <p:cNvSpPr/>
          <p:nvPr/>
        </p:nvSpPr>
        <p:spPr>
          <a:xfrm>
            <a:off x="793790" y="2619732"/>
            <a:ext cx="4215289" cy="2499003"/>
          </a:xfrm>
          <a:prstGeom prst="roundRect">
            <a:avLst>
              <a:gd name="adj" fmla="val 7148"/>
            </a:avLst>
          </a:prstGeom>
          <a:solidFill>
            <a:srgbClr val="E5F9F2">
              <a:alpha val="95000"/>
            </a:srgbClr>
          </a:solidFill>
          <a:ln w="22860">
            <a:solidFill>
              <a:srgbClr val="B7D5CA"/>
            </a:solidFill>
            <a:prstDash val="solid"/>
          </a:ln>
        </p:spPr>
      </p:sp>
      <p:sp>
        <p:nvSpPr>
          <p:cNvPr id="4" name="Text 2"/>
          <p:cNvSpPr/>
          <p:nvPr/>
        </p:nvSpPr>
        <p:spPr>
          <a:xfrm>
            <a:off x="1015008" y="284095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unsigned long</a:t>
            </a:r>
            <a:endParaRPr lang="en-US" sz="1950" dirty="0"/>
          </a:p>
        </p:txBody>
      </p:sp>
      <p:sp>
        <p:nvSpPr>
          <p:cNvPr id="5" name="Text 3"/>
          <p:cNvSpPr/>
          <p:nvPr/>
        </p:nvSpPr>
        <p:spPr>
          <a:xfrm>
            <a:off x="1015008" y="3270171"/>
            <a:ext cx="3772853"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Kích thước:</a:t>
            </a:r>
            <a:r>
              <a:rPr lang="en-US" sz="1550" dirty="0">
                <a:solidFill>
                  <a:srgbClr val="4B4A4A"/>
                </a:solidFill>
                <a:latin typeface="Geist" pitchFamily="34" charset="0"/>
                <a:ea typeface="Geist" pitchFamily="34" charset="-122"/>
                <a:cs typeface="Geist" pitchFamily="34" charset="-120"/>
              </a:rPr>
              <a:t> 4 bytes (32 bits)</a:t>
            </a:r>
            <a:endParaRPr lang="en-US" sz="1550" dirty="0"/>
          </a:p>
        </p:txBody>
      </p:sp>
      <p:sp>
        <p:nvSpPr>
          <p:cNvPr id="6" name="Text 4"/>
          <p:cNvSpPr/>
          <p:nvPr/>
        </p:nvSpPr>
        <p:spPr>
          <a:xfrm>
            <a:off x="1015008" y="3706773"/>
            <a:ext cx="3772853"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Giá trị tối đa:</a:t>
            </a:r>
            <a:r>
              <a:rPr lang="en-US" sz="1550" dirty="0">
                <a:solidFill>
                  <a:srgbClr val="4B4A4A"/>
                </a:solidFill>
                <a:latin typeface="Geist" pitchFamily="34" charset="0"/>
                <a:ea typeface="Geist" pitchFamily="34" charset="-122"/>
                <a:cs typeface="Geist" pitchFamily="34" charset="-120"/>
              </a:rPr>
              <a:t> 4,294,967,295</a:t>
            </a:r>
            <a:endParaRPr lang="en-US" sz="1550" dirty="0"/>
          </a:p>
        </p:txBody>
      </p:sp>
      <p:sp>
        <p:nvSpPr>
          <p:cNvPr id="7" name="Text 5"/>
          <p:cNvSpPr/>
          <p:nvPr/>
        </p:nvSpPr>
        <p:spPr>
          <a:xfrm>
            <a:off x="1015008" y="4143375"/>
            <a:ext cx="3772853"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Thời gian chạy tối đa:</a:t>
            </a:r>
            <a:r>
              <a:rPr lang="en-US" sz="1550" dirty="0">
                <a:solidFill>
                  <a:srgbClr val="4B4A4A"/>
                </a:solidFill>
                <a:latin typeface="Geist" pitchFamily="34" charset="0"/>
                <a:ea typeface="Geist" pitchFamily="34" charset="-122"/>
                <a:cs typeface="Geist" pitchFamily="34" charset="-120"/>
              </a:rPr>
              <a:t> ~49.7 ngày</a:t>
            </a:r>
            <a:endParaRPr lang="en-US" sz="1550" dirty="0"/>
          </a:p>
        </p:txBody>
      </p:sp>
      <p:sp>
        <p:nvSpPr>
          <p:cNvPr id="8" name="Text 6"/>
          <p:cNvSpPr/>
          <p:nvPr/>
        </p:nvSpPr>
        <p:spPr>
          <a:xfrm>
            <a:off x="1015008" y="4579977"/>
            <a:ext cx="3772853" cy="317540"/>
          </a:xfrm>
          <a:prstGeom prst="rect">
            <a:avLst/>
          </a:prstGeom>
          <a:noFill/>
          <a:ln/>
        </p:spPr>
        <p:txBody>
          <a:bodyPr wrap="none" lIns="0" tIns="0" rIns="0" bIns="0" rtlCol="0" anchor="t"/>
          <a:lstStyle/>
          <a:p>
            <a:pPr marL="0" indent="0" algn="l">
              <a:lnSpc>
                <a:spcPts val="2500"/>
              </a:lnSpc>
              <a:buNone/>
            </a:pPr>
            <a:r>
              <a:rPr lang="en-US" sz="1550" dirty="0">
                <a:solidFill>
                  <a:srgbClr val="4B4A4A"/>
                </a:solidFill>
                <a:highlight>
                  <a:srgbClr val="E5F9F2"/>
                </a:highlight>
                <a:latin typeface="Geist" pitchFamily="34" charset="0"/>
                <a:ea typeface="Geist" pitchFamily="34" charset="-122"/>
                <a:cs typeface="Geist" pitchFamily="34" charset="-120"/>
              </a:rPr>
              <a:t>ĐÚNG - Dùng loại này cho millis()</a:t>
            </a:r>
            <a:endParaRPr lang="en-US" sz="1550" dirty="0"/>
          </a:p>
        </p:txBody>
      </p:sp>
      <p:sp>
        <p:nvSpPr>
          <p:cNvPr id="9" name="Shape 7"/>
          <p:cNvSpPr/>
          <p:nvPr/>
        </p:nvSpPr>
        <p:spPr>
          <a:xfrm>
            <a:off x="5207437" y="2619732"/>
            <a:ext cx="4215408" cy="2499003"/>
          </a:xfrm>
          <a:prstGeom prst="roundRect">
            <a:avLst>
              <a:gd name="adj" fmla="val 7148"/>
            </a:avLst>
          </a:prstGeom>
          <a:solidFill>
            <a:srgbClr val="E5F9F2">
              <a:alpha val="95000"/>
            </a:srgbClr>
          </a:solidFill>
          <a:ln w="22860">
            <a:solidFill>
              <a:srgbClr val="B7D5CA"/>
            </a:solidFill>
            <a:prstDash val="solid"/>
          </a:ln>
        </p:spPr>
      </p:sp>
      <p:sp>
        <p:nvSpPr>
          <p:cNvPr id="10" name="Text 8"/>
          <p:cNvSpPr/>
          <p:nvPr/>
        </p:nvSpPr>
        <p:spPr>
          <a:xfrm>
            <a:off x="5428655" y="284095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int</a:t>
            </a:r>
            <a:endParaRPr lang="en-US" sz="1950" dirty="0"/>
          </a:p>
        </p:txBody>
      </p:sp>
      <p:sp>
        <p:nvSpPr>
          <p:cNvPr id="11" name="Text 9"/>
          <p:cNvSpPr/>
          <p:nvPr/>
        </p:nvSpPr>
        <p:spPr>
          <a:xfrm>
            <a:off x="5428655" y="3270171"/>
            <a:ext cx="3772972"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Kích thước:</a:t>
            </a:r>
            <a:r>
              <a:rPr lang="en-US" sz="1550" dirty="0">
                <a:solidFill>
                  <a:srgbClr val="4B4A4A"/>
                </a:solidFill>
                <a:latin typeface="Geist" pitchFamily="34" charset="0"/>
                <a:ea typeface="Geist" pitchFamily="34" charset="-122"/>
                <a:cs typeface="Geist" pitchFamily="34" charset="-120"/>
              </a:rPr>
              <a:t> 2 bytes (16 bits)</a:t>
            </a:r>
            <a:endParaRPr lang="en-US" sz="1550" dirty="0"/>
          </a:p>
        </p:txBody>
      </p:sp>
      <p:sp>
        <p:nvSpPr>
          <p:cNvPr id="12" name="Text 10"/>
          <p:cNvSpPr/>
          <p:nvPr/>
        </p:nvSpPr>
        <p:spPr>
          <a:xfrm>
            <a:off x="5428655" y="3706773"/>
            <a:ext cx="3772972"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Giá trị tối đa:</a:t>
            </a:r>
            <a:r>
              <a:rPr lang="en-US" sz="1550" dirty="0">
                <a:solidFill>
                  <a:srgbClr val="4B4A4A"/>
                </a:solidFill>
                <a:latin typeface="Geist" pitchFamily="34" charset="0"/>
                <a:ea typeface="Geist" pitchFamily="34" charset="-122"/>
                <a:cs typeface="Geist" pitchFamily="34" charset="-120"/>
              </a:rPr>
              <a:t> 32,767</a:t>
            </a:r>
            <a:endParaRPr lang="en-US" sz="1550" dirty="0"/>
          </a:p>
        </p:txBody>
      </p:sp>
      <p:sp>
        <p:nvSpPr>
          <p:cNvPr id="13" name="Text 11"/>
          <p:cNvSpPr/>
          <p:nvPr/>
        </p:nvSpPr>
        <p:spPr>
          <a:xfrm>
            <a:off x="5428655" y="4143375"/>
            <a:ext cx="3772972"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Thời gian chạy tối đa:</a:t>
            </a:r>
            <a:r>
              <a:rPr lang="en-US" sz="1550" dirty="0">
                <a:solidFill>
                  <a:srgbClr val="4B4A4A"/>
                </a:solidFill>
                <a:latin typeface="Geist" pitchFamily="34" charset="0"/>
                <a:ea typeface="Geist" pitchFamily="34" charset="-122"/>
                <a:cs typeface="Geist" pitchFamily="34" charset="-120"/>
              </a:rPr>
              <a:t> Chỉ 32.7 giây</a:t>
            </a:r>
            <a:endParaRPr lang="en-US" sz="1550" dirty="0"/>
          </a:p>
        </p:txBody>
      </p:sp>
      <p:sp>
        <p:nvSpPr>
          <p:cNvPr id="14" name="Text 12"/>
          <p:cNvSpPr/>
          <p:nvPr/>
        </p:nvSpPr>
        <p:spPr>
          <a:xfrm>
            <a:off x="5428655" y="4579977"/>
            <a:ext cx="3772972" cy="317540"/>
          </a:xfrm>
          <a:prstGeom prst="rect">
            <a:avLst/>
          </a:prstGeom>
          <a:noFill/>
          <a:ln/>
        </p:spPr>
        <p:txBody>
          <a:bodyPr wrap="none" lIns="0" tIns="0" rIns="0" bIns="0" rtlCol="0" anchor="t"/>
          <a:lstStyle/>
          <a:p>
            <a:pPr marL="0" indent="0" algn="l">
              <a:lnSpc>
                <a:spcPts val="2500"/>
              </a:lnSpc>
              <a:buNone/>
            </a:pPr>
            <a:r>
              <a:rPr lang="en-US" sz="1550" dirty="0">
                <a:solidFill>
                  <a:srgbClr val="FF0000"/>
                </a:solidFill>
                <a:latin typeface="Geist" pitchFamily="34" charset="0"/>
                <a:ea typeface="Geist" pitchFamily="34" charset="-122"/>
                <a:cs typeface="Geist" pitchFamily="34" charset="-120"/>
              </a:rPr>
              <a:t>SAI - Sẽ bị tràn số sau 32 giây!</a:t>
            </a:r>
            <a:endParaRPr lang="en-US" sz="1550" dirty="0"/>
          </a:p>
        </p:txBody>
      </p:sp>
      <p:sp>
        <p:nvSpPr>
          <p:cNvPr id="15" name="Shape 13"/>
          <p:cNvSpPr/>
          <p:nvPr/>
        </p:nvSpPr>
        <p:spPr>
          <a:xfrm>
            <a:off x="9621203" y="2619732"/>
            <a:ext cx="4215289" cy="2499003"/>
          </a:xfrm>
          <a:prstGeom prst="roundRect">
            <a:avLst>
              <a:gd name="adj" fmla="val 7148"/>
            </a:avLst>
          </a:prstGeom>
          <a:solidFill>
            <a:srgbClr val="E5F9F2">
              <a:alpha val="95000"/>
            </a:srgbClr>
          </a:solidFill>
          <a:ln w="22860">
            <a:solidFill>
              <a:srgbClr val="B7D5CA"/>
            </a:solidFill>
            <a:prstDash val="solid"/>
          </a:ln>
        </p:spPr>
      </p:sp>
      <p:sp>
        <p:nvSpPr>
          <p:cNvPr id="16" name="Text 14"/>
          <p:cNvSpPr/>
          <p:nvPr/>
        </p:nvSpPr>
        <p:spPr>
          <a:xfrm>
            <a:off x="9842421" y="284095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long</a:t>
            </a:r>
            <a:endParaRPr lang="en-US" sz="1950" dirty="0"/>
          </a:p>
        </p:txBody>
      </p:sp>
      <p:sp>
        <p:nvSpPr>
          <p:cNvPr id="17" name="Text 15"/>
          <p:cNvSpPr/>
          <p:nvPr/>
        </p:nvSpPr>
        <p:spPr>
          <a:xfrm>
            <a:off x="9842421" y="3270171"/>
            <a:ext cx="3772853"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Kích thước:</a:t>
            </a:r>
            <a:r>
              <a:rPr lang="en-US" sz="1550" dirty="0">
                <a:solidFill>
                  <a:srgbClr val="4B4A4A"/>
                </a:solidFill>
                <a:latin typeface="Geist" pitchFamily="34" charset="0"/>
                <a:ea typeface="Geist" pitchFamily="34" charset="-122"/>
                <a:cs typeface="Geist" pitchFamily="34" charset="-120"/>
              </a:rPr>
              <a:t> 4 bytes (32 bits)</a:t>
            </a:r>
            <a:endParaRPr lang="en-US" sz="1550" dirty="0"/>
          </a:p>
        </p:txBody>
      </p:sp>
      <p:sp>
        <p:nvSpPr>
          <p:cNvPr id="18" name="Text 16"/>
          <p:cNvSpPr/>
          <p:nvPr/>
        </p:nvSpPr>
        <p:spPr>
          <a:xfrm>
            <a:off x="9842421" y="3706773"/>
            <a:ext cx="3772853"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Giá trị tối đa:</a:t>
            </a:r>
            <a:r>
              <a:rPr lang="en-US" sz="1550" dirty="0">
                <a:solidFill>
                  <a:srgbClr val="4B4A4A"/>
                </a:solidFill>
                <a:latin typeface="Geist" pitchFamily="34" charset="0"/>
                <a:ea typeface="Geist" pitchFamily="34" charset="-122"/>
                <a:cs typeface="Geist" pitchFamily="34" charset="-120"/>
              </a:rPr>
              <a:t> 2,147,483,647</a:t>
            </a:r>
            <a:endParaRPr lang="en-US" sz="1550" dirty="0"/>
          </a:p>
        </p:txBody>
      </p:sp>
      <p:sp>
        <p:nvSpPr>
          <p:cNvPr id="19" name="Text 17"/>
          <p:cNvSpPr/>
          <p:nvPr/>
        </p:nvSpPr>
        <p:spPr>
          <a:xfrm>
            <a:off x="9842421" y="4143375"/>
            <a:ext cx="3772853" cy="317540"/>
          </a:xfrm>
          <a:prstGeom prst="rect">
            <a:avLst/>
          </a:prstGeom>
          <a:noFill/>
          <a:ln/>
        </p:spPr>
        <p:txBody>
          <a:bodyPr wrap="non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Thời gian chạy tối đa:</a:t>
            </a:r>
            <a:r>
              <a:rPr lang="en-US" sz="1550" dirty="0">
                <a:solidFill>
                  <a:srgbClr val="4B4A4A"/>
                </a:solidFill>
                <a:latin typeface="Geist" pitchFamily="34" charset="0"/>
                <a:ea typeface="Geist" pitchFamily="34" charset="-122"/>
                <a:cs typeface="Geist" pitchFamily="34" charset="-120"/>
              </a:rPr>
              <a:t> ~24.8 ngày</a:t>
            </a:r>
            <a:endParaRPr lang="en-US" sz="1550" dirty="0"/>
          </a:p>
        </p:txBody>
      </p:sp>
      <p:sp>
        <p:nvSpPr>
          <p:cNvPr id="20" name="Text 18"/>
          <p:cNvSpPr/>
          <p:nvPr/>
        </p:nvSpPr>
        <p:spPr>
          <a:xfrm>
            <a:off x="9842421" y="4579977"/>
            <a:ext cx="3772853" cy="317540"/>
          </a:xfrm>
          <a:prstGeom prst="rect">
            <a:avLst/>
          </a:prstGeom>
          <a:noFill/>
          <a:ln/>
        </p:spPr>
        <p:txBody>
          <a:bodyPr wrap="none" lIns="0" tIns="0" rIns="0" bIns="0" rtlCol="0" anchor="t"/>
          <a:lstStyle/>
          <a:p>
            <a:pPr marL="0" indent="0" algn="l">
              <a:lnSpc>
                <a:spcPts val="2500"/>
              </a:lnSpc>
              <a:buNone/>
            </a:pPr>
            <a:r>
              <a:rPr lang="en-US" sz="1550" dirty="0">
                <a:solidFill>
                  <a:srgbClr val="8CAB18"/>
                </a:solidFill>
                <a:latin typeface="Geist" pitchFamily="34" charset="0"/>
                <a:ea typeface="Geist" pitchFamily="34" charset="-122"/>
                <a:cs typeface="Geist" pitchFamily="34" charset="-120"/>
              </a:rPr>
              <a:t>CÓ THỂ - Nhưng không tối ưu</a:t>
            </a:r>
            <a:endParaRPr lang="en-US" sz="1550" dirty="0"/>
          </a:p>
        </p:txBody>
      </p:sp>
      <p:sp>
        <p:nvSpPr>
          <p:cNvPr id="21" name="Shape 19"/>
          <p:cNvSpPr/>
          <p:nvPr/>
        </p:nvSpPr>
        <p:spPr>
          <a:xfrm>
            <a:off x="793790" y="5341976"/>
            <a:ext cx="13042821" cy="1758735"/>
          </a:xfrm>
          <a:prstGeom prst="roundRect">
            <a:avLst>
              <a:gd name="adj" fmla="val 15389"/>
            </a:avLst>
          </a:prstGeom>
          <a:solidFill>
            <a:srgbClr val="B3FFE7"/>
          </a:solidFill>
          <a:ln/>
        </p:spPr>
      </p:sp>
      <p:pic>
        <p:nvPicPr>
          <p:cNvPr id="22" name="Image 0" descr="preencoded.png"/>
          <p:cNvPicPr>
            <a:picLocks noChangeAspect="1"/>
          </p:cNvPicPr>
          <p:nvPr/>
        </p:nvPicPr>
        <p:blipFill>
          <a:blip r:embed="rId3"/>
          <a:stretch>
            <a:fillRect/>
          </a:stretch>
        </p:blipFill>
        <p:spPr>
          <a:xfrm>
            <a:off x="992148" y="5637252"/>
            <a:ext cx="248007" cy="198358"/>
          </a:xfrm>
          <a:prstGeom prst="rect">
            <a:avLst/>
          </a:prstGeom>
        </p:spPr>
      </p:pic>
      <p:sp>
        <p:nvSpPr>
          <p:cNvPr id="23" name="Text 20"/>
          <p:cNvSpPr/>
          <p:nvPr/>
        </p:nvSpPr>
        <p:spPr>
          <a:xfrm>
            <a:off x="1438513" y="5589865"/>
            <a:ext cx="12199739" cy="635079"/>
          </a:xfrm>
          <a:prstGeom prst="rect">
            <a:avLst/>
          </a:prstGeom>
          <a:noFill/>
          <a:ln/>
        </p:spPr>
        <p:txBody>
          <a:bodyPr wrap="square" lIns="0" tIns="0" rIns="0" bIns="0" rtlCol="0" anchor="t"/>
          <a:lstStyle/>
          <a:p>
            <a:pPr marL="0" indent="0" algn="l">
              <a:lnSpc>
                <a:spcPts val="2500"/>
              </a:lnSpc>
              <a:buNone/>
            </a:pPr>
            <a:r>
              <a:rPr lang="en-US" b="1" dirty="0">
                <a:solidFill>
                  <a:srgbClr val="000000"/>
                </a:solidFill>
                <a:latin typeface="Geist" pitchFamily="34" charset="0"/>
                <a:ea typeface="Geist" pitchFamily="34" charset="-122"/>
                <a:cs typeface="Geist" pitchFamily="34" charset="-120"/>
              </a:rPr>
              <a:t>Lưu ý:</a:t>
            </a:r>
            <a:r>
              <a:rPr lang="en-US" dirty="0">
                <a:solidFill>
                  <a:srgbClr val="000000"/>
                </a:solidFill>
                <a:latin typeface="Geist" pitchFamily="34" charset="0"/>
                <a:ea typeface="Geist" pitchFamily="34" charset="-122"/>
                <a:cs typeface="Geist" pitchFamily="34" charset="-120"/>
              </a:rPr>
              <a:t> </a:t>
            </a:r>
          </a:p>
          <a:p>
            <a:pPr marL="0" indent="0" algn="l">
              <a:lnSpc>
                <a:spcPts val="2500"/>
              </a:lnSpc>
              <a:buNone/>
            </a:pPr>
            <a:r>
              <a:rPr lang="en-US" dirty="0" err="1">
                <a:solidFill>
                  <a:srgbClr val="000000"/>
                </a:solidFill>
                <a:latin typeface="Geist" pitchFamily="34" charset="0"/>
                <a:ea typeface="Geist" pitchFamily="34" charset="-122"/>
                <a:cs typeface="Geist" pitchFamily="34" charset="-120"/>
              </a:rPr>
              <a:t>Nếu</a:t>
            </a:r>
            <a:r>
              <a:rPr lang="en-US" dirty="0">
                <a:solidFill>
                  <a:srgbClr val="000000"/>
                </a:solidFill>
                <a:latin typeface="Geist" pitchFamily="34" charset="0"/>
                <a:ea typeface="Geist" pitchFamily="34" charset="-122"/>
                <a:cs typeface="Geist" pitchFamily="34" charset="-120"/>
              </a:rPr>
              <a:t> dùng sai kiểu dữ liệu (ví dụ: int), sau khi giá trị vượt quá giới hạn, nó sẽ quay về số âm hoặc 0, làm code hoạt động sai hoàn toàn. Hãy luôn dùng </a:t>
            </a:r>
            <a:r>
              <a:rPr lang="en-US" b="1" dirty="0">
                <a:solidFill>
                  <a:srgbClr val="000000"/>
                </a:solidFill>
                <a:latin typeface="Geist" pitchFamily="34" charset="0"/>
                <a:ea typeface="Geist" pitchFamily="34" charset="-122"/>
                <a:cs typeface="Geist" pitchFamily="34" charset="-120"/>
              </a:rPr>
              <a:t>unsigned long</a:t>
            </a:r>
            <a:r>
              <a:rPr lang="en-US" dirty="0">
                <a:solidFill>
                  <a:srgbClr val="000000"/>
                </a:solidFill>
                <a:latin typeface="Geist" pitchFamily="34" charset="0"/>
                <a:ea typeface="Geist" pitchFamily="34" charset="-122"/>
                <a:cs typeface="Geist" pitchFamily="34" charset="-120"/>
              </a:rPr>
              <a:t> cho tất cả biến liên quan đến millis()!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2191828" y="1847241"/>
            <a:ext cx="10246743" cy="1240155"/>
          </a:xfrm>
          <a:prstGeom prst="rect">
            <a:avLst/>
          </a:prstGeom>
          <a:noFill/>
          <a:ln/>
        </p:spPr>
        <p:txBody>
          <a:bodyPr wrap="squar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PHẦN 2: THỰC HÀNH CODE ĐA NHIỆM</a:t>
            </a:r>
            <a:endParaRPr lang="en-US" sz="3900" dirty="0"/>
          </a:p>
        </p:txBody>
      </p:sp>
      <p:sp>
        <p:nvSpPr>
          <p:cNvPr id="4" name="Text 1"/>
          <p:cNvSpPr/>
          <p:nvPr/>
        </p:nvSpPr>
        <p:spPr>
          <a:xfrm>
            <a:off x="793790" y="3249586"/>
            <a:ext cx="13181854" cy="2677081"/>
          </a:xfrm>
          <a:prstGeom prst="rect">
            <a:avLst/>
          </a:prstGeom>
          <a:noFill/>
          <a:ln/>
        </p:spPr>
        <p:txBody>
          <a:bodyPr wrap="square" lIns="0" tIns="0" rIns="0" bIns="0" rtlCol="0" anchor="t"/>
          <a:lstStyle/>
          <a:p>
            <a:pPr marL="0" indent="0" algn="ctr">
              <a:lnSpc>
                <a:spcPts val="9750"/>
              </a:lnSpc>
              <a:buNone/>
            </a:pPr>
            <a:r>
              <a:rPr lang="en-US" sz="4400" b="1" dirty="0">
                <a:solidFill>
                  <a:srgbClr val="006747"/>
                </a:solidFill>
                <a:latin typeface="Noto Serif SC Bold" pitchFamily="34" charset="0"/>
                <a:ea typeface="Noto Serif SC Bold" pitchFamily="34" charset="-122"/>
                <a:cs typeface="Noto Serif SC Bold" pitchFamily="34" charset="-120"/>
              </a:rPr>
              <a:t>Bài Lab 1: </a:t>
            </a:r>
          </a:p>
          <a:p>
            <a:pPr marL="0" indent="0" algn="ctr">
              <a:lnSpc>
                <a:spcPts val="9750"/>
              </a:lnSpc>
              <a:buNone/>
            </a:pPr>
            <a:r>
              <a:rPr lang="en-US" sz="4400" b="1" dirty="0" err="1">
                <a:solidFill>
                  <a:srgbClr val="006747"/>
                </a:solidFill>
                <a:latin typeface="Noto Serif SC Bold" pitchFamily="34" charset="0"/>
                <a:ea typeface="Noto Serif SC Bold" pitchFamily="34" charset="-122"/>
                <a:cs typeface="Noto Serif SC Bold" pitchFamily="34" charset="-120"/>
              </a:rPr>
              <a:t>Nháy</a:t>
            </a:r>
            <a:r>
              <a:rPr lang="en-US" sz="4400" b="1" dirty="0">
                <a:solidFill>
                  <a:srgbClr val="006747"/>
                </a:solidFill>
                <a:latin typeface="Noto Serif SC Bold" pitchFamily="34" charset="0"/>
                <a:ea typeface="Noto Serif SC Bold" pitchFamily="34" charset="-122"/>
                <a:cs typeface="Noto Serif SC Bold" pitchFamily="34" charset="-120"/>
              </a:rPr>
              <a:t> 2 đèn với tốc độ khác nhau</a:t>
            </a:r>
            <a:endParaRPr lang="en-US" sz="4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627222"/>
            <a:ext cx="5808464"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Thử thách đa nhiệm đầu tiên</a:t>
            </a:r>
            <a:endParaRPr lang="en-US" sz="3100" dirty="0"/>
          </a:p>
        </p:txBody>
      </p:sp>
      <p:sp>
        <p:nvSpPr>
          <p:cNvPr id="3" name="Text 1"/>
          <p:cNvSpPr/>
          <p:nvPr/>
        </p:nvSpPr>
        <p:spPr>
          <a:xfrm>
            <a:off x="1324368" y="1433393"/>
            <a:ext cx="9309765" cy="908448"/>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Đây là bài tập kinh điển để hiểu sâu về millis(). </a:t>
            </a:r>
          </a:p>
          <a:p>
            <a:pPr marL="0" indent="0" algn="l">
              <a:lnSpc>
                <a:spcPts val="2500"/>
              </a:lnSpc>
              <a:buNone/>
            </a:pPr>
            <a:r>
              <a:rPr lang="en-US" dirty="0" err="1">
                <a:solidFill>
                  <a:srgbClr val="4B4A4A"/>
                </a:solidFill>
                <a:latin typeface="Geist" pitchFamily="34" charset="0"/>
                <a:ea typeface="Geist" pitchFamily="34" charset="-122"/>
                <a:cs typeface="Geist" pitchFamily="34" charset="-120"/>
              </a:rPr>
              <a:t>Nếu</a:t>
            </a:r>
            <a:r>
              <a:rPr lang="en-US" dirty="0">
                <a:solidFill>
                  <a:srgbClr val="4B4A4A"/>
                </a:solidFill>
                <a:latin typeface="Geist" pitchFamily="34" charset="0"/>
                <a:ea typeface="Geist" pitchFamily="34" charset="-122"/>
                <a:cs typeface="Geist" pitchFamily="34" charset="-120"/>
              </a:rPr>
              <a:t> các bạn làm được bài này, các bạn đã vượt qua 80% những người mới học IoT!</a:t>
            </a:r>
            <a:endParaRPr lang="en-US" dirty="0"/>
          </a:p>
        </p:txBody>
      </p:sp>
      <p:sp>
        <p:nvSpPr>
          <p:cNvPr id="4" name="Shape 2"/>
          <p:cNvSpPr/>
          <p:nvPr/>
        </p:nvSpPr>
        <p:spPr>
          <a:xfrm>
            <a:off x="793790" y="2969419"/>
            <a:ext cx="4215289" cy="2419588"/>
          </a:xfrm>
          <a:prstGeom prst="roundRect">
            <a:avLst>
              <a:gd name="adj" fmla="val 7383"/>
            </a:avLst>
          </a:prstGeom>
          <a:solidFill>
            <a:srgbClr val="E5F9F2">
              <a:alpha val="95000"/>
            </a:srgbClr>
          </a:solidFill>
          <a:ln w="22860">
            <a:solidFill>
              <a:srgbClr val="B7D5CA"/>
            </a:solidFill>
            <a:prstDash val="solid"/>
          </a:ln>
        </p:spPr>
      </p:sp>
      <p:sp>
        <p:nvSpPr>
          <p:cNvPr id="5" name="Shape 3"/>
          <p:cNvSpPr/>
          <p:nvPr/>
        </p:nvSpPr>
        <p:spPr>
          <a:xfrm>
            <a:off x="816650" y="2992279"/>
            <a:ext cx="4169569" cy="595313"/>
          </a:xfrm>
          <a:prstGeom prst="roundRect">
            <a:avLst>
              <a:gd name="adj" fmla="val 25398"/>
            </a:avLst>
          </a:prstGeom>
          <a:solidFill>
            <a:srgbClr val="D1EFE4"/>
          </a:solidFill>
          <a:ln/>
        </p:spPr>
      </p:sp>
      <p:sp>
        <p:nvSpPr>
          <p:cNvPr id="6" name="Text 4"/>
          <p:cNvSpPr/>
          <p:nvPr/>
        </p:nvSpPr>
        <p:spPr>
          <a:xfrm>
            <a:off x="2752606" y="3100030"/>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4B4A4A"/>
                </a:solidFill>
                <a:latin typeface="Noto Serif SC Bold" pitchFamily="34" charset="0"/>
                <a:ea typeface="Noto Serif SC Bold" pitchFamily="34" charset="-122"/>
                <a:cs typeface="Noto Serif SC Bold" pitchFamily="34" charset="-120"/>
              </a:rPr>
              <a:t>1</a:t>
            </a:r>
            <a:endParaRPr lang="en-US" sz="2300" dirty="0"/>
          </a:p>
        </p:txBody>
      </p:sp>
      <p:sp>
        <p:nvSpPr>
          <p:cNvPr id="7" name="Text 5"/>
          <p:cNvSpPr/>
          <p:nvPr/>
        </p:nvSpPr>
        <p:spPr>
          <a:xfrm>
            <a:off x="1015008" y="3785949"/>
            <a:ext cx="2755702"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Đèn LED Đỏ (GPIO 16)</a:t>
            </a:r>
            <a:endParaRPr lang="en-US" sz="1950" dirty="0"/>
          </a:p>
        </p:txBody>
      </p:sp>
      <p:sp>
        <p:nvSpPr>
          <p:cNvPr id="8" name="Text 6"/>
          <p:cNvSpPr/>
          <p:nvPr/>
        </p:nvSpPr>
        <p:spPr>
          <a:xfrm>
            <a:off x="1015008" y="4215170"/>
            <a:ext cx="3772853"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Nhấp nháy với chu kỳ 1 giây (1000ms): </a:t>
            </a:r>
          </a:p>
          <a:p>
            <a:pPr marL="0" indent="0" algn="l">
              <a:lnSpc>
                <a:spcPts val="2500"/>
              </a:lnSpc>
              <a:buNone/>
            </a:pPr>
            <a:r>
              <a:rPr lang="en-US" dirty="0">
                <a:solidFill>
                  <a:srgbClr val="4B4A4A"/>
                </a:solidFill>
                <a:latin typeface="Geist" pitchFamily="34" charset="0"/>
                <a:ea typeface="Geist" pitchFamily="34" charset="-122"/>
                <a:cs typeface="Geist" pitchFamily="34" charset="-120"/>
              </a:rPr>
              <a:t>Sáng 1s → Tắt 1s → Sáng 1s → ...</a:t>
            </a:r>
            <a:endParaRPr lang="en-US" dirty="0"/>
          </a:p>
        </p:txBody>
      </p:sp>
      <p:sp>
        <p:nvSpPr>
          <p:cNvPr id="9" name="Shape 7"/>
          <p:cNvSpPr/>
          <p:nvPr/>
        </p:nvSpPr>
        <p:spPr>
          <a:xfrm>
            <a:off x="5207437" y="2969419"/>
            <a:ext cx="4215408" cy="2419588"/>
          </a:xfrm>
          <a:prstGeom prst="roundRect">
            <a:avLst>
              <a:gd name="adj" fmla="val 7383"/>
            </a:avLst>
          </a:prstGeom>
          <a:solidFill>
            <a:srgbClr val="E5F9F2">
              <a:alpha val="95000"/>
            </a:srgbClr>
          </a:solidFill>
          <a:ln w="22860">
            <a:solidFill>
              <a:srgbClr val="B7D5CA"/>
            </a:solidFill>
            <a:prstDash val="solid"/>
          </a:ln>
        </p:spPr>
      </p:sp>
      <p:sp>
        <p:nvSpPr>
          <p:cNvPr id="10" name="Shape 8"/>
          <p:cNvSpPr/>
          <p:nvPr/>
        </p:nvSpPr>
        <p:spPr>
          <a:xfrm>
            <a:off x="5230297" y="2992279"/>
            <a:ext cx="4169688" cy="595313"/>
          </a:xfrm>
          <a:prstGeom prst="roundRect">
            <a:avLst>
              <a:gd name="adj" fmla="val 25398"/>
            </a:avLst>
          </a:prstGeom>
          <a:solidFill>
            <a:srgbClr val="D1EFE4"/>
          </a:solidFill>
          <a:ln/>
        </p:spPr>
      </p:sp>
      <p:sp>
        <p:nvSpPr>
          <p:cNvPr id="11" name="Text 9"/>
          <p:cNvSpPr/>
          <p:nvPr/>
        </p:nvSpPr>
        <p:spPr>
          <a:xfrm>
            <a:off x="7166253" y="3100030"/>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4B4A4A"/>
                </a:solidFill>
                <a:latin typeface="Noto Serif SC Bold" pitchFamily="34" charset="0"/>
                <a:ea typeface="Noto Serif SC Bold" pitchFamily="34" charset="-122"/>
                <a:cs typeface="Noto Serif SC Bold" pitchFamily="34" charset="-120"/>
              </a:rPr>
              <a:t>2</a:t>
            </a:r>
            <a:endParaRPr lang="en-US" sz="2300" dirty="0"/>
          </a:p>
        </p:txBody>
      </p:sp>
      <p:sp>
        <p:nvSpPr>
          <p:cNvPr id="12" name="Text 10"/>
          <p:cNvSpPr/>
          <p:nvPr/>
        </p:nvSpPr>
        <p:spPr>
          <a:xfrm>
            <a:off x="5428655" y="3785949"/>
            <a:ext cx="3067407"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Đèn LED Xanh (GPIO 17)</a:t>
            </a:r>
            <a:endParaRPr lang="en-US" sz="1950" dirty="0"/>
          </a:p>
        </p:txBody>
      </p:sp>
      <p:sp>
        <p:nvSpPr>
          <p:cNvPr id="13" name="Text 11"/>
          <p:cNvSpPr/>
          <p:nvPr/>
        </p:nvSpPr>
        <p:spPr>
          <a:xfrm>
            <a:off x="5428655" y="4215170"/>
            <a:ext cx="3772972"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Nhấp nháy với chu kỳ 0.5 giây (500ms): </a:t>
            </a:r>
          </a:p>
          <a:p>
            <a:pPr marL="0" indent="0" algn="l">
              <a:lnSpc>
                <a:spcPts val="2500"/>
              </a:lnSpc>
              <a:buNone/>
            </a:pPr>
            <a:r>
              <a:rPr lang="en-US" dirty="0">
                <a:solidFill>
                  <a:srgbClr val="4B4A4A"/>
                </a:solidFill>
                <a:latin typeface="Geist" pitchFamily="34" charset="0"/>
                <a:ea typeface="Geist" pitchFamily="34" charset="-122"/>
                <a:cs typeface="Geist" pitchFamily="34" charset="-120"/>
              </a:rPr>
              <a:t>Sáng 0.5s → Tắt 0.5s → Sáng 0.5s → ...</a:t>
            </a:r>
            <a:endParaRPr lang="en-US" dirty="0"/>
          </a:p>
        </p:txBody>
      </p:sp>
      <p:sp>
        <p:nvSpPr>
          <p:cNvPr id="14" name="Shape 12"/>
          <p:cNvSpPr/>
          <p:nvPr/>
        </p:nvSpPr>
        <p:spPr>
          <a:xfrm>
            <a:off x="9621203" y="2969419"/>
            <a:ext cx="4215289" cy="2419588"/>
          </a:xfrm>
          <a:prstGeom prst="roundRect">
            <a:avLst>
              <a:gd name="adj" fmla="val 7383"/>
            </a:avLst>
          </a:prstGeom>
          <a:solidFill>
            <a:srgbClr val="E5F9F2">
              <a:alpha val="95000"/>
            </a:srgbClr>
          </a:solidFill>
          <a:ln w="22860">
            <a:solidFill>
              <a:srgbClr val="B7D5CA"/>
            </a:solidFill>
            <a:prstDash val="solid"/>
          </a:ln>
        </p:spPr>
      </p:sp>
      <p:sp>
        <p:nvSpPr>
          <p:cNvPr id="15" name="Shape 13"/>
          <p:cNvSpPr/>
          <p:nvPr/>
        </p:nvSpPr>
        <p:spPr>
          <a:xfrm>
            <a:off x="9644063" y="2992279"/>
            <a:ext cx="4169569" cy="595313"/>
          </a:xfrm>
          <a:prstGeom prst="roundRect">
            <a:avLst>
              <a:gd name="adj" fmla="val 25398"/>
            </a:avLst>
          </a:prstGeom>
          <a:solidFill>
            <a:srgbClr val="D1EFE4"/>
          </a:solidFill>
          <a:ln/>
        </p:spPr>
      </p:sp>
      <p:sp>
        <p:nvSpPr>
          <p:cNvPr id="16" name="Text 14"/>
          <p:cNvSpPr/>
          <p:nvPr/>
        </p:nvSpPr>
        <p:spPr>
          <a:xfrm>
            <a:off x="11580019" y="3100030"/>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4B4A4A"/>
                </a:solidFill>
                <a:latin typeface="Noto Serif SC Bold" pitchFamily="34" charset="0"/>
                <a:ea typeface="Noto Serif SC Bold" pitchFamily="34" charset="-122"/>
                <a:cs typeface="Noto Serif SC Bold" pitchFamily="34" charset="-120"/>
              </a:rPr>
              <a:t>3</a:t>
            </a:r>
            <a:endParaRPr lang="en-US" sz="2300" dirty="0"/>
          </a:p>
        </p:txBody>
      </p:sp>
      <p:sp>
        <p:nvSpPr>
          <p:cNvPr id="17" name="Text 15"/>
          <p:cNvSpPr/>
          <p:nvPr/>
        </p:nvSpPr>
        <p:spPr>
          <a:xfrm>
            <a:off x="9842421" y="3785949"/>
            <a:ext cx="3226594"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Thông báo Serial Monitor</a:t>
            </a:r>
            <a:endParaRPr lang="en-US" sz="1950" dirty="0"/>
          </a:p>
        </p:txBody>
      </p:sp>
      <p:sp>
        <p:nvSpPr>
          <p:cNvPr id="18" name="Text 16"/>
          <p:cNvSpPr/>
          <p:nvPr/>
        </p:nvSpPr>
        <p:spPr>
          <a:xfrm>
            <a:off x="9842421" y="4215170"/>
            <a:ext cx="3772853"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Mỗi 2 giây in ra dòng chữ "Hệ thống vẫn đang chạy ngon lành..." để báo hiệu code đang hoạt động</a:t>
            </a:r>
            <a:endParaRPr lang="en-US" dirty="0"/>
          </a:p>
        </p:txBody>
      </p:sp>
      <p:sp>
        <p:nvSpPr>
          <p:cNvPr id="19" name="Text 17"/>
          <p:cNvSpPr/>
          <p:nvPr/>
        </p:nvSpPr>
        <p:spPr>
          <a:xfrm>
            <a:off x="1015008" y="6091727"/>
            <a:ext cx="12745164" cy="463709"/>
          </a:xfrm>
          <a:prstGeom prst="rect">
            <a:avLst/>
          </a:prstGeom>
          <a:noFill/>
          <a:ln/>
        </p:spPr>
        <p:txBody>
          <a:bodyPr wrap="square" lIns="0" tIns="0" rIns="0" bIns="0" rtlCol="0" anchor="t"/>
          <a:lstStyle/>
          <a:p>
            <a:pPr marL="0" indent="0" algn="l">
              <a:lnSpc>
                <a:spcPts val="2500"/>
              </a:lnSpc>
              <a:buNone/>
            </a:pPr>
            <a:r>
              <a:rPr lang="en-US" b="1" dirty="0" err="1">
                <a:solidFill>
                  <a:srgbClr val="4B4A4A"/>
                </a:solidFill>
                <a:latin typeface="Geist" pitchFamily="34" charset="0"/>
                <a:ea typeface="Geist" pitchFamily="34" charset="-122"/>
                <a:cs typeface="Geist" pitchFamily="34" charset="-120"/>
              </a:rPr>
              <a:t>Câu</a:t>
            </a:r>
            <a:r>
              <a:rPr lang="en-US" b="1" dirty="0">
                <a:solidFill>
                  <a:srgbClr val="4B4A4A"/>
                </a:solidFill>
                <a:latin typeface="Geist" pitchFamily="34" charset="0"/>
                <a:ea typeface="Geist" pitchFamily="34" charset="-122"/>
                <a:cs typeface="Geist" pitchFamily="34" charset="-120"/>
              </a:rPr>
              <a:t> </a:t>
            </a:r>
            <a:r>
              <a:rPr lang="en-US" b="1" dirty="0" err="1">
                <a:solidFill>
                  <a:srgbClr val="4B4A4A"/>
                </a:solidFill>
                <a:latin typeface="Geist" pitchFamily="34" charset="0"/>
                <a:ea typeface="Geist" pitchFamily="34" charset="-122"/>
                <a:cs typeface="Geist" pitchFamily="34" charset="-120"/>
              </a:rPr>
              <a:t>hỏi</a:t>
            </a:r>
            <a:r>
              <a:rPr lang="en-US" b="1" dirty="0">
                <a:solidFill>
                  <a:srgbClr val="4B4A4A"/>
                </a:solidFill>
                <a:latin typeface="Geist" pitchFamily="34" charset="0"/>
                <a:ea typeface="Geist" pitchFamily="34" charset="-122"/>
                <a:cs typeface="Geist" pitchFamily="34" charset="-120"/>
              </a:rPr>
              <a:t>:</a:t>
            </a:r>
            <a:r>
              <a:rPr lang="en-US" dirty="0">
                <a:solidFill>
                  <a:srgbClr val="4B4A4A"/>
                </a:solidFill>
                <a:latin typeface="Geist" pitchFamily="34" charset="0"/>
                <a:ea typeface="Geist" pitchFamily="34" charset="-122"/>
                <a:cs typeface="Geist" pitchFamily="34" charset="-120"/>
              </a:rPr>
              <a:t> Nếu dùng delay(), làm sao để 2 đèn nháy với tốc độ khác nhau? </a:t>
            </a:r>
          </a:p>
        </p:txBody>
      </p:sp>
      <p:sp>
        <p:nvSpPr>
          <p:cNvPr id="20" name="Shape 18"/>
          <p:cNvSpPr/>
          <p:nvPr/>
        </p:nvSpPr>
        <p:spPr>
          <a:xfrm>
            <a:off x="793790" y="5612249"/>
            <a:ext cx="22860" cy="1081564"/>
          </a:xfrm>
          <a:prstGeom prst="rect">
            <a:avLst/>
          </a:prstGeom>
          <a:solidFill>
            <a:srgbClr val="006747"/>
          </a:solidFill>
          <a:ln/>
        </p:spPr>
      </p:sp>
      <p:sp>
        <p:nvSpPr>
          <p:cNvPr id="22" name="TextBox 21">
            <a:extLst>
              <a:ext uri="{FF2B5EF4-FFF2-40B4-BE49-F238E27FC236}">
                <a16:creationId xmlns:a16="http://schemas.microsoft.com/office/drawing/2014/main" id="{AB39E7D2-4AF7-55BA-6901-6DDCA5D305C5}"/>
              </a:ext>
            </a:extLst>
          </p:cNvPr>
          <p:cNvSpPr txBox="1"/>
          <p:nvPr/>
        </p:nvSpPr>
        <p:spPr>
          <a:xfrm>
            <a:off x="677333" y="7132015"/>
            <a:ext cx="11435362" cy="393377"/>
          </a:xfrm>
          <a:prstGeom prst="rect">
            <a:avLst/>
          </a:prstGeom>
          <a:noFill/>
        </p:spPr>
        <p:txBody>
          <a:bodyPr wrap="square">
            <a:spAutoFit/>
          </a:bodyPr>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KHÔNG THỂ</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hoặc</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rất</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phức</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tạp</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và</a:t>
            </a:r>
            <a:r>
              <a:rPr lang="en-US" dirty="0">
                <a:solidFill>
                  <a:srgbClr val="4B4A4A"/>
                </a:solidFill>
                <a:latin typeface="Geist" pitchFamily="34" charset="0"/>
                <a:ea typeface="Geist" pitchFamily="34" charset="-122"/>
                <a:cs typeface="Geist" pitchFamily="34" charset="-120"/>
              </a:rPr>
              <a:t> code </a:t>
            </a:r>
            <a:r>
              <a:rPr lang="en-US" dirty="0" err="1">
                <a:solidFill>
                  <a:srgbClr val="4B4A4A"/>
                </a:solidFill>
                <a:latin typeface="Geist" pitchFamily="34" charset="0"/>
                <a:ea typeface="Geist" pitchFamily="34" charset="-122"/>
                <a:cs typeface="Geist" pitchFamily="34" charset="-120"/>
              </a:rPr>
              <a:t>sẽ</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rối</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như</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canh</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hẹ</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Đó</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là</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lý</a:t>
            </a:r>
            <a:r>
              <a:rPr lang="en-US" dirty="0">
                <a:solidFill>
                  <a:srgbClr val="4B4A4A"/>
                </a:solidFill>
                <a:latin typeface="Geist" pitchFamily="34" charset="0"/>
                <a:ea typeface="Geist" pitchFamily="34" charset="-122"/>
                <a:cs typeface="Geist" pitchFamily="34" charset="-120"/>
              </a:rPr>
              <a:t> do </a:t>
            </a:r>
            <a:r>
              <a:rPr lang="en-US" dirty="0" err="1">
                <a:solidFill>
                  <a:srgbClr val="4B4A4A"/>
                </a:solidFill>
                <a:latin typeface="Geist" pitchFamily="34" charset="0"/>
                <a:ea typeface="Geist" pitchFamily="34" charset="-122"/>
                <a:cs typeface="Geist" pitchFamily="34" charset="-120"/>
              </a:rPr>
              <a:t>millis</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ra</a:t>
            </a:r>
            <a:r>
              <a:rPr lang="en-US" dirty="0">
                <a:solidFill>
                  <a:srgbClr val="4B4A4A"/>
                </a:solidFill>
                <a:latin typeface="Geist" pitchFamily="34" charset="0"/>
                <a:ea typeface="Geist" pitchFamily="34" charset="-122"/>
                <a:cs typeface="Geist" pitchFamily="34" charset="-120"/>
              </a:rPr>
              <a:t> </a:t>
            </a:r>
            <a:r>
              <a:rPr lang="en-US" dirty="0" err="1">
                <a:solidFill>
                  <a:srgbClr val="4B4A4A"/>
                </a:solidFill>
                <a:latin typeface="Geist" pitchFamily="34" charset="0"/>
                <a:ea typeface="Geist" pitchFamily="34" charset="-122"/>
                <a:cs typeface="Geist" pitchFamily="34" charset="-120"/>
              </a:rPr>
              <a:t>đời</a:t>
            </a:r>
            <a:r>
              <a:rPr lang="en-US" dirty="0">
                <a:solidFill>
                  <a:srgbClr val="4B4A4A"/>
                </a:solidFill>
                <a:latin typeface="Geist" pitchFamily="34" charset="0"/>
                <a:ea typeface="Geist" pitchFamily="34" charset="-122"/>
                <a:cs typeface="Geist" pitchFamily="34" charset="-120"/>
              </a:rPr>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2" grpId="0" animBg="1"/>
      <p:bldP spid="13" grpId="0" animBg="1"/>
      <p:bldP spid="16" grpId="0" animBg="1"/>
      <p:bldP spid="17" grpId="0" animBg="1"/>
      <p:bldP spid="18" grpId="0" animBg="1"/>
      <p:bldP spid="19" grpId="0" animBg="1"/>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440738"/>
            <a:ext cx="4900613"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Sơ đồ nối dây phần cứng</a:t>
            </a:r>
            <a:endParaRPr lang="en-US" sz="3100" dirty="0"/>
          </a:p>
        </p:txBody>
      </p:sp>
      <p:sp>
        <p:nvSpPr>
          <p:cNvPr id="3" name="Text 1"/>
          <p:cNvSpPr/>
          <p:nvPr/>
        </p:nvSpPr>
        <p:spPr>
          <a:xfrm>
            <a:off x="793790" y="1466969"/>
            <a:ext cx="2511862"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Danh sách linh kiện</a:t>
            </a:r>
            <a:endParaRPr lang="en-US" dirty="0"/>
          </a:p>
        </p:txBody>
      </p:sp>
      <p:sp>
        <p:nvSpPr>
          <p:cNvPr id="4" name="Text 2"/>
          <p:cNvSpPr/>
          <p:nvPr/>
        </p:nvSpPr>
        <p:spPr>
          <a:xfrm>
            <a:off x="793790" y="1975485"/>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1x ESP32 Dev Board</a:t>
            </a:r>
            <a:endParaRPr lang="en-US" dirty="0"/>
          </a:p>
        </p:txBody>
      </p:sp>
      <p:sp>
        <p:nvSpPr>
          <p:cNvPr id="5" name="Text 3"/>
          <p:cNvSpPr/>
          <p:nvPr/>
        </p:nvSpPr>
        <p:spPr>
          <a:xfrm>
            <a:off x="793790" y="236243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1x LED Đỏ (hoặc màu bất kỳ)</a:t>
            </a:r>
            <a:endParaRPr lang="en-US" dirty="0"/>
          </a:p>
        </p:txBody>
      </p:sp>
      <p:sp>
        <p:nvSpPr>
          <p:cNvPr id="6" name="Text 4"/>
          <p:cNvSpPr/>
          <p:nvPr/>
        </p:nvSpPr>
        <p:spPr>
          <a:xfrm>
            <a:off x="793790" y="27493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1x LED Xanh (hoặc màu khác với LED thứ nhất)</a:t>
            </a:r>
            <a:endParaRPr lang="en-US" dirty="0"/>
          </a:p>
        </p:txBody>
      </p:sp>
      <p:sp>
        <p:nvSpPr>
          <p:cNvPr id="7" name="Text 5"/>
          <p:cNvSpPr/>
          <p:nvPr/>
        </p:nvSpPr>
        <p:spPr>
          <a:xfrm>
            <a:off x="793790" y="313634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2x điện trở 220Ω (hoặc 330Ω)</a:t>
            </a:r>
            <a:endParaRPr lang="en-US" dirty="0"/>
          </a:p>
        </p:txBody>
      </p:sp>
      <p:sp>
        <p:nvSpPr>
          <p:cNvPr id="8" name="Text 6"/>
          <p:cNvSpPr/>
          <p:nvPr/>
        </p:nvSpPr>
        <p:spPr>
          <a:xfrm>
            <a:off x="793790" y="352329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Breadboard và dây nối</a:t>
            </a:r>
            <a:endParaRPr lang="en-US" dirty="0"/>
          </a:p>
        </p:txBody>
      </p:sp>
      <p:sp>
        <p:nvSpPr>
          <p:cNvPr id="9" name="Text 7"/>
          <p:cNvSpPr/>
          <p:nvPr/>
        </p:nvSpPr>
        <p:spPr>
          <a:xfrm>
            <a:off x="7315200" y="1692844"/>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Hướng dẫn nối</a:t>
            </a:r>
            <a:endParaRPr lang="en-US" dirty="0"/>
          </a:p>
        </p:txBody>
      </p:sp>
      <p:sp>
        <p:nvSpPr>
          <p:cNvPr id="10" name="Text 8"/>
          <p:cNvSpPr/>
          <p:nvPr/>
        </p:nvSpPr>
        <p:spPr>
          <a:xfrm>
            <a:off x="7315200" y="2201360"/>
            <a:ext cx="6279356" cy="635079"/>
          </a:xfrm>
          <a:prstGeom prst="rect">
            <a:avLst/>
          </a:prstGeom>
          <a:noFill/>
          <a:ln/>
        </p:spPr>
        <p:txBody>
          <a:bodyPr wrap="square" lIns="0" tIns="0" rIns="0" bIns="0" rtlCol="0" anchor="t"/>
          <a:lstStyle/>
          <a:p>
            <a:pPr marL="342900" indent="-342900" algn="l">
              <a:lnSpc>
                <a:spcPts val="2500"/>
              </a:lnSpc>
              <a:buSzPct val="100000"/>
              <a:buFont typeface="+mj-lt"/>
              <a:buAutoNum type="arabicPeriod"/>
            </a:pPr>
            <a:r>
              <a:rPr lang="en-US" b="1" dirty="0">
                <a:solidFill>
                  <a:srgbClr val="4B4A4A"/>
                </a:solidFill>
                <a:latin typeface="Geist" pitchFamily="34" charset="0"/>
                <a:ea typeface="Geist" pitchFamily="34" charset="-122"/>
                <a:cs typeface="Geist" pitchFamily="34" charset="-120"/>
              </a:rPr>
              <a:t>LED Đỏ:</a:t>
            </a:r>
            <a:r>
              <a:rPr lang="en-US" dirty="0">
                <a:solidFill>
                  <a:srgbClr val="4B4A4A"/>
                </a:solidFill>
                <a:latin typeface="Geist" pitchFamily="34" charset="0"/>
                <a:ea typeface="Geist" pitchFamily="34" charset="-122"/>
                <a:cs typeface="Geist" pitchFamily="34" charset="-120"/>
              </a:rPr>
              <a:t> Chân dài (+) → GPIO 16 qua điện trở 220Ω, chân ngắn (-) → GND</a:t>
            </a:r>
            <a:endParaRPr lang="en-US" dirty="0"/>
          </a:p>
        </p:txBody>
      </p:sp>
      <p:sp>
        <p:nvSpPr>
          <p:cNvPr id="11" name="Text 9"/>
          <p:cNvSpPr/>
          <p:nvPr/>
        </p:nvSpPr>
        <p:spPr>
          <a:xfrm>
            <a:off x="7315200" y="2905853"/>
            <a:ext cx="6279356" cy="635079"/>
          </a:xfrm>
          <a:prstGeom prst="rect">
            <a:avLst/>
          </a:prstGeom>
          <a:noFill/>
          <a:ln/>
        </p:spPr>
        <p:txBody>
          <a:bodyPr wrap="square" lIns="0" tIns="0" rIns="0" bIns="0" rtlCol="0" anchor="t"/>
          <a:lstStyle/>
          <a:p>
            <a:pPr marL="342900" indent="-342900" algn="l">
              <a:lnSpc>
                <a:spcPts val="2500"/>
              </a:lnSpc>
              <a:buSzPct val="100000"/>
              <a:buFont typeface="+mj-lt"/>
              <a:buAutoNum type="arabicPeriod" startAt="2"/>
            </a:pPr>
            <a:r>
              <a:rPr lang="en-US" b="1" dirty="0">
                <a:solidFill>
                  <a:srgbClr val="4B4A4A"/>
                </a:solidFill>
                <a:latin typeface="Geist" pitchFamily="34" charset="0"/>
                <a:ea typeface="Geist" pitchFamily="34" charset="-122"/>
                <a:cs typeface="Geist" pitchFamily="34" charset="-120"/>
              </a:rPr>
              <a:t>LED Xanh:</a:t>
            </a:r>
            <a:r>
              <a:rPr lang="en-US" dirty="0">
                <a:solidFill>
                  <a:srgbClr val="4B4A4A"/>
                </a:solidFill>
                <a:latin typeface="Geist" pitchFamily="34" charset="0"/>
                <a:ea typeface="Geist" pitchFamily="34" charset="-122"/>
                <a:cs typeface="Geist" pitchFamily="34" charset="-120"/>
              </a:rPr>
              <a:t> Chân dài (+) → GPIO 17 qua điện trở 220Ω, chân ngắn (-) → GND</a:t>
            </a:r>
            <a:endParaRPr lang="en-US" dirty="0"/>
          </a:p>
        </p:txBody>
      </p:sp>
      <p:sp>
        <p:nvSpPr>
          <p:cNvPr id="12" name="Text 10"/>
          <p:cNvSpPr/>
          <p:nvPr/>
        </p:nvSpPr>
        <p:spPr>
          <a:xfrm>
            <a:off x="7315200" y="3610345"/>
            <a:ext cx="6279356"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3"/>
            </a:pPr>
            <a:r>
              <a:rPr lang="en-US" dirty="0">
                <a:solidFill>
                  <a:srgbClr val="4B4A4A"/>
                </a:solidFill>
                <a:latin typeface="Geist" pitchFamily="34" charset="0"/>
                <a:ea typeface="Geist" pitchFamily="34" charset="-122"/>
                <a:cs typeface="Geist" pitchFamily="34" charset="-120"/>
              </a:rPr>
              <a:t>Kết nối ESP32 với máy tính qua cáp USB</a:t>
            </a:r>
            <a:endParaRPr lang="en-US" dirty="0"/>
          </a:p>
        </p:txBody>
      </p:sp>
      <p:sp>
        <p:nvSpPr>
          <p:cNvPr id="13" name="Shape 11"/>
          <p:cNvSpPr/>
          <p:nvPr/>
        </p:nvSpPr>
        <p:spPr>
          <a:xfrm>
            <a:off x="793790" y="5363766"/>
            <a:ext cx="13042821" cy="1160740"/>
          </a:xfrm>
          <a:prstGeom prst="roundRect">
            <a:avLst>
              <a:gd name="adj" fmla="val 15389"/>
            </a:avLst>
          </a:prstGeom>
          <a:solidFill>
            <a:srgbClr val="B3FFE7"/>
          </a:solidFill>
          <a:ln/>
        </p:spPr>
      </p:sp>
      <p:pic>
        <p:nvPicPr>
          <p:cNvPr id="14" name="Image 0" descr="preencoded.png"/>
          <p:cNvPicPr>
            <a:picLocks noChangeAspect="1"/>
          </p:cNvPicPr>
          <p:nvPr/>
        </p:nvPicPr>
        <p:blipFill>
          <a:blip r:embed="rId3"/>
          <a:stretch>
            <a:fillRect/>
          </a:stretch>
        </p:blipFill>
        <p:spPr>
          <a:xfrm>
            <a:off x="992148" y="5659041"/>
            <a:ext cx="248007" cy="198358"/>
          </a:xfrm>
          <a:prstGeom prst="rect">
            <a:avLst/>
          </a:prstGeom>
        </p:spPr>
      </p:pic>
      <p:sp>
        <p:nvSpPr>
          <p:cNvPr id="15" name="Text 12"/>
          <p:cNvSpPr/>
          <p:nvPr/>
        </p:nvSpPr>
        <p:spPr>
          <a:xfrm>
            <a:off x="1438513" y="5611654"/>
            <a:ext cx="12199739" cy="635079"/>
          </a:xfrm>
          <a:prstGeom prst="rect">
            <a:avLst/>
          </a:prstGeom>
          <a:noFill/>
          <a:ln/>
        </p:spPr>
        <p:txBody>
          <a:bodyPr wrap="square" lIns="0" tIns="0" rIns="0" bIns="0" rtlCol="0" anchor="t"/>
          <a:lstStyle/>
          <a:p>
            <a:pPr marL="0" indent="0" algn="l">
              <a:lnSpc>
                <a:spcPts val="2500"/>
              </a:lnSpc>
              <a:buNone/>
            </a:pPr>
            <a:r>
              <a:rPr lang="en-US" b="1" dirty="0">
                <a:solidFill>
                  <a:srgbClr val="000000"/>
                </a:solidFill>
                <a:latin typeface="Geist" pitchFamily="34" charset="0"/>
                <a:ea typeface="Geist" pitchFamily="34" charset="-122"/>
                <a:cs typeface="Geist" pitchFamily="34" charset="-120"/>
              </a:rPr>
              <a:t>Lưu ý điện trở:</a:t>
            </a:r>
            <a:r>
              <a:rPr lang="en-US" dirty="0">
                <a:solidFill>
                  <a:srgbClr val="000000"/>
                </a:solidFill>
                <a:latin typeface="Geist" pitchFamily="34" charset="0"/>
                <a:ea typeface="Geist" pitchFamily="34" charset="-122"/>
                <a:cs typeface="Geist" pitchFamily="34" charset="-120"/>
              </a:rPr>
              <a:t> Điện trở 220Ω-330Ω dùng để hạn chế dòng điện chạy qua LED, bảo vệ LED không bị cháy. Nếu không có điện trở, LED có thể sáng quá mức và hỏng ngay!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8300" y="473988"/>
            <a:ext cx="5369243" cy="430173"/>
          </a:xfrm>
          <a:prstGeom prst="rect">
            <a:avLst/>
          </a:prstGeom>
          <a:noFill/>
          <a:ln/>
        </p:spPr>
        <p:txBody>
          <a:bodyPr wrap="none" lIns="0" tIns="0" rIns="0" bIns="0" rtlCol="0" anchor="t"/>
          <a:lstStyle/>
          <a:p>
            <a:pPr marL="0" indent="0" algn="l">
              <a:lnSpc>
                <a:spcPts val="3350"/>
              </a:lnSpc>
              <a:buNone/>
            </a:pPr>
            <a:r>
              <a:rPr lang="en-US" sz="2700" b="1" dirty="0">
                <a:solidFill>
                  <a:srgbClr val="006747"/>
                </a:solidFill>
                <a:latin typeface="Noto Serif SC Bold" pitchFamily="34" charset="0"/>
                <a:ea typeface="Noto Serif SC Bold" pitchFamily="34" charset="-122"/>
                <a:cs typeface="Noto Serif SC Bold" pitchFamily="34" charset="-120"/>
              </a:rPr>
              <a:t>Code đầy đủ - Phần 1: Khai báo</a:t>
            </a:r>
            <a:endParaRPr lang="en-US" sz="2700" dirty="0"/>
          </a:p>
        </p:txBody>
      </p:sp>
      <p:sp>
        <p:nvSpPr>
          <p:cNvPr id="3" name="Shape 1"/>
          <p:cNvSpPr/>
          <p:nvPr/>
        </p:nvSpPr>
        <p:spPr>
          <a:xfrm>
            <a:off x="688300" y="1248251"/>
            <a:ext cx="13253799" cy="6038612"/>
          </a:xfrm>
          <a:prstGeom prst="roundRect">
            <a:avLst>
              <a:gd name="adj" fmla="val 2565"/>
            </a:avLst>
          </a:prstGeom>
          <a:solidFill>
            <a:srgbClr val="D8ECE5"/>
          </a:solidFill>
          <a:ln/>
        </p:spPr>
      </p:sp>
      <p:sp>
        <p:nvSpPr>
          <p:cNvPr id="4" name="Shape 2"/>
          <p:cNvSpPr/>
          <p:nvPr/>
        </p:nvSpPr>
        <p:spPr>
          <a:xfrm>
            <a:off x="679728" y="1248251"/>
            <a:ext cx="13270944" cy="6038612"/>
          </a:xfrm>
          <a:prstGeom prst="roundRect">
            <a:avLst>
              <a:gd name="adj" fmla="val 427"/>
            </a:avLst>
          </a:prstGeom>
          <a:solidFill>
            <a:srgbClr val="D8ECE5"/>
          </a:solidFill>
          <a:ln/>
        </p:spPr>
      </p:sp>
      <p:sp>
        <p:nvSpPr>
          <p:cNvPr id="5" name="Text 3"/>
          <p:cNvSpPr/>
          <p:nvPr/>
        </p:nvSpPr>
        <p:spPr>
          <a:xfrm>
            <a:off x="851773" y="1377196"/>
            <a:ext cx="12926854" cy="5780723"/>
          </a:xfrm>
          <a:prstGeom prst="rect">
            <a:avLst/>
          </a:prstGeom>
          <a:noFill/>
          <a:ln/>
        </p:spPr>
        <p:txBody>
          <a:bodyPr wrap="square" lIns="0" tIns="0" rIns="0" bIns="0" rtlCol="0" anchor="t"/>
          <a:lstStyle/>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BÀI LAB 1: MULTITASKING DÙNG MILLIS() ---</a:t>
            </a:r>
            <a:endParaRPr lang="en-US" sz="1600" dirty="0"/>
          </a:p>
          <a:p>
            <a:pPr marL="0" indent="0" algn="l">
              <a:lnSpc>
                <a:spcPts val="2150"/>
              </a:lnSpc>
              <a:buNone/>
            </a:pP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#define LED_RED 16    // Định nghĩa chân GPIO cho đèn đỏ</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#define LED_GREEN 17  // Định nghĩa chân GPIO cho đèn xanh</a:t>
            </a:r>
            <a:endParaRPr lang="en-US" sz="1600" dirty="0"/>
          </a:p>
          <a:p>
            <a:pPr marL="0" indent="0" algn="l">
              <a:lnSpc>
                <a:spcPts val="2150"/>
              </a:lnSpc>
              <a:buNone/>
            </a:pP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--- 1. KHAI BÁO BIẾN THỜI GIAN (CỰC KỲ QUAN TRỌNG) ---</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Phải dùng 'unsigned long' vì millis() trả về số rất lớn</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Nếu dùng 'int', sau 32 giây sẽ bị tràn bộ nhớ và code hoạt động sai</a:t>
            </a:r>
            <a:endParaRPr lang="en-US" sz="1600" dirty="0"/>
          </a:p>
          <a:p>
            <a:pPr marL="0" indent="0" algn="l">
              <a:lnSpc>
                <a:spcPts val="2150"/>
              </a:lnSpc>
              <a:buNone/>
            </a:pP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unsigned long previousMillisRed = 0;    // Mốc thời gian của đèn Đỏ</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unsigned long previousMillisGreen = 0;  // Mốc thời gian của đèn Xanh  </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unsigned long previousMillisPrint = 0;  // Mốc thời gian in Serial</a:t>
            </a:r>
            <a:endParaRPr lang="en-US" sz="1600" dirty="0"/>
          </a:p>
          <a:p>
            <a:pPr marL="0" indent="0" algn="l">
              <a:lnSpc>
                <a:spcPts val="2150"/>
              </a:lnSpc>
              <a:buNone/>
            </a:pP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Các khoảng thời gian mong muốn (đơn vị: milliseconds)</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const long intervalRed = 1000;    // 1000ms = 1 giây</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const long intervalGreen = 500;   // 500ms = 0.5 giây</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const long intervalPrint = 2000;  // 2000ms = 2 giây</a:t>
            </a:r>
            <a:endParaRPr lang="en-US" sz="1600" dirty="0"/>
          </a:p>
          <a:p>
            <a:pPr marL="0" indent="0" algn="l">
              <a:lnSpc>
                <a:spcPts val="2150"/>
              </a:lnSpc>
              <a:buNone/>
            </a:pP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Biến lưu trạng thái hiện tại của đèn (Sáng hay Tắt)</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int ledStateRed = LOW;    // LOW = Tắt, HIGH = Sáng</a:t>
            </a:r>
            <a:endParaRPr lang="en-US" sz="1600" dirty="0"/>
          </a:p>
          <a:p>
            <a:pPr marL="0" indent="0" algn="l">
              <a:lnSpc>
                <a:spcPts val="21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int ledStateGreen = LOW;</a:t>
            </a:r>
            <a:endParaRPr lang="en-US" sz="1600" dirty="0"/>
          </a:p>
        </p:txBody>
      </p:sp>
      <p:sp>
        <p:nvSpPr>
          <p:cNvPr id="6" name="Text 4"/>
          <p:cNvSpPr/>
          <p:nvPr/>
        </p:nvSpPr>
        <p:spPr>
          <a:xfrm>
            <a:off x="688300" y="7480340"/>
            <a:ext cx="13253799" cy="275273"/>
          </a:xfrm>
          <a:prstGeom prst="rect">
            <a:avLst/>
          </a:prstGeom>
          <a:noFill/>
          <a:ln/>
        </p:spPr>
        <p:txBody>
          <a:bodyPr wrap="none" lIns="0" tIns="0" rIns="0" bIns="0" rtlCol="0" anchor="t"/>
          <a:lstStyle/>
          <a:p>
            <a:pPr marL="0" indent="0" algn="l">
              <a:lnSpc>
                <a:spcPts val="2150"/>
              </a:lnSpc>
              <a:buNone/>
            </a:pPr>
            <a:r>
              <a:rPr lang="en-US" dirty="0">
                <a:solidFill>
                  <a:srgbClr val="4B4A4A"/>
                </a:solidFill>
                <a:latin typeface="Geist" pitchFamily="34" charset="0"/>
                <a:ea typeface="Geist" pitchFamily="34" charset="-122"/>
                <a:cs typeface="Geist" pitchFamily="34" charset="-120"/>
              </a:rPr>
              <a:t>Giải thích chi tiết các biến quan trọng ở slide tiếp theo...</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16650" y="457725"/>
            <a:ext cx="5247442"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Giải thích chi tiết các biến</a:t>
            </a:r>
            <a:endParaRPr lang="en-US" sz="3100" dirty="0"/>
          </a:p>
        </p:txBody>
      </p:sp>
      <p:sp>
        <p:nvSpPr>
          <p:cNvPr id="3" name="Shape 1"/>
          <p:cNvSpPr/>
          <p:nvPr/>
        </p:nvSpPr>
        <p:spPr>
          <a:xfrm>
            <a:off x="748070" y="1093469"/>
            <a:ext cx="4215289" cy="3079671"/>
          </a:xfrm>
          <a:prstGeom prst="roundRect">
            <a:avLst>
              <a:gd name="adj" fmla="val 3563"/>
            </a:avLst>
          </a:prstGeom>
          <a:solidFill>
            <a:srgbClr val="E5F9F2">
              <a:alpha val="95000"/>
            </a:srgbClr>
          </a:solidFill>
          <a:ln w="22860">
            <a:solidFill>
              <a:srgbClr val="B7D5CA"/>
            </a:solidFill>
            <a:prstDash val="solid"/>
          </a:ln>
        </p:spPr>
      </p:sp>
      <p:sp>
        <p:nvSpPr>
          <p:cNvPr id="4" name="Shape 2"/>
          <p:cNvSpPr/>
          <p:nvPr/>
        </p:nvSpPr>
        <p:spPr>
          <a:xfrm>
            <a:off x="725210" y="1093469"/>
            <a:ext cx="91440" cy="3079671"/>
          </a:xfrm>
          <a:prstGeom prst="roundRect">
            <a:avLst>
              <a:gd name="adj" fmla="val 195349"/>
            </a:avLst>
          </a:prstGeom>
          <a:solidFill>
            <a:srgbClr val="006747"/>
          </a:solidFill>
          <a:ln/>
        </p:spPr>
      </p:sp>
      <p:sp>
        <p:nvSpPr>
          <p:cNvPr id="5" name="Text 3"/>
          <p:cNvSpPr/>
          <p:nvPr/>
        </p:nvSpPr>
        <p:spPr>
          <a:xfrm>
            <a:off x="1037868" y="1314687"/>
            <a:ext cx="3704273" cy="930473"/>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previousMillisRed, previousMillisGreen, previousMillisPrint</a:t>
            </a:r>
            <a:endParaRPr lang="en-US" sz="1950" dirty="0"/>
          </a:p>
        </p:txBody>
      </p:sp>
      <p:sp>
        <p:nvSpPr>
          <p:cNvPr id="6" name="Text 4"/>
          <p:cNvSpPr/>
          <p:nvPr/>
        </p:nvSpPr>
        <p:spPr>
          <a:xfrm>
            <a:off x="1037868" y="2364223"/>
            <a:ext cx="3704273" cy="1587698"/>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Ba biến này lưu </a:t>
            </a:r>
            <a:r>
              <a:rPr lang="en-US" b="1" dirty="0">
                <a:solidFill>
                  <a:srgbClr val="4B4A4A"/>
                </a:solidFill>
                <a:latin typeface="Geist" pitchFamily="34" charset="0"/>
                <a:ea typeface="Geist" pitchFamily="34" charset="-122"/>
                <a:cs typeface="Geist" pitchFamily="34" charset="-120"/>
              </a:rPr>
              <a:t>mốc thời gian</a:t>
            </a:r>
            <a:r>
              <a:rPr lang="en-US" dirty="0">
                <a:solidFill>
                  <a:srgbClr val="4B4A4A"/>
                </a:solidFill>
                <a:latin typeface="Geist" pitchFamily="34" charset="0"/>
                <a:ea typeface="Geist" pitchFamily="34" charset="-122"/>
                <a:cs typeface="Geist" pitchFamily="34" charset="-120"/>
              </a:rPr>
              <a:t> lần cuối cùng mỗi nhiệm vụ được thực hiện. Ví dụ: previousMillisRed = 5000 nghĩa là lần cuối đèn đỏ đổi trạng thái là ở thời điểm 5000ms.</a:t>
            </a:r>
            <a:endParaRPr lang="en-US" dirty="0"/>
          </a:p>
        </p:txBody>
      </p:sp>
      <p:sp>
        <p:nvSpPr>
          <p:cNvPr id="7" name="Shape 5"/>
          <p:cNvSpPr/>
          <p:nvPr/>
        </p:nvSpPr>
        <p:spPr>
          <a:xfrm>
            <a:off x="5207437" y="3021449"/>
            <a:ext cx="4215408" cy="3079671"/>
          </a:xfrm>
          <a:prstGeom prst="roundRect">
            <a:avLst>
              <a:gd name="adj" fmla="val 3563"/>
            </a:avLst>
          </a:prstGeom>
          <a:solidFill>
            <a:srgbClr val="E5F9F2">
              <a:alpha val="95000"/>
            </a:srgbClr>
          </a:solidFill>
          <a:ln w="22860">
            <a:solidFill>
              <a:srgbClr val="B7D5CA"/>
            </a:solidFill>
            <a:prstDash val="solid"/>
          </a:ln>
        </p:spPr>
      </p:sp>
      <p:sp>
        <p:nvSpPr>
          <p:cNvPr id="8" name="Shape 6"/>
          <p:cNvSpPr/>
          <p:nvPr/>
        </p:nvSpPr>
        <p:spPr>
          <a:xfrm>
            <a:off x="5184577" y="3021449"/>
            <a:ext cx="91440" cy="3079671"/>
          </a:xfrm>
          <a:prstGeom prst="roundRect">
            <a:avLst>
              <a:gd name="adj" fmla="val 195349"/>
            </a:avLst>
          </a:prstGeom>
          <a:solidFill>
            <a:srgbClr val="006747"/>
          </a:solidFill>
          <a:ln/>
        </p:spPr>
      </p:sp>
      <p:sp>
        <p:nvSpPr>
          <p:cNvPr id="9" name="Text 7"/>
          <p:cNvSpPr/>
          <p:nvPr/>
        </p:nvSpPr>
        <p:spPr>
          <a:xfrm>
            <a:off x="5497235" y="3242667"/>
            <a:ext cx="3704392"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intervalRed, intervalGreen, intervalPrint</a:t>
            </a:r>
            <a:endParaRPr lang="en-US" sz="1950" dirty="0"/>
          </a:p>
        </p:txBody>
      </p:sp>
      <p:sp>
        <p:nvSpPr>
          <p:cNvPr id="10" name="Text 8"/>
          <p:cNvSpPr/>
          <p:nvPr/>
        </p:nvSpPr>
        <p:spPr>
          <a:xfrm>
            <a:off x="5497235" y="3982045"/>
            <a:ext cx="3704392" cy="12777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Ba biến này định nghĩa </a:t>
            </a:r>
            <a:r>
              <a:rPr lang="en-US" b="1" dirty="0">
                <a:solidFill>
                  <a:srgbClr val="4B4A4A"/>
                </a:solidFill>
                <a:latin typeface="Geist" pitchFamily="34" charset="0"/>
                <a:ea typeface="Geist" pitchFamily="34" charset="-122"/>
                <a:cs typeface="Geist" pitchFamily="34" charset="-120"/>
              </a:rPr>
              <a:t>khoảng thời gian chờ</a:t>
            </a:r>
            <a:r>
              <a:rPr lang="en-US" dirty="0">
                <a:solidFill>
                  <a:srgbClr val="4B4A4A"/>
                </a:solidFill>
                <a:latin typeface="Geist" pitchFamily="34" charset="0"/>
                <a:ea typeface="Geist" pitchFamily="34" charset="-122"/>
                <a:cs typeface="Geist" pitchFamily="34" charset="-120"/>
              </a:rPr>
              <a:t> giữa mỗi lần thực hiện nhiệm vụ. Dùng </a:t>
            </a:r>
            <a:r>
              <a:rPr lang="en-US" dirty="0">
                <a:solidFill>
                  <a:srgbClr val="4B4A4A"/>
                </a:solidFill>
                <a:highlight>
                  <a:srgbClr val="D8ECE5"/>
                </a:highlight>
                <a:latin typeface="Consolas" pitchFamily="34" charset="0"/>
                <a:ea typeface="Consolas" pitchFamily="34" charset="-122"/>
                <a:cs typeface="Consolas" pitchFamily="34" charset="-120"/>
              </a:rPr>
              <a:t>const</a:t>
            </a:r>
            <a:r>
              <a:rPr lang="en-US" dirty="0">
                <a:solidFill>
                  <a:srgbClr val="4B4A4A"/>
                </a:solidFill>
                <a:latin typeface="Geist" pitchFamily="34" charset="0"/>
                <a:ea typeface="Geist" pitchFamily="34" charset="-122"/>
                <a:cs typeface="Geist" pitchFamily="34" charset="-120"/>
              </a:rPr>
              <a:t> vì giá trị này không đổi trong suốt chương trình.</a:t>
            </a:r>
            <a:endParaRPr lang="en-US" dirty="0"/>
          </a:p>
        </p:txBody>
      </p:sp>
      <p:sp>
        <p:nvSpPr>
          <p:cNvPr id="11" name="Shape 9"/>
          <p:cNvSpPr/>
          <p:nvPr/>
        </p:nvSpPr>
        <p:spPr>
          <a:xfrm>
            <a:off x="9712643" y="4942047"/>
            <a:ext cx="4215289" cy="3079671"/>
          </a:xfrm>
          <a:prstGeom prst="roundRect">
            <a:avLst>
              <a:gd name="adj" fmla="val 3563"/>
            </a:avLst>
          </a:prstGeom>
          <a:solidFill>
            <a:srgbClr val="E5F9F2">
              <a:alpha val="95000"/>
            </a:srgbClr>
          </a:solidFill>
          <a:ln w="22860">
            <a:solidFill>
              <a:srgbClr val="B7D5CA"/>
            </a:solidFill>
            <a:prstDash val="solid"/>
          </a:ln>
        </p:spPr>
      </p:sp>
      <p:sp>
        <p:nvSpPr>
          <p:cNvPr id="12" name="Shape 10"/>
          <p:cNvSpPr/>
          <p:nvPr/>
        </p:nvSpPr>
        <p:spPr>
          <a:xfrm>
            <a:off x="9689783" y="4942047"/>
            <a:ext cx="91440" cy="3079671"/>
          </a:xfrm>
          <a:prstGeom prst="roundRect">
            <a:avLst>
              <a:gd name="adj" fmla="val 195349"/>
            </a:avLst>
          </a:prstGeom>
          <a:solidFill>
            <a:srgbClr val="006747"/>
          </a:solidFill>
          <a:ln/>
        </p:spPr>
      </p:sp>
      <p:sp>
        <p:nvSpPr>
          <p:cNvPr id="13" name="Text 11"/>
          <p:cNvSpPr/>
          <p:nvPr/>
        </p:nvSpPr>
        <p:spPr>
          <a:xfrm>
            <a:off x="10002441" y="5163265"/>
            <a:ext cx="3428286"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ledStateRed, ledStateGreen</a:t>
            </a:r>
            <a:endParaRPr lang="en-US" sz="1950" dirty="0"/>
          </a:p>
        </p:txBody>
      </p:sp>
      <p:sp>
        <p:nvSpPr>
          <p:cNvPr id="14" name="Text 12"/>
          <p:cNvSpPr/>
          <p:nvPr/>
        </p:nvSpPr>
        <p:spPr>
          <a:xfrm>
            <a:off x="10002441" y="5592486"/>
            <a:ext cx="3704273"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Hai biến này lưu </a:t>
            </a:r>
            <a:r>
              <a:rPr lang="en-US" b="1" dirty="0">
                <a:solidFill>
                  <a:srgbClr val="4B4A4A"/>
                </a:solidFill>
                <a:latin typeface="Geist" pitchFamily="34" charset="0"/>
                <a:ea typeface="Geist" pitchFamily="34" charset="-122"/>
                <a:cs typeface="Geist" pitchFamily="34" charset="-120"/>
              </a:rPr>
              <a:t>trạng thái hiện tại</a:t>
            </a:r>
            <a:r>
              <a:rPr lang="en-US" dirty="0">
                <a:solidFill>
                  <a:srgbClr val="4B4A4A"/>
                </a:solidFill>
                <a:latin typeface="Geist" pitchFamily="34" charset="0"/>
                <a:ea typeface="Geist" pitchFamily="34" charset="-122"/>
                <a:cs typeface="Geist" pitchFamily="34" charset="-120"/>
              </a:rPr>
              <a:t> của mỗi đèn LED. LOW (0) = Tắt, HIGH (1) = Sáng. Ta cần nhớ trạng thái để có thể đảo ngược nó (Sáng → Tắt, Tắt → Sáng).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526376"/>
            <a:ext cx="5552599"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Code đầy đủ - Phần 2: Setup</a:t>
            </a:r>
            <a:endParaRPr lang="en-US" sz="3100" dirty="0"/>
          </a:p>
        </p:txBody>
      </p:sp>
      <p:sp>
        <p:nvSpPr>
          <p:cNvPr id="3" name="Shape 1"/>
          <p:cNvSpPr/>
          <p:nvPr/>
        </p:nvSpPr>
        <p:spPr>
          <a:xfrm>
            <a:off x="793790" y="1915478"/>
            <a:ext cx="13042821" cy="4743212"/>
          </a:xfrm>
          <a:prstGeom prst="roundRect">
            <a:avLst>
              <a:gd name="adj" fmla="val 3766"/>
            </a:avLst>
          </a:prstGeom>
          <a:solidFill>
            <a:srgbClr val="D8ECE5"/>
          </a:solidFill>
          <a:ln/>
        </p:spPr>
      </p:sp>
      <p:sp>
        <p:nvSpPr>
          <p:cNvPr id="4" name="Shape 2"/>
          <p:cNvSpPr/>
          <p:nvPr/>
        </p:nvSpPr>
        <p:spPr>
          <a:xfrm>
            <a:off x="783908" y="1915478"/>
            <a:ext cx="13062585" cy="4743212"/>
          </a:xfrm>
          <a:prstGeom prst="roundRect">
            <a:avLst>
              <a:gd name="adj" fmla="val 628"/>
            </a:avLst>
          </a:prstGeom>
          <a:solidFill>
            <a:srgbClr val="D8ECE5"/>
          </a:solidFill>
          <a:ln/>
        </p:spPr>
      </p:sp>
      <p:sp>
        <p:nvSpPr>
          <p:cNvPr id="5" name="Text 3"/>
          <p:cNvSpPr/>
          <p:nvPr/>
        </p:nvSpPr>
        <p:spPr>
          <a:xfrm>
            <a:off x="982266" y="2064306"/>
            <a:ext cx="12665869" cy="4445556"/>
          </a:xfrm>
          <a:prstGeom prst="rect">
            <a:avLst/>
          </a:prstGeom>
          <a:noFill/>
          <a:ln/>
        </p:spPr>
        <p:txBody>
          <a:bodyPr wrap="square" lIns="0" tIns="0" rIns="0" bIns="0" rtlCol="0" anchor="t"/>
          <a:lstStyle/>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void setup()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Khởi động Serial Monitor với tốc độ 115200 baud</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Serial.begin(115200);</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Cấu hình 2 chân GPIO là OUTPUT (xuất tín hiệu ra)</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pinMode(LED_RED, OUTPUT);</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pinMode(LED_GREEN, OUTPUT);</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In thông báo bắt đầu</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Serial.println("HỆ THỐNG ĐA NHIỆM BẮT ĐẦU HOẠT ĐỘNG");</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a:t>
            </a:r>
            <a:endParaRPr lang="en-US" sz="1600" dirty="0"/>
          </a:p>
        </p:txBody>
      </p:sp>
      <p:sp>
        <p:nvSpPr>
          <p:cNvPr id="6" name="Text 4"/>
          <p:cNvSpPr/>
          <p:nvPr/>
        </p:nvSpPr>
        <p:spPr>
          <a:xfrm>
            <a:off x="793790" y="6881932"/>
            <a:ext cx="13042821" cy="32516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Hàm </a:t>
            </a:r>
            <a:r>
              <a:rPr lang="en-US" dirty="0">
                <a:solidFill>
                  <a:srgbClr val="4B4A4A"/>
                </a:solidFill>
                <a:highlight>
                  <a:srgbClr val="D8ECE5"/>
                </a:highlight>
                <a:latin typeface="Consolas" pitchFamily="34" charset="0"/>
                <a:ea typeface="Consolas" pitchFamily="34" charset="-122"/>
                <a:cs typeface="Consolas" pitchFamily="34" charset="-120"/>
              </a:rPr>
              <a:t>setup()</a:t>
            </a:r>
            <a:r>
              <a:rPr lang="en-US" dirty="0">
                <a:solidFill>
                  <a:srgbClr val="4B4A4A"/>
                </a:solidFill>
                <a:latin typeface="Geist" pitchFamily="34" charset="0"/>
                <a:ea typeface="Geist" pitchFamily="34" charset="-122"/>
                <a:cs typeface="Geist" pitchFamily="34" charset="-120"/>
              </a:rPr>
              <a:t> chỉ chạy một lần khi ESP32 được khởi động hoặc reset. Đây là nơi ta chuẩn bị mọi thứ trước khi vào vòng lặp chính.</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39366" y="439460"/>
            <a:ext cx="5825728" cy="399574"/>
          </a:xfrm>
          <a:prstGeom prst="rect">
            <a:avLst/>
          </a:prstGeom>
          <a:noFill/>
          <a:ln/>
        </p:spPr>
        <p:txBody>
          <a:bodyPr wrap="none" lIns="0" tIns="0" rIns="0" bIns="0" rtlCol="0" anchor="t"/>
          <a:lstStyle/>
          <a:p>
            <a:pPr marL="0" indent="0" algn="l">
              <a:lnSpc>
                <a:spcPts val="3100"/>
              </a:lnSpc>
              <a:buNone/>
            </a:pPr>
            <a:r>
              <a:rPr lang="en-US" sz="2500" b="1" dirty="0">
                <a:solidFill>
                  <a:srgbClr val="006747"/>
                </a:solidFill>
                <a:latin typeface="Noto Serif SC Bold" pitchFamily="34" charset="0"/>
                <a:ea typeface="Noto Serif SC Bold" pitchFamily="34" charset="-122"/>
                <a:cs typeface="Noto Serif SC Bold" pitchFamily="34" charset="-120"/>
              </a:rPr>
              <a:t>Code đầy đủ - Phần 3: Loop - Đèn Đỏ</a:t>
            </a:r>
            <a:endParaRPr lang="en-US" sz="2500" dirty="0"/>
          </a:p>
        </p:txBody>
      </p:sp>
      <p:sp>
        <p:nvSpPr>
          <p:cNvPr id="3" name="Shape 1"/>
          <p:cNvSpPr/>
          <p:nvPr/>
        </p:nvSpPr>
        <p:spPr>
          <a:xfrm>
            <a:off x="639366" y="1158716"/>
            <a:ext cx="13351669" cy="6633210"/>
          </a:xfrm>
          <a:prstGeom prst="roundRect">
            <a:avLst>
              <a:gd name="adj" fmla="val 2169"/>
            </a:avLst>
          </a:prstGeom>
          <a:solidFill>
            <a:srgbClr val="D8ECE5"/>
          </a:solidFill>
          <a:ln/>
        </p:spPr>
      </p:sp>
      <p:sp>
        <p:nvSpPr>
          <p:cNvPr id="4" name="Shape 2"/>
          <p:cNvSpPr/>
          <p:nvPr/>
        </p:nvSpPr>
        <p:spPr>
          <a:xfrm>
            <a:off x="631388" y="1158716"/>
            <a:ext cx="13367623" cy="6633210"/>
          </a:xfrm>
          <a:prstGeom prst="roundRect">
            <a:avLst>
              <a:gd name="adj" fmla="val 361"/>
            </a:avLst>
          </a:prstGeom>
          <a:solidFill>
            <a:srgbClr val="D8ECE5"/>
          </a:solidFill>
          <a:ln/>
        </p:spPr>
      </p:sp>
      <p:sp>
        <p:nvSpPr>
          <p:cNvPr id="5" name="Text 3"/>
          <p:cNvSpPr/>
          <p:nvPr/>
        </p:nvSpPr>
        <p:spPr>
          <a:xfrm>
            <a:off x="791170" y="1278493"/>
            <a:ext cx="13048059" cy="6393656"/>
          </a:xfrm>
          <a:prstGeom prst="rect">
            <a:avLst/>
          </a:prstGeom>
          <a:noFill/>
          <a:ln/>
        </p:spPr>
        <p:txBody>
          <a:bodyPr wrap="square" lIns="0" tIns="0" rIns="0" bIns="0" rtlCol="0" anchor="t"/>
          <a:lstStyle/>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void loop()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Lấy thời gian hiện tại (số ms kể từ khi khởi động)</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unsigned long currentMillis = millis();</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 NHIỆM VỤ 1: XỬ LÝ ĐÈN ĐỎ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Kiểm tra: Đã trôi qua &gt;= 1000ms kể từ lần cuối thay đổi đèn đỏ chưa?</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if (currentMillis - previousMillisRed &gt;= intervalRed)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Cập nhật mốc thời gian mới bằng thời gian hiện tại</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previousMillisRed = currentMillis;</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Đảo trạng thái đèn (Nếu đang Tắt → Bật, đang Bật → Tắt)</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if (ledStateRed == LOW)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ledStateRed = HIGH; // Tắt → Sáng</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else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ledStateRed = LOW; // Sáng → Tắt</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Xuất trạng thái mới ra chân GPIO</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digitalWrite(LED_RED, ledStateRed);</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In thông báo ra Serial (để debug)</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Serial.print("Đèn Đỏ: ");</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Serial.println(ledStateRed == HIGH ? "SÁNG" : "TẮT");</a:t>
            </a:r>
            <a:endParaRPr lang="en-US" sz="1600" dirty="0"/>
          </a:p>
          <a:p>
            <a:pPr marL="0" indent="0" algn="l">
              <a:lnSpc>
                <a:spcPts val="20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863679"/>
            <a:ext cx="7733109"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Code đầy đủ - Phần 4: Loop - Đèn Xanh</a:t>
            </a:r>
            <a:endParaRPr lang="en-US" sz="3100" dirty="0"/>
          </a:p>
        </p:txBody>
      </p:sp>
      <p:sp>
        <p:nvSpPr>
          <p:cNvPr id="3" name="Shape 1"/>
          <p:cNvSpPr/>
          <p:nvPr/>
        </p:nvSpPr>
        <p:spPr>
          <a:xfrm>
            <a:off x="793790" y="1756648"/>
            <a:ext cx="13042821" cy="5060752"/>
          </a:xfrm>
          <a:prstGeom prst="roundRect">
            <a:avLst>
              <a:gd name="adj" fmla="val 3530"/>
            </a:avLst>
          </a:prstGeom>
          <a:solidFill>
            <a:srgbClr val="D8ECE5"/>
          </a:solidFill>
          <a:ln/>
        </p:spPr>
      </p:sp>
      <p:sp>
        <p:nvSpPr>
          <p:cNvPr id="4" name="Shape 2"/>
          <p:cNvSpPr/>
          <p:nvPr/>
        </p:nvSpPr>
        <p:spPr>
          <a:xfrm>
            <a:off x="783908" y="1756648"/>
            <a:ext cx="13062585" cy="5060752"/>
          </a:xfrm>
          <a:prstGeom prst="roundRect">
            <a:avLst>
              <a:gd name="adj" fmla="val 588"/>
            </a:avLst>
          </a:prstGeom>
          <a:solidFill>
            <a:srgbClr val="D8ECE5"/>
          </a:solidFill>
          <a:ln/>
        </p:spPr>
      </p:sp>
      <p:sp>
        <p:nvSpPr>
          <p:cNvPr id="5" name="Text 3"/>
          <p:cNvSpPr/>
          <p:nvPr/>
        </p:nvSpPr>
        <p:spPr>
          <a:xfrm>
            <a:off x="982266" y="1905476"/>
            <a:ext cx="12665869" cy="4763095"/>
          </a:xfrm>
          <a:prstGeom prst="rect">
            <a:avLst/>
          </a:prstGeom>
          <a:noFill/>
          <a:ln/>
        </p:spPr>
        <p:txBody>
          <a:bodyPr wrap="square" lIns="0" tIns="0" rIns="0" bIns="0" rtlCol="0" anchor="t"/>
          <a:lstStyle/>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 NHIỆM VỤ 2: XỬ LÝ ĐÈN XANH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Hoàn toàn độc lập với đèn đỏ!</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if (currentMillis - previousMillisGreen &gt;= intervalGreen)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previousMillisGreen = currentMillis;</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Cách viết ngắn gọn hơn để đảo trạng thái:</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Toán tử ! (NOT) sẽ biến LOW thành HIGH và ngược lại</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ledStateGreen = !ledStateGreen;</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digitalWrite(LED_GREEN, ledStateGreen);</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Serial.print("Đèn Xanh: ");</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Serial.println(ledStateGreen == HIGH ? "SÁNG" : "TẮT");</a:t>
            </a:r>
            <a:endParaRPr lang="en-US" sz="1600" dirty="0"/>
          </a:p>
          <a:p>
            <a:pPr marL="0" indent="0" algn="l">
              <a:lnSpc>
                <a:spcPts val="250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p:txBody>
      </p:sp>
      <p:sp>
        <p:nvSpPr>
          <p:cNvPr id="6" name="Text 4"/>
          <p:cNvSpPr/>
          <p:nvPr/>
        </p:nvSpPr>
        <p:spPr>
          <a:xfrm>
            <a:off x="793790" y="7040642"/>
            <a:ext cx="13042821" cy="325160"/>
          </a:xfrm>
          <a:prstGeom prst="rect">
            <a:avLst/>
          </a:prstGeom>
          <a:noFill/>
          <a:ln/>
        </p:spPr>
        <p:txBody>
          <a:bodyPr wrap="none" lIns="0" tIns="0" rIns="0" bIns="0" rtlCol="0" anchor="t"/>
          <a:lstStyle/>
          <a:p>
            <a:pPr marL="0" indent="0" algn="l">
              <a:lnSpc>
                <a:spcPts val="2500"/>
              </a:lnSpc>
              <a:buNone/>
            </a:pPr>
            <a:r>
              <a:rPr lang="en-US" b="1" dirty="0">
                <a:solidFill>
                  <a:srgbClr val="4B4A4A"/>
                </a:solidFill>
                <a:highlight>
                  <a:srgbClr val="E5F9F2"/>
                </a:highlight>
                <a:latin typeface="Geist" pitchFamily="34" charset="0"/>
                <a:ea typeface="Geist" pitchFamily="34" charset="-122"/>
                <a:cs typeface="Geist" pitchFamily="34" charset="-120"/>
              </a:rPr>
              <a:t>Chú ý: </a:t>
            </a:r>
            <a:r>
              <a:rPr lang="en-US" dirty="0">
                <a:solidFill>
                  <a:srgbClr val="4B4A4A"/>
                </a:solidFill>
                <a:highlight>
                  <a:srgbClr val="E5F9F2"/>
                </a:highlight>
                <a:latin typeface="Geist" pitchFamily="34" charset="0"/>
                <a:ea typeface="Geist" pitchFamily="34" charset="-122"/>
                <a:cs typeface="Geist" pitchFamily="34" charset="-120"/>
              </a:rPr>
              <a:t>Toán tử </a:t>
            </a:r>
            <a:r>
              <a:rPr lang="en-US" dirty="0">
                <a:solidFill>
                  <a:srgbClr val="4B4A4A"/>
                </a:solidFill>
                <a:highlight>
                  <a:srgbClr val="D8ECE5"/>
                </a:highlight>
                <a:latin typeface="Consolas" pitchFamily="34" charset="0"/>
                <a:ea typeface="Consolas" pitchFamily="34" charset="-122"/>
                <a:cs typeface="Consolas" pitchFamily="34" charset="-120"/>
              </a:rPr>
              <a:t>!</a:t>
            </a:r>
            <a:r>
              <a:rPr lang="en-US" dirty="0">
                <a:solidFill>
                  <a:srgbClr val="4B4A4A"/>
                </a:solidFill>
                <a:highlight>
                  <a:srgbClr val="E5F9F2"/>
                </a:highlight>
                <a:latin typeface="Geist" pitchFamily="34" charset="0"/>
                <a:ea typeface="Geist" pitchFamily="34" charset="-122"/>
                <a:cs typeface="Geist" pitchFamily="34" charset="-120"/>
              </a:rPr>
              <a:t> (NOT logic) là cách viết ngắn gọn để đảo ngược giá trị boolean. </a:t>
            </a:r>
            <a:r>
              <a:rPr lang="en-US" dirty="0">
                <a:solidFill>
                  <a:srgbClr val="4B4A4A"/>
                </a:solidFill>
                <a:highlight>
                  <a:srgbClr val="D8ECE5"/>
                </a:highlight>
                <a:latin typeface="Consolas" pitchFamily="34" charset="0"/>
                <a:ea typeface="Consolas" pitchFamily="34" charset="-122"/>
                <a:cs typeface="Consolas" pitchFamily="34" charset="-120"/>
              </a:rPr>
              <a:t>!LOW</a:t>
            </a:r>
            <a:r>
              <a:rPr lang="en-US" dirty="0">
                <a:solidFill>
                  <a:srgbClr val="4B4A4A"/>
                </a:solidFill>
                <a:highlight>
                  <a:srgbClr val="E5F9F2"/>
                </a:highlight>
                <a:latin typeface="Geist" pitchFamily="34" charset="0"/>
                <a:ea typeface="Geist" pitchFamily="34" charset="-122"/>
                <a:cs typeface="Geist" pitchFamily="34" charset="-120"/>
              </a:rPr>
              <a:t> = </a:t>
            </a:r>
            <a:r>
              <a:rPr lang="en-US" dirty="0">
                <a:solidFill>
                  <a:srgbClr val="4B4A4A"/>
                </a:solidFill>
                <a:highlight>
                  <a:srgbClr val="D8ECE5"/>
                </a:highlight>
                <a:latin typeface="Consolas" pitchFamily="34" charset="0"/>
                <a:ea typeface="Consolas" pitchFamily="34" charset="-122"/>
                <a:cs typeface="Consolas" pitchFamily="34" charset="-120"/>
              </a:rPr>
              <a:t>HIGH</a:t>
            </a:r>
            <a:r>
              <a:rPr lang="en-US" dirty="0">
                <a:solidFill>
                  <a:srgbClr val="4B4A4A"/>
                </a:solidFill>
                <a:highlight>
                  <a:srgbClr val="E5F9F2"/>
                </a:highlight>
                <a:latin typeface="Geist" pitchFamily="34" charset="0"/>
                <a:ea typeface="Geist" pitchFamily="34" charset="-122"/>
                <a:cs typeface="Geist" pitchFamily="34" charset="-120"/>
              </a:rPr>
              <a:t>, </a:t>
            </a:r>
            <a:r>
              <a:rPr lang="en-US" dirty="0">
                <a:solidFill>
                  <a:srgbClr val="4B4A4A"/>
                </a:solidFill>
                <a:highlight>
                  <a:srgbClr val="D8ECE5"/>
                </a:highlight>
                <a:latin typeface="Consolas" pitchFamily="34" charset="0"/>
                <a:ea typeface="Consolas" pitchFamily="34" charset="-122"/>
                <a:cs typeface="Consolas" pitchFamily="34" charset="-120"/>
              </a:rPr>
              <a:t>!HIGH</a:t>
            </a:r>
            <a:r>
              <a:rPr lang="en-US" dirty="0">
                <a:solidFill>
                  <a:srgbClr val="4B4A4A"/>
                </a:solidFill>
                <a:highlight>
                  <a:srgbClr val="E5F9F2"/>
                </a:highlight>
                <a:latin typeface="Geist" pitchFamily="34" charset="0"/>
                <a:ea typeface="Geist" pitchFamily="34" charset="-122"/>
                <a:cs typeface="Geist" pitchFamily="34" charset="-120"/>
              </a:rPr>
              <a:t> = </a:t>
            </a:r>
            <a:r>
              <a:rPr lang="en-US" dirty="0">
                <a:solidFill>
                  <a:srgbClr val="4B4A4A"/>
                </a:solidFill>
                <a:latin typeface="Geist" pitchFamily="34" charset="0"/>
                <a:ea typeface="Geist" pitchFamily="34" charset="-122"/>
                <a:cs typeface="Geist" pitchFamily="34" charset="-120"/>
              </a:rPr>
              <a:t>LOW</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56642" y="520779"/>
            <a:ext cx="7688580" cy="472916"/>
          </a:xfrm>
          <a:prstGeom prst="rect">
            <a:avLst/>
          </a:prstGeom>
          <a:noFill/>
          <a:ln/>
        </p:spPr>
        <p:txBody>
          <a:bodyPr wrap="none" lIns="0" tIns="0" rIns="0" bIns="0" rtlCol="0" anchor="t"/>
          <a:lstStyle/>
          <a:p>
            <a:pPr marL="0" indent="0" algn="l">
              <a:lnSpc>
                <a:spcPts val="3700"/>
              </a:lnSpc>
              <a:buNone/>
            </a:pPr>
            <a:r>
              <a:rPr lang="en-US" sz="2950" b="1" dirty="0">
                <a:solidFill>
                  <a:srgbClr val="006747"/>
                </a:solidFill>
                <a:latin typeface="Noto Serif SC Bold" pitchFamily="34" charset="0"/>
                <a:ea typeface="Noto Serif SC Bold" pitchFamily="34" charset="-122"/>
                <a:cs typeface="Noto Serif SC Bold" pitchFamily="34" charset="-120"/>
              </a:rPr>
              <a:t>Code đầy đủ - Phần 5: Loop - Serial Print</a:t>
            </a:r>
            <a:endParaRPr lang="en-US" sz="2950" dirty="0"/>
          </a:p>
        </p:txBody>
      </p:sp>
      <p:sp>
        <p:nvSpPr>
          <p:cNvPr id="3" name="Shape 1"/>
          <p:cNvSpPr/>
          <p:nvPr/>
        </p:nvSpPr>
        <p:spPr>
          <a:xfrm>
            <a:off x="756642" y="1371957"/>
            <a:ext cx="13117116" cy="6336744"/>
          </a:xfrm>
          <a:prstGeom prst="roundRect">
            <a:avLst>
              <a:gd name="adj" fmla="val 2687"/>
            </a:avLst>
          </a:prstGeom>
          <a:solidFill>
            <a:srgbClr val="D8ECE5"/>
          </a:solidFill>
          <a:ln/>
        </p:spPr>
      </p:sp>
      <p:sp>
        <p:nvSpPr>
          <p:cNvPr id="4" name="Shape 2"/>
          <p:cNvSpPr/>
          <p:nvPr/>
        </p:nvSpPr>
        <p:spPr>
          <a:xfrm>
            <a:off x="747236" y="1371957"/>
            <a:ext cx="13135928" cy="6336744"/>
          </a:xfrm>
          <a:prstGeom prst="roundRect">
            <a:avLst>
              <a:gd name="adj" fmla="val 448"/>
            </a:avLst>
          </a:prstGeom>
          <a:solidFill>
            <a:srgbClr val="D8ECE5"/>
          </a:solidFill>
          <a:ln/>
        </p:spPr>
      </p:sp>
      <p:sp>
        <p:nvSpPr>
          <p:cNvPr id="5" name="Text 3"/>
          <p:cNvSpPr/>
          <p:nvPr/>
        </p:nvSpPr>
        <p:spPr>
          <a:xfrm>
            <a:off x="936308" y="1513761"/>
            <a:ext cx="12757785" cy="6053138"/>
          </a:xfrm>
          <a:prstGeom prst="rect">
            <a:avLst/>
          </a:prstGeom>
          <a:noFill/>
          <a:ln/>
        </p:spPr>
        <p:txBody>
          <a:bodyPr wrap="square" lIns="0" tIns="0" rIns="0" bIns="0" rtlCol="0" anchor="t"/>
          <a:lstStyle/>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 NHIỆM VỤ 3: IN SERIAL MONITOR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if (currentMillis - previousMillisPrint &gt;= intervalPrint)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previousMillisPrint = currentMillis;</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 Hệ thống vẫn đang chạy ngon lành...");</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 Thời gian hoạt động: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Serial.print(currentMillis / 1000); // Chuyển ms sang giây</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 giây");</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Serial.println();</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 HẾT VÒng LẶP ==========</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Các bạn thấy không? KHÔNG HỀ CÓ delay() nào!</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Vi xử lý chạy vèo qua các lệnh if.</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Nếu chưa đến giờ, nó bỏ qua và làm việc khác.</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 // Vòng loop() này chạy hàng nghìn lần mỗi giây!</a:t>
            </a:r>
            <a:endParaRPr lang="en-US" sz="1600" dirty="0"/>
          </a:p>
          <a:p>
            <a:pPr marL="0" indent="0" algn="l">
              <a:lnSpc>
                <a:spcPts val="2350"/>
              </a:lnSpc>
              <a:buNone/>
            </a:pPr>
            <a:r>
              <a:rPr lang="en-US" sz="1600" dirty="0">
                <a:solidFill>
                  <a:srgbClr val="4B4A4A"/>
                </a:solidFill>
                <a:highlight>
                  <a:srgbClr val="D8ECE5"/>
                </a:highlight>
                <a:latin typeface="Consolas" pitchFamily="34" charset="0"/>
                <a:ea typeface="Consolas" pitchFamily="34" charset="-122"/>
                <a:cs typeface="Consolas" pitchFamily="34" charset="-120"/>
              </a:rPr>
              <a: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nvSpPr>
        <p:spPr>
          <a:xfrm>
            <a:off x="1358234" y="669071"/>
            <a:ext cx="5489853"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Kết quả trên Serial Monitor</a:t>
            </a:r>
            <a:endParaRPr lang="en-US" sz="3100" dirty="0"/>
          </a:p>
        </p:txBody>
      </p:sp>
      <p:sp>
        <p:nvSpPr>
          <p:cNvPr id="5" name="Shape 2"/>
          <p:cNvSpPr/>
          <p:nvPr/>
        </p:nvSpPr>
        <p:spPr>
          <a:xfrm>
            <a:off x="2009423" y="1710928"/>
            <a:ext cx="5091288" cy="4743212"/>
          </a:xfrm>
          <a:prstGeom prst="roundRect">
            <a:avLst>
              <a:gd name="adj" fmla="val 628"/>
            </a:avLst>
          </a:prstGeom>
          <a:solidFill>
            <a:srgbClr val="D8ECE5"/>
          </a:solidFill>
          <a:ln/>
        </p:spPr>
      </p:sp>
      <p:sp>
        <p:nvSpPr>
          <p:cNvPr id="6" name="Text 3"/>
          <p:cNvSpPr/>
          <p:nvPr/>
        </p:nvSpPr>
        <p:spPr>
          <a:xfrm>
            <a:off x="2393377" y="1775460"/>
            <a:ext cx="7179469" cy="4445556"/>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HỆ THỐNG ĐA NHIỆM BẮT ĐẦU HOẠT ĐỘNG</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500"/>
              </a:lnSpc>
              <a:buNone/>
            </a:pP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Đèn Xanh: SÁNG</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Đèn Xanh: TẮT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Đèn Đỏ: SÁNG</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Đèn Xanh: SÁNG</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Đèn Xanh: TẮT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Đèn Đỏ: TẮT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Hệ thống vẫn đang chạy ngon lành...</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Thời gian hoạt động: 2 giây</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7" name="Text 4"/>
          <p:cNvSpPr/>
          <p:nvPr/>
        </p:nvSpPr>
        <p:spPr>
          <a:xfrm>
            <a:off x="2016425" y="6767693"/>
            <a:ext cx="9678864" cy="635079"/>
          </a:xfrm>
          <a:prstGeom prst="rect">
            <a:avLst/>
          </a:prstGeom>
          <a:noFill/>
          <a:ln/>
        </p:spPr>
        <p:txBody>
          <a:bodyPr wrap="squar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Quan sát kỹ: </a:t>
            </a:r>
            <a:r>
              <a:rPr lang="en-US" dirty="0">
                <a:solidFill>
                  <a:srgbClr val="4B4A4A"/>
                </a:solidFill>
                <a:latin typeface="Geist" pitchFamily="34" charset="0"/>
                <a:ea typeface="Geist" pitchFamily="34" charset="-122"/>
                <a:cs typeface="Geist" pitchFamily="34" charset="-120"/>
              </a:rPr>
              <a:t>Đèn xanh nháy 2 lần trong khi đèn đỏ mới nháy 1 lần, hoàn toàn độc lập nhau!</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73073" y="531495"/>
            <a:ext cx="6654760" cy="483156"/>
          </a:xfrm>
          <a:prstGeom prst="rect">
            <a:avLst/>
          </a:prstGeom>
          <a:noFill/>
          <a:ln/>
        </p:spPr>
        <p:txBody>
          <a:bodyPr wrap="none" lIns="0" tIns="0" rIns="0" bIns="0" rtlCol="0" anchor="t"/>
          <a:lstStyle/>
          <a:p>
            <a:pPr marL="0" indent="0" algn="l">
              <a:lnSpc>
                <a:spcPts val="3800"/>
              </a:lnSpc>
              <a:buNone/>
            </a:pPr>
            <a:r>
              <a:rPr lang="en-US" sz="3000" b="1" dirty="0">
                <a:solidFill>
                  <a:srgbClr val="006747"/>
                </a:solidFill>
                <a:latin typeface="Noto Serif SC Bold" pitchFamily="34" charset="0"/>
                <a:ea typeface="Noto Serif SC Bold" pitchFamily="34" charset="-122"/>
                <a:cs typeface="Noto Serif SC Bold" pitchFamily="34" charset="-120"/>
              </a:rPr>
              <a:t>Phân tích hoạt động theo timeline</a:t>
            </a:r>
            <a:endParaRPr lang="en-US" sz="3000" dirty="0"/>
          </a:p>
        </p:txBody>
      </p:sp>
      <p:sp>
        <p:nvSpPr>
          <p:cNvPr id="3" name="Shape 1"/>
          <p:cNvSpPr/>
          <p:nvPr/>
        </p:nvSpPr>
        <p:spPr>
          <a:xfrm>
            <a:off x="7303770" y="1401128"/>
            <a:ext cx="22860" cy="5771198"/>
          </a:xfrm>
          <a:prstGeom prst="roundRect">
            <a:avLst>
              <a:gd name="adj" fmla="val 760964"/>
            </a:avLst>
          </a:prstGeom>
          <a:solidFill>
            <a:srgbClr val="B7D5CA"/>
          </a:solidFill>
          <a:ln/>
        </p:spPr>
      </p:sp>
      <p:sp>
        <p:nvSpPr>
          <p:cNvPr id="4" name="Shape 2"/>
          <p:cNvSpPr/>
          <p:nvPr/>
        </p:nvSpPr>
        <p:spPr>
          <a:xfrm>
            <a:off x="6540818" y="1607106"/>
            <a:ext cx="579834" cy="22860"/>
          </a:xfrm>
          <a:prstGeom prst="roundRect">
            <a:avLst>
              <a:gd name="adj" fmla="val 760964"/>
            </a:avLst>
          </a:prstGeom>
          <a:solidFill>
            <a:srgbClr val="B7D5CA"/>
          </a:solidFill>
          <a:ln/>
        </p:spPr>
      </p:sp>
      <p:sp>
        <p:nvSpPr>
          <p:cNvPr id="5" name="Shape 3"/>
          <p:cNvSpPr/>
          <p:nvPr/>
        </p:nvSpPr>
        <p:spPr>
          <a:xfrm>
            <a:off x="7097792" y="1401128"/>
            <a:ext cx="434816" cy="434816"/>
          </a:xfrm>
          <a:prstGeom prst="roundRect">
            <a:avLst>
              <a:gd name="adj" fmla="val 40007"/>
            </a:avLst>
          </a:prstGeom>
          <a:solidFill>
            <a:srgbClr val="D1EFE4"/>
          </a:solidFill>
          <a:ln w="7620">
            <a:solidFill>
              <a:srgbClr val="B7D5CA"/>
            </a:solidFill>
            <a:prstDash val="solid"/>
          </a:ln>
        </p:spPr>
      </p:sp>
      <p:sp>
        <p:nvSpPr>
          <p:cNvPr id="6" name="Text 4"/>
          <p:cNvSpPr/>
          <p:nvPr/>
        </p:nvSpPr>
        <p:spPr>
          <a:xfrm>
            <a:off x="7170241" y="1437382"/>
            <a:ext cx="289917" cy="362307"/>
          </a:xfrm>
          <a:prstGeom prst="rect">
            <a:avLst/>
          </a:prstGeom>
          <a:noFill/>
          <a:ln/>
        </p:spPr>
        <p:txBody>
          <a:bodyPr wrap="none" lIns="0" tIns="0" rIns="0" bIns="0" rtlCol="0" anchor="t"/>
          <a:lstStyle/>
          <a:p>
            <a:pPr marL="0" indent="0" algn="ctr">
              <a:lnSpc>
                <a:spcPts val="2250"/>
              </a:lnSpc>
              <a:buNone/>
            </a:pPr>
            <a:r>
              <a:rPr lang="en-US" b="1" dirty="0">
                <a:solidFill>
                  <a:srgbClr val="4B4A4A"/>
                </a:solidFill>
                <a:latin typeface="Noto Serif SC Bold" pitchFamily="34" charset="0"/>
                <a:ea typeface="Noto Serif SC Bold" pitchFamily="34" charset="-122"/>
                <a:cs typeface="Noto Serif SC Bold" pitchFamily="34" charset="-120"/>
              </a:rPr>
              <a:t>1</a:t>
            </a:r>
            <a:endParaRPr lang="en-US" dirty="0"/>
          </a:p>
        </p:txBody>
      </p:sp>
      <p:sp>
        <p:nvSpPr>
          <p:cNvPr id="7" name="Text 5"/>
          <p:cNvSpPr/>
          <p:nvPr/>
        </p:nvSpPr>
        <p:spPr>
          <a:xfrm>
            <a:off x="3932873" y="1467564"/>
            <a:ext cx="2416016" cy="301943"/>
          </a:xfrm>
          <a:prstGeom prst="rect">
            <a:avLst/>
          </a:prstGeom>
          <a:noFill/>
          <a:ln/>
        </p:spPr>
        <p:txBody>
          <a:bodyPr wrap="none" lIns="0" tIns="0" rIns="0" bIns="0" rtlCol="0" anchor="t"/>
          <a:lstStyle/>
          <a:p>
            <a:pPr marL="0" indent="0" algn="r">
              <a:lnSpc>
                <a:spcPts val="2350"/>
              </a:lnSpc>
              <a:buNone/>
            </a:pPr>
            <a:r>
              <a:rPr lang="en-US" b="1" dirty="0">
                <a:solidFill>
                  <a:srgbClr val="4B4A4A"/>
                </a:solidFill>
                <a:latin typeface="Noto Serif SC Bold" pitchFamily="34" charset="0"/>
                <a:ea typeface="Noto Serif SC Bold" pitchFamily="34" charset="-122"/>
                <a:cs typeface="Noto Serif SC Bold" pitchFamily="34" charset="-120"/>
              </a:rPr>
              <a:t>0ms - Khởi động</a:t>
            </a:r>
            <a:endParaRPr lang="en-US" dirty="0"/>
          </a:p>
        </p:txBody>
      </p:sp>
      <p:sp>
        <p:nvSpPr>
          <p:cNvPr id="8" name="Text 6"/>
          <p:cNvSpPr/>
          <p:nvPr/>
        </p:nvSpPr>
        <p:spPr>
          <a:xfrm>
            <a:off x="773073" y="1885474"/>
            <a:ext cx="5575816" cy="309086"/>
          </a:xfrm>
          <a:prstGeom prst="rect">
            <a:avLst/>
          </a:prstGeom>
          <a:noFill/>
          <a:ln/>
        </p:spPr>
        <p:txBody>
          <a:bodyPr wrap="none" lIns="0" tIns="0" rIns="0" bIns="0" rtlCol="0" anchor="t"/>
          <a:lstStyle/>
          <a:p>
            <a:pPr marL="0" indent="0" algn="r">
              <a:lnSpc>
                <a:spcPts val="2400"/>
              </a:lnSpc>
              <a:buNone/>
            </a:pPr>
            <a:r>
              <a:rPr lang="en-US" dirty="0">
                <a:solidFill>
                  <a:srgbClr val="4B4A4A"/>
                </a:solidFill>
                <a:latin typeface="Geist" pitchFamily="34" charset="0"/>
                <a:ea typeface="Geist" pitchFamily="34" charset="-122"/>
                <a:cs typeface="Geist" pitchFamily="34" charset="-120"/>
              </a:rPr>
              <a:t>Cả 2 đèn tắt, previousMillis = 0</a:t>
            </a:r>
            <a:endParaRPr lang="en-US" dirty="0"/>
          </a:p>
        </p:txBody>
      </p:sp>
      <p:sp>
        <p:nvSpPr>
          <p:cNvPr id="9" name="Shape 7"/>
          <p:cNvSpPr/>
          <p:nvPr/>
        </p:nvSpPr>
        <p:spPr>
          <a:xfrm>
            <a:off x="7509748" y="2766655"/>
            <a:ext cx="579834" cy="22860"/>
          </a:xfrm>
          <a:prstGeom prst="roundRect">
            <a:avLst>
              <a:gd name="adj" fmla="val 760964"/>
            </a:avLst>
          </a:prstGeom>
          <a:solidFill>
            <a:srgbClr val="B7D5CA"/>
          </a:solidFill>
          <a:ln/>
        </p:spPr>
      </p:sp>
      <p:sp>
        <p:nvSpPr>
          <p:cNvPr id="10" name="Shape 8"/>
          <p:cNvSpPr/>
          <p:nvPr/>
        </p:nvSpPr>
        <p:spPr>
          <a:xfrm>
            <a:off x="7097792" y="2560677"/>
            <a:ext cx="434816" cy="434816"/>
          </a:xfrm>
          <a:prstGeom prst="roundRect">
            <a:avLst>
              <a:gd name="adj" fmla="val 40007"/>
            </a:avLst>
          </a:prstGeom>
          <a:solidFill>
            <a:srgbClr val="D1EFE4"/>
          </a:solidFill>
          <a:ln w="7620">
            <a:solidFill>
              <a:srgbClr val="B7D5CA"/>
            </a:solidFill>
            <a:prstDash val="solid"/>
          </a:ln>
        </p:spPr>
      </p:sp>
      <p:sp>
        <p:nvSpPr>
          <p:cNvPr id="11" name="Text 9"/>
          <p:cNvSpPr/>
          <p:nvPr/>
        </p:nvSpPr>
        <p:spPr>
          <a:xfrm>
            <a:off x="7170241" y="2596932"/>
            <a:ext cx="289917" cy="362307"/>
          </a:xfrm>
          <a:prstGeom prst="rect">
            <a:avLst/>
          </a:prstGeom>
          <a:noFill/>
          <a:ln/>
        </p:spPr>
        <p:txBody>
          <a:bodyPr wrap="none" lIns="0" tIns="0" rIns="0" bIns="0" rtlCol="0" anchor="t"/>
          <a:lstStyle/>
          <a:p>
            <a:pPr marL="0" indent="0" algn="ctr">
              <a:lnSpc>
                <a:spcPts val="2250"/>
              </a:lnSpc>
              <a:buNone/>
            </a:pPr>
            <a:r>
              <a:rPr lang="en-US" b="1" dirty="0">
                <a:solidFill>
                  <a:srgbClr val="4B4A4A"/>
                </a:solidFill>
                <a:latin typeface="Noto Serif SC Bold" pitchFamily="34" charset="0"/>
                <a:ea typeface="Noto Serif SC Bold" pitchFamily="34" charset="-122"/>
                <a:cs typeface="Noto Serif SC Bold" pitchFamily="34" charset="-120"/>
              </a:rPr>
              <a:t>2</a:t>
            </a:r>
            <a:endParaRPr lang="en-US" dirty="0"/>
          </a:p>
        </p:txBody>
      </p:sp>
      <p:sp>
        <p:nvSpPr>
          <p:cNvPr id="12" name="Text 10"/>
          <p:cNvSpPr/>
          <p:nvPr/>
        </p:nvSpPr>
        <p:spPr>
          <a:xfrm>
            <a:off x="8281511" y="2627114"/>
            <a:ext cx="2416016" cy="301943"/>
          </a:xfrm>
          <a:prstGeom prst="rect">
            <a:avLst/>
          </a:prstGeom>
          <a:noFill/>
          <a:ln/>
        </p:spPr>
        <p:txBody>
          <a:bodyPr wrap="none" lIns="0" tIns="0" rIns="0" bIns="0" rtlCol="0" anchor="t"/>
          <a:lstStyle/>
          <a:p>
            <a:pPr marL="0" indent="0" algn="l">
              <a:lnSpc>
                <a:spcPts val="2350"/>
              </a:lnSpc>
              <a:buNone/>
            </a:pPr>
            <a:r>
              <a:rPr lang="en-US" b="1" dirty="0">
                <a:solidFill>
                  <a:srgbClr val="4B4A4A"/>
                </a:solidFill>
                <a:latin typeface="Noto Serif SC Bold" pitchFamily="34" charset="0"/>
                <a:ea typeface="Noto Serif SC Bold" pitchFamily="34" charset="-122"/>
                <a:cs typeface="Noto Serif SC Bold" pitchFamily="34" charset="-120"/>
              </a:rPr>
              <a:t>500ms</a:t>
            </a:r>
            <a:endParaRPr lang="en-US" dirty="0"/>
          </a:p>
        </p:txBody>
      </p:sp>
      <p:sp>
        <p:nvSpPr>
          <p:cNvPr id="13" name="Text 11"/>
          <p:cNvSpPr/>
          <p:nvPr/>
        </p:nvSpPr>
        <p:spPr>
          <a:xfrm>
            <a:off x="8281511" y="3045023"/>
            <a:ext cx="5575816" cy="309086"/>
          </a:xfrm>
          <a:prstGeom prst="rect">
            <a:avLst/>
          </a:prstGeom>
          <a:noFill/>
          <a:ln/>
        </p:spPr>
        <p:txBody>
          <a:bodyPr wrap="none" lIns="0" tIns="0" rIns="0" bIns="0" rtlCol="0" anchor="t"/>
          <a:lstStyle/>
          <a:p>
            <a:pPr marL="0" indent="0" algn="l">
              <a:lnSpc>
                <a:spcPts val="2400"/>
              </a:lnSpc>
              <a:buNone/>
            </a:pPr>
            <a:r>
              <a:rPr lang="en-US" sz="1500" dirty="0">
                <a:solidFill>
                  <a:srgbClr val="4B4A4A"/>
                </a:solidFill>
                <a:latin typeface="Geist" pitchFamily="34" charset="0"/>
                <a:ea typeface="Geist" pitchFamily="34" charset="-122"/>
                <a:cs typeface="Geist" pitchFamily="34" charset="-120"/>
              </a:rPr>
              <a:t>Đèn Xanh SÁNG (đủ 500ms)</a:t>
            </a:r>
            <a:endParaRPr lang="en-US" sz="1500" dirty="0"/>
          </a:p>
        </p:txBody>
      </p:sp>
      <p:sp>
        <p:nvSpPr>
          <p:cNvPr id="14" name="Shape 12"/>
          <p:cNvSpPr/>
          <p:nvPr/>
        </p:nvSpPr>
        <p:spPr>
          <a:xfrm>
            <a:off x="6540818" y="3766185"/>
            <a:ext cx="579834" cy="22860"/>
          </a:xfrm>
          <a:prstGeom prst="roundRect">
            <a:avLst>
              <a:gd name="adj" fmla="val 760964"/>
            </a:avLst>
          </a:prstGeom>
          <a:solidFill>
            <a:srgbClr val="B7D5CA"/>
          </a:solidFill>
          <a:ln/>
        </p:spPr>
      </p:sp>
      <p:sp>
        <p:nvSpPr>
          <p:cNvPr id="15" name="Shape 13"/>
          <p:cNvSpPr/>
          <p:nvPr/>
        </p:nvSpPr>
        <p:spPr>
          <a:xfrm>
            <a:off x="7097792" y="3560207"/>
            <a:ext cx="434816" cy="434816"/>
          </a:xfrm>
          <a:prstGeom prst="roundRect">
            <a:avLst>
              <a:gd name="adj" fmla="val 40007"/>
            </a:avLst>
          </a:prstGeom>
          <a:solidFill>
            <a:srgbClr val="D1EFE4"/>
          </a:solidFill>
          <a:ln w="7620">
            <a:solidFill>
              <a:srgbClr val="B7D5CA"/>
            </a:solidFill>
            <a:prstDash val="solid"/>
          </a:ln>
        </p:spPr>
      </p:sp>
      <p:sp>
        <p:nvSpPr>
          <p:cNvPr id="16" name="Text 14"/>
          <p:cNvSpPr/>
          <p:nvPr/>
        </p:nvSpPr>
        <p:spPr>
          <a:xfrm>
            <a:off x="7170241" y="3596461"/>
            <a:ext cx="289917" cy="362307"/>
          </a:xfrm>
          <a:prstGeom prst="rect">
            <a:avLst/>
          </a:prstGeom>
          <a:noFill/>
          <a:ln/>
        </p:spPr>
        <p:txBody>
          <a:bodyPr wrap="none" lIns="0" tIns="0" rIns="0" bIns="0" rtlCol="0" anchor="t"/>
          <a:lstStyle/>
          <a:p>
            <a:pPr marL="0" indent="0" algn="ctr">
              <a:lnSpc>
                <a:spcPts val="2250"/>
              </a:lnSpc>
              <a:buNone/>
            </a:pPr>
            <a:r>
              <a:rPr lang="en-US" b="1" dirty="0">
                <a:solidFill>
                  <a:srgbClr val="4B4A4A"/>
                </a:solidFill>
                <a:latin typeface="Noto Serif SC Bold" pitchFamily="34" charset="0"/>
                <a:ea typeface="Noto Serif SC Bold" pitchFamily="34" charset="-122"/>
                <a:cs typeface="Noto Serif SC Bold" pitchFamily="34" charset="-120"/>
              </a:rPr>
              <a:t>3</a:t>
            </a:r>
            <a:endParaRPr lang="en-US" dirty="0"/>
          </a:p>
        </p:txBody>
      </p:sp>
      <p:sp>
        <p:nvSpPr>
          <p:cNvPr id="17" name="Text 15"/>
          <p:cNvSpPr/>
          <p:nvPr/>
        </p:nvSpPr>
        <p:spPr>
          <a:xfrm>
            <a:off x="3932873" y="3626644"/>
            <a:ext cx="2416016" cy="301943"/>
          </a:xfrm>
          <a:prstGeom prst="rect">
            <a:avLst/>
          </a:prstGeom>
          <a:noFill/>
          <a:ln/>
        </p:spPr>
        <p:txBody>
          <a:bodyPr wrap="none" lIns="0" tIns="0" rIns="0" bIns="0" rtlCol="0" anchor="t"/>
          <a:lstStyle/>
          <a:p>
            <a:pPr marL="0" indent="0" algn="r">
              <a:lnSpc>
                <a:spcPts val="2350"/>
              </a:lnSpc>
              <a:buNone/>
            </a:pPr>
            <a:r>
              <a:rPr lang="en-US" b="1" dirty="0">
                <a:solidFill>
                  <a:srgbClr val="4B4A4A"/>
                </a:solidFill>
                <a:latin typeface="Noto Serif SC Bold" pitchFamily="34" charset="0"/>
                <a:ea typeface="Noto Serif SC Bold" pitchFamily="34" charset="-122"/>
                <a:cs typeface="Noto Serif SC Bold" pitchFamily="34" charset="-120"/>
              </a:rPr>
              <a:t>1000ms</a:t>
            </a:r>
            <a:endParaRPr lang="en-US" dirty="0"/>
          </a:p>
        </p:txBody>
      </p:sp>
      <p:sp>
        <p:nvSpPr>
          <p:cNvPr id="18" name="Text 16"/>
          <p:cNvSpPr/>
          <p:nvPr/>
        </p:nvSpPr>
        <p:spPr>
          <a:xfrm>
            <a:off x="773073" y="4044553"/>
            <a:ext cx="5575816" cy="309086"/>
          </a:xfrm>
          <a:prstGeom prst="rect">
            <a:avLst/>
          </a:prstGeom>
          <a:noFill/>
          <a:ln/>
        </p:spPr>
        <p:txBody>
          <a:bodyPr wrap="none" lIns="0" tIns="0" rIns="0" bIns="0" rtlCol="0" anchor="t"/>
          <a:lstStyle/>
          <a:p>
            <a:pPr marL="0" indent="0" algn="r">
              <a:lnSpc>
                <a:spcPts val="2400"/>
              </a:lnSpc>
              <a:buNone/>
            </a:pPr>
            <a:r>
              <a:rPr lang="en-US" dirty="0">
                <a:solidFill>
                  <a:srgbClr val="4B4A4A"/>
                </a:solidFill>
                <a:latin typeface="Geist" pitchFamily="34" charset="0"/>
                <a:ea typeface="Geist" pitchFamily="34" charset="-122"/>
                <a:cs typeface="Geist" pitchFamily="34" charset="-120"/>
              </a:rPr>
              <a:t>Đèn Xanh TẮT + Đèn Đỏ SÁNG</a:t>
            </a:r>
            <a:endParaRPr lang="en-US" dirty="0"/>
          </a:p>
        </p:txBody>
      </p:sp>
      <p:sp>
        <p:nvSpPr>
          <p:cNvPr id="19" name="Shape 17"/>
          <p:cNvSpPr/>
          <p:nvPr/>
        </p:nvSpPr>
        <p:spPr>
          <a:xfrm>
            <a:off x="7509748" y="4765834"/>
            <a:ext cx="579834" cy="22860"/>
          </a:xfrm>
          <a:prstGeom prst="roundRect">
            <a:avLst>
              <a:gd name="adj" fmla="val 760964"/>
            </a:avLst>
          </a:prstGeom>
          <a:solidFill>
            <a:srgbClr val="B7D5CA"/>
          </a:solidFill>
          <a:ln/>
        </p:spPr>
      </p:sp>
      <p:sp>
        <p:nvSpPr>
          <p:cNvPr id="20" name="Shape 18"/>
          <p:cNvSpPr/>
          <p:nvPr/>
        </p:nvSpPr>
        <p:spPr>
          <a:xfrm>
            <a:off x="7097792" y="4559856"/>
            <a:ext cx="434816" cy="434816"/>
          </a:xfrm>
          <a:prstGeom prst="roundRect">
            <a:avLst>
              <a:gd name="adj" fmla="val 40007"/>
            </a:avLst>
          </a:prstGeom>
          <a:solidFill>
            <a:srgbClr val="D1EFE4"/>
          </a:solidFill>
          <a:ln w="7620">
            <a:solidFill>
              <a:srgbClr val="B7D5CA"/>
            </a:solidFill>
            <a:prstDash val="solid"/>
          </a:ln>
        </p:spPr>
      </p:sp>
      <p:sp>
        <p:nvSpPr>
          <p:cNvPr id="21" name="Text 19"/>
          <p:cNvSpPr/>
          <p:nvPr/>
        </p:nvSpPr>
        <p:spPr>
          <a:xfrm>
            <a:off x="7170241" y="4596110"/>
            <a:ext cx="289917" cy="362307"/>
          </a:xfrm>
          <a:prstGeom prst="rect">
            <a:avLst/>
          </a:prstGeom>
          <a:noFill/>
          <a:ln/>
        </p:spPr>
        <p:txBody>
          <a:bodyPr wrap="none" lIns="0" tIns="0" rIns="0" bIns="0" rtlCol="0" anchor="t"/>
          <a:lstStyle/>
          <a:p>
            <a:pPr marL="0" indent="0" algn="ctr">
              <a:lnSpc>
                <a:spcPts val="2250"/>
              </a:lnSpc>
              <a:buNone/>
            </a:pPr>
            <a:r>
              <a:rPr lang="en-US" b="1" dirty="0">
                <a:solidFill>
                  <a:srgbClr val="4B4A4A"/>
                </a:solidFill>
                <a:latin typeface="Noto Serif SC Bold" pitchFamily="34" charset="0"/>
                <a:ea typeface="Noto Serif SC Bold" pitchFamily="34" charset="-122"/>
                <a:cs typeface="Noto Serif SC Bold" pitchFamily="34" charset="-120"/>
              </a:rPr>
              <a:t>4</a:t>
            </a:r>
            <a:endParaRPr lang="en-US" dirty="0"/>
          </a:p>
        </p:txBody>
      </p:sp>
      <p:sp>
        <p:nvSpPr>
          <p:cNvPr id="22" name="Text 20"/>
          <p:cNvSpPr/>
          <p:nvPr/>
        </p:nvSpPr>
        <p:spPr>
          <a:xfrm>
            <a:off x="8281511" y="4626293"/>
            <a:ext cx="2416016" cy="301943"/>
          </a:xfrm>
          <a:prstGeom prst="rect">
            <a:avLst/>
          </a:prstGeom>
          <a:noFill/>
          <a:ln/>
        </p:spPr>
        <p:txBody>
          <a:bodyPr wrap="none" lIns="0" tIns="0" rIns="0" bIns="0" rtlCol="0" anchor="t"/>
          <a:lstStyle/>
          <a:p>
            <a:pPr marL="0" indent="0" algn="l">
              <a:lnSpc>
                <a:spcPts val="2350"/>
              </a:lnSpc>
              <a:buNone/>
            </a:pPr>
            <a:r>
              <a:rPr lang="en-US" b="1" dirty="0">
                <a:solidFill>
                  <a:srgbClr val="4B4A4A"/>
                </a:solidFill>
                <a:latin typeface="Noto Serif SC Bold" pitchFamily="34" charset="0"/>
                <a:ea typeface="Noto Serif SC Bold" pitchFamily="34" charset="-122"/>
                <a:cs typeface="Noto Serif SC Bold" pitchFamily="34" charset="-120"/>
              </a:rPr>
              <a:t>1500ms</a:t>
            </a:r>
            <a:endParaRPr lang="en-US" dirty="0"/>
          </a:p>
        </p:txBody>
      </p:sp>
      <p:sp>
        <p:nvSpPr>
          <p:cNvPr id="23" name="Text 21"/>
          <p:cNvSpPr/>
          <p:nvPr/>
        </p:nvSpPr>
        <p:spPr>
          <a:xfrm>
            <a:off x="8281511" y="5044202"/>
            <a:ext cx="5575816" cy="309086"/>
          </a:xfrm>
          <a:prstGeom prst="rect">
            <a:avLst/>
          </a:prstGeom>
          <a:noFill/>
          <a:ln/>
        </p:spPr>
        <p:txBody>
          <a:bodyPr wrap="none" lIns="0" tIns="0" rIns="0" bIns="0" rtlCol="0" anchor="t"/>
          <a:lstStyle/>
          <a:p>
            <a:pPr marL="0" indent="0" algn="l">
              <a:lnSpc>
                <a:spcPts val="2400"/>
              </a:lnSpc>
              <a:buNone/>
            </a:pPr>
            <a:r>
              <a:rPr lang="en-US" sz="1500" dirty="0">
                <a:solidFill>
                  <a:srgbClr val="4B4A4A"/>
                </a:solidFill>
                <a:latin typeface="Geist" pitchFamily="34" charset="0"/>
                <a:ea typeface="Geist" pitchFamily="34" charset="-122"/>
                <a:cs typeface="Geist" pitchFamily="34" charset="-120"/>
              </a:rPr>
              <a:t>Đèn Xanh SÁNG (chu kỳ thứ 3)</a:t>
            </a:r>
            <a:endParaRPr lang="en-US" sz="1500" dirty="0"/>
          </a:p>
        </p:txBody>
      </p:sp>
      <p:sp>
        <p:nvSpPr>
          <p:cNvPr id="24" name="Shape 22"/>
          <p:cNvSpPr/>
          <p:nvPr/>
        </p:nvSpPr>
        <p:spPr>
          <a:xfrm>
            <a:off x="6540818" y="5765483"/>
            <a:ext cx="579834" cy="22860"/>
          </a:xfrm>
          <a:prstGeom prst="roundRect">
            <a:avLst>
              <a:gd name="adj" fmla="val 760964"/>
            </a:avLst>
          </a:prstGeom>
          <a:solidFill>
            <a:srgbClr val="B7D5CA"/>
          </a:solidFill>
          <a:ln/>
        </p:spPr>
      </p:sp>
      <p:sp>
        <p:nvSpPr>
          <p:cNvPr id="25" name="Shape 23"/>
          <p:cNvSpPr/>
          <p:nvPr/>
        </p:nvSpPr>
        <p:spPr>
          <a:xfrm>
            <a:off x="7097792" y="5559504"/>
            <a:ext cx="434816" cy="434816"/>
          </a:xfrm>
          <a:prstGeom prst="roundRect">
            <a:avLst>
              <a:gd name="adj" fmla="val 40007"/>
            </a:avLst>
          </a:prstGeom>
          <a:solidFill>
            <a:srgbClr val="D1EFE4"/>
          </a:solidFill>
          <a:ln w="7620">
            <a:solidFill>
              <a:srgbClr val="B7D5CA"/>
            </a:solidFill>
            <a:prstDash val="solid"/>
          </a:ln>
        </p:spPr>
      </p:sp>
      <p:sp>
        <p:nvSpPr>
          <p:cNvPr id="26" name="Text 24"/>
          <p:cNvSpPr/>
          <p:nvPr/>
        </p:nvSpPr>
        <p:spPr>
          <a:xfrm>
            <a:off x="7170241" y="5595759"/>
            <a:ext cx="289917" cy="362307"/>
          </a:xfrm>
          <a:prstGeom prst="rect">
            <a:avLst/>
          </a:prstGeom>
          <a:noFill/>
          <a:ln/>
        </p:spPr>
        <p:txBody>
          <a:bodyPr wrap="none" lIns="0" tIns="0" rIns="0" bIns="0" rtlCol="0" anchor="t"/>
          <a:lstStyle/>
          <a:p>
            <a:pPr marL="0" indent="0" algn="ctr">
              <a:lnSpc>
                <a:spcPts val="2250"/>
              </a:lnSpc>
              <a:buNone/>
            </a:pPr>
            <a:r>
              <a:rPr lang="en-US" b="1" dirty="0">
                <a:solidFill>
                  <a:srgbClr val="4B4A4A"/>
                </a:solidFill>
                <a:latin typeface="Noto Serif SC Bold" pitchFamily="34" charset="0"/>
                <a:ea typeface="Noto Serif SC Bold" pitchFamily="34" charset="-122"/>
                <a:cs typeface="Noto Serif SC Bold" pitchFamily="34" charset="-120"/>
              </a:rPr>
              <a:t>5</a:t>
            </a:r>
            <a:endParaRPr lang="en-US" dirty="0"/>
          </a:p>
        </p:txBody>
      </p:sp>
      <p:sp>
        <p:nvSpPr>
          <p:cNvPr id="27" name="Text 25"/>
          <p:cNvSpPr/>
          <p:nvPr/>
        </p:nvSpPr>
        <p:spPr>
          <a:xfrm>
            <a:off x="3932873" y="5625941"/>
            <a:ext cx="2416016" cy="301943"/>
          </a:xfrm>
          <a:prstGeom prst="rect">
            <a:avLst/>
          </a:prstGeom>
          <a:noFill/>
          <a:ln/>
        </p:spPr>
        <p:txBody>
          <a:bodyPr wrap="none" lIns="0" tIns="0" rIns="0" bIns="0" rtlCol="0" anchor="t"/>
          <a:lstStyle/>
          <a:p>
            <a:pPr marL="0" indent="0" algn="r">
              <a:lnSpc>
                <a:spcPts val="2350"/>
              </a:lnSpc>
              <a:buNone/>
            </a:pPr>
            <a:r>
              <a:rPr lang="en-US" b="1" dirty="0">
                <a:solidFill>
                  <a:srgbClr val="4B4A4A"/>
                </a:solidFill>
                <a:latin typeface="Noto Serif SC Bold" pitchFamily="34" charset="0"/>
                <a:ea typeface="Noto Serif SC Bold" pitchFamily="34" charset="-122"/>
                <a:cs typeface="Noto Serif SC Bold" pitchFamily="34" charset="-120"/>
              </a:rPr>
              <a:t>2000ms</a:t>
            </a:r>
            <a:endParaRPr lang="en-US" dirty="0"/>
          </a:p>
        </p:txBody>
      </p:sp>
      <p:sp>
        <p:nvSpPr>
          <p:cNvPr id="28" name="Text 26"/>
          <p:cNvSpPr/>
          <p:nvPr/>
        </p:nvSpPr>
        <p:spPr>
          <a:xfrm>
            <a:off x="773073" y="6043851"/>
            <a:ext cx="5575816" cy="309086"/>
          </a:xfrm>
          <a:prstGeom prst="rect">
            <a:avLst/>
          </a:prstGeom>
          <a:noFill/>
          <a:ln/>
        </p:spPr>
        <p:txBody>
          <a:bodyPr wrap="none" lIns="0" tIns="0" rIns="0" bIns="0" rtlCol="0" anchor="t"/>
          <a:lstStyle/>
          <a:p>
            <a:pPr marL="0" indent="0" algn="r">
              <a:lnSpc>
                <a:spcPts val="2400"/>
              </a:lnSpc>
              <a:buNone/>
            </a:pPr>
            <a:r>
              <a:rPr lang="en-US" dirty="0">
                <a:solidFill>
                  <a:srgbClr val="4B4A4A"/>
                </a:solidFill>
                <a:latin typeface="Geist" pitchFamily="34" charset="0"/>
                <a:ea typeface="Geist" pitchFamily="34" charset="-122"/>
                <a:cs typeface="Geist" pitchFamily="34" charset="-120"/>
              </a:rPr>
              <a:t>Đèn Xanh TẮT + Đèn Đỏ TẮT + In Serial</a:t>
            </a:r>
            <a:endParaRPr lang="en-US" dirty="0"/>
          </a:p>
        </p:txBody>
      </p:sp>
      <p:sp>
        <p:nvSpPr>
          <p:cNvPr id="29" name="Text 27"/>
          <p:cNvSpPr/>
          <p:nvPr/>
        </p:nvSpPr>
        <p:spPr>
          <a:xfrm>
            <a:off x="773073" y="7389733"/>
            <a:ext cx="13084254" cy="309086"/>
          </a:xfrm>
          <a:prstGeom prst="rect">
            <a:avLst/>
          </a:prstGeom>
          <a:noFill/>
          <a:ln/>
        </p:spPr>
        <p:txBody>
          <a:bodyPr wrap="none" lIns="0" tIns="0" rIns="0" bIns="0" rtlCol="0" anchor="t"/>
          <a:lstStyle/>
          <a:p>
            <a:pPr marL="0" indent="0" algn="l">
              <a:lnSpc>
                <a:spcPts val="2400"/>
              </a:lnSpc>
              <a:buNone/>
            </a:pPr>
            <a:r>
              <a:rPr lang="en-US" dirty="0">
                <a:solidFill>
                  <a:srgbClr val="4B4A4A"/>
                </a:solidFill>
                <a:latin typeface="Geist" pitchFamily="34" charset="0"/>
                <a:ea typeface="Geist" pitchFamily="34" charset="-122"/>
                <a:cs typeface="Geist" pitchFamily="34" charset="-120"/>
              </a:rPr>
              <a:t>Chu kỳ cứ tiếp tục như vậy mãi mãi. Ba nhiệm vụ chạy hoàn toàn độc lập mà không cản trở lẫn nhau!</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830759" y="503511"/>
            <a:ext cx="6484382"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Điểm mấu chốt của kỹ thuật này</a:t>
            </a:r>
            <a:endParaRPr lang="en-US" sz="3100" dirty="0"/>
          </a:p>
        </p:txBody>
      </p:sp>
      <p:sp>
        <p:nvSpPr>
          <p:cNvPr id="3" name="Shape 1"/>
          <p:cNvSpPr/>
          <p:nvPr/>
        </p:nvSpPr>
        <p:spPr>
          <a:xfrm>
            <a:off x="793790" y="1131191"/>
            <a:ext cx="4215289" cy="2983609"/>
          </a:xfrm>
          <a:prstGeom prst="roundRect">
            <a:avLst>
              <a:gd name="adj" fmla="val 6117"/>
            </a:avLst>
          </a:prstGeom>
          <a:solidFill>
            <a:srgbClr val="D1EFE4"/>
          </a:solidFill>
          <a:ln w="7620">
            <a:solidFill>
              <a:srgbClr val="006747"/>
            </a:solidFill>
            <a:prstDash val="solid"/>
          </a:ln>
        </p:spPr>
      </p:sp>
      <p:sp>
        <p:nvSpPr>
          <p:cNvPr id="4" name="Shape 2"/>
          <p:cNvSpPr/>
          <p:nvPr/>
        </p:nvSpPr>
        <p:spPr>
          <a:xfrm>
            <a:off x="999768" y="1337169"/>
            <a:ext cx="595313" cy="595313"/>
          </a:xfrm>
          <a:prstGeom prst="roundRect">
            <a:avLst>
              <a:gd name="adj" fmla="val 15358451"/>
            </a:avLst>
          </a:prstGeom>
          <a:solidFill>
            <a:srgbClr val="006747"/>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1500761"/>
            <a:ext cx="267891" cy="267891"/>
          </a:xfrm>
          <a:prstGeom prst="rect">
            <a:avLst/>
          </a:prstGeom>
        </p:spPr>
      </p:pic>
      <p:sp>
        <p:nvSpPr>
          <p:cNvPr id="6" name="Text 3"/>
          <p:cNvSpPr/>
          <p:nvPr/>
        </p:nvSpPr>
        <p:spPr>
          <a:xfrm>
            <a:off x="999768" y="2130840"/>
            <a:ext cx="2854404"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Vòng loop() cực nhanh</a:t>
            </a:r>
            <a:endParaRPr lang="en-US" sz="1950" dirty="0"/>
          </a:p>
        </p:txBody>
      </p:sp>
      <p:sp>
        <p:nvSpPr>
          <p:cNvPr id="7" name="Text 4"/>
          <p:cNvSpPr/>
          <p:nvPr/>
        </p:nvSpPr>
        <p:spPr>
          <a:xfrm>
            <a:off x="999768" y="2560060"/>
            <a:ext cx="3803333"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Vòng loop() của ESP32 chạy khoảng 100,000-500,000 lần mỗi giây (tùy code). Mỗi lần chạy qua, nó kiểm tra TẤT CẢ các điều kiện thời gian.</a:t>
            </a:r>
            <a:endParaRPr lang="en-US" dirty="0"/>
          </a:p>
        </p:txBody>
      </p:sp>
      <p:sp>
        <p:nvSpPr>
          <p:cNvPr id="8" name="Shape 5"/>
          <p:cNvSpPr/>
          <p:nvPr/>
        </p:nvSpPr>
        <p:spPr>
          <a:xfrm>
            <a:off x="5215057" y="2087043"/>
            <a:ext cx="4215408" cy="3367431"/>
          </a:xfrm>
          <a:prstGeom prst="roundRect">
            <a:avLst>
              <a:gd name="adj" fmla="val 6117"/>
            </a:avLst>
          </a:prstGeom>
          <a:solidFill>
            <a:srgbClr val="D1EFE4"/>
          </a:solidFill>
          <a:ln w="7620">
            <a:solidFill>
              <a:srgbClr val="335E23"/>
            </a:solidFill>
            <a:prstDash val="solid"/>
          </a:ln>
        </p:spPr>
      </p:sp>
      <p:sp>
        <p:nvSpPr>
          <p:cNvPr id="9" name="Shape 6"/>
          <p:cNvSpPr/>
          <p:nvPr/>
        </p:nvSpPr>
        <p:spPr>
          <a:xfrm>
            <a:off x="5421035" y="2293022"/>
            <a:ext cx="595313" cy="595313"/>
          </a:xfrm>
          <a:prstGeom prst="roundRect">
            <a:avLst>
              <a:gd name="adj" fmla="val 15358451"/>
            </a:avLst>
          </a:prstGeom>
          <a:solidFill>
            <a:srgbClr val="335E23"/>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4746" y="2456614"/>
            <a:ext cx="267891" cy="267891"/>
          </a:xfrm>
          <a:prstGeom prst="rect">
            <a:avLst/>
          </a:prstGeom>
        </p:spPr>
      </p:pic>
      <p:sp>
        <p:nvSpPr>
          <p:cNvPr id="11" name="Text 7"/>
          <p:cNvSpPr/>
          <p:nvPr/>
        </p:nvSpPr>
        <p:spPr>
          <a:xfrm>
            <a:off x="5421035" y="3086693"/>
            <a:ext cx="3623429"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Kiểm tra không tốn thời gian</a:t>
            </a:r>
            <a:endParaRPr lang="en-US" sz="1950" dirty="0"/>
          </a:p>
        </p:txBody>
      </p:sp>
      <p:sp>
        <p:nvSpPr>
          <p:cNvPr id="12" name="Text 8"/>
          <p:cNvSpPr/>
          <p:nvPr/>
        </p:nvSpPr>
        <p:spPr>
          <a:xfrm>
            <a:off x="5421035" y="3515913"/>
            <a:ext cx="3803452" cy="128539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Việc so sánh </a:t>
            </a:r>
            <a:r>
              <a:rPr lang="en-US" dirty="0">
                <a:solidFill>
                  <a:srgbClr val="4B4A4A"/>
                </a:solidFill>
                <a:highlight>
                  <a:srgbClr val="D8ECE5"/>
                </a:highlight>
                <a:latin typeface="Consolas" pitchFamily="34" charset="0"/>
                <a:ea typeface="Consolas" pitchFamily="34" charset="-122"/>
                <a:cs typeface="Consolas" pitchFamily="34" charset="-120"/>
              </a:rPr>
              <a:t>currentMillis - previousMillis &gt;= interval</a:t>
            </a:r>
            <a:r>
              <a:rPr lang="en-US" dirty="0">
                <a:solidFill>
                  <a:srgbClr val="4B4A4A"/>
                </a:solidFill>
                <a:latin typeface="Geist" pitchFamily="34" charset="0"/>
                <a:ea typeface="Geist" pitchFamily="34" charset="-122"/>
                <a:cs typeface="Geist" pitchFamily="34" charset="-120"/>
              </a:rPr>
              <a:t> chỉ mất vài micro-giây. Nếu chưa đủ thời gian, ESP32 bỏ qua và kiểm tra điều kiện tiếp theo ngay lập tức.</a:t>
            </a:r>
            <a:endParaRPr lang="en-US" dirty="0"/>
          </a:p>
        </p:txBody>
      </p:sp>
      <p:sp>
        <p:nvSpPr>
          <p:cNvPr id="13" name="Shape 9"/>
          <p:cNvSpPr/>
          <p:nvPr/>
        </p:nvSpPr>
        <p:spPr>
          <a:xfrm>
            <a:off x="9636443" y="3352584"/>
            <a:ext cx="4215289" cy="2920246"/>
          </a:xfrm>
          <a:prstGeom prst="roundRect">
            <a:avLst>
              <a:gd name="adj" fmla="val 6117"/>
            </a:avLst>
          </a:prstGeom>
          <a:solidFill>
            <a:srgbClr val="D1EFE4"/>
          </a:solidFill>
          <a:ln w="7620">
            <a:solidFill>
              <a:srgbClr val="8CAB18"/>
            </a:solidFill>
            <a:prstDash val="solid"/>
          </a:ln>
        </p:spPr>
      </p:sp>
      <p:sp>
        <p:nvSpPr>
          <p:cNvPr id="14" name="Shape 10"/>
          <p:cNvSpPr/>
          <p:nvPr/>
        </p:nvSpPr>
        <p:spPr>
          <a:xfrm>
            <a:off x="9842421" y="3558562"/>
            <a:ext cx="595313" cy="595313"/>
          </a:xfrm>
          <a:prstGeom prst="roundRect">
            <a:avLst>
              <a:gd name="adj" fmla="val 15358451"/>
            </a:avLst>
          </a:prstGeom>
          <a:solidFill>
            <a:srgbClr val="8CAB18"/>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6132" y="3722154"/>
            <a:ext cx="267891" cy="267891"/>
          </a:xfrm>
          <a:prstGeom prst="rect">
            <a:avLst/>
          </a:prstGeom>
        </p:spPr>
      </p:pic>
      <p:sp>
        <p:nvSpPr>
          <p:cNvPr id="16" name="Text 11"/>
          <p:cNvSpPr/>
          <p:nvPr/>
        </p:nvSpPr>
        <p:spPr>
          <a:xfrm>
            <a:off x="9842421" y="4352233"/>
            <a:ext cx="2711291"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Mỗi nhiệm vụ độc lập</a:t>
            </a:r>
            <a:endParaRPr lang="en-US" sz="1950" dirty="0"/>
          </a:p>
        </p:txBody>
      </p:sp>
      <p:sp>
        <p:nvSpPr>
          <p:cNvPr id="17" name="Text 12"/>
          <p:cNvSpPr/>
          <p:nvPr/>
        </p:nvSpPr>
        <p:spPr>
          <a:xfrm>
            <a:off x="9842421" y="4781453"/>
            <a:ext cx="3803333"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Mỗi nhiệm vụ có bộ ba biến riêng: previous, interval, state. Chúng không ảnh hưởng lẫn nhau, tạo ra sự linh hoạt tối đa.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1795343"/>
            <a:ext cx="5812750"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PHẦN 3: DỮ LIỆU JSON</a:t>
            </a:r>
            <a:endParaRPr lang="en-US" sz="3900" dirty="0"/>
          </a:p>
        </p:txBody>
      </p:sp>
      <p:sp>
        <p:nvSpPr>
          <p:cNvPr id="4" name="Text 1"/>
          <p:cNvSpPr/>
          <p:nvPr/>
        </p:nvSpPr>
        <p:spPr>
          <a:xfrm>
            <a:off x="793790" y="2713077"/>
            <a:ext cx="7556421" cy="3721179"/>
          </a:xfrm>
          <a:prstGeom prst="rect">
            <a:avLst/>
          </a:prstGeom>
          <a:noFill/>
          <a:ln/>
        </p:spPr>
        <p:txBody>
          <a:bodyPr wrap="square" lIns="0" tIns="0" rIns="0" bIns="0" rtlCol="0" anchor="t"/>
          <a:lstStyle/>
          <a:p>
            <a:pPr marL="0" indent="0" algn="l">
              <a:lnSpc>
                <a:spcPts val="9750"/>
              </a:lnSpc>
              <a:buNone/>
            </a:pPr>
            <a:r>
              <a:rPr lang="en-US" sz="7800" b="1" dirty="0">
                <a:solidFill>
                  <a:srgbClr val="006747"/>
                </a:solidFill>
                <a:latin typeface="Noto Serif SC Bold" pitchFamily="34" charset="0"/>
                <a:ea typeface="Noto Serif SC Bold" pitchFamily="34" charset="-122"/>
                <a:cs typeface="Noto Serif SC Bold" pitchFamily="34" charset="-120"/>
              </a:rPr>
              <a:t>Ngôn ngữ chung của Internet</a:t>
            </a:r>
            <a:endParaRPr lang="en-US" sz="7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83908" y="749203"/>
            <a:ext cx="5552599"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JSON là gì và tại sao cần nó?</a:t>
            </a:r>
            <a:endParaRPr lang="en-US" sz="3100" dirty="0"/>
          </a:p>
        </p:txBody>
      </p:sp>
      <p:sp>
        <p:nvSpPr>
          <p:cNvPr id="3" name="Text 1"/>
          <p:cNvSpPr/>
          <p:nvPr/>
        </p:nvSpPr>
        <p:spPr>
          <a:xfrm>
            <a:off x="803673" y="1612821"/>
            <a:ext cx="12505927" cy="952619"/>
          </a:xfrm>
          <a:prstGeom prst="rect">
            <a:avLst/>
          </a:prstGeom>
          <a:noFill/>
          <a:ln/>
        </p:spPr>
        <p:txBody>
          <a:bodyPr wrap="squar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JSON</a:t>
            </a:r>
            <a:r>
              <a:rPr lang="en-US" dirty="0">
                <a:solidFill>
                  <a:srgbClr val="4B4A4A"/>
                </a:solidFill>
                <a:latin typeface="Geist" pitchFamily="34" charset="0"/>
                <a:ea typeface="Geist" pitchFamily="34" charset="-122"/>
                <a:cs typeface="Geist" pitchFamily="34" charset="-120"/>
              </a:rPr>
              <a:t> viết tắt của </a:t>
            </a:r>
            <a:r>
              <a:rPr lang="en-US" b="1" dirty="0">
                <a:solidFill>
                  <a:srgbClr val="4B4A4A"/>
                </a:solidFill>
                <a:latin typeface="Geist" pitchFamily="34" charset="0"/>
                <a:ea typeface="Geist" pitchFamily="34" charset="-122"/>
                <a:cs typeface="Geist" pitchFamily="34" charset="-120"/>
              </a:rPr>
              <a:t>JavaScript Object Notation</a:t>
            </a:r>
            <a:r>
              <a:rPr lang="en-US" dirty="0">
                <a:solidFill>
                  <a:srgbClr val="4B4A4A"/>
                </a:solidFill>
                <a:latin typeface="Geist" pitchFamily="34" charset="0"/>
                <a:ea typeface="Geist" pitchFamily="34" charset="-122"/>
                <a:cs typeface="Geist" pitchFamily="34" charset="-120"/>
              </a:rPr>
              <a:t> - một định dạng văn bản nhẹ để lưu trữ và truyền tải dữ liệu có cấu trúc. Đây là tiêu chuẩn quốc tế được hầu hết các hệ thống IoT, API web, và ứng dụng di động sử dụng.</a:t>
            </a:r>
            <a:endParaRPr lang="en-US" dirty="0"/>
          </a:p>
        </p:txBody>
      </p:sp>
      <p:sp>
        <p:nvSpPr>
          <p:cNvPr id="4" name="Text 2"/>
          <p:cNvSpPr/>
          <p:nvPr/>
        </p:nvSpPr>
        <p:spPr>
          <a:xfrm>
            <a:off x="803673" y="2734152"/>
            <a:ext cx="3311962"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Vấn đề nếu không có JSON</a:t>
            </a:r>
            <a:endParaRPr lang="en-US" sz="1950" dirty="0"/>
          </a:p>
        </p:txBody>
      </p:sp>
      <p:sp>
        <p:nvSpPr>
          <p:cNvPr id="5" name="Text 3"/>
          <p:cNvSpPr/>
          <p:nvPr/>
        </p:nvSpPr>
        <p:spPr>
          <a:xfrm>
            <a:off x="803673" y="3242667"/>
            <a:ext cx="6955631" cy="317540"/>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Giả sử ESP32 đọc được nhiệt độ 28.5°C và độ ẩm 60%, </a:t>
            </a:r>
          </a:p>
          <a:p>
            <a:pPr marL="0" indent="0" algn="l">
              <a:lnSpc>
                <a:spcPts val="2500"/>
              </a:lnSpc>
              <a:buNone/>
            </a:pPr>
            <a:r>
              <a:rPr lang="en-US" dirty="0" err="1">
                <a:solidFill>
                  <a:srgbClr val="4B4A4A"/>
                </a:solidFill>
                <a:latin typeface="Geist" pitchFamily="34" charset="0"/>
                <a:ea typeface="Geist" pitchFamily="34" charset="-122"/>
                <a:cs typeface="Geist" pitchFamily="34" charset="-120"/>
              </a:rPr>
              <a:t>khi</a:t>
            </a:r>
            <a:r>
              <a:rPr lang="en-US" dirty="0">
                <a:solidFill>
                  <a:srgbClr val="4B4A4A"/>
                </a:solidFill>
                <a:latin typeface="Geist" pitchFamily="34" charset="0"/>
                <a:ea typeface="Geist" pitchFamily="34" charset="-122"/>
                <a:cs typeface="Geist" pitchFamily="34" charset="-120"/>
              </a:rPr>
              <a:t> gửi lên server:</a:t>
            </a:r>
            <a:endParaRPr lang="en-US" dirty="0"/>
          </a:p>
        </p:txBody>
      </p:sp>
      <p:sp>
        <p:nvSpPr>
          <p:cNvPr id="6" name="Shape 4"/>
          <p:cNvSpPr/>
          <p:nvPr/>
        </p:nvSpPr>
        <p:spPr>
          <a:xfrm>
            <a:off x="1534015" y="4033897"/>
            <a:ext cx="3124491" cy="615196"/>
          </a:xfrm>
          <a:prstGeom prst="roundRect">
            <a:avLst>
              <a:gd name="adj" fmla="val 29036"/>
            </a:avLst>
          </a:prstGeom>
          <a:solidFill>
            <a:srgbClr val="D8ECE5"/>
          </a:solidFill>
          <a:ln/>
        </p:spPr>
      </p:sp>
      <p:sp>
        <p:nvSpPr>
          <p:cNvPr id="7" name="Shape 5"/>
          <p:cNvSpPr/>
          <p:nvPr/>
        </p:nvSpPr>
        <p:spPr>
          <a:xfrm>
            <a:off x="1524133" y="4033897"/>
            <a:ext cx="3133369" cy="615196"/>
          </a:xfrm>
          <a:prstGeom prst="roundRect">
            <a:avLst>
              <a:gd name="adj" fmla="val 4839"/>
            </a:avLst>
          </a:prstGeom>
          <a:solidFill>
            <a:srgbClr val="D8ECE5"/>
          </a:solidFill>
          <a:ln/>
        </p:spPr>
      </p:sp>
      <p:sp>
        <p:nvSpPr>
          <p:cNvPr id="8" name="Text 6"/>
          <p:cNvSpPr/>
          <p:nvPr/>
        </p:nvSpPr>
        <p:spPr>
          <a:xfrm>
            <a:off x="1722491" y="4182725"/>
            <a:ext cx="2955163"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28.5,60</a:t>
            </a:r>
            <a:endParaRPr lang="en-US" dirty="0"/>
          </a:p>
        </p:txBody>
      </p:sp>
      <p:sp>
        <p:nvSpPr>
          <p:cNvPr id="9" name="Text 7"/>
          <p:cNvSpPr/>
          <p:nvPr/>
        </p:nvSpPr>
        <p:spPr>
          <a:xfrm>
            <a:off x="803673" y="5129618"/>
            <a:ext cx="6955631" cy="23507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Server nhận được </a:t>
            </a:r>
            <a:r>
              <a:rPr lang="en-US" dirty="0" err="1">
                <a:solidFill>
                  <a:srgbClr val="4B4A4A"/>
                </a:solidFill>
                <a:latin typeface="Geist" pitchFamily="34" charset="0"/>
                <a:ea typeface="Geist" pitchFamily="34" charset="-122"/>
                <a:cs typeface="Geist" pitchFamily="34" charset="-120"/>
              </a:rPr>
              <a:t>và</a:t>
            </a:r>
            <a:r>
              <a:rPr lang="en-US" dirty="0">
                <a:solidFill>
                  <a:srgbClr val="4B4A4A"/>
                </a:solidFill>
                <a:latin typeface="Geist" pitchFamily="34" charset="0"/>
                <a:ea typeface="Geist" pitchFamily="34" charset="-122"/>
                <a:cs typeface="Geist" pitchFamily="34" charset="-120"/>
              </a:rPr>
              <a:t> : </a:t>
            </a:r>
          </a:p>
          <a:p>
            <a:pPr marL="285750" indent="-285750" algn="l">
              <a:lnSpc>
                <a:spcPts val="2500"/>
              </a:lnSpc>
              <a:buFont typeface="Arial" panose="020B0604020202020204" pitchFamily="34" charset="0"/>
              <a:buChar char="•"/>
            </a:pPr>
            <a:r>
              <a:rPr lang="en-US" dirty="0" err="1">
                <a:solidFill>
                  <a:srgbClr val="4B4A4A"/>
                </a:solidFill>
                <a:latin typeface="Geist" pitchFamily="34" charset="0"/>
                <a:ea typeface="Geist" pitchFamily="34" charset="-122"/>
                <a:cs typeface="Geist" pitchFamily="34" charset="-120"/>
              </a:rPr>
              <a:t>Số</a:t>
            </a:r>
            <a:r>
              <a:rPr lang="en-US" dirty="0">
                <a:solidFill>
                  <a:srgbClr val="4B4A4A"/>
                </a:solidFill>
                <a:latin typeface="Geist" pitchFamily="34" charset="0"/>
                <a:ea typeface="Geist" pitchFamily="34" charset="-122"/>
                <a:cs typeface="Geist" pitchFamily="34" charset="-120"/>
              </a:rPr>
              <a:t> đầu tiên là gì? </a:t>
            </a:r>
          </a:p>
          <a:p>
            <a:pPr marL="285750" indent="-285750" algn="l">
              <a:lnSpc>
                <a:spcPts val="2500"/>
              </a:lnSpc>
              <a:buFont typeface="Arial" panose="020B0604020202020204" pitchFamily="34" charset="0"/>
              <a:buChar char="•"/>
            </a:pPr>
            <a:r>
              <a:rPr lang="en-US" dirty="0" err="1">
                <a:solidFill>
                  <a:srgbClr val="4B4A4A"/>
                </a:solidFill>
                <a:latin typeface="Geist" pitchFamily="34" charset="0"/>
                <a:ea typeface="Geist" pitchFamily="34" charset="-122"/>
                <a:cs typeface="Geist" pitchFamily="34" charset="-120"/>
              </a:rPr>
              <a:t>Nhiệt</a:t>
            </a:r>
            <a:r>
              <a:rPr lang="en-US" dirty="0">
                <a:solidFill>
                  <a:srgbClr val="4B4A4A"/>
                </a:solidFill>
                <a:latin typeface="Geist" pitchFamily="34" charset="0"/>
                <a:ea typeface="Geist" pitchFamily="34" charset="-122"/>
                <a:cs typeface="Geist" pitchFamily="34" charset="-120"/>
              </a:rPr>
              <a:t> độ hay độ ẩm? </a:t>
            </a:r>
          </a:p>
          <a:p>
            <a:pPr marL="285750" indent="-285750" algn="l">
              <a:lnSpc>
                <a:spcPts val="2500"/>
              </a:lnSpc>
              <a:buFont typeface="Arial" panose="020B0604020202020204" pitchFamily="34" charset="0"/>
              <a:buChar char="•"/>
            </a:pPr>
            <a:r>
              <a:rPr lang="en-US" dirty="0" err="1">
                <a:solidFill>
                  <a:srgbClr val="4B4A4A"/>
                </a:solidFill>
                <a:latin typeface="Geist" pitchFamily="34" charset="0"/>
                <a:ea typeface="Geist" pitchFamily="34" charset="-122"/>
                <a:cs typeface="Geist" pitchFamily="34" charset="-120"/>
              </a:rPr>
              <a:t>Đơn</a:t>
            </a:r>
            <a:r>
              <a:rPr lang="en-US" dirty="0">
                <a:solidFill>
                  <a:srgbClr val="4B4A4A"/>
                </a:solidFill>
                <a:latin typeface="Geist" pitchFamily="34" charset="0"/>
                <a:ea typeface="Geist" pitchFamily="34" charset="-122"/>
                <a:cs typeface="Geist" pitchFamily="34" charset="-120"/>
              </a:rPr>
              <a:t> vị là gì? </a:t>
            </a:r>
          </a:p>
          <a:p>
            <a:pPr marL="285750" indent="-285750" algn="l">
              <a:lnSpc>
                <a:spcPts val="2500"/>
              </a:lnSpc>
              <a:buFont typeface="Arial" panose="020B0604020202020204" pitchFamily="34" charset="0"/>
              <a:buChar char="•"/>
            </a:pPr>
            <a:r>
              <a:rPr lang="en-US" dirty="0">
                <a:solidFill>
                  <a:srgbClr val="4B4A4A"/>
                </a:solidFill>
                <a:latin typeface="Geist" pitchFamily="34" charset="0"/>
                <a:ea typeface="Geist" pitchFamily="34" charset="-122"/>
                <a:cs typeface="Geist" pitchFamily="34" charset="-120"/>
              </a:rPr>
              <a:t>Celsius hay Fahrenheit? </a:t>
            </a:r>
          </a:p>
          <a:p>
            <a:pPr marL="285750" indent="-285750" algn="l">
              <a:lnSpc>
                <a:spcPts val="2500"/>
              </a:lnSpc>
              <a:buFont typeface="Arial" panose="020B0604020202020204" pitchFamily="34" charset="0"/>
              <a:buChar char="•"/>
            </a:pPr>
            <a:r>
              <a:rPr lang="en-US" dirty="0" err="1">
                <a:solidFill>
                  <a:srgbClr val="4B4A4A"/>
                </a:solidFill>
                <a:latin typeface="Geist" pitchFamily="34" charset="0"/>
                <a:ea typeface="Geist" pitchFamily="34" charset="-122"/>
                <a:cs typeface="Geist" pitchFamily="34" charset="-120"/>
              </a:rPr>
              <a:t>Dữ</a:t>
            </a:r>
            <a:r>
              <a:rPr lang="en-US" dirty="0">
                <a:solidFill>
                  <a:srgbClr val="4B4A4A"/>
                </a:solidFill>
                <a:latin typeface="Geist" pitchFamily="34" charset="0"/>
                <a:ea typeface="Geist" pitchFamily="34" charset="-122"/>
                <a:cs typeface="Geist" pitchFamily="34" charset="-120"/>
              </a:rPr>
              <a:t> liệu này từ cảm biến nào?</a:t>
            </a:r>
            <a:endParaRPr lang="en-US" dirty="0"/>
          </a:p>
        </p:txBody>
      </p:sp>
      <p:sp>
        <p:nvSpPr>
          <p:cNvPr id="10" name="Text 8"/>
          <p:cNvSpPr/>
          <p:nvPr/>
        </p:nvSpPr>
        <p:spPr>
          <a:xfrm>
            <a:off x="7957662" y="356020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Giải pháp với JSON</a:t>
            </a:r>
            <a:endParaRPr lang="en-US" sz="1950" dirty="0"/>
          </a:p>
        </p:txBody>
      </p:sp>
      <p:sp>
        <p:nvSpPr>
          <p:cNvPr id="11" name="Shape 9"/>
          <p:cNvSpPr/>
          <p:nvPr/>
        </p:nvSpPr>
        <p:spPr>
          <a:xfrm>
            <a:off x="7957662" y="4093607"/>
            <a:ext cx="5602962" cy="2837974"/>
          </a:xfrm>
          <a:prstGeom prst="roundRect">
            <a:avLst>
              <a:gd name="adj" fmla="val 6294"/>
            </a:avLst>
          </a:prstGeom>
          <a:solidFill>
            <a:srgbClr val="D8ECE5"/>
          </a:solidFill>
          <a:ln/>
        </p:spPr>
      </p:sp>
      <p:sp>
        <p:nvSpPr>
          <p:cNvPr id="12" name="Shape 10"/>
          <p:cNvSpPr/>
          <p:nvPr/>
        </p:nvSpPr>
        <p:spPr>
          <a:xfrm>
            <a:off x="7947780" y="4093607"/>
            <a:ext cx="5622727" cy="2837974"/>
          </a:xfrm>
          <a:prstGeom prst="roundRect">
            <a:avLst>
              <a:gd name="adj" fmla="val 1049"/>
            </a:avLst>
          </a:prstGeom>
          <a:solidFill>
            <a:srgbClr val="D8ECE5"/>
          </a:solidFill>
          <a:ln/>
        </p:spPr>
      </p:sp>
      <p:sp>
        <p:nvSpPr>
          <p:cNvPr id="13" name="Text 11"/>
          <p:cNvSpPr/>
          <p:nvPr/>
        </p:nvSpPr>
        <p:spPr>
          <a:xfrm>
            <a:off x="8146138" y="4242435"/>
            <a:ext cx="5226010" cy="2540318"/>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"temperature": 28.5,</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"humidity": 60,</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"unit": "celsius",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"sensor_id": "DHT11_01",</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"location": "living_room",</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"timestamp": 1703001234</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14" name="Text 12"/>
          <p:cNvSpPr/>
          <p:nvPr/>
        </p:nvSpPr>
        <p:spPr>
          <a:xfrm>
            <a:off x="7957662" y="7154823"/>
            <a:ext cx="5602962"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Rõ ràng, đầy đủ, máy tính nào cũng hiểu!</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animBg="1"/>
      <p:bldP spid="9" grpId="0" animBg="1"/>
      <p:bldP spid="10"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1698069"/>
            <a:ext cx="5112901"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Cấu trúc cơ bản của JSON</a:t>
            </a:r>
            <a:endParaRPr lang="en-US" sz="3100" dirty="0"/>
          </a:p>
        </p:txBody>
      </p:sp>
      <p:sp>
        <p:nvSpPr>
          <p:cNvPr id="3" name="Shape 1"/>
          <p:cNvSpPr/>
          <p:nvPr/>
        </p:nvSpPr>
        <p:spPr>
          <a:xfrm>
            <a:off x="793790" y="2591038"/>
            <a:ext cx="4215289" cy="3940492"/>
          </a:xfrm>
          <a:prstGeom prst="roundRect">
            <a:avLst>
              <a:gd name="adj" fmla="val 4533"/>
            </a:avLst>
          </a:prstGeom>
          <a:solidFill>
            <a:srgbClr val="E5F9F2">
              <a:alpha val="95000"/>
            </a:srgbClr>
          </a:solidFill>
          <a:ln w="22860">
            <a:solidFill>
              <a:srgbClr val="B7D5CA"/>
            </a:solidFill>
            <a:prstDash val="solid"/>
          </a:ln>
        </p:spPr>
      </p:sp>
      <p:sp>
        <p:nvSpPr>
          <p:cNvPr id="4" name="Text 2"/>
          <p:cNvSpPr/>
          <p:nvPr/>
        </p:nvSpPr>
        <p:spPr>
          <a:xfrm>
            <a:off x="1015008" y="281225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Cặp Key : Value</a:t>
            </a:r>
            <a:endParaRPr lang="en-US" sz="1950" dirty="0"/>
          </a:p>
        </p:txBody>
      </p:sp>
      <p:sp>
        <p:nvSpPr>
          <p:cNvPr id="5" name="Text 3"/>
          <p:cNvSpPr/>
          <p:nvPr/>
        </p:nvSpPr>
        <p:spPr>
          <a:xfrm>
            <a:off x="1015008" y="3241477"/>
            <a:ext cx="3772853"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Mỗi dữ liệu được biểu diễn dưới dạng cặp "key" (chìa khóa - tên biến) và "value" (giá trị).</a:t>
            </a:r>
            <a:endParaRPr lang="en-US" dirty="0"/>
          </a:p>
        </p:txBody>
      </p:sp>
      <p:sp>
        <p:nvSpPr>
          <p:cNvPr id="6" name="Shape 4"/>
          <p:cNvSpPr/>
          <p:nvPr/>
        </p:nvSpPr>
        <p:spPr>
          <a:xfrm>
            <a:off x="1015008" y="4417338"/>
            <a:ext cx="3772853" cy="615196"/>
          </a:xfrm>
          <a:prstGeom prst="roundRect">
            <a:avLst>
              <a:gd name="adj" fmla="val 29036"/>
            </a:avLst>
          </a:prstGeom>
          <a:solidFill>
            <a:srgbClr val="D8ECE5"/>
          </a:solidFill>
          <a:ln/>
        </p:spPr>
      </p:sp>
      <p:sp>
        <p:nvSpPr>
          <p:cNvPr id="7" name="Shape 5"/>
          <p:cNvSpPr/>
          <p:nvPr/>
        </p:nvSpPr>
        <p:spPr>
          <a:xfrm>
            <a:off x="1005126" y="4417338"/>
            <a:ext cx="3792617" cy="615196"/>
          </a:xfrm>
          <a:prstGeom prst="roundRect">
            <a:avLst>
              <a:gd name="adj" fmla="val 4839"/>
            </a:avLst>
          </a:prstGeom>
          <a:solidFill>
            <a:srgbClr val="D8ECE5"/>
          </a:solidFill>
          <a:ln/>
        </p:spPr>
      </p:sp>
      <p:sp>
        <p:nvSpPr>
          <p:cNvPr id="8" name="Text 6"/>
          <p:cNvSpPr/>
          <p:nvPr/>
        </p:nvSpPr>
        <p:spPr>
          <a:xfrm>
            <a:off x="1203484" y="4566166"/>
            <a:ext cx="3395901"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"temperature": 30.5</a:t>
            </a:r>
            <a:endParaRPr lang="en-US" dirty="0"/>
          </a:p>
        </p:txBody>
      </p:sp>
      <p:sp>
        <p:nvSpPr>
          <p:cNvPr id="9" name="Text 7"/>
          <p:cNvSpPr/>
          <p:nvPr/>
        </p:nvSpPr>
        <p:spPr>
          <a:xfrm>
            <a:off x="1015008" y="5255776"/>
            <a:ext cx="3772853"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Key phải đặt trong dấu ngoặc kép, value có thể là số, chuỗi, boolean, mảng, hoặc object khác.</a:t>
            </a:r>
            <a:endParaRPr lang="en-US" dirty="0"/>
          </a:p>
        </p:txBody>
      </p:sp>
      <p:sp>
        <p:nvSpPr>
          <p:cNvPr id="10" name="Shape 8"/>
          <p:cNvSpPr/>
          <p:nvPr/>
        </p:nvSpPr>
        <p:spPr>
          <a:xfrm>
            <a:off x="5207437" y="2591038"/>
            <a:ext cx="4215408" cy="3940492"/>
          </a:xfrm>
          <a:prstGeom prst="roundRect">
            <a:avLst>
              <a:gd name="adj" fmla="val 4533"/>
            </a:avLst>
          </a:prstGeom>
          <a:solidFill>
            <a:srgbClr val="E5F9F2">
              <a:alpha val="95000"/>
            </a:srgbClr>
          </a:solidFill>
          <a:ln w="22860">
            <a:solidFill>
              <a:srgbClr val="B7D5CA"/>
            </a:solidFill>
            <a:prstDash val="solid"/>
          </a:ln>
        </p:spPr>
      </p:sp>
      <p:sp>
        <p:nvSpPr>
          <p:cNvPr id="11" name="Text 9"/>
          <p:cNvSpPr/>
          <p:nvPr/>
        </p:nvSpPr>
        <p:spPr>
          <a:xfrm>
            <a:off x="5428655" y="2812256"/>
            <a:ext cx="303216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Kiểu dữ liệu được hỗ trợ</a:t>
            </a:r>
            <a:endParaRPr lang="en-US" sz="1950" dirty="0"/>
          </a:p>
        </p:txBody>
      </p:sp>
      <p:sp>
        <p:nvSpPr>
          <p:cNvPr id="12" name="Text 10"/>
          <p:cNvSpPr/>
          <p:nvPr/>
        </p:nvSpPr>
        <p:spPr>
          <a:xfrm>
            <a:off x="5428655" y="3241477"/>
            <a:ext cx="3772972"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Number:</a:t>
            </a:r>
            <a:r>
              <a:rPr lang="en-US" dirty="0">
                <a:solidFill>
                  <a:srgbClr val="4B4A4A"/>
                </a:solidFill>
                <a:latin typeface="Geist" pitchFamily="34" charset="0"/>
                <a:ea typeface="Geist" pitchFamily="34" charset="-122"/>
                <a:cs typeface="Geist" pitchFamily="34" charset="-120"/>
              </a:rPr>
              <a:t> 25, 30.5, -10</a:t>
            </a:r>
            <a:endParaRPr lang="en-US" dirty="0"/>
          </a:p>
        </p:txBody>
      </p:sp>
      <p:sp>
        <p:nvSpPr>
          <p:cNvPr id="13" name="Text 11"/>
          <p:cNvSpPr/>
          <p:nvPr/>
        </p:nvSpPr>
        <p:spPr>
          <a:xfrm>
            <a:off x="5428655" y="3628430"/>
            <a:ext cx="3772972"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String:</a:t>
            </a:r>
            <a:r>
              <a:rPr lang="en-US" dirty="0">
                <a:solidFill>
                  <a:srgbClr val="4B4A4A"/>
                </a:solidFill>
                <a:latin typeface="Geist" pitchFamily="34" charset="0"/>
                <a:ea typeface="Geist" pitchFamily="34" charset="-122"/>
                <a:cs typeface="Geist" pitchFamily="34" charset="-120"/>
              </a:rPr>
              <a:t> "Hello", "living_room"</a:t>
            </a:r>
            <a:endParaRPr lang="en-US" dirty="0"/>
          </a:p>
        </p:txBody>
      </p:sp>
      <p:sp>
        <p:nvSpPr>
          <p:cNvPr id="14" name="Text 12"/>
          <p:cNvSpPr/>
          <p:nvPr/>
        </p:nvSpPr>
        <p:spPr>
          <a:xfrm>
            <a:off x="5428655" y="4015383"/>
            <a:ext cx="3772972"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Boolean:</a:t>
            </a:r>
            <a:r>
              <a:rPr lang="en-US" dirty="0">
                <a:solidFill>
                  <a:srgbClr val="4B4A4A"/>
                </a:solidFill>
                <a:latin typeface="Geist" pitchFamily="34" charset="0"/>
                <a:ea typeface="Geist" pitchFamily="34" charset="-122"/>
                <a:cs typeface="Geist" pitchFamily="34" charset="-120"/>
              </a:rPr>
              <a:t> true, false</a:t>
            </a:r>
            <a:endParaRPr lang="en-US" dirty="0"/>
          </a:p>
        </p:txBody>
      </p:sp>
      <p:sp>
        <p:nvSpPr>
          <p:cNvPr id="15" name="Text 13"/>
          <p:cNvSpPr/>
          <p:nvPr/>
        </p:nvSpPr>
        <p:spPr>
          <a:xfrm>
            <a:off x="5428655" y="4402336"/>
            <a:ext cx="3772972"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Array:</a:t>
            </a:r>
            <a:r>
              <a:rPr lang="en-US" dirty="0">
                <a:solidFill>
                  <a:srgbClr val="4B4A4A"/>
                </a:solidFill>
                <a:latin typeface="Geist" pitchFamily="34" charset="0"/>
                <a:ea typeface="Geist" pitchFamily="34" charset="-122"/>
                <a:cs typeface="Geist" pitchFamily="34" charset="-120"/>
              </a:rPr>
              <a:t> [1, 2, 3] hoặc ["a", "b"]</a:t>
            </a:r>
            <a:endParaRPr lang="en-US" dirty="0"/>
          </a:p>
        </p:txBody>
      </p:sp>
      <p:sp>
        <p:nvSpPr>
          <p:cNvPr id="16" name="Text 14"/>
          <p:cNvSpPr/>
          <p:nvPr/>
        </p:nvSpPr>
        <p:spPr>
          <a:xfrm>
            <a:off x="5428655" y="4789289"/>
            <a:ext cx="3772972"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Object:</a:t>
            </a:r>
            <a:r>
              <a:rPr lang="en-US" dirty="0">
                <a:solidFill>
                  <a:srgbClr val="4B4A4A"/>
                </a:solidFill>
                <a:latin typeface="Geist" pitchFamily="34" charset="0"/>
                <a:ea typeface="Geist" pitchFamily="34" charset="-122"/>
                <a:cs typeface="Geist" pitchFamily="34" charset="-120"/>
              </a:rPr>
              <a:t> {"x": 10}</a:t>
            </a:r>
            <a:endParaRPr lang="en-US" dirty="0"/>
          </a:p>
        </p:txBody>
      </p:sp>
      <p:sp>
        <p:nvSpPr>
          <p:cNvPr id="17" name="Text 15"/>
          <p:cNvSpPr/>
          <p:nvPr/>
        </p:nvSpPr>
        <p:spPr>
          <a:xfrm>
            <a:off x="5428655" y="5176242"/>
            <a:ext cx="3772972"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Null:</a:t>
            </a:r>
            <a:r>
              <a:rPr lang="en-US" dirty="0">
                <a:solidFill>
                  <a:srgbClr val="4B4A4A"/>
                </a:solidFill>
                <a:latin typeface="Geist" pitchFamily="34" charset="0"/>
                <a:ea typeface="Geist" pitchFamily="34" charset="-122"/>
                <a:cs typeface="Geist" pitchFamily="34" charset="-120"/>
              </a:rPr>
              <a:t> null</a:t>
            </a:r>
            <a:endParaRPr lang="en-US" dirty="0"/>
          </a:p>
        </p:txBody>
      </p:sp>
      <p:sp>
        <p:nvSpPr>
          <p:cNvPr id="18" name="Shape 16"/>
          <p:cNvSpPr/>
          <p:nvPr/>
        </p:nvSpPr>
        <p:spPr>
          <a:xfrm>
            <a:off x="9621203" y="2591038"/>
            <a:ext cx="4215289" cy="3940492"/>
          </a:xfrm>
          <a:prstGeom prst="roundRect">
            <a:avLst>
              <a:gd name="adj" fmla="val 4533"/>
            </a:avLst>
          </a:prstGeom>
          <a:solidFill>
            <a:srgbClr val="E5F9F2">
              <a:alpha val="95000"/>
            </a:srgbClr>
          </a:solidFill>
          <a:ln w="22860">
            <a:solidFill>
              <a:srgbClr val="B7D5CA"/>
            </a:solidFill>
            <a:prstDash val="solid"/>
          </a:ln>
        </p:spPr>
      </p:sp>
      <p:sp>
        <p:nvSpPr>
          <p:cNvPr id="19" name="Text 17"/>
          <p:cNvSpPr/>
          <p:nvPr/>
        </p:nvSpPr>
        <p:spPr>
          <a:xfrm>
            <a:off x="9842421" y="2812256"/>
            <a:ext cx="2881193"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Dấu ngoặc và dấu phẩy</a:t>
            </a:r>
            <a:endParaRPr lang="en-US" sz="1950" dirty="0"/>
          </a:p>
        </p:txBody>
      </p:sp>
      <p:sp>
        <p:nvSpPr>
          <p:cNvPr id="20" name="Text 18"/>
          <p:cNvSpPr/>
          <p:nvPr/>
        </p:nvSpPr>
        <p:spPr>
          <a:xfrm>
            <a:off x="9842421" y="3241477"/>
            <a:ext cx="3772853" cy="96023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Object JSON bao bọc bởi dấu ngoặc nhọn </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a:solidFill>
                  <a:srgbClr val="4B4A4A"/>
                </a:solidFill>
                <a:latin typeface="Geist" pitchFamily="34" charset="0"/>
                <a:ea typeface="Geist" pitchFamily="34" charset="-122"/>
                <a:cs typeface="Geist" pitchFamily="34" charset="-120"/>
              </a:rPr>
              <a:t>. Mỗi cặp key:value cách nhau bởi dấu phẩy.</a:t>
            </a:r>
            <a:endParaRPr lang="en-US" dirty="0"/>
          </a:p>
        </p:txBody>
      </p:sp>
      <p:sp>
        <p:nvSpPr>
          <p:cNvPr id="21" name="Shape 19"/>
          <p:cNvSpPr/>
          <p:nvPr/>
        </p:nvSpPr>
        <p:spPr>
          <a:xfrm>
            <a:off x="9842421" y="4424958"/>
            <a:ext cx="3772853" cy="1885355"/>
          </a:xfrm>
          <a:prstGeom prst="roundRect">
            <a:avLst>
              <a:gd name="adj" fmla="val 9474"/>
            </a:avLst>
          </a:prstGeom>
          <a:solidFill>
            <a:srgbClr val="D8ECE5"/>
          </a:solidFill>
          <a:ln/>
        </p:spPr>
      </p:sp>
      <p:sp>
        <p:nvSpPr>
          <p:cNvPr id="22" name="Shape 20"/>
          <p:cNvSpPr/>
          <p:nvPr/>
        </p:nvSpPr>
        <p:spPr>
          <a:xfrm>
            <a:off x="9832538" y="4424958"/>
            <a:ext cx="3792617" cy="1885355"/>
          </a:xfrm>
          <a:prstGeom prst="roundRect">
            <a:avLst>
              <a:gd name="adj" fmla="val 1579"/>
            </a:avLst>
          </a:prstGeom>
          <a:solidFill>
            <a:srgbClr val="D8ECE5"/>
          </a:solidFill>
          <a:ln/>
        </p:spPr>
      </p:sp>
      <p:sp>
        <p:nvSpPr>
          <p:cNvPr id="23" name="Text 21"/>
          <p:cNvSpPr/>
          <p:nvPr/>
        </p:nvSpPr>
        <p:spPr>
          <a:xfrm>
            <a:off x="10030897" y="4573786"/>
            <a:ext cx="3395901" cy="1587698"/>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"key1": "value1",</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"key2": 123,</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"key3": true</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par>
                                <p:cTn id="66" presetID="10" presetClass="entr" presetSubtype="0"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1" grpId="0" animBg="1"/>
      <p:bldP spid="12" grpId="0" animBg="1"/>
      <p:bldP spid="13" grpId="0" animBg="1"/>
      <p:bldP spid="14" grpId="0" animBg="1"/>
      <p:bldP spid="15" grpId="0" animBg="1"/>
      <p:bldP spid="16" grpId="0" animBg="1"/>
      <p:bldP spid="17" grpId="0" animBg="1"/>
      <p:bldP spid="19" grpId="0" animBg="1"/>
      <p:bldP spid="20" grpId="0" animBg="1"/>
      <p:bldP spid="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6155" y="457914"/>
            <a:ext cx="4146113" cy="416362"/>
          </a:xfrm>
          <a:prstGeom prst="rect">
            <a:avLst/>
          </a:prstGeom>
          <a:noFill/>
          <a:ln/>
        </p:spPr>
        <p:txBody>
          <a:bodyPr wrap="none" lIns="0" tIns="0" rIns="0" bIns="0" rtlCol="0" anchor="t"/>
          <a:lstStyle/>
          <a:p>
            <a:pPr marL="0" indent="0" algn="l">
              <a:lnSpc>
                <a:spcPts val="3250"/>
              </a:lnSpc>
              <a:buNone/>
            </a:pPr>
            <a:r>
              <a:rPr lang="en-US" sz="2600" b="1" dirty="0">
                <a:solidFill>
                  <a:srgbClr val="006747"/>
                </a:solidFill>
                <a:latin typeface="Noto Serif SC Bold" pitchFamily="34" charset="0"/>
                <a:ea typeface="Noto Serif SC Bold" pitchFamily="34" charset="-122"/>
                <a:cs typeface="Noto Serif SC Bold" pitchFamily="34" charset="-120"/>
              </a:rPr>
              <a:t>Ví dụ JSON phức tạp hơn</a:t>
            </a:r>
            <a:endParaRPr lang="en-US" sz="2600" dirty="0"/>
          </a:p>
        </p:txBody>
      </p:sp>
      <p:sp>
        <p:nvSpPr>
          <p:cNvPr id="3" name="Shape 1"/>
          <p:cNvSpPr/>
          <p:nvPr/>
        </p:nvSpPr>
        <p:spPr>
          <a:xfrm>
            <a:off x="666155" y="1207294"/>
            <a:ext cx="13298091" cy="6111954"/>
          </a:xfrm>
          <a:prstGeom prst="roundRect">
            <a:avLst>
              <a:gd name="adj" fmla="val 2453"/>
            </a:avLst>
          </a:prstGeom>
          <a:solidFill>
            <a:srgbClr val="D8ECE5"/>
          </a:solidFill>
          <a:ln/>
        </p:spPr>
      </p:sp>
      <p:sp>
        <p:nvSpPr>
          <p:cNvPr id="4" name="Shape 2"/>
          <p:cNvSpPr/>
          <p:nvPr/>
        </p:nvSpPr>
        <p:spPr>
          <a:xfrm>
            <a:off x="657939" y="1207294"/>
            <a:ext cx="13314521" cy="6111954"/>
          </a:xfrm>
          <a:prstGeom prst="roundRect">
            <a:avLst>
              <a:gd name="adj" fmla="val 409"/>
            </a:avLst>
          </a:prstGeom>
          <a:solidFill>
            <a:srgbClr val="D8ECE5"/>
          </a:solidFill>
          <a:ln/>
        </p:spPr>
      </p:sp>
      <p:sp>
        <p:nvSpPr>
          <p:cNvPr id="5" name="Text 3"/>
          <p:cNvSpPr/>
          <p:nvPr/>
        </p:nvSpPr>
        <p:spPr>
          <a:xfrm>
            <a:off x="824389" y="1332190"/>
            <a:ext cx="12981623" cy="5862161"/>
          </a:xfrm>
          <a:prstGeom prst="rect">
            <a:avLst/>
          </a:prstGeom>
          <a:noFill/>
          <a:ln/>
        </p:spPr>
        <p:txBody>
          <a:bodyPr wrap="square" lIns="0" tIns="0" rIns="0" bIns="0" rtlCol="0" anchor="t"/>
          <a:lstStyle/>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"device_info":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"name": "Smart Home Sensor",</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"model": "ESP32-DHT11",</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"firmware_version": "1.2.3"</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"sensor_data":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"temperature": 28.5,</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"humidity": 60,</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"pressure": 1013.25</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"readings":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{"time": "08:00", "temp": 25.0},</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{"time": "09:00", "temp": 26.5},</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{"time": "10:00", "temp": 28.5}</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"alerts":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"high_temp": false,</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"low_humidity": false</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"timestamp": "2024-01-15T10:30:00Z"</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6" name="Text 4"/>
          <p:cNvSpPr/>
          <p:nvPr/>
        </p:nvSpPr>
        <p:spPr>
          <a:xfrm>
            <a:off x="666155" y="7506533"/>
            <a:ext cx="13298091" cy="266462"/>
          </a:xfrm>
          <a:prstGeom prst="rect">
            <a:avLst/>
          </a:prstGeom>
          <a:noFill/>
          <a:ln/>
        </p:spPr>
        <p:txBody>
          <a:bodyPr wrap="none" lIns="0" tIns="0" rIns="0" bIns="0" rtlCol="0" anchor="t"/>
          <a:lstStyle/>
          <a:p>
            <a:pPr marL="0" indent="0" algn="l">
              <a:lnSpc>
                <a:spcPts val="2050"/>
              </a:lnSpc>
              <a:buNone/>
            </a:pPr>
            <a:r>
              <a:rPr lang="en-US" dirty="0">
                <a:solidFill>
                  <a:srgbClr val="4B4A4A"/>
                </a:solidFill>
                <a:latin typeface="Geist" pitchFamily="34" charset="0"/>
                <a:ea typeface="Geist" pitchFamily="34" charset="-122"/>
                <a:cs typeface="Geist" pitchFamily="34" charset="-120"/>
              </a:rPr>
              <a:t>JSON có thể chứa object lồng trong object, mảng các object, tạo ra cấu trúc dữ liệu rất linh hoạt và mạnh mẽ.</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2129076"/>
            <a:ext cx="7861340"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Tại sao JSON là lựa chọn số 1 trong IoT?</a:t>
            </a:r>
            <a:endParaRPr lang="en-US" sz="31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022044"/>
            <a:ext cx="496133" cy="496133"/>
          </a:xfrm>
          <a:prstGeom prst="rect">
            <a:avLst/>
          </a:prstGeom>
        </p:spPr>
      </p:pic>
      <p:sp>
        <p:nvSpPr>
          <p:cNvPr id="4" name="Text 1"/>
          <p:cNvSpPr/>
          <p:nvPr/>
        </p:nvSpPr>
        <p:spPr>
          <a:xfrm>
            <a:off x="1537930" y="3139797"/>
            <a:ext cx="2694384"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Dễ đọc cho con người</a:t>
            </a:r>
            <a:endParaRPr lang="en-US" sz="1950" dirty="0"/>
          </a:p>
        </p:txBody>
      </p:sp>
      <p:sp>
        <p:nvSpPr>
          <p:cNvPr id="5" name="Text 2"/>
          <p:cNvSpPr/>
          <p:nvPr/>
        </p:nvSpPr>
        <p:spPr>
          <a:xfrm>
            <a:off x="1537930" y="3569018"/>
            <a:ext cx="5653207"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Cấu trúc key:value rất trực quan. Bất kỳ lập trình viên nào cũng có thể đọc hiểu ngay, không cần tài liệu phức tạp.</a:t>
            </a:r>
            <a:endParaRPr lang="en-US"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9144" y="3022044"/>
            <a:ext cx="496133" cy="496133"/>
          </a:xfrm>
          <a:prstGeom prst="rect">
            <a:avLst/>
          </a:prstGeom>
        </p:spPr>
      </p:pic>
      <p:sp>
        <p:nvSpPr>
          <p:cNvPr id="7" name="Text 3"/>
          <p:cNvSpPr/>
          <p:nvPr/>
        </p:nvSpPr>
        <p:spPr>
          <a:xfrm>
            <a:off x="8183285" y="3139797"/>
            <a:ext cx="2709267"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Dễ xử lý cho máy tính</a:t>
            </a:r>
            <a:endParaRPr lang="en-US" sz="1950" dirty="0"/>
          </a:p>
        </p:txBody>
      </p:sp>
      <p:sp>
        <p:nvSpPr>
          <p:cNvPr id="8" name="Text 4"/>
          <p:cNvSpPr/>
          <p:nvPr/>
        </p:nvSpPr>
        <p:spPr>
          <a:xfrm>
            <a:off x="8183285" y="3569018"/>
            <a:ext cx="565332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Hầu hết ngôn ngữ lập trình (Python, JavaScript, Java, C++, PHP...) đều có thư viện parse JSON sẵn, nhanh và hiệu quả.</a:t>
            </a:r>
            <a:endParaRPr lang="en-US"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4600932"/>
            <a:ext cx="496133" cy="496133"/>
          </a:xfrm>
          <a:prstGeom prst="rect">
            <a:avLst/>
          </a:prstGeom>
        </p:spPr>
      </p:pic>
      <p:sp>
        <p:nvSpPr>
          <p:cNvPr id="10" name="Text 5"/>
          <p:cNvSpPr/>
          <p:nvPr/>
        </p:nvSpPr>
        <p:spPr>
          <a:xfrm>
            <a:off x="1537930" y="4718685"/>
            <a:ext cx="3538657"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Nhẹ và tiết kiệm băng thông</a:t>
            </a:r>
            <a:endParaRPr lang="en-US" sz="1950" dirty="0"/>
          </a:p>
        </p:txBody>
      </p:sp>
      <p:sp>
        <p:nvSpPr>
          <p:cNvPr id="11" name="Text 6"/>
          <p:cNvSpPr/>
          <p:nvPr/>
        </p:nvSpPr>
        <p:spPr>
          <a:xfrm>
            <a:off x="1537930" y="5147905"/>
            <a:ext cx="5653207"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JSON chỉ dùng văn bản thuần túy (plain text), không tốn nhiều byte như XML. Quan trọng với IoT vì thiết bị thường có băng thông hạn chế.</a:t>
            </a:r>
            <a:endParaRPr lang="en-US"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9144" y="4600932"/>
            <a:ext cx="496133" cy="496133"/>
          </a:xfrm>
          <a:prstGeom prst="rect">
            <a:avLst/>
          </a:prstGeom>
        </p:spPr>
      </p:pic>
      <p:sp>
        <p:nvSpPr>
          <p:cNvPr id="13" name="Text 7"/>
          <p:cNvSpPr/>
          <p:nvPr/>
        </p:nvSpPr>
        <p:spPr>
          <a:xfrm>
            <a:off x="8183285" y="4718685"/>
            <a:ext cx="265997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Tương thích toàn cầu</a:t>
            </a:r>
            <a:endParaRPr lang="en-US" sz="1950" dirty="0"/>
          </a:p>
        </p:txBody>
      </p:sp>
      <p:sp>
        <p:nvSpPr>
          <p:cNvPr id="14" name="Text 8"/>
          <p:cNvSpPr/>
          <p:nvPr/>
        </p:nvSpPr>
        <p:spPr>
          <a:xfrm>
            <a:off x="8183285" y="5147905"/>
            <a:ext cx="565332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Từ Arduino cho đến Server cloud, từ ứng dụng mobile đến website, tất cả đều "nói" được ngôn ngữ JSON.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3"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p:nvPr/>
        </p:nvSpPr>
        <p:spPr>
          <a:xfrm>
            <a:off x="1882497" y="1559719"/>
            <a:ext cx="10865406"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THỰC HÀNH: ĐÓNG GÓI JSON TRÊN ESP32</a:t>
            </a:r>
            <a:endParaRPr lang="en-US" sz="3900" dirty="0"/>
          </a:p>
        </p:txBody>
      </p:sp>
      <p:sp>
        <p:nvSpPr>
          <p:cNvPr id="4" name="Text 1"/>
          <p:cNvSpPr/>
          <p:nvPr/>
        </p:nvSpPr>
        <p:spPr>
          <a:xfrm>
            <a:off x="793790" y="3258979"/>
            <a:ext cx="13042821" cy="1711642"/>
          </a:xfrm>
          <a:prstGeom prst="rect">
            <a:avLst/>
          </a:prstGeom>
          <a:noFill/>
          <a:ln/>
        </p:spPr>
        <p:txBody>
          <a:bodyPr wrap="square" lIns="0" tIns="0" rIns="0" bIns="0" rtlCol="0" anchor="t"/>
          <a:lstStyle/>
          <a:p>
            <a:pPr marL="0" indent="0" algn="ctr">
              <a:lnSpc>
                <a:spcPts val="6700"/>
              </a:lnSpc>
              <a:buNone/>
            </a:pPr>
            <a:r>
              <a:rPr lang="en-US" sz="5350" b="1" dirty="0">
                <a:solidFill>
                  <a:srgbClr val="006747"/>
                </a:solidFill>
                <a:latin typeface="Noto Serif SC Bold" pitchFamily="34" charset="0"/>
                <a:ea typeface="Noto Serif SC Bold" pitchFamily="34" charset="-122"/>
                <a:cs typeface="Noto Serif SC Bold" pitchFamily="34" charset="-120"/>
              </a:rPr>
              <a:t>Bài Lab 2: </a:t>
            </a:r>
          </a:p>
          <a:p>
            <a:pPr marL="0" indent="0" algn="ctr">
              <a:lnSpc>
                <a:spcPts val="6700"/>
              </a:lnSpc>
              <a:buNone/>
            </a:pPr>
            <a:r>
              <a:rPr lang="en-US" sz="5350" b="1" dirty="0" err="1">
                <a:solidFill>
                  <a:srgbClr val="006747"/>
                </a:solidFill>
                <a:latin typeface="Noto Serif SC Bold" pitchFamily="34" charset="0"/>
                <a:ea typeface="Noto Serif SC Bold" pitchFamily="34" charset="-122"/>
                <a:cs typeface="Noto Serif SC Bold" pitchFamily="34" charset="-120"/>
              </a:rPr>
              <a:t>Từ</a:t>
            </a:r>
            <a:r>
              <a:rPr lang="en-US" sz="5350" b="1" dirty="0">
                <a:solidFill>
                  <a:srgbClr val="006747"/>
                </a:solidFill>
                <a:latin typeface="Noto Serif SC Bold" pitchFamily="34" charset="0"/>
                <a:ea typeface="Noto Serif SC Bold" pitchFamily="34" charset="-122"/>
                <a:cs typeface="Noto Serif SC Bold" pitchFamily="34" charset="-120"/>
              </a:rPr>
              <a:t> dữ liệu thô đến JSON chuẩn</a:t>
            </a:r>
            <a:endParaRPr lang="en-US" sz="5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1119783"/>
            <a:ext cx="7852648"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Chuẩn bị: Cài đặt thư viện ArduinoJson</a:t>
            </a:r>
            <a:endParaRPr lang="en-US" sz="3100" dirty="0"/>
          </a:p>
        </p:txBody>
      </p:sp>
      <p:sp>
        <p:nvSpPr>
          <p:cNvPr id="3" name="Shape 1"/>
          <p:cNvSpPr/>
          <p:nvPr/>
        </p:nvSpPr>
        <p:spPr>
          <a:xfrm>
            <a:off x="793790" y="2310408"/>
            <a:ext cx="6422231" cy="2459236"/>
          </a:xfrm>
          <a:prstGeom prst="roundRect">
            <a:avLst>
              <a:gd name="adj" fmla="val 7264"/>
            </a:avLst>
          </a:prstGeom>
          <a:solidFill>
            <a:srgbClr val="E5F9F2">
              <a:alpha val="95000"/>
            </a:srgbClr>
          </a:solidFill>
          <a:ln w="22860">
            <a:solidFill>
              <a:srgbClr val="B7D5CA"/>
            </a:solidFill>
            <a:prstDash val="solid"/>
          </a:ln>
        </p:spPr>
      </p:sp>
      <p:sp>
        <p:nvSpPr>
          <p:cNvPr id="4" name="Shape 2"/>
          <p:cNvSpPr/>
          <p:nvPr/>
        </p:nvSpPr>
        <p:spPr>
          <a:xfrm>
            <a:off x="816650" y="2333268"/>
            <a:ext cx="6376511" cy="198358"/>
          </a:xfrm>
          <a:prstGeom prst="roundRect">
            <a:avLst>
              <a:gd name="adj" fmla="val 76223"/>
            </a:avLst>
          </a:prstGeom>
          <a:solidFill>
            <a:srgbClr val="D1EFE4"/>
          </a:solidFill>
          <a:ln/>
        </p:spPr>
      </p:sp>
      <p:sp>
        <p:nvSpPr>
          <p:cNvPr id="5" name="Text 3"/>
          <p:cNvSpPr/>
          <p:nvPr/>
        </p:nvSpPr>
        <p:spPr>
          <a:xfrm>
            <a:off x="1015008" y="2729984"/>
            <a:ext cx="2578537"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Mở Library Manager</a:t>
            </a:r>
            <a:endParaRPr lang="en-US" dirty="0"/>
          </a:p>
        </p:txBody>
      </p:sp>
      <p:sp>
        <p:nvSpPr>
          <p:cNvPr id="6" name="Text 4"/>
          <p:cNvSpPr/>
          <p:nvPr/>
        </p:nvSpPr>
        <p:spPr>
          <a:xfrm>
            <a:off x="1015008" y="3159204"/>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Trong Arduino IDE, vào menu: </a:t>
            </a:r>
            <a:r>
              <a:rPr lang="en-US" b="1" dirty="0">
                <a:solidFill>
                  <a:srgbClr val="4B4A4A"/>
                </a:solidFill>
                <a:latin typeface="Geist" pitchFamily="34" charset="0"/>
                <a:ea typeface="Geist" pitchFamily="34" charset="-122"/>
                <a:cs typeface="Geist" pitchFamily="34" charset="-120"/>
              </a:rPr>
              <a:t>Sketch → Include Library → Manage Libraries...</a:t>
            </a:r>
            <a:endParaRPr lang="en-US" dirty="0"/>
          </a:p>
        </p:txBody>
      </p:sp>
      <p:sp>
        <p:nvSpPr>
          <p:cNvPr id="7" name="Text 5"/>
          <p:cNvSpPr/>
          <p:nvPr/>
        </p:nvSpPr>
        <p:spPr>
          <a:xfrm>
            <a:off x="1015008" y="3913346"/>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Hoặc nhấn tổ hợp phím </a:t>
            </a:r>
            <a:r>
              <a:rPr lang="en-US" b="1" dirty="0">
                <a:solidFill>
                  <a:srgbClr val="4B4A4A"/>
                </a:solidFill>
                <a:latin typeface="Geist" pitchFamily="34" charset="0"/>
                <a:ea typeface="Geist" pitchFamily="34" charset="-122"/>
                <a:cs typeface="Geist" pitchFamily="34" charset="-120"/>
              </a:rPr>
              <a:t>Ctrl+Shift+I</a:t>
            </a:r>
            <a:r>
              <a:rPr lang="en-US" dirty="0">
                <a:solidFill>
                  <a:srgbClr val="4B4A4A"/>
                </a:solidFill>
                <a:latin typeface="Geist" pitchFamily="34" charset="0"/>
                <a:ea typeface="Geist" pitchFamily="34" charset="-122"/>
                <a:cs typeface="Geist" pitchFamily="34" charset="-120"/>
              </a:rPr>
              <a:t> (Windows/Linux) hoặc </a:t>
            </a:r>
            <a:r>
              <a:rPr lang="en-US" b="1" dirty="0">
                <a:solidFill>
                  <a:srgbClr val="4B4A4A"/>
                </a:solidFill>
                <a:latin typeface="Geist" pitchFamily="34" charset="0"/>
                <a:ea typeface="Geist" pitchFamily="34" charset="-122"/>
                <a:cs typeface="Geist" pitchFamily="34" charset="-120"/>
              </a:rPr>
              <a:t>Cmd+Shift+I</a:t>
            </a:r>
            <a:r>
              <a:rPr lang="en-US" dirty="0">
                <a:solidFill>
                  <a:srgbClr val="4B4A4A"/>
                </a:solidFill>
                <a:latin typeface="Geist" pitchFamily="34" charset="0"/>
                <a:ea typeface="Geist" pitchFamily="34" charset="-122"/>
                <a:cs typeface="Geist" pitchFamily="34" charset="-120"/>
              </a:rPr>
              <a:t> (Mac)</a:t>
            </a:r>
            <a:endParaRPr lang="en-US" dirty="0"/>
          </a:p>
        </p:txBody>
      </p:sp>
      <p:sp>
        <p:nvSpPr>
          <p:cNvPr id="8" name="Shape 6"/>
          <p:cNvSpPr/>
          <p:nvPr/>
        </p:nvSpPr>
        <p:spPr>
          <a:xfrm>
            <a:off x="7414379" y="2012752"/>
            <a:ext cx="6422231" cy="2756892"/>
          </a:xfrm>
          <a:prstGeom prst="roundRect">
            <a:avLst>
              <a:gd name="adj" fmla="val 6479"/>
            </a:avLst>
          </a:prstGeom>
          <a:solidFill>
            <a:srgbClr val="E5F9F2">
              <a:alpha val="95000"/>
            </a:srgbClr>
          </a:solidFill>
          <a:ln w="22860">
            <a:solidFill>
              <a:srgbClr val="B7D5CA"/>
            </a:solidFill>
            <a:prstDash val="solid"/>
          </a:ln>
        </p:spPr>
      </p:sp>
      <p:sp>
        <p:nvSpPr>
          <p:cNvPr id="9" name="Shape 7"/>
          <p:cNvSpPr/>
          <p:nvPr/>
        </p:nvSpPr>
        <p:spPr>
          <a:xfrm>
            <a:off x="7437239" y="2035612"/>
            <a:ext cx="6376511" cy="198358"/>
          </a:xfrm>
          <a:prstGeom prst="roundRect">
            <a:avLst>
              <a:gd name="adj" fmla="val 76223"/>
            </a:avLst>
          </a:prstGeom>
          <a:solidFill>
            <a:srgbClr val="D1EFE4"/>
          </a:solidFill>
          <a:ln/>
        </p:spPr>
      </p:sp>
      <p:sp>
        <p:nvSpPr>
          <p:cNvPr id="10" name="Text 8"/>
          <p:cNvSpPr/>
          <p:nvPr/>
        </p:nvSpPr>
        <p:spPr>
          <a:xfrm>
            <a:off x="7635597" y="2432328"/>
            <a:ext cx="2856786"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Tìm kiếm ArduinoJson</a:t>
            </a:r>
            <a:endParaRPr lang="en-US" dirty="0"/>
          </a:p>
        </p:txBody>
      </p:sp>
      <p:sp>
        <p:nvSpPr>
          <p:cNvPr id="11" name="Text 9"/>
          <p:cNvSpPr/>
          <p:nvPr/>
        </p:nvSpPr>
        <p:spPr>
          <a:xfrm>
            <a:off x="7635597" y="2861548"/>
            <a:ext cx="5979795" cy="32516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Trong ô Search, gõ: </a:t>
            </a:r>
            <a:r>
              <a:rPr lang="en-US" dirty="0">
                <a:solidFill>
                  <a:srgbClr val="4B4A4A"/>
                </a:solidFill>
                <a:highlight>
                  <a:srgbClr val="D8ECE5"/>
                </a:highlight>
                <a:latin typeface="Consolas" pitchFamily="34" charset="0"/>
                <a:ea typeface="Consolas" pitchFamily="34" charset="-122"/>
                <a:cs typeface="Consolas" pitchFamily="34" charset="-120"/>
              </a:rPr>
              <a:t>ArduinoJson</a:t>
            </a:r>
            <a:endParaRPr lang="en-US" dirty="0"/>
          </a:p>
        </p:txBody>
      </p:sp>
      <p:sp>
        <p:nvSpPr>
          <p:cNvPr id="12" name="Text 10"/>
          <p:cNvSpPr/>
          <p:nvPr/>
        </p:nvSpPr>
        <p:spPr>
          <a:xfrm>
            <a:off x="7635597" y="3305770"/>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Thư viện chính thức do </a:t>
            </a:r>
            <a:r>
              <a:rPr lang="en-US" b="1" dirty="0">
                <a:solidFill>
                  <a:srgbClr val="4B4A4A"/>
                </a:solidFill>
                <a:latin typeface="Geist" pitchFamily="34" charset="0"/>
                <a:ea typeface="Geist" pitchFamily="34" charset="-122"/>
                <a:cs typeface="Geist" pitchFamily="34" charset="-120"/>
              </a:rPr>
              <a:t>Benoit Blanchon </a:t>
            </a:r>
            <a:r>
              <a:rPr lang="en-US" dirty="0">
                <a:solidFill>
                  <a:srgbClr val="4B4A4A"/>
                </a:solidFill>
                <a:latin typeface="Geist" pitchFamily="34" charset="0"/>
                <a:ea typeface="Geist" pitchFamily="34" charset="-122"/>
                <a:cs typeface="Geist" pitchFamily="34" charset="-120"/>
              </a:rPr>
              <a:t>phát triển sẽ xuất hiện đầu tiên</a:t>
            </a:r>
            <a:endParaRPr lang="en-US" dirty="0"/>
          </a:p>
        </p:txBody>
      </p:sp>
      <p:sp>
        <p:nvSpPr>
          <p:cNvPr id="13" name="Shape 11"/>
          <p:cNvSpPr/>
          <p:nvPr/>
        </p:nvSpPr>
        <p:spPr>
          <a:xfrm>
            <a:off x="793790" y="5265658"/>
            <a:ext cx="6422231" cy="1844040"/>
          </a:xfrm>
          <a:prstGeom prst="roundRect">
            <a:avLst>
              <a:gd name="adj" fmla="val 9687"/>
            </a:avLst>
          </a:prstGeom>
          <a:solidFill>
            <a:srgbClr val="E5F9F2">
              <a:alpha val="95000"/>
            </a:srgbClr>
          </a:solidFill>
          <a:ln w="22860">
            <a:solidFill>
              <a:srgbClr val="B7D5CA"/>
            </a:solidFill>
            <a:prstDash val="solid"/>
          </a:ln>
        </p:spPr>
      </p:sp>
      <p:sp>
        <p:nvSpPr>
          <p:cNvPr id="14" name="Shape 12"/>
          <p:cNvSpPr/>
          <p:nvPr/>
        </p:nvSpPr>
        <p:spPr>
          <a:xfrm>
            <a:off x="816650" y="5288518"/>
            <a:ext cx="6376511" cy="198358"/>
          </a:xfrm>
          <a:prstGeom prst="roundRect">
            <a:avLst>
              <a:gd name="adj" fmla="val 76223"/>
            </a:avLst>
          </a:prstGeom>
          <a:solidFill>
            <a:srgbClr val="D1EFE4"/>
          </a:solidFill>
          <a:ln/>
        </p:spPr>
      </p:sp>
      <p:sp>
        <p:nvSpPr>
          <p:cNvPr id="15" name="Text 13"/>
          <p:cNvSpPr/>
          <p:nvPr/>
        </p:nvSpPr>
        <p:spPr>
          <a:xfrm>
            <a:off x="1015008" y="5685234"/>
            <a:ext cx="3407450"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Cài đặt phiên bản mới nhất</a:t>
            </a:r>
            <a:endParaRPr lang="en-US" dirty="0"/>
          </a:p>
        </p:txBody>
      </p:sp>
      <p:sp>
        <p:nvSpPr>
          <p:cNvPr id="16" name="Text 14"/>
          <p:cNvSpPr/>
          <p:nvPr/>
        </p:nvSpPr>
        <p:spPr>
          <a:xfrm>
            <a:off x="1015008" y="6114455"/>
            <a:ext cx="5979795"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Chọn phiên bản </a:t>
            </a:r>
            <a:r>
              <a:rPr lang="en-US" b="1" dirty="0">
                <a:solidFill>
                  <a:srgbClr val="4B4A4A"/>
                </a:solidFill>
                <a:latin typeface="Geist" pitchFamily="34" charset="0"/>
                <a:ea typeface="Geist" pitchFamily="34" charset="-122"/>
                <a:cs typeface="Geist" pitchFamily="34" charset="-120"/>
              </a:rPr>
              <a:t>7.x.x</a:t>
            </a:r>
            <a:r>
              <a:rPr lang="en-US" dirty="0">
                <a:solidFill>
                  <a:srgbClr val="4B4A4A"/>
                </a:solidFill>
                <a:latin typeface="Geist" pitchFamily="34" charset="0"/>
                <a:ea typeface="Geist" pitchFamily="34" charset="-122"/>
                <a:cs typeface="Geist" pitchFamily="34" charset="-120"/>
              </a:rPr>
              <a:t> (phiên bản mới nhất hiện tại)</a:t>
            </a:r>
            <a:endParaRPr lang="en-US" dirty="0"/>
          </a:p>
        </p:txBody>
      </p:sp>
      <p:sp>
        <p:nvSpPr>
          <p:cNvPr id="17" name="Text 15"/>
          <p:cNvSpPr/>
          <p:nvPr/>
        </p:nvSpPr>
        <p:spPr>
          <a:xfrm>
            <a:off x="1015008" y="6551057"/>
            <a:ext cx="5979795"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Click nút </a:t>
            </a:r>
            <a:r>
              <a:rPr lang="en-US" b="1" dirty="0">
                <a:solidFill>
                  <a:srgbClr val="4B4A4A"/>
                </a:solidFill>
                <a:latin typeface="Geist" pitchFamily="34" charset="0"/>
                <a:ea typeface="Geist" pitchFamily="34" charset="-122"/>
                <a:cs typeface="Geist" pitchFamily="34" charset="-120"/>
              </a:rPr>
              <a:t>Install</a:t>
            </a:r>
            <a:r>
              <a:rPr lang="en-US" dirty="0">
                <a:solidFill>
                  <a:srgbClr val="4B4A4A"/>
                </a:solidFill>
                <a:latin typeface="Geist" pitchFamily="34" charset="0"/>
                <a:ea typeface="Geist" pitchFamily="34" charset="-122"/>
                <a:cs typeface="Geist" pitchFamily="34" charset="-120"/>
              </a:rPr>
              <a:t> và đợi quá trình tải xuống hoàn tất</a:t>
            </a:r>
            <a:endParaRPr lang="en-US" dirty="0"/>
          </a:p>
        </p:txBody>
      </p:sp>
      <p:sp>
        <p:nvSpPr>
          <p:cNvPr id="18" name="Shape 16"/>
          <p:cNvSpPr/>
          <p:nvPr/>
        </p:nvSpPr>
        <p:spPr>
          <a:xfrm>
            <a:off x="7414379" y="4968002"/>
            <a:ext cx="6422231" cy="2141696"/>
          </a:xfrm>
          <a:prstGeom prst="roundRect">
            <a:avLst>
              <a:gd name="adj" fmla="val 8340"/>
            </a:avLst>
          </a:prstGeom>
          <a:solidFill>
            <a:srgbClr val="E5F9F2">
              <a:alpha val="95000"/>
            </a:srgbClr>
          </a:solidFill>
          <a:ln w="22860">
            <a:solidFill>
              <a:srgbClr val="B7D5CA"/>
            </a:solidFill>
            <a:prstDash val="solid"/>
          </a:ln>
        </p:spPr>
      </p:sp>
      <p:sp>
        <p:nvSpPr>
          <p:cNvPr id="19" name="Shape 17"/>
          <p:cNvSpPr/>
          <p:nvPr/>
        </p:nvSpPr>
        <p:spPr>
          <a:xfrm>
            <a:off x="7437239" y="4990862"/>
            <a:ext cx="6376511" cy="198358"/>
          </a:xfrm>
          <a:prstGeom prst="roundRect">
            <a:avLst>
              <a:gd name="adj" fmla="val 76223"/>
            </a:avLst>
          </a:prstGeom>
          <a:solidFill>
            <a:srgbClr val="D1EFE4"/>
          </a:solidFill>
          <a:ln/>
        </p:spPr>
      </p:sp>
      <p:sp>
        <p:nvSpPr>
          <p:cNvPr id="20" name="Text 18"/>
          <p:cNvSpPr/>
          <p:nvPr/>
        </p:nvSpPr>
        <p:spPr>
          <a:xfrm>
            <a:off x="7635597" y="5387578"/>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4B4A4A"/>
                </a:solidFill>
                <a:latin typeface="Noto Serif SC Bold" pitchFamily="34" charset="0"/>
                <a:ea typeface="Noto Serif SC Bold" pitchFamily="34" charset="-122"/>
                <a:cs typeface="Noto Serif SC Bold" pitchFamily="34" charset="-120"/>
              </a:rPr>
              <a:t>Kiểm tra cài đặt</a:t>
            </a:r>
            <a:endParaRPr lang="en-US" dirty="0"/>
          </a:p>
        </p:txBody>
      </p:sp>
      <p:sp>
        <p:nvSpPr>
          <p:cNvPr id="21" name="Text 19"/>
          <p:cNvSpPr/>
          <p:nvPr/>
        </p:nvSpPr>
        <p:spPr>
          <a:xfrm>
            <a:off x="7635597" y="5816798"/>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Vào </a:t>
            </a:r>
            <a:r>
              <a:rPr lang="en-US" b="1" dirty="0">
                <a:solidFill>
                  <a:srgbClr val="4B4A4A"/>
                </a:solidFill>
                <a:latin typeface="Geist" pitchFamily="34" charset="0"/>
                <a:ea typeface="Geist" pitchFamily="34" charset="-122"/>
                <a:cs typeface="Geist" pitchFamily="34" charset="-120"/>
              </a:rPr>
              <a:t>Sketch → Include Library</a:t>
            </a:r>
            <a:r>
              <a:rPr lang="en-US" dirty="0">
                <a:solidFill>
                  <a:srgbClr val="4B4A4A"/>
                </a:solidFill>
                <a:latin typeface="Geist" pitchFamily="34" charset="0"/>
                <a:ea typeface="Geist" pitchFamily="34" charset="-122"/>
                <a:cs typeface="Geist" pitchFamily="34" charset="-120"/>
              </a:rPr>
              <a:t>, bạn sẽ thấy </a:t>
            </a:r>
            <a:r>
              <a:rPr lang="en-US" b="1" dirty="0">
                <a:solidFill>
                  <a:srgbClr val="4B4A4A"/>
                </a:solidFill>
                <a:latin typeface="Geist" pitchFamily="34" charset="0"/>
                <a:ea typeface="Geist" pitchFamily="34" charset="-122"/>
                <a:cs typeface="Geist" pitchFamily="34" charset="-120"/>
              </a:rPr>
              <a:t>ArduinoJson</a:t>
            </a:r>
            <a:r>
              <a:rPr lang="en-US" dirty="0">
                <a:solidFill>
                  <a:srgbClr val="4B4A4A"/>
                </a:solidFill>
                <a:latin typeface="Geist" pitchFamily="34" charset="0"/>
                <a:ea typeface="Geist" pitchFamily="34" charset="-122"/>
                <a:cs typeface="Geist" pitchFamily="34" charset="-120"/>
              </a:rPr>
              <a:t> trong danh sách</a:t>
            </a:r>
            <a:endParaRPr lang="en-US" dirty="0"/>
          </a:p>
        </p:txBody>
      </p:sp>
      <p:sp>
        <p:nvSpPr>
          <p:cNvPr id="22" name="Text 20"/>
          <p:cNvSpPr/>
          <p:nvPr/>
        </p:nvSpPr>
        <p:spPr>
          <a:xfrm>
            <a:off x="7635597" y="6570940"/>
            <a:ext cx="5979795"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Giờ ta có thể sử dụng: #include &lt;ArduinoJson.h&gt;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1" grpId="0" animBg="1"/>
      <p:bldP spid="12" grpId="0" animBg="1"/>
      <p:bldP spid="15" grpId="0" animBg="1"/>
      <p:bldP spid="16" grpId="0" animBg="1"/>
      <p:bldP spid="17" grpId="0" animBg="1"/>
      <p:bldP spid="20" grpId="0" animBg="1"/>
      <p:bldP spid="21" grpId="0" animBg="1"/>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93790" y="1573292"/>
            <a:ext cx="3969425"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Mục tiêu Bài Lab 2</a:t>
            </a:r>
            <a:endParaRPr lang="en-US" sz="3100" dirty="0"/>
          </a:p>
        </p:txBody>
      </p:sp>
      <p:sp>
        <p:nvSpPr>
          <p:cNvPr id="3" name="Text 1"/>
          <p:cNvSpPr/>
          <p:nvPr/>
        </p:nvSpPr>
        <p:spPr>
          <a:xfrm>
            <a:off x="793790" y="2565440"/>
            <a:ext cx="3466743"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Input: Dữ liệu cảm biến thô</a:t>
            </a:r>
            <a:endParaRPr lang="en-US" sz="1950" dirty="0"/>
          </a:p>
        </p:txBody>
      </p:sp>
      <p:sp>
        <p:nvSpPr>
          <p:cNvPr id="4" name="Shape 2"/>
          <p:cNvSpPr/>
          <p:nvPr/>
        </p:nvSpPr>
        <p:spPr>
          <a:xfrm>
            <a:off x="793790" y="3098840"/>
            <a:ext cx="6279356" cy="1567815"/>
          </a:xfrm>
          <a:prstGeom prst="roundRect">
            <a:avLst>
              <a:gd name="adj" fmla="val 11393"/>
            </a:avLst>
          </a:prstGeom>
          <a:solidFill>
            <a:srgbClr val="D8ECE5"/>
          </a:solidFill>
          <a:ln/>
        </p:spPr>
      </p:sp>
      <p:sp>
        <p:nvSpPr>
          <p:cNvPr id="5" name="Shape 3"/>
          <p:cNvSpPr/>
          <p:nvPr/>
        </p:nvSpPr>
        <p:spPr>
          <a:xfrm>
            <a:off x="783908" y="3098840"/>
            <a:ext cx="6299121" cy="1567815"/>
          </a:xfrm>
          <a:prstGeom prst="roundRect">
            <a:avLst>
              <a:gd name="adj" fmla="val 1899"/>
            </a:avLst>
          </a:prstGeom>
          <a:solidFill>
            <a:srgbClr val="D8ECE5"/>
          </a:solidFill>
          <a:ln/>
        </p:spPr>
      </p:sp>
      <p:sp>
        <p:nvSpPr>
          <p:cNvPr id="6" name="Text 4"/>
          <p:cNvSpPr/>
          <p:nvPr/>
        </p:nvSpPr>
        <p:spPr>
          <a:xfrm>
            <a:off x="982266" y="3247668"/>
            <a:ext cx="5902404"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float temperature = 28.5;</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int humidity = 60;</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String status = "OK";</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String location = "Living Room";</a:t>
            </a:r>
            <a:endParaRPr lang="en-US" dirty="0"/>
          </a:p>
        </p:txBody>
      </p:sp>
      <p:sp>
        <p:nvSpPr>
          <p:cNvPr id="7" name="Text 5"/>
          <p:cNvSpPr/>
          <p:nvPr/>
        </p:nvSpPr>
        <p:spPr>
          <a:xfrm>
            <a:off x="793790" y="4889897"/>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Đây là dữ liệu ta đọc từ cảm biến hoặc giả lập. Hiện tại chúng là các biến rời rạc, không có cấu trúc.</a:t>
            </a:r>
            <a:endParaRPr lang="en-US" dirty="0"/>
          </a:p>
        </p:txBody>
      </p:sp>
      <p:sp>
        <p:nvSpPr>
          <p:cNvPr id="8" name="Text 6"/>
          <p:cNvSpPr/>
          <p:nvPr/>
        </p:nvSpPr>
        <p:spPr>
          <a:xfrm>
            <a:off x="7564874" y="2565440"/>
            <a:ext cx="3344704"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Output: Chuỗi JSON chuẩn</a:t>
            </a:r>
            <a:endParaRPr lang="en-US" sz="1950" dirty="0"/>
          </a:p>
        </p:txBody>
      </p:sp>
      <p:sp>
        <p:nvSpPr>
          <p:cNvPr id="9" name="Shape 7"/>
          <p:cNvSpPr/>
          <p:nvPr/>
        </p:nvSpPr>
        <p:spPr>
          <a:xfrm>
            <a:off x="7564874" y="3098840"/>
            <a:ext cx="6279356" cy="2520434"/>
          </a:xfrm>
          <a:prstGeom prst="roundRect">
            <a:avLst>
              <a:gd name="adj" fmla="val 7087"/>
            </a:avLst>
          </a:prstGeom>
          <a:solidFill>
            <a:srgbClr val="D8ECE5"/>
          </a:solidFill>
          <a:ln/>
        </p:spPr>
      </p:sp>
      <p:sp>
        <p:nvSpPr>
          <p:cNvPr id="10" name="Shape 8"/>
          <p:cNvSpPr/>
          <p:nvPr/>
        </p:nvSpPr>
        <p:spPr>
          <a:xfrm>
            <a:off x="7554992" y="3098840"/>
            <a:ext cx="6299121" cy="2520434"/>
          </a:xfrm>
          <a:prstGeom prst="roundRect">
            <a:avLst>
              <a:gd name="adj" fmla="val 1181"/>
            </a:avLst>
          </a:prstGeom>
          <a:solidFill>
            <a:srgbClr val="D8ECE5"/>
          </a:solidFill>
          <a:ln/>
        </p:spPr>
      </p:sp>
      <p:sp>
        <p:nvSpPr>
          <p:cNvPr id="11" name="Text 9"/>
          <p:cNvSpPr/>
          <p:nvPr/>
        </p:nvSpPr>
        <p:spPr>
          <a:xfrm>
            <a:off x="7753350" y="3247668"/>
            <a:ext cx="5902404" cy="2222778"/>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"temperature": 28.5,</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"humidity": 60,</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"status": "OK",</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"location": "Living Room",</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"device_id": "ESP32_01"</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12" name="Text 10"/>
          <p:cNvSpPr/>
          <p:nvPr/>
        </p:nvSpPr>
        <p:spPr>
          <a:xfrm>
            <a:off x="7564874" y="5842516"/>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Sau khi đóng gói, ta có một chuỗi văn bản hoàn chỉnh sẵn sàng gửi đi qua WiFi, Bluetooth, hoặc Serial.</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11"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20435" y="426482"/>
            <a:ext cx="4877633" cy="387787"/>
          </a:xfrm>
          <a:prstGeom prst="rect">
            <a:avLst/>
          </a:prstGeom>
          <a:noFill/>
          <a:ln/>
        </p:spPr>
        <p:txBody>
          <a:bodyPr wrap="none" lIns="0" tIns="0" rIns="0" bIns="0" rtlCol="0" anchor="t"/>
          <a:lstStyle/>
          <a:p>
            <a:pPr marL="0" indent="0" algn="l">
              <a:lnSpc>
                <a:spcPts val="3050"/>
              </a:lnSpc>
              <a:buNone/>
            </a:pPr>
            <a:r>
              <a:rPr lang="en-US" sz="2400" b="1" dirty="0">
                <a:solidFill>
                  <a:srgbClr val="006747"/>
                </a:solidFill>
                <a:latin typeface="Noto Serif SC Bold" pitchFamily="34" charset="0"/>
                <a:ea typeface="Noto Serif SC Bold" pitchFamily="34" charset="-122"/>
                <a:cs typeface="Noto Serif SC Bold" pitchFamily="34" charset="-120"/>
              </a:rPr>
              <a:t>Code đầy đủ - Bài Lab 2: Phần 1</a:t>
            </a:r>
            <a:endParaRPr lang="en-US" sz="2400" dirty="0"/>
          </a:p>
        </p:txBody>
      </p:sp>
      <p:sp>
        <p:nvSpPr>
          <p:cNvPr id="3" name="Shape 1"/>
          <p:cNvSpPr/>
          <p:nvPr/>
        </p:nvSpPr>
        <p:spPr>
          <a:xfrm>
            <a:off x="620435" y="1124426"/>
            <a:ext cx="13389531" cy="6683931"/>
          </a:xfrm>
          <a:prstGeom prst="roundRect">
            <a:avLst>
              <a:gd name="adj" fmla="val 2089"/>
            </a:avLst>
          </a:prstGeom>
          <a:solidFill>
            <a:srgbClr val="D8ECE5"/>
          </a:solidFill>
          <a:ln/>
        </p:spPr>
      </p:sp>
      <p:sp>
        <p:nvSpPr>
          <p:cNvPr id="4" name="Shape 2"/>
          <p:cNvSpPr/>
          <p:nvPr/>
        </p:nvSpPr>
        <p:spPr>
          <a:xfrm>
            <a:off x="612696" y="1124426"/>
            <a:ext cx="13405009" cy="6683931"/>
          </a:xfrm>
          <a:prstGeom prst="roundRect">
            <a:avLst>
              <a:gd name="adj" fmla="val 348"/>
            </a:avLst>
          </a:prstGeom>
          <a:solidFill>
            <a:srgbClr val="D8ECE5"/>
          </a:solidFill>
          <a:ln/>
        </p:spPr>
      </p:sp>
      <p:sp>
        <p:nvSpPr>
          <p:cNvPr id="5" name="Text 3"/>
          <p:cNvSpPr/>
          <p:nvPr/>
        </p:nvSpPr>
        <p:spPr>
          <a:xfrm>
            <a:off x="767715" y="1240750"/>
            <a:ext cx="13094970" cy="6683931"/>
          </a:xfrm>
          <a:prstGeom prst="rect">
            <a:avLst/>
          </a:prstGeom>
          <a:noFill/>
          <a:ln/>
        </p:spPr>
        <p:txBody>
          <a:bodyPr wrap="square" lIns="0" tIns="0" rIns="0" bIns="0" rtlCol="0" anchor="t"/>
          <a:lstStyle/>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 BÀI LAB 2: ĐÓNG GÓI DỮ LIỆU THÀNH JSON ---</a:t>
            </a:r>
            <a:endParaRPr lang="en-US" dirty="0"/>
          </a:p>
          <a:p>
            <a:pPr marL="0" indent="0" algn="l">
              <a:lnSpc>
                <a:spcPts val="1950"/>
              </a:lnSpc>
              <a:buNone/>
            </a:pP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#include // Gọi thư viện</a:t>
            </a:r>
            <a:endParaRPr lang="en-US" dirty="0"/>
          </a:p>
          <a:p>
            <a:pPr marL="0" indent="0" algn="l">
              <a:lnSpc>
                <a:spcPts val="1950"/>
              </a:lnSpc>
              <a:buNone/>
            </a:pP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void setup()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Serial.begin(115200);</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 Đợi Serial Monitor sẵn sàng</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while (!Serial)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delay(10);</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Serial.println("\n========================================");</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Serial.println("BÀI THỰC HÀNH: TẠO DỮ LIỆU JSON");</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Serial.println("========================================\n");</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 --- BƯỚC 1: CÓ DỮ LIỆU THÔ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 Giả sử ta đọc được từ cảm biến DHT11 hoặc giả lập</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float nhiet_do = 28.5;</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int do_am = 60;</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String trang_thai = "OK";</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String vi_tri = "Phòng khách";</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String device_id = "ESP32_DHT11_01";</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1950"/>
              </a:lnSpc>
              <a:buNone/>
            </a:pPr>
            <a:r>
              <a:rPr lang="en-US" dirty="0">
                <a:solidFill>
                  <a:srgbClr val="4B4A4A"/>
                </a:solidFill>
                <a:highlight>
                  <a:srgbClr val="D8ECE5"/>
                </a:highlight>
                <a:latin typeface="Consolas" pitchFamily="34" charset="0"/>
                <a:ea typeface="Consolas" pitchFamily="34" charset="-122"/>
                <a:cs typeface="Consolas" pitchFamily="34" charset="-120"/>
              </a:rPr>
              <a:t> // In dữ liệu thô ra Serial</a:t>
            </a:r>
            <a:endParaRPr lang="en-US" dirty="0"/>
          </a:p>
          <a:p>
            <a:pPr>
              <a:lnSpc>
                <a:spcPts val="1950"/>
              </a:lnSpc>
            </a:pP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Serial.println</a:t>
            </a:r>
            <a:r>
              <a:rPr lang="en-US" dirty="0">
                <a:solidFill>
                  <a:srgbClr val="4B4A4A"/>
                </a:solidFill>
                <a:highlight>
                  <a:srgbClr val="D8ECE5"/>
                </a:highlight>
                <a:latin typeface="Consolas" pitchFamily="34" charset="0"/>
                <a:ea typeface="Consolas" pitchFamily="34" charset="-122"/>
                <a:cs typeface="Consolas" pitchFamily="34" charset="-120"/>
              </a:rPr>
              <a:t>(" in </a:t>
            </a:r>
            <a:r>
              <a:rPr lang="en-US" dirty="0" err="1">
                <a:solidFill>
                  <a:srgbClr val="4B4A4A"/>
                </a:solidFill>
                <a:highlight>
                  <a:srgbClr val="D8ECE5"/>
                </a:highlight>
                <a:latin typeface="Consolas" pitchFamily="34" charset="0"/>
                <a:ea typeface="Consolas" pitchFamily="34" charset="-122"/>
                <a:cs typeface="Consolas" pitchFamily="34" charset="-120"/>
              </a:rPr>
              <a:t>dữ</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liệu</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ra</a:t>
            </a:r>
            <a:r>
              <a:rPr lang="en-US" dirty="0">
                <a:solidFill>
                  <a:srgbClr val="4B4A4A"/>
                </a:solidFill>
                <a:highlight>
                  <a:srgbClr val="D8ECE5"/>
                </a:highlight>
                <a:latin typeface="Consolas" pitchFamily="34" charset="0"/>
                <a:ea typeface="Consolas" pitchFamily="34" charset="-122"/>
                <a:cs typeface="Consolas" pitchFamily="34" charset="-120"/>
              </a:rPr>
              <a:t> serial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59725" y="453985"/>
            <a:ext cx="5184696" cy="412313"/>
          </a:xfrm>
          <a:prstGeom prst="rect">
            <a:avLst/>
          </a:prstGeom>
          <a:noFill/>
          <a:ln/>
        </p:spPr>
        <p:txBody>
          <a:bodyPr wrap="none" lIns="0" tIns="0" rIns="0" bIns="0" rtlCol="0" anchor="t"/>
          <a:lstStyle/>
          <a:p>
            <a:pPr marL="0" indent="0" algn="l">
              <a:lnSpc>
                <a:spcPts val="3200"/>
              </a:lnSpc>
              <a:buNone/>
            </a:pPr>
            <a:r>
              <a:rPr lang="en-US" sz="2550" b="1" dirty="0">
                <a:solidFill>
                  <a:srgbClr val="006747"/>
                </a:solidFill>
                <a:latin typeface="Noto Serif SC Bold" pitchFamily="34" charset="0"/>
                <a:ea typeface="Noto Serif SC Bold" pitchFamily="34" charset="-122"/>
                <a:cs typeface="Noto Serif SC Bold" pitchFamily="34" charset="-120"/>
              </a:rPr>
              <a:t>Code đầy đủ - Bài Lab 2: Phần 2</a:t>
            </a:r>
            <a:endParaRPr lang="en-US" sz="2550" dirty="0"/>
          </a:p>
        </p:txBody>
      </p:sp>
      <p:sp>
        <p:nvSpPr>
          <p:cNvPr id="3" name="Shape 1"/>
          <p:cNvSpPr/>
          <p:nvPr/>
        </p:nvSpPr>
        <p:spPr>
          <a:xfrm>
            <a:off x="659725" y="1196102"/>
            <a:ext cx="13310949" cy="6579394"/>
          </a:xfrm>
          <a:prstGeom prst="roundRect">
            <a:avLst>
              <a:gd name="adj" fmla="val 2256"/>
            </a:avLst>
          </a:prstGeom>
          <a:solidFill>
            <a:srgbClr val="D8ECE5"/>
          </a:solidFill>
          <a:ln/>
        </p:spPr>
      </p:sp>
      <p:sp>
        <p:nvSpPr>
          <p:cNvPr id="4" name="Shape 2"/>
          <p:cNvSpPr/>
          <p:nvPr/>
        </p:nvSpPr>
        <p:spPr>
          <a:xfrm>
            <a:off x="651510" y="1196102"/>
            <a:ext cx="13327380" cy="6579394"/>
          </a:xfrm>
          <a:prstGeom prst="roundRect">
            <a:avLst>
              <a:gd name="adj" fmla="val 376"/>
            </a:avLst>
          </a:prstGeom>
          <a:solidFill>
            <a:srgbClr val="D8ECE5"/>
          </a:solidFill>
          <a:ln/>
        </p:spPr>
      </p:sp>
      <p:sp>
        <p:nvSpPr>
          <p:cNvPr id="5" name="Text 3"/>
          <p:cNvSpPr/>
          <p:nvPr/>
        </p:nvSpPr>
        <p:spPr>
          <a:xfrm>
            <a:off x="816412" y="1319689"/>
            <a:ext cx="12997577" cy="6332220"/>
          </a:xfrm>
          <a:prstGeom prst="rect">
            <a:avLst/>
          </a:prstGeom>
          <a:noFill/>
          <a:ln/>
        </p:spPr>
        <p:txBody>
          <a:bodyPr wrap="square" lIns="0" tIns="0" rIns="0" bIns="0" rtlCol="0" anchor="t"/>
          <a:lstStyle/>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 BƯỚC 2: TẠO VÙNG NHỚ JSON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JsonDocument tự động quản lý bộ nhớ (từ ArduinoJson v7)</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Với v6, dùng: StaticJsonDocument&lt;200&gt; doc;</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JsonDocument doc;</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Giải thích: JsonDocument là một "container" (hộp chứa)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để lưu trữ cấu trúc JSON. Nó tự động cấp phát bộ nhớ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cần thiết dựa trên dữ liệu ta thêm vào.</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 BƯỚC 3: GÁN DỮ LIỆU VÀO JSON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Cú pháp: doc["key"] = value;</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"key" phải là chuỗi (string), value có thể là số, chuỗi, bool...</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doc["temperature"] = nhiet_do; // Gán số thực</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doc["humidity"] = do_am; // Gán số nguyên</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doc["status"] = trang_thai; // Gán chuỗi</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doc["location"] = vi_tri; // Gán chuỗi</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doc["device_id"] = device_id; // Gán chuỗi</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doc["timestamp"] = millis(); // Gán thời gian (ms từ khi khởi động)</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Ta cũng có thể tạo object lồng nhau:</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JsonObject sensor = doc.createNestedObject("sensor_info");</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sensor["type"] = "DHT11";</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sensor["pin"] = 4;</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93790" y="1772960"/>
            <a:ext cx="6240661"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Code đầy đủ - Bài Lab 2: Phần 3</a:t>
            </a:r>
            <a:endParaRPr lang="en-US" sz="3100" dirty="0"/>
          </a:p>
        </p:txBody>
      </p:sp>
      <p:sp>
        <p:nvSpPr>
          <p:cNvPr id="3" name="Shape 1"/>
          <p:cNvSpPr/>
          <p:nvPr/>
        </p:nvSpPr>
        <p:spPr>
          <a:xfrm>
            <a:off x="793790" y="2665928"/>
            <a:ext cx="13042821" cy="3790593"/>
          </a:xfrm>
          <a:prstGeom prst="roundRect">
            <a:avLst>
              <a:gd name="adj" fmla="val 4712"/>
            </a:avLst>
          </a:prstGeom>
          <a:solidFill>
            <a:srgbClr val="D8ECE5"/>
          </a:solidFill>
          <a:ln/>
        </p:spPr>
      </p:sp>
      <p:sp>
        <p:nvSpPr>
          <p:cNvPr id="4" name="Shape 2"/>
          <p:cNvSpPr/>
          <p:nvPr/>
        </p:nvSpPr>
        <p:spPr>
          <a:xfrm>
            <a:off x="783908" y="2665928"/>
            <a:ext cx="13062585" cy="5089539"/>
          </a:xfrm>
          <a:prstGeom prst="roundRect">
            <a:avLst>
              <a:gd name="adj" fmla="val 785"/>
            </a:avLst>
          </a:prstGeom>
          <a:solidFill>
            <a:srgbClr val="D8ECE5"/>
          </a:solidFill>
          <a:ln/>
        </p:spPr>
      </p:sp>
      <p:sp>
        <p:nvSpPr>
          <p:cNvPr id="5" name="Text 3"/>
          <p:cNvSpPr/>
          <p:nvPr/>
        </p:nvSpPr>
        <p:spPr>
          <a:xfrm>
            <a:off x="982266" y="2814757"/>
            <a:ext cx="12665869" cy="4816532"/>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 BƯỚC 4: ĐÓNG GÓI (SERIALIZE) THÀNH CHUỖI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serializeJson() biến JsonDocument thành chuỗi văn bản</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String output; // Biến lưu chuỗi JSON</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serializeJson(doc, output);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Ta cũng có thể serialize trực tiếp ra Serial:</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serializeJson(doc, Serial);</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 BƯỚC 5: HIỂN THỊ KẾT QUẢ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Serial.println</a:t>
            </a:r>
            <a:r>
              <a:rPr lang="en-US" dirty="0">
                <a:solidFill>
                  <a:srgbClr val="4B4A4A"/>
                </a:solidFill>
                <a:highlight>
                  <a:srgbClr val="D8ECE5"/>
                </a:highlight>
                <a:latin typeface="Consolas" pitchFamily="34" charset="0"/>
                <a:ea typeface="Consolas" pitchFamily="34" charset="-122"/>
                <a:cs typeface="Consolas" pitchFamily="34" charset="-120"/>
              </a:rPr>
              <a:t>("</a:t>
            </a:r>
            <a:r>
              <a:rPr lang="en-US" dirty="0" err="1">
                <a:solidFill>
                  <a:srgbClr val="4B4A4A"/>
                </a:solidFill>
                <a:highlight>
                  <a:srgbClr val="D8ECE5"/>
                </a:highlight>
                <a:latin typeface="Consolas" pitchFamily="34" charset="0"/>
                <a:ea typeface="Consolas" pitchFamily="34" charset="-122"/>
                <a:cs typeface="Consolas" pitchFamily="34" charset="-120"/>
              </a:rPr>
              <a:t>Dữ</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liệu</a:t>
            </a:r>
            <a:r>
              <a:rPr lang="en-US" dirty="0">
                <a:solidFill>
                  <a:srgbClr val="4B4A4A"/>
                </a:solidFill>
                <a:highlight>
                  <a:srgbClr val="D8ECE5"/>
                </a:highlight>
                <a:latin typeface="Consolas" pitchFamily="34" charset="0"/>
                <a:ea typeface="Consolas" pitchFamily="34" charset="-122"/>
                <a:cs typeface="Consolas" pitchFamily="34" charset="-120"/>
              </a:rPr>
              <a:t> JSON </a:t>
            </a:r>
            <a:r>
              <a:rPr lang="en-US" dirty="0" err="1">
                <a:solidFill>
                  <a:srgbClr val="4B4A4A"/>
                </a:solidFill>
                <a:highlight>
                  <a:srgbClr val="D8ECE5"/>
                </a:highlight>
                <a:latin typeface="Consolas" pitchFamily="34" charset="0"/>
                <a:ea typeface="Consolas" pitchFamily="34" charset="-122"/>
                <a:cs typeface="Consolas" pitchFamily="34" charset="-120"/>
              </a:rPr>
              <a:t>sau</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khi</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đóng</a:t>
            </a: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gói</a:t>
            </a:r>
            <a:r>
              <a:rPr lang="en-US" dirty="0">
                <a:solidFill>
                  <a:srgbClr val="4B4A4A"/>
                </a:solidFill>
                <a:highlight>
                  <a:srgbClr val="D8ECE5"/>
                </a:highlight>
                <a:latin typeface="Consolas" pitchFamily="34" charset="0"/>
                <a:ea typeface="Consolas" pitchFamily="34" charset="-122"/>
                <a:cs typeface="Consolas" pitchFamily="34" charset="-120"/>
              </a:rPr>
              <a:t>:");  </a:t>
            </a:r>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Serial.println</a:t>
            </a:r>
            <a:r>
              <a:rPr lang="en-US" dirty="0">
                <a:solidFill>
                  <a:srgbClr val="4B4A4A"/>
                </a:solidFill>
                <a:highlight>
                  <a:srgbClr val="D8ECE5"/>
                </a:highlight>
                <a:latin typeface="Consolas" pitchFamily="34" charset="0"/>
                <a:ea typeface="Consolas" pitchFamily="34" charset="-122"/>
                <a:cs typeface="Consolas" pitchFamily="34" charset="-120"/>
              </a:rPr>
              <a:t>(output); // In </a:t>
            </a:r>
            <a:r>
              <a:rPr lang="en-US" dirty="0" err="1">
                <a:solidFill>
                  <a:srgbClr val="4B4A4A"/>
                </a:solidFill>
                <a:highlight>
                  <a:srgbClr val="D8ECE5"/>
                </a:highlight>
                <a:latin typeface="Consolas" pitchFamily="34" charset="0"/>
                <a:ea typeface="Consolas" pitchFamily="34" charset="-122"/>
                <a:cs typeface="Consolas" pitchFamily="34" charset="-120"/>
              </a:rPr>
              <a:t>chuỗi</a:t>
            </a:r>
            <a:r>
              <a:rPr lang="en-US" dirty="0">
                <a:solidFill>
                  <a:srgbClr val="4B4A4A"/>
                </a:solidFill>
                <a:highlight>
                  <a:srgbClr val="D8ECE5"/>
                </a:highlight>
                <a:latin typeface="Consolas" pitchFamily="34" charset="0"/>
                <a:ea typeface="Consolas" pitchFamily="34" charset="-122"/>
                <a:cs typeface="Consolas" pitchFamily="34" charset="-120"/>
              </a:rPr>
              <a:t> JSON </a:t>
            </a:r>
            <a:r>
              <a:rPr lang="en-US" dirty="0" err="1">
                <a:solidFill>
                  <a:srgbClr val="4B4A4A"/>
                </a:solidFill>
                <a:highlight>
                  <a:srgbClr val="D8ECE5"/>
                </a:highlight>
                <a:latin typeface="Consolas" pitchFamily="34" charset="0"/>
                <a:ea typeface="Consolas" pitchFamily="34" charset="-122"/>
                <a:cs typeface="Consolas" pitchFamily="34" charset="-120"/>
              </a:rPr>
              <a:t>thô</a:t>
            </a:r>
            <a:endParaRPr lang="en-US" dirty="0">
              <a:solidFill>
                <a:srgbClr val="4B4A4A"/>
              </a:solidFill>
              <a:highlight>
                <a:srgbClr val="D8ECE5"/>
              </a:highlight>
              <a:latin typeface="Consolas" pitchFamily="34" charset="0"/>
              <a:ea typeface="Consolas" pitchFamily="34" charset="-122"/>
              <a:cs typeface="Consolas" pitchFamily="34" charset="-120"/>
            </a:endParaRPr>
          </a:p>
          <a:p>
            <a:pPr marL="0" indent="0" algn="l">
              <a:lnSpc>
                <a:spcPts val="2500"/>
              </a:lnSpc>
              <a:buNone/>
            </a:pPr>
            <a:r>
              <a:rPr lang="en-US" dirty="0">
                <a:solidFill>
                  <a:srgbClr val="4B4A4A"/>
                </a:solidFill>
                <a:highlight>
                  <a:srgbClr val="D8ECE5"/>
                </a:highlight>
                <a:latin typeface="Consolas" pitchFamily="34" charset="0"/>
              </a:rPr>
              <a:t> </a:t>
            </a:r>
            <a:r>
              <a:rPr lang="en-US" dirty="0" err="1">
                <a:solidFill>
                  <a:srgbClr val="4B4A4A"/>
                </a:solidFill>
                <a:highlight>
                  <a:srgbClr val="D8ECE5"/>
                </a:highlight>
                <a:latin typeface="Consolas" pitchFamily="34" charset="0"/>
              </a:rPr>
              <a:t>Serial.println</a:t>
            </a:r>
            <a:r>
              <a:rPr lang="en-US" dirty="0">
                <a:solidFill>
                  <a:srgbClr val="4B4A4A"/>
                </a:solidFill>
                <a:highlight>
                  <a:srgbClr val="D8ECE5"/>
                </a:highlight>
                <a:latin typeface="Consolas" pitchFamily="34" charset="0"/>
              </a:rPr>
              <a:t>("\</a:t>
            </a:r>
            <a:r>
              <a:rPr lang="en-US" dirty="0" err="1">
                <a:solidFill>
                  <a:srgbClr val="4B4A4A"/>
                </a:solidFill>
                <a:highlight>
                  <a:srgbClr val="D8ECE5"/>
                </a:highlight>
                <a:latin typeface="Consolas" pitchFamily="34" charset="0"/>
              </a:rPr>
              <a:t>nĐịnh</a:t>
            </a:r>
            <a:r>
              <a:rPr lang="en-US" dirty="0">
                <a:solidFill>
                  <a:srgbClr val="4B4A4A"/>
                </a:solidFill>
                <a:highlight>
                  <a:srgbClr val="D8ECE5"/>
                </a:highlight>
                <a:latin typeface="Consolas" pitchFamily="34" charset="0"/>
              </a:rPr>
              <a:t> </a:t>
            </a:r>
            <a:r>
              <a:rPr lang="en-US" dirty="0" err="1">
                <a:solidFill>
                  <a:srgbClr val="4B4A4A"/>
                </a:solidFill>
                <a:highlight>
                  <a:srgbClr val="D8ECE5"/>
                </a:highlight>
                <a:latin typeface="Consolas" pitchFamily="34" charset="0"/>
              </a:rPr>
              <a:t>dạng</a:t>
            </a:r>
            <a:r>
              <a:rPr lang="en-US" dirty="0">
                <a:solidFill>
                  <a:srgbClr val="4B4A4A"/>
                </a:solidFill>
                <a:highlight>
                  <a:srgbClr val="D8ECE5"/>
                </a:highlight>
                <a:latin typeface="Consolas" pitchFamily="34" charset="0"/>
              </a:rPr>
              <a:t> </a:t>
            </a:r>
            <a:r>
              <a:rPr lang="en-US" dirty="0" err="1">
                <a:solidFill>
                  <a:srgbClr val="4B4A4A"/>
                </a:solidFill>
                <a:highlight>
                  <a:srgbClr val="D8ECE5"/>
                </a:highlight>
                <a:latin typeface="Consolas" pitchFamily="34" charset="0"/>
              </a:rPr>
              <a:t>đẹp</a:t>
            </a:r>
            <a:r>
              <a:rPr lang="en-US" dirty="0">
                <a:solidFill>
                  <a:srgbClr val="4B4A4A"/>
                </a:solidFill>
                <a:highlight>
                  <a:srgbClr val="D8ECE5"/>
                </a:highlight>
                <a:latin typeface="Consolas" pitchFamily="34" charset="0"/>
              </a:rPr>
              <a:t> (Pretty Print) </a:t>
            </a:r>
            <a:r>
              <a:rPr lang="en-US" dirty="0" err="1">
                <a:solidFill>
                  <a:srgbClr val="4B4A4A"/>
                </a:solidFill>
                <a:highlight>
                  <a:srgbClr val="D8ECE5"/>
                </a:highlight>
                <a:latin typeface="Consolas" pitchFamily="34" charset="0"/>
              </a:rPr>
              <a:t>để</a:t>
            </a:r>
            <a:r>
              <a:rPr lang="en-US" dirty="0">
                <a:solidFill>
                  <a:srgbClr val="4B4A4A"/>
                </a:solidFill>
                <a:highlight>
                  <a:srgbClr val="D8ECE5"/>
                </a:highlight>
                <a:latin typeface="Consolas" pitchFamily="34" charset="0"/>
              </a:rPr>
              <a:t> debug:");  </a:t>
            </a:r>
          </a:p>
          <a:p>
            <a:pPr marL="0" indent="0" algn="l">
              <a:lnSpc>
                <a:spcPts val="2500"/>
              </a:lnSpc>
              <a:buNone/>
            </a:pPr>
            <a:r>
              <a:rPr lang="en-US" dirty="0">
                <a:solidFill>
                  <a:srgbClr val="4B4A4A"/>
                </a:solidFill>
                <a:highlight>
                  <a:srgbClr val="D8ECE5"/>
                </a:highlight>
                <a:latin typeface="Consolas" pitchFamily="34" charset="0"/>
              </a:rPr>
              <a:t> </a:t>
            </a:r>
            <a:r>
              <a:rPr lang="en-US" dirty="0" err="1">
                <a:solidFill>
                  <a:srgbClr val="4B4A4A"/>
                </a:solidFill>
                <a:highlight>
                  <a:srgbClr val="D8ECE5"/>
                </a:highlight>
                <a:latin typeface="Consolas" pitchFamily="34" charset="0"/>
              </a:rPr>
              <a:t>serializeJsonPretty</a:t>
            </a:r>
            <a:r>
              <a:rPr lang="en-US" dirty="0">
                <a:solidFill>
                  <a:srgbClr val="4B4A4A"/>
                </a:solidFill>
                <a:highlight>
                  <a:srgbClr val="D8ECE5"/>
                </a:highlight>
                <a:latin typeface="Consolas" pitchFamily="34" charset="0"/>
              </a:rPr>
              <a:t>(doc, Serial); // In </a:t>
            </a:r>
            <a:r>
              <a:rPr lang="en-US" dirty="0" err="1">
                <a:solidFill>
                  <a:srgbClr val="4B4A4A"/>
                </a:solidFill>
                <a:highlight>
                  <a:srgbClr val="D8ECE5"/>
                </a:highlight>
                <a:latin typeface="Consolas" pitchFamily="34" charset="0"/>
              </a:rPr>
              <a:t>ra</a:t>
            </a:r>
            <a:r>
              <a:rPr lang="en-US" dirty="0">
                <a:solidFill>
                  <a:srgbClr val="4B4A4A"/>
                </a:solidFill>
                <a:highlight>
                  <a:srgbClr val="D8ECE5"/>
                </a:highlight>
                <a:latin typeface="Consolas" pitchFamily="34" charset="0"/>
              </a:rPr>
              <a:t> Serial </a:t>
            </a:r>
            <a:r>
              <a:rPr lang="en-US" dirty="0" err="1">
                <a:solidFill>
                  <a:srgbClr val="4B4A4A"/>
                </a:solidFill>
                <a:highlight>
                  <a:srgbClr val="D8ECE5"/>
                </a:highlight>
                <a:latin typeface="Consolas" pitchFamily="34" charset="0"/>
              </a:rPr>
              <a:t>với</a:t>
            </a:r>
            <a:r>
              <a:rPr lang="en-US" dirty="0">
                <a:solidFill>
                  <a:srgbClr val="4B4A4A"/>
                </a:solidFill>
                <a:highlight>
                  <a:srgbClr val="D8ECE5"/>
                </a:highlight>
                <a:latin typeface="Consolas" pitchFamily="34" charset="0"/>
              </a:rPr>
              <a:t> </a:t>
            </a:r>
            <a:r>
              <a:rPr lang="en-US" dirty="0" err="1">
                <a:solidFill>
                  <a:srgbClr val="4B4A4A"/>
                </a:solidFill>
                <a:highlight>
                  <a:srgbClr val="D8ECE5"/>
                </a:highlight>
                <a:latin typeface="Consolas" pitchFamily="34" charset="0"/>
              </a:rPr>
              <a:t>định</a:t>
            </a:r>
            <a:r>
              <a:rPr lang="en-US" dirty="0">
                <a:solidFill>
                  <a:srgbClr val="4B4A4A"/>
                </a:solidFill>
                <a:highlight>
                  <a:srgbClr val="D8ECE5"/>
                </a:highlight>
                <a:latin typeface="Consolas" pitchFamily="34" charset="0"/>
              </a:rPr>
              <a:t> </a:t>
            </a:r>
            <a:r>
              <a:rPr lang="en-US" dirty="0" err="1">
                <a:solidFill>
                  <a:srgbClr val="4B4A4A"/>
                </a:solidFill>
                <a:highlight>
                  <a:srgbClr val="D8ECE5"/>
                </a:highlight>
                <a:latin typeface="Consolas" pitchFamily="34" charset="0"/>
              </a:rPr>
              <a:t>dạng</a:t>
            </a:r>
            <a:r>
              <a:rPr lang="en-US" dirty="0">
                <a:solidFill>
                  <a:srgbClr val="4B4A4A"/>
                </a:solidFill>
                <a:highlight>
                  <a:srgbClr val="D8ECE5"/>
                </a:highlight>
                <a:latin typeface="Consolas" pitchFamily="34" charset="0"/>
              </a:rPr>
              <a:t> </a:t>
            </a:r>
            <a:r>
              <a:rPr lang="en-US" dirty="0" err="1">
                <a:solidFill>
                  <a:srgbClr val="4B4A4A"/>
                </a:solidFill>
                <a:highlight>
                  <a:srgbClr val="D8ECE5"/>
                </a:highlight>
                <a:latin typeface="Consolas" pitchFamily="34" charset="0"/>
              </a:rPr>
              <a:t>dễ</a:t>
            </a:r>
            <a:r>
              <a:rPr lang="en-US" dirty="0">
                <a:solidFill>
                  <a:srgbClr val="4B4A4A"/>
                </a:solidFill>
                <a:highlight>
                  <a:srgbClr val="D8ECE5"/>
                </a:highlight>
                <a:latin typeface="Consolas" pitchFamily="34" charset="0"/>
              </a:rPr>
              <a:t> </a:t>
            </a:r>
            <a:r>
              <a:rPr lang="en-US" dirty="0" err="1">
                <a:solidFill>
                  <a:srgbClr val="4B4A4A"/>
                </a:solidFill>
                <a:highlight>
                  <a:srgbClr val="D8ECE5"/>
                </a:highlight>
                <a:latin typeface="Consolas" pitchFamily="34" charset="0"/>
              </a:rPr>
              <a:t>đọc</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93790" y="1931789"/>
            <a:ext cx="6240661"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Code đầy đủ - Bài Lab 2: Phần 4</a:t>
            </a:r>
            <a:endParaRPr lang="en-US" sz="3100" dirty="0"/>
          </a:p>
        </p:txBody>
      </p:sp>
      <p:sp>
        <p:nvSpPr>
          <p:cNvPr id="3" name="Shape 1"/>
          <p:cNvSpPr/>
          <p:nvPr/>
        </p:nvSpPr>
        <p:spPr>
          <a:xfrm>
            <a:off x="793790" y="2824758"/>
            <a:ext cx="13042821" cy="3473053"/>
          </a:xfrm>
          <a:prstGeom prst="roundRect">
            <a:avLst>
              <a:gd name="adj" fmla="val 5143"/>
            </a:avLst>
          </a:prstGeom>
          <a:solidFill>
            <a:srgbClr val="D8ECE5"/>
          </a:solidFill>
          <a:ln/>
        </p:spPr>
      </p:sp>
      <p:sp>
        <p:nvSpPr>
          <p:cNvPr id="4" name="Shape 2"/>
          <p:cNvSpPr/>
          <p:nvPr/>
        </p:nvSpPr>
        <p:spPr>
          <a:xfrm>
            <a:off x="783908" y="2824758"/>
            <a:ext cx="13062585" cy="3473053"/>
          </a:xfrm>
          <a:prstGeom prst="roundRect">
            <a:avLst>
              <a:gd name="adj" fmla="val 857"/>
            </a:avLst>
          </a:prstGeom>
          <a:solidFill>
            <a:srgbClr val="D8ECE5"/>
          </a:solidFill>
          <a:ln/>
        </p:spPr>
      </p:sp>
      <p:sp>
        <p:nvSpPr>
          <p:cNvPr id="5" name="Text 3"/>
          <p:cNvSpPr/>
          <p:nvPr/>
        </p:nvSpPr>
        <p:spPr>
          <a:xfrm>
            <a:off x="982266" y="2973586"/>
            <a:ext cx="12665869" cy="3175397"/>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loop()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Không làm gì trong loop() cho bài lab này</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Vì setup() đã hoàn thành nhiệm vụ demo</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Trong ứng dụng thực tế, ta sẽ:</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1. Đọc cảm biến mỗi vài giây (dùng millis)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2. Đóng gói thành JSON</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3. Gửi lên MQTT Broker hoặc HTTP Server</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4. Lặp lại</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793790" y="2775228"/>
            <a:ext cx="5489853"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Kết quả trên Serial Monitor</a:t>
            </a:r>
            <a:endParaRPr lang="en-US" sz="3100" dirty="0"/>
          </a:p>
        </p:txBody>
      </p:sp>
      <p:sp>
        <p:nvSpPr>
          <p:cNvPr id="3" name="Shape 1"/>
          <p:cNvSpPr/>
          <p:nvPr/>
        </p:nvSpPr>
        <p:spPr>
          <a:xfrm>
            <a:off x="793790" y="3569018"/>
            <a:ext cx="13042821" cy="1885355"/>
          </a:xfrm>
          <a:prstGeom prst="roundRect">
            <a:avLst>
              <a:gd name="adj" fmla="val 9474"/>
            </a:avLst>
          </a:prstGeom>
          <a:solidFill>
            <a:srgbClr val="D8ECE5"/>
          </a:solidFill>
          <a:ln/>
        </p:spPr>
      </p:sp>
      <p:sp>
        <p:nvSpPr>
          <p:cNvPr id="4" name="Shape 2"/>
          <p:cNvSpPr/>
          <p:nvPr/>
        </p:nvSpPr>
        <p:spPr>
          <a:xfrm>
            <a:off x="783908" y="3569018"/>
            <a:ext cx="13062585" cy="1885355"/>
          </a:xfrm>
          <a:prstGeom prst="roundRect">
            <a:avLst>
              <a:gd name="adj" fmla="val 1579"/>
            </a:avLst>
          </a:prstGeom>
          <a:solidFill>
            <a:srgbClr val="D8ECE5"/>
          </a:solidFill>
          <a:ln/>
        </p:spPr>
      </p:sp>
      <p:sp>
        <p:nvSpPr>
          <p:cNvPr id="5" name="Text 3"/>
          <p:cNvSpPr/>
          <p:nvPr/>
        </p:nvSpPr>
        <p:spPr>
          <a:xfrm>
            <a:off x="982266" y="3717846"/>
            <a:ext cx="12665869" cy="1587698"/>
          </a:xfrm>
          <a:prstGeom prst="rect">
            <a:avLst/>
          </a:prstGeom>
          <a:noFill/>
          <a:ln/>
        </p:spPr>
        <p:txBody>
          <a:bodyPr wrap="square" lIns="0" tIns="0" rIns="0" bIns="0" rtlCol="0" anchor="t"/>
          <a:lstStyle/>
          <a:p>
            <a:pPr marL="0" indent="0" algn="l">
              <a:lnSpc>
                <a:spcPts val="2500"/>
              </a:lnSpc>
              <a:buNone/>
            </a:pPr>
            <a:r>
              <a:rPr lang="en-US" sz="1550" dirty="0">
                <a:solidFill>
                  <a:srgbClr val="4B4A4A"/>
                </a:solidFill>
                <a:highlight>
                  <a:srgbClr val="D8ECE5"/>
                </a:highlight>
                <a:latin typeface="Consolas" pitchFamily="34" charset="0"/>
                <a:ea typeface="Consolas" pitchFamily="34" charset="-122"/>
                <a:cs typeface="Consolas" pitchFamily="34" charset="-120"/>
              </a:rPr>
              <a:t>========================================
BÀI THỰC HÀNH: TẠO DỮ LIỆU JSON
========================================
</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793790" y="850940"/>
            <a:ext cx="9530834"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Giải thích các hàm quan trọng của ArduinoJson</a:t>
            </a:r>
            <a:endParaRPr lang="en-US" sz="3100" dirty="0"/>
          </a:p>
        </p:txBody>
      </p:sp>
      <p:sp>
        <p:nvSpPr>
          <p:cNvPr id="3" name="Shape 1"/>
          <p:cNvSpPr/>
          <p:nvPr/>
        </p:nvSpPr>
        <p:spPr>
          <a:xfrm>
            <a:off x="793790" y="2041565"/>
            <a:ext cx="4215289" cy="2741890"/>
          </a:xfrm>
          <a:prstGeom prst="roundRect">
            <a:avLst>
              <a:gd name="adj" fmla="val 4002"/>
            </a:avLst>
          </a:prstGeom>
          <a:solidFill>
            <a:srgbClr val="E5F9F2">
              <a:alpha val="95000"/>
            </a:srgbClr>
          </a:solidFill>
          <a:ln/>
        </p:spPr>
      </p:sp>
      <p:sp>
        <p:nvSpPr>
          <p:cNvPr id="4" name="Shape 2"/>
          <p:cNvSpPr/>
          <p:nvPr/>
        </p:nvSpPr>
        <p:spPr>
          <a:xfrm>
            <a:off x="793790" y="2018705"/>
            <a:ext cx="4215289" cy="91440"/>
          </a:xfrm>
          <a:prstGeom prst="roundRect">
            <a:avLst>
              <a:gd name="adj" fmla="val 195349"/>
            </a:avLst>
          </a:prstGeom>
          <a:solidFill>
            <a:srgbClr val="006747"/>
          </a:solidFill>
          <a:ln/>
        </p:spPr>
      </p:sp>
      <p:sp>
        <p:nvSpPr>
          <p:cNvPr id="5" name="Shape 3"/>
          <p:cNvSpPr/>
          <p:nvPr/>
        </p:nvSpPr>
        <p:spPr>
          <a:xfrm>
            <a:off x="2603778" y="1743908"/>
            <a:ext cx="595313" cy="595313"/>
          </a:xfrm>
          <a:prstGeom prst="roundRect">
            <a:avLst>
              <a:gd name="adj" fmla="val 153600"/>
            </a:avLst>
          </a:prstGeom>
          <a:solidFill>
            <a:srgbClr val="006747"/>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2372" y="1922502"/>
            <a:ext cx="238125" cy="238125"/>
          </a:xfrm>
          <a:prstGeom prst="rect">
            <a:avLst/>
          </a:prstGeom>
        </p:spPr>
      </p:pic>
      <p:sp>
        <p:nvSpPr>
          <p:cNvPr id="7" name="Text 4"/>
          <p:cNvSpPr/>
          <p:nvPr/>
        </p:nvSpPr>
        <p:spPr>
          <a:xfrm>
            <a:off x="1015008" y="25376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JsonDocument doc;</a:t>
            </a:r>
            <a:endParaRPr lang="en-US" sz="1950" dirty="0"/>
          </a:p>
        </p:txBody>
      </p:sp>
      <p:sp>
        <p:nvSpPr>
          <p:cNvPr id="8" name="Text 5"/>
          <p:cNvSpPr/>
          <p:nvPr/>
        </p:nvSpPr>
        <p:spPr>
          <a:xfrm>
            <a:off x="1015008" y="2966918"/>
            <a:ext cx="3772853" cy="1595318"/>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Tạo một object JSON rỗng. Đây là "thùng chứa" để ta bỏ dữ liệu vào. Trong phiên bản 6 cũ, ta dùng </a:t>
            </a:r>
            <a:r>
              <a:rPr lang="en-US" dirty="0">
                <a:solidFill>
                  <a:srgbClr val="4B4A4A"/>
                </a:solidFill>
                <a:highlight>
                  <a:srgbClr val="D8ECE5"/>
                </a:highlight>
                <a:latin typeface="Consolas" pitchFamily="34" charset="0"/>
                <a:ea typeface="Consolas" pitchFamily="34" charset="-122"/>
                <a:cs typeface="Consolas" pitchFamily="34" charset="-120"/>
              </a:rPr>
              <a:t>StaticJsonDocument&lt;SIZE&gt;</a:t>
            </a:r>
            <a:r>
              <a:rPr lang="en-US" dirty="0">
                <a:solidFill>
                  <a:srgbClr val="4B4A4A"/>
                </a:solidFill>
                <a:latin typeface="Geist" pitchFamily="34" charset="0"/>
                <a:ea typeface="Geist" pitchFamily="34" charset="-122"/>
                <a:cs typeface="Geist" pitchFamily="34" charset="-120"/>
              </a:rPr>
              <a:t> với SIZE là số byte cấp phát trước.</a:t>
            </a:r>
            <a:endParaRPr lang="en-US" dirty="0"/>
          </a:p>
        </p:txBody>
      </p:sp>
      <p:sp>
        <p:nvSpPr>
          <p:cNvPr id="9" name="Shape 6"/>
          <p:cNvSpPr/>
          <p:nvPr/>
        </p:nvSpPr>
        <p:spPr>
          <a:xfrm>
            <a:off x="5207437" y="2041565"/>
            <a:ext cx="4215408" cy="2741890"/>
          </a:xfrm>
          <a:prstGeom prst="roundRect">
            <a:avLst>
              <a:gd name="adj" fmla="val 4002"/>
            </a:avLst>
          </a:prstGeom>
          <a:solidFill>
            <a:srgbClr val="E5F9F2">
              <a:alpha val="95000"/>
            </a:srgbClr>
          </a:solidFill>
          <a:ln/>
        </p:spPr>
      </p:sp>
      <p:sp>
        <p:nvSpPr>
          <p:cNvPr id="10" name="Shape 7"/>
          <p:cNvSpPr/>
          <p:nvPr/>
        </p:nvSpPr>
        <p:spPr>
          <a:xfrm>
            <a:off x="5207437" y="2018705"/>
            <a:ext cx="4215408" cy="91440"/>
          </a:xfrm>
          <a:prstGeom prst="roundRect">
            <a:avLst>
              <a:gd name="adj" fmla="val 195349"/>
            </a:avLst>
          </a:prstGeom>
          <a:solidFill>
            <a:srgbClr val="006747"/>
          </a:solidFill>
          <a:ln/>
        </p:spPr>
      </p:sp>
      <p:sp>
        <p:nvSpPr>
          <p:cNvPr id="11" name="Shape 8"/>
          <p:cNvSpPr/>
          <p:nvPr/>
        </p:nvSpPr>
        <p:spPr>
          <a:xfrm>
            <a:off x="7017425" y="1743908"/>
            <a:ext cx="595313" cy="595313"/>
          </a:xfrm>
          <a:prstGeom prst="roundRect">
            <a:avLst>
              <a:gd name="adj" fmla="val 153600"/>
            </a:avLst>
          </a:prstGeom>
          <a:solidFill>
            <a:srgbClr val="006747"/>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6018" y="1922502"/>
            <a:ext cx="238125" cy="238125"/>
          </a:xfrm>
          <a:prstGeom prst="rect">
            <a:avLst/>
          </a:prstGeom>
        </p:spPr>
      </p:pic>
      <p:sp>
        <p:nvSpPr>
          <p:cNvPr id="13" name="Text 9"/>
          <p:cNvSpPr/>
          <p:nvPr/>
        </p:nvSpPr>
        <p:spPr>
          <a:xfrm>
            <a:off x="5428655" y="25376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doc["key"] = value;</a:t>
            </a:r>
            <a:endParaRPr lang="en-US" sz="1950" dirty="0"/>
          </a:p>
        </p:txBody>
      </p:sp>
      <p:sp>
        <p:nvSpPr>
          <p:cNvPr id="14" name="Text 10"/>
          <p:cNvSpPr/>
          <p:nvPr/>
        </p:nvSpPr>
        <p:spPr>
          <a:xfrm>
            <a:off x="5428655" y="2966918"/>
            <a:ext cx="3772972" cy="127015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Thêm một cặp key-value vào JSON. Key phải là chuỗi (string), value có thể là số, chuỗi, boolean, hoặc thậm chí một object/array khác.</a:t>
            </a:r>
            <a:endParaRPr lang="en-US" dirty="0"/>
          </a:p>
        </p:txBody>
      </p:sp>
      <p:sp>
        <p:nvSpPr>
          <p:cNvPr id="15" name="Shape 11"/>
          <p:cNvSpPr/>
          <p:nvPr/>
        </p:nvSpPr>
        <p:spPr>
          <a:xfrm>
            <a:off x="9621203" y="2041565"/>
            <a:ext cx="4215289" cy="2741890"/>
          </a:xfrm>
          <a:prstGeom prst="roundRect">
            <a:avLst>
              <a:gd name="adj" fmla="val 4002"/>
            </a:avLst>
          </a:prstGeom>
          <a:solidFill>
            <a:srgbClr val="E5F9F2">
              <a:alpha val="95000"/>
            </a:srgbClr>
          </a:solidFill>
          <a:ln/>
        </p:spPr>
      </p:sp>
      <p:sp>
        <p:nvSpPr>
          <p:cNvPr id="16" name="Shape 12"/>
          <p:cNvSpPr/>
          <p:nvPr/>
        </p:nvSpPr>
        <p:spPr>
          <a:xfrm>
            <a:off x="9621203" y="2018705"/>
            <a:ext cx="4215289" cy="91440"/>
          </a:xfrm>
          <a:prstGeom prst="roundRect">
            <a:avLst>
              <a:gd name="adj" fmla="val 195349"/>
            </a:avLst>
          </a:prstGeom>
          <a:solidFill>
            <a:srgbClr val="006747"/>
          </a:solidFill>
          <a:ln/>
        </p:spPr>
      </p:sp>
      <p:sp>
        <p:nvSpPr>
          <p:cNvPr id="17" name="Shape 13"/>
          <p:cNvSpPr/>
          <p:nvPr/>
        </p:nvSpPr>
        <p:spPr>
          <a:xfrm>
            <a:off x="11431191" y="1743908"/>
            <a:ext cx="595313" cy="595313"/>
          </a:xfrm>
          <a:prstGeom prst="roundRect">
            <a:avLst>
              <a:gd name="adj" fmla="val 153600"/>
            </a:avLst>
          </a:prstGeom>
          <a:solidFill>
            <a:srgbClr val="006747"/>
          </a:solidFill>
          <a:ln/>
        </p:spPr>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09784" y="1922502"/>
            <a:ext cx="238125" cy="238125"/>
          </a:xfrm>
          <a:prstGeom prst="rect">
            <a:avLst/>
          </a:prstGeom>
        </p:spPr>
      </p:pic>
      <p:sp>
        <p:nvSpPr>
          <p:cNvPr id="19" name="Text 14"/>
          <p:cNvSpPr/>
          <p:nvPr/>
        </p:nvSpPr>
        <p:spPr>
          <a:xfrm>
            <a:off x="9842421" y="2537698"/>
            <a:ext cx="3332321"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serializeJson(doc, output);</a:t>
            </a:r>
            <a:endParaRPr lang="en-US" sz="1950" dirty="0"/>
          </a:p>
        </p:txBody>
      </p:sp>
      <p:sp>
        <p:nvSpPr>
          <p:cNvPr id="20" name="Text 15"/>
          <p:cNvSpPr/>
          <p:nvPr/>
        </p:nvSpPr>
        <p:spPr>
          <a:xfrm>
            <a:off x="9842421" y="2966918"/>
            <a:ext cx="3772853" cy="96023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Chuyển đổi JsonDocument thành chuỗi văn bản (string) và lưu vào biến </a:t>
            </a:r>
            <a:r>
              <a:rPr lang="en-US" dirty="0">
                <a:solidFill>
                  <a:srgbClr val="4B4A4A"/>
                </a:solidFill>
                <a:highlight>
                  <a:srgbClr val="D8ECE5"/>
                </a:highlight>
                <a:latin typeface="Consolas" pitchFamily="34" charset="0"/>
                <a:ea typeface="Consolas" pitchFamily="34" charset="-122"/>
                <a:cs typeface="Consolas" pitchFamily="34" charset="-120"/>
              </a:rPr>
              <a:t>output</a:t>
            </a:r>
            <a:r>
              <a:rPr lang="en-US" dirty="0">
                <a:solidFill>
                  <a:srgbClr val="4B4A4A"/>
                </a:solidFill>
                <a:latin typeface="Geist" pitchFamily="34" charset="0"/>
                <a:ea typeface="Geist" pitchFamily="34" charset="-122"/>
                <a:cs typeface="Geist" pitchFamily="34" charset="-120"/>
              </a:rPr>
              <a:t>. Đây là bước "đóng gói" để chuẩn bị gửi đi.</a:t>
            </a:r>
            <a:endParaRPr lang="en-US" dirty="0"/>
          </a:p>
        </p:txBody>
      </p:sp>
      <p:sp>
        <p:nvSpPr>
          <p:cNvPr id="21" name="Shape 16"/>
          <p:cNvSpPr/>
          <p:nvPr/>
        </p:nvSpPr>
        <p:spPr>
          <a:xfrm>
            <a:off x="793790" y="5279469"/>
            <a:ext cx="6422112" cy="2099191"/>
          </a:xfrm>
          <a:prstGeom prst="roundRect">
            <a:avLst>
              <a:gd name="adj" fmla="val 5227"/>
            </a:avLst>
          </a:prstGeom>
          <a:solidFill>
            <a:srgbClr val="E5F9F2">
              <a:alpha val="95000"/>
            </a:srgbClr>
          </a:solidFill>
          <a:ln/>
        </p:spPr>
      </p:sp>
      <p:sp>
        <p:nvSpPr>
          <p:cNvPr id="22" name="Shape 17"/>
          <p:cNvSpPr/>
          <p:nvPr/>
        </p:nvSpPr>
        <p:spPr>
          <a:xfrm>
            <a:off x="793790" y="5256609"/>
            <a:ext cx="6422112" cy="91440"/>
          </a:xfrm>
          <a:prstGeom prst="roundRect">
            <a:avLst>
              <a:gd name="adj" fmla="val 195349"/>
            </a:avLst>
          </a:prstGeom>
          <a:solidFill>
            <a:srgbClr val="006747"/>
          </a:solidFill>
          <a:ln/>
        </p:spPr>
      </p:sp>
      <p:sp>
        <p:nvSpPr>
          <p:cNvPr id="23" name="Shape 18"/>
          <p:cNvSpPr/>
          <p:nvPr/>
        </p:nvSpPr>
        <p:spPr>
          <a:xfrm>
            <a:off x="3707130" y="4981813"/>
            <a:ext cx="595313" cy="595313"/>
          </a:xfrm>
          <a:prstGeom prst="roundRect">
            <a:avLst>
              <a:gd name="adj" fmla="val 153600"/>
            </a:avLst>
          </a:prstGeom>
          <a:solidFill>
            <a:srgbClr val="006747"/>
          </a:solidFill>
          <a:ln/>
        </p:spPr>
      </p:sp>
      <p:pic>
        <p:nvPicPr>
          <p:cNvPr id="2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85724" y="5160407"/>
            <a:ext cx="238125" cy="238125"/>
          </a:xfrm>
          <a:prstGeom prst="rect">
            <a:avLst/>
          </a:prstGeom>
        </p:spPr>
      </p:pic>
      <p:sp>
        <p:nvSpPr>
          <p:cNvPr id="25" name="Text 19"/>
          <p:cNvSpPr/>
          <p:nvPr/>
        </p:nvSpPr>
        <p:spPr>
          <a:xfrm>
            <a:off x="1015008" y="5775603"/>
            <a:ext cx="3978354"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serializeJsonPretty(doc, Serial);</a:t>
            </a:r>
            <a:endParaRPr lang="en-US" sz="1950" dirty="0"/>
          </a:p>
        </p:txBody>
      </p:sp>
      <p:sp>
        <p:nvSpPr>
          <p:cNvPr id="26" name="Text 20"/>
          <p:cNvSpPr/>
          <p:nvPr/>
        </p:nvSpPr>
        <p:spPr>
          <a:xfrm>
            <a:off x="1015008" y="6204823"/>
            <a:ext cx="5979676"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Giống serializeJson nhưng in ra với format đẹp (có indent, xuống dòng) để dễ đọc. Thường dùng cho debug, không nên dùng khi gửi qua mạng (tốn băng thông).</a:t>
            </a:r>
            <a:endParaRPr lang="en-US" dirty="0"/>
          </a:p>
        </p:txBody>
      </p:sp>
      <p:sp>
        <p:nvSpPr>
          <p:cNvPr id="27" name="Shape 21"/>
          <p:cNvSpPr/>
          <p:nvPr/>
        </p:nvSpPr>
        <p:spPr>
          <a:xfrm>
            <a:off x="7414260" y="5279469"/>
            <a:ext cx="6422231" cy="2099191"/>
          </a:xfrm>
          <a:prstGeom prst="roundRect">
            <a:avLst>
              <a:gd name="adj" fmla="val 5227"/>
            </a:avLst>
          </a:prstGeom>
          <a:solidFill>
            <a:srgbClr val="E5F9F2">
              <a:alpha val="95000"/>
            </a:srgbClr>
          </a:solidFill>
          <a:ln/>
        </p:spPr>
      </p:sp>
      <p:sp>
        <p:nvSpPr>
          <p:cNvPr id="28" name="Shape 22"/>
          <p:cNvSpPr/>
          <p:nvPr/>
        </p:nvSpPr>
        <p:spPr>
          <a:xfrm>
            <a:off x="7414260" y="5256609"/>
            <a:ext cx="6422231" cy="91440"/>
          </a:xfrm>
          <a:prstGeom prst="roundRect">
            <a:avLst>
              <a:gd name="adj" fmla="val 195349"/>
            </a:avLst>
          </a:prstGeom>
          <a:solidFill>
            <a:srgbClr val="006747"/>
          </a:solidFill>
          <a:ln/>
        </p:spPr>
      </p:sp>
      <p:sp>
        <p:nvSpPr>
          <p:cNvPr id="29" name="Shape 23"/>
          <p:cNvSpPr/>
          <p:nvPr/>
        </p:nvSpPr>
        <p:spPr>
          <a:xfrm>
            <a:off x="10327719" y="4981813"/>
            <a:ext cx="595313" cy="595313"/>
          </a:xfrm>
          <a:prstGeom prst="roundRect">
            <a:avLst>
              <a:gd name="adj" fmla="val 153600"/>
            </a:avLst>
          </a:prstGeom>
          <a:solidFill>
            <a:srgbClr val="006747"/>
          </a:solidFill>
          <a:ln/>
        </p:spPr>
      </p:sp>
      <p:pic>
        <p:nvPicPr>
          <p:cNvPr id="30"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506313" y="5160407"/>
            <a:ext cx="238125" cy="238125"/>
          </a:xfrm>
          <a:prstGeom prst="rect">
            <a:avLst/>
          </a:prstGeom>
        </p:spPr>
      </p:pic>
      <p:sp>
        <p:nvSpPr>
          <p:cNvPr id="31" name="Text 24"/>
          <p:cNvSpPr/>
          <p:nvPr/>
        </p:nvSpPr>
        <p:spPr>
          <a:xfrm>
            <a:off x="7635478" y="577560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measureJson(doc);</a:t>
            </a:r>
            <a:endParaRPr lang="en-US" sz="1950" dirty="0"/>
          </a:p>
        </p:txBody>
      </p:sp>
      <p:sp>
        <p:nvSpPr>
          <p:cNvPr id="32" name="Text 25"/>
          <p:cNvSpPr/>
          <p:nvPr/>
        </p:nvSpPr>
        <p:spPr>
          <a:xfrm>
            <a:off x="7635478" y="6204823"/>
            <a:ext cx="5979795"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Trả về kích thước (số bytes) của chuỗi JSON sau khi serialize. Hữu ích để kiểm tra xem JSON có quá lớn không trước khi gửi.</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50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par>
                                <p:cTn id="88" presetID="10"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3" grpId="0" animBg="1"/>
      <p:bldP spid="14" grpId="0" animBg="1"/>
      <p:bldP spid="19" grpId="0" animBg="1"/>
      <p:bldP spid="20" grpId="0" animBg="1"/>
      <p:bldP spid="25" grpId="0" animBg="1"/>
      <p:bldP spid="26" grpId="0" animBg="1"/>
      <p:bldP spid="31" grpId="0" animBg="1"/>
      <p:bldP spid="3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801410" y="707791"/>
            <a:ext cx="7125653"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Mẹo tối ưu khi dùng JSON trong IoT</a:t>
            </a:r>
            <a:endParaRPr lang="en-US" sz="3100" dirty="0"/>
          </a:p>
        </p:txBody>
      </p:sp>
      <p:sp>
        <p:nvSpPr>
          <p:cNvPr id="4" name="Shape 2"/>
          <p:cNvSpPr/>
          <p:nvPr/>
        </p:nvSpPr>
        <p:spPr>
          <a:xfrm>
            <a:off x="291552" y="1460421"/>
            <a:ext cx="5542666" cy="1897737"/>
          </a:xfrm>
          <a:prstGeom prst="roundRect">
            <a:avLst>
              <a:gd name="adj" fmla="val 7423"/>
            </a:avLst>
          </a:prstGeom>
          <a:solidFill>
            <a:srgbClr val="006747"/>
          </a:solidFill>
          <a:ln/>
        </p:spPr>
      </p:sp>
      <p:sp>
        <p:nvSpPr>
          <p:cNvPr id="5" name="Text 3"/>
          <p:cNvSpPr/>
          <p:nvPr/>
        </p:nvSpPr>
        <p:spPr>
          <a:xfrm>
            <a:off x="819142" y="165877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Noto Serif SC Bold" pitchFamily="34" charset="0"/>
                <a:ea typeface="Noto Serif SC Bold" pitchFamily="34" charset="-122"/>
                <a:cs typeface="Noto Serif SC Bold" pitchFamily="34" charset="-120"/>
              </a:rPr>
              <a:t>Giữ JSON nhỏ gọn</a:t>
            </a:r>
            <a:endParaRPr lang="en-US" sz="1950" dirty="0"/>
          </a:p>
        </p:txBody>
      </p:sp>
      <p:sp>
        <p:nvSpPr>
          <p:cNvPr id="6" name="Text 4"/>
          <p:cNvSpPr/>
          <p:nvPr/>
        </p:nvSpPr>
        <p:spPr>
          <a:xfrm>
            <a:off x="819142" y="2087999"/>
            <a:ext cx="4791436" cy="1270159"/>
          </a:xfrm>
          <a:prstGeom prst="rect">
            <a:avLst/>
          </a:prstGeom>
          <a:noFill/>
          <a:ln/>
        </p:spPr>
        <p:txBody>
          <a:bodyPr wrap="square" lIns="0" tIns="0" rIns="0" bIns="0" rtlCol="0" anchor="t"/>
          <a:lstStyle/>
          <a:p>
            <a:pPr marL="0" indent="0" algn="l">
              <a:lnSpc>
                <a:spcPts val="2500"/>
              </a:lnSpc>
              <a:buNone/>
            </a:pPr>
            <a:r>
              <a:rPr lang="en-US" dirty="0">
                <a:solidFill>
                  <a:srgbClr val="FFFFFF"/>
                </a:solidFill>
                <a:latin typeface="Geist" pitchFamily="34" charset="0"/>
                <a:ea typeface="Geist" pitchFamily="34" charset="-122"/>
                <a:cs typeface="Geist" pitchFamily="34" charset="-120"/>
              </a:rPr>
              <a:t>Tên key nên ngắn nhưng vẫn rõ nghĩa: dùng "temp" thay vì "temperature_in_celsius". Mỗi ký tự tiết kiệm = giảm thời gian truyền và pin!</a:t>
            </a:r>
            <a:endParaRPr lang="en-US" dirty="0"/>
          </a:p>
        </p:txBody>
      </p:sp>
      <p:sp>
        <p:nvSpPr>
          <p:cNvPr id="7" name="Shape 5"/>
          <p:cNvSpPr/>
          <p:nvPr/>
        </p:nvSpPr>
        <p:spPr>
          <a:xfrm>
            <a:off x="2321635" y="3556516"/>
            <a:ext cx="5885387" cy="1897737"/>
          </a:xfrm>
          <a:prstGeom prst="rect">
            <a:avLst/>
          </a:prstGeom>
          <a:solidFill>
            <a:srgbClr val="335E23"/>
          </a:solidFill>
          <a:ln/>
        </p:spPr>
      </p:sp>
      <p:sp>
        <p:nvSpPr>
          <p:cNvPr id="9" name="Text 7"/>
          <p:cNvSpPr/>
          <p:nvPr/>
        </p:nvSpPr>
        <p:spPr>
          <a:xfrm>
            <a:off x="2519993" y="3675578"/>
            <a:ext cx="5088718" cy="620316"/>
          </a:xfrm>
          <a:prstGeom prst="rect">
            <a:avLst/>
          </a:prstGeom>
          <a:noFill/>
          <a:ln/>
        </p:spPr>
        <p:txBody>
          <a:bodyPr wrap="square" lIns="0" tIns="0" rIns="0" bIns="0" rtlCol="0" anchor="t"/>
          <a:lstStyle/>
          <a:p>
            <a:pPr marL="0" indent="0" algn="l">
              <a:lnSpc>
                <a:spcPts val="2400"/>
              </a:lnSpc>
              <a:buNone/>
            </a:pPr>
            <a:r>
              <a:rPr lang="en-US" sz="1950" b="1" dirty="0">
                <a:solidFill>
                  <a:srgbClr val="FFFFFF"/>
                </a:solidFill>
                <a:latin typeface="Noto Serif SC Bold" pitchFamily="34" charset="0"/>
                <a:ea typeface="Noto Serif SC Bold" pitchFamily="34" charset="-122"/>
                <a:cs typeface="Noto Serif SC Bold" pitchFamily="34" charset="-120"/>
              </a:rPr>
              <a:t>Không dùng Pretty Print khi gửi mạng</a:t>
            </a:r>
            <a:endParaRPr lang="en-US" sz="1950" dirty="0"/>
          </a:p>
        </p:txBody>
      </p:sp>
      <p:sp>
        <p:nvSpPr>
          <p:cNvPr id="10" name="Text 8"/>
          <p:cNvSpPr/>
          <p:nvPr/>
        </p:nvSpPr>
        <p:spPr>
          <a:xfrm>
            <a:off x="2519993" y="4124562"/>
            <a:ext cx="5201607" cy="1270159"/>
          </a:xfrm>
          <a:prstGeom prst="rect">
            <a:avLst/>
          </a:prstGeom>
          <a:noFill/>
          <a:ln/>
        </p:spPr>
        <p:txBody>
          <a:bodyPr wrap="square" lIns="0" tIns="0" rIns="0" bIns="0" rtlCol="0" anchor="t"/>
          <a:lstStyle/>
          <a:p>
            <a:pPr marL="0" indent="0" algn="l">
              <a:lnSpc>
                <a:spcPts val="2500"/>
              </a:lnSpc>
              <a:buNone/>
            </a:pPr>
            <a:r>
              <a:rPr lang="en-US" dirty="0">
                <a:solidFill>
                  <a:srgbClr val="FFFFFF"/>
                </a:solidFill>
                <a:latin typeface="Geist" pitchFamily="34" charset="0"/>
                <a:ea typeface="Geist" pitchFamily="34" charset="-122"/>
                <a:cs typeface="Geist" pitchFamily="34" charset="-120"/>
              </a:rPr>
              <a:t>serializeJsonPretty() chỉ để debug. Khi gửi qua WiFi/MQTT, dùng serializeJson() để tránh lãng phí băng thông với khoảng trắng và xuống dòng.</a:t>
            </a:r>
            <a:endParaRPr lang="en-US" dirty="0"/>
          </a:p>
        </p:txBody>
      </p:sp>
      <p:sp>
        <p:nvSpPr>
          <p:cNvPr id="11" name="Shape 9"/>
          <p:cNvSpPr/>
          <p:nvPr/>
        </p:nvSpPr>
        <p:spPr>
          <a:xfrm>
            <a:off x="5342215" y="5652611"/>
            <a:ext cx="6511118" cy="1897737"/>
          </a:xfrm>
          <a:prstGeom prst="rect">
            <a:avLst/>
          </a:prstGeom>
          <a:solidFill>
            <a:srgbClr val="8CAB18"/>
          </a:solidFill>
          <a:ln/>
        </p:spPr>
      </p:sp>
      <p:sp>
        <p:nvSpPr>
          <p:cNvPr id="13" name="Text 11"/>
          <p:cNvSpPr/>
          <p:nvPr/>
        </p:nvSpPr>
        <p:spPr>
          <a:xfrm>
            <a:off x="5540573" y="5850969"/>
            <a:ext cx="5624138" cy="620316"/>
          </a:xfrm>
          <a:prstGeom prst="rect">
            <a:avLst/>
          </a:prstGeom>
          <a:noFill/>
          <a:ln/>
        </p:spPr>
        <p:txBody>
          <a:bodyPr wrap="square" lIns="0" tIns="0" rIns="0" bIns="0" rtlCol="0" anchor="t"/>
          <a:lstStyle/>
          <a:p>
            <a:pPr marL="0" indent="0" algn="l">
              <a:lnSpc>
                <a:spcPts val="2400"/>
              </a:lnSpc>
              <a:buNone/>
            </a:pPr>
            <a:r>
              <a:rPr lang="en-US" sz="1950" b="1" dirty="0">
                <a:solidFill>
                  <a:srgbClr val="000000"/>
                </a:solidFill>
                <a:latin typeface="Noto Serif SC Bold" pitchFamily="34" charset="0"/>
                <a:ea typeface="Noto Serif SC Bold" pitchFamily="34" charset="-122"/>
                <a:cs typeface="Noto Serif SC Bold" pitchFamily="34" charset="-120"/>
              </a:rPr>
              <a:t>Kiểm tra kích thước trước khi gửi</a:t>
            </a:r>
            <a:endParaRPr lang="en-US" sz="1950" dirty="0"/>
          </a:p>
        </p:txBody>
      </p:sp>
      <p:sp>
        <p:nvSpPr>
          <p:cNvPr id="14" name="Text 12"/>
          <p:cNvSpPr/>
          <p:nvPr/>
        </p:nvSpPr>
        <p:spPr>
          <a:xfrm>
            <a:off x="5540573" y="6251650"/>
            <a:ext cx="6199871" cy="1270159"/>
          </a:xfrm>
          <a:prstGeom prst="rect">
            <a:avLst/>
          </a:prstGeom>
          <a:noFill/>
          <a:ln/>
        </p:spPr>
        <p:txBody>
          <a:bodyPr wrap="square" lIns="0" tIns="0" rIns="0" bIns="0" rtlCol="0" anchor="t"/>
          <a:lstStyle/>
          <a:p>
            <a:pPr marL="0" indent="0" algn="l">
              <a:lnSpc>
                <a:spcPts val="2500"/>
              </a:lnSpc>
              <a:buNone/>
            </a:pPr>
            <a:r>
              <a:rPr lang="en-US" dirty="0">
                <a:solidFill>
                  <a:srgbClr val="000000"/>
                </a:solidFill>
                <a:latin typeface="Geist" pitchFamily="34" charset="0"/>
                <a:ea typeface="Geist" pitchFamily="34" charset="-122"/>
                <a:cs typeface="Geist" pitchFamily="34" charset="-120"/>
              </a:rPr>
              <a:t>Dùng measureJson() để đảm bảo JSON không vượt quá giới hạn buffer của MQTT/HTTP (thường 256-1024 bytes tùy cấu hình).</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1795343"/>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BÀI TẬP TỔNG HỢP</a:t>
            </a:r>
            <a:endParaRPr lang="en-US" sz="3900" dirty="0"/>
          </a:p>
        </p:txBody>
      </p:sp>
      <p:sp>
        <p:nvSpPr>
          <p:cNvPr id="4" name="Text 1"/>
          <p:cNvSpPr/>
          <p:nvPr/>
        </p:nvSpPr>
        <p:spPr>
          <a:xfrm>
            <a:off x="6280190" y="2713077"/>
            <a:ext cx="8056699" cy="3721179"/>
          </a:xfrm>
          <a:prstGeom prst="rect">
            <a:avLst/>
          </a:prstGeom>
          <a:noFill/>
          <a:ln/>
        </p:spPr>
        <p:txBody>
          <a:bodyPr wrap="square" lIns="0" tIns="0" rIns="0" bIns="0" rtlCol="0" anchor="t"/>
          <a:lstStyle/>
          <a:p>
            <a:pPr marL="0" indent="0" algn="l">
              <a:lnSpc>
                <a:spcPts val="9750"/>
              </a:lnSpc>
              <a:buNone/>
            </a:pPr>
            <a:r>
              <a:rPr lang="en-US" sz="7800" b="1" dirty="0">
                <a:solidFill>
                  <a:srgbClr val="006747"/>
                </a:solidFill>
                <a:latin typeface="Noto Serif SC Bold" pitchFamily="34" charset="0"/>
                <a:ea typeface="Noto Serif SC Bold" pitchFamily="34" charset="-122"/>
                <a:cs typeface="Noto Serif SC Bold" pitchFamily="34" charset="-120"/>
              </a:rPr>
              <a:t>Trạm quan trắc thời tiết mini</a:t>
            </a:r>
            <a:endParaRPr lang="en-US" sz="7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793790" y="374809"/>
            <a:ext cx="3969425"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Đề bài chi tiết</a:t>
            </a:r>
            <a:endParaRPr lang="en-US" sz="3100" dirty="0"/>
          </a:p>
        </p:txBody>
      </p:sp>
      <p:sp>
        <p:nvSpPr>
          <p:cNvPr id="3" name="Text 1"/>
          <p:cNvSpPr/>
          <p:nvPr/>
        </p:nvSpPr>
        <p:spPr>
          <a:xfrm>
            <a:off x="816650" y="115305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Đây là bài tập tổng hợp tất cả kiến thức đã học: đa nhiệm với millis(), đọc cảm biến DHT11, đóng gói JSON. Đây chính là bản thu nhỏ của một hệ thống IoT thực tế!</a:t>
            </a:r>
            <a:endParaRPr lang="en-US" dirty="0"/>
          </a:p>
        </p:txBody>
      </p:sp>
      <p:sp>
        <p:nvSpPr>
          <p:cNvPr id="4" name="Shape 2"/>
          <p:cNvSpPr/>
          <p:nvPr/>
        </p:nvSpPr>
        <p:spPr>
          <a:xfrm>
            <a:off x="793790" y="3130748"/>
            <a:ext cx="6422231" cy="3719274"/>
          </a:xfrm>
          <a:prstGeom prst="roundRect">
            <a:avLst>
              <a:gd name="adj" fmla="val 4803"/>
            </a:avLst>
          </a:prstGeom>
          <a:solidFill>
            <a:srgbClr val="E5F9F2">
              <a:alpha val="95000"/>
            </a:srgbClr>
          </a:solidFill>
          <a:ln w="22860">
            <a:solidFill>
              <a:srgbClr val="B7D5CA"/>
            </a:solidFill>
            <a:prstDash val="solid"/>
          </a:ln>
        </p:spPr>
      </p:sp>
      <p:sp>
        <p:nvSpPr>
          <p:cNvPr id="5" name="Shape 3"/>
          <p:cNvSpPr/>
          <p:nvPr/>
        </p:nvSpPr>
        <p:spPr>
          <a:xfrm>
            <a:off x="816650" y="3153608"/>
            <a:ext cx="6376511" cy="595313"/>
          </a:xfrm>
          <a:prstGeom prst="roundRect">
            <a:avLst>
              <a:gd name="adj" fmla="val 25398"/>
            </a:avLst>
          </a:prstGeom>
          <a:solidFill>
            <a:srgbClr val="D1EFE4"/>
          </a:solidFill>
          <a:ln/>
        </p:spPr>
      </p:sp>
      <p:sp>
        <p:nvSpPr>
          <p:cNvPr id="6" name="Text 4"/>
          <p:cNvSpPr/>
          <p:nvPr/>
        </p:nvSpPr>
        <p:spPr>
          <a:xfrm>
            <a:off x="3856077" y="3261360"/>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4B4A4A"/>
                </a:solidFill>
                <a:latin typeface="Noto Serif SC Bold" pitchFamily="34" charset="0"/>
                <a:ea typeface="Noto Serif SC Bold" pitchFamily="34" charset="-122"/>
                <a:cs typeface="Noto Serif SC Bold" pitchFamily="34" charset="-120"/>
              </a:rPr>
              <a:t>1</a:t>
            </a:r>
            <a:endParaRPr lang="en-US" sz="2300" dirty="0"/>
          </a:p>
        </p:txBody>
      </p:sp>
      <p:sp>
        <p:nvSpPr>
          <p:cNvPr id="7" name="Text 5"/>
          <p:cNvSpPr/>
          <p:nvPr/>
        </p:nvSpPr>
        <p:spPr>
          <a:xfrm>
            <a:off x="1015008" y="394727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Yêu cầu Phần cứng</a:t>
            </a:r>
            <a:endParaRPr lang="en-US" sz="1950" dirty="0"/>
          </a:p>
        </p:txBody>
      </p:sp>
      <p:sp>
        <p:nvSpPr>
          <p:cNvPr id="8" name="Text 6"/>
          <p:cNvSpPr/>
          <p:nvPr/>
        </p:nvSpPr>
        <p:spPr>
          <a:xfrm>
            <a:off x="1015008" y="4376499"/>
            <a:ext cx="597979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1x ESP32 Dev Board</a:t>
            </a:r>
            <a:endParaRPr lang="en-US" dirty="0"/>
          </a:p>
        </p:txBody>
      </p:sp>
      <p:sp>
        <p:nvSpPr>
          <p:cNvPr id="9" name="Text 7"/>
          <p:cNvSpPr/>
          <p:nvPr/>
        </p:nvSpPr>
        <p:spPr>
          <a:xfrm>
            <a:off x="1015008" y="4763453"/>
            <a:ext cx="597979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1x Cảm biến nhiệt độ &amp; độ ẩm DHT11 (hoặc DHT22)</a:t>
            </a:r>
            <a:endParaRPr lang="en-US" dirty="0"/>
          </a:p>
        </p:txBody>
      </p:sp>
      <p:sp>
        <p:nvSpPr>
          <p:cNvPr id="10" name="Text 8"/>
          <p:cNvSpPr/>
          <p:nvPr/>
        </p:nvSpPr>
        <p:spPr>
          <a:xfrm>
            <a:off x="1015008" y="5150406"/>
            <a:ext cx="597979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1x LED (màu tùy ý)</a:t>
            </a:r>
            <a:endParaRPr lang="en-US" dirty="0"/>
          </a:p>
        </p:txBody>
      </p:sp>
      <p:sp>
        <p:nvSpPr>
          <p:cNvPr id="11" name="Text 9"/>
          <p:cNvSpPr/>
          <p:nvPr/>
        </p:nvSpPr>
        <p:spPr>
          <a:xfrm>
            <a:off x="1015008" y="5537359"/>
            <a:ext cx="597979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1x Điện trở 220Ω (cho LED)</a:t>
            </a:r>
            <a:endParaRPr lang="en-US" dirty="0"/>
          </a:p>
        </p:txBody>
      </p:sp>
      <p:sp>
        <p:nvSpPr>
          <p:cNvPr id="12" name="Text 10"/>
          <p:cNvSpPr/>
          <p:nvPr/>
        </p:nvSpPr>
        <p:spPr>
          <a:xfrm>
            <a:off x="1015008" y="5924312"/>
            <a:ext cx="597979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1x Điện trở 10kΩ (pull-up cho DHT11 nếu cần)</a:t>
            </a:r>
            <a:endParaRPr lang="en-US" dirty="0"/>
          </a:p>
        </p:txBody>
      </p:sp>
      <p:sp>
        <p:nvSpPr>
          <p:cNvPr id="13" name="Text 11"/>
          <p:cNvSpPr/>
          <p:nvPr/>
        </p:nvSpPr>
        <p:spPr>
          <a:xfrm>
            <a:off x="1015008" y="6311265"/>
            <a:ext cx="597979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Breadboard và dây nối</a:t>
            </a:r>
            <a:endParaRPr lang="en-US" dirty="0"/>
          </a:p>
        </p:txBody>
      </p:sp>
      <p:sp>
        <p:nvSpPr>
          <p:cNvPr id="14" name="Shape 12"/>
          <p:cNvSpPr/>
          <p:nvPr/>
        </p:nvSpPr>
        <p:spPr>
          <a:xfrm>
            <a:off x="7414379" y="3130748"/>
            <a:ext cx="6422231" cy="3719274"/>
          </a:xfrm>
          <a:prstGeom prst="roundRect">
            <a:avLst>
              <a:gd name="adj" fmla="val 4803"/>
            </a:avLst>
          </a:prstGeom>
          <a:solidFill>
            <a:srgbClr val="E5F9F2">
              <a:alpha val="95000"/>
            </a:srgbClr>
          </a:solidFill>
          <a:ln w="22860">
            <a:solidFill>
              <a:srgbClr val="B7D5CA"/>
            </a:solidFill>
            <a:prstDash val="solid"/>
          </a:ln>
        </p:spPr>
      </p:sp>
      <p:sp>
        <p:nvSpPr>
          <p:cNvPr id="15" name="Shape 13"/>
          <p:cNvSpPr/>
          <p:nvPr/>
        </p:nvSpPr>
        <p:spPr>
          <a:xfrm>
            <a:off x="7437239" y="3153608"/>
            <a:ext cx="6376511" cy="595313"/>
          </a:xfrm>
          <a:prstGeom prst="roundRect">
            <a:avLst>
              <a:gd name="adj" fmla="val 25398"/>
            </a:avLst>
          </a:prstGeom>
          <a:solidFill>
            <a:srgbClr val="D1EFE4"/>
          </a:solidFill>
          <a:ln/>
        </p:spPr>
      </p:sp>
      <p:sp>
        <p:nvSpPr>
          <p:cNvPr id="16" name="Text 14"/>
          <p:cNvSpPr/>
          <p:nvPr/>
        </p:nvSpPr>
        <p:spPr>
          <a:xfrm>
            <a:off x="10476667" y="3261360"/>
            <a:ext cx="297656" cy="372070"/>
          </a:xfrm>
          <a:prstGeom prst="rect">
            <a:avLst/>
          </a:prstGeom>
          <a:noFill/>
          <a:ln/>
        </p:spPr>
        <p:txBody>
          <a:bodyPr wrap="none" lIns="0" tIns="0" rIns="0" bIns="0" rtlCol="0" anchor="t"/>
          <a:lstStyle/>
          <a:p>
            <a:pPr marL="0" indent="0" algn="l">
              <a:lnSpc>
                <a:spcPts val="2300"/>
              </a:lnSpc>
              <a:buNone/>
            </a:pPr>
            <a:r>
              <a:rPr lang="en-US" sz="2300" b="1" dirty="0">
                <a:solidFill>
                  <a:srgbClr val="4B4A4A"/>
                </a:solidFill>
                <a:latin typeface="Noto Serif SC Bold" pitchFamily="34" charset="0"/>
                <a:ea typeface="Noto Serif SC Bold" pitchFamily="34" charset="-122"/>
                <a:cs typeface="Noto Serif SC Bold" pitchFamily="34" charset="-120"/>
              </a:rPr>
              <a:t>2</a:t>
            </a:r>
            <a:endParaRPr lang="en-US" sz="2300" dirty="0"/>
          </a:p>
        </p:txBody>
      </p:sp>
      <p:sp>
        <p:nvSpPr>
          <p:cNvPr id="17" name="Text 15"/>
          <p:cNvSpPr/>
          <p:nvPr/>
        </p:nvSpPr>
        <p:spPr>
          <a:xfrm>
            <a:off x="7635597" y="3947279"/>
            <a:ext cx="496633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Yêu cầu Logic (BẮT BUỘC dùng millis())</a:t>
            </a:r>
            <a:endParaRPr lang="en-US" sz="1950" dirty="0"/>
          </a:p>
        </p:txBody>
      </p:sp>
      <p:sp>
        <p:nvSpPr>
          <p:cNvPr id="18" name="Text 16"/>
          <p:cNvSpPr/>
          <p:nvPr/>
        </p:nvSpPr>
        <p:spPr>
          <a:xfrm>
            <a:off x="7635597" y="4376499"/>
            <a:ext cx="5979795"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Mỗi 5 giây:</a:t>
            </a:r>
            <a:r>
              <a:rPr lang="en-US" dirty="0">
                <a:solidFill>
                  <a:srgbClr val="4B4A4A"/>
                </a:solidFill>
                <a:latin typeface="Geist" pitchFamily="34" charset="0"/>
                <a:ea typeface="Geist" pitchFamily="34" charset="-122"/>
                <a:cs typeface="Geist" pitchFamily="34" charset="-120"/>
              </a:rPr>
              <a:t> Đọc nhiệt độ và độ ẩm từ DHT11 một lần</a:t>
            </a:r>
            <a:endParaRPr lang="en-US" dirty="0"/>
          </a:p>
        </p:txBody>
      </p:sp>
      <p:sp>
        <p:nvSpPr>
          <p:cNvPr id="19" name="Text 17"/>
          <p:cNvSpPr/>
          <p:nvPr/>
        </p:nvSpPr>
        <p:spPr>
          <a:xfrm>
            <a:off x="7635597" y="4763453"/>
            <a:ext cx="5979795" cy="635079"/>
          </a:xfrm>
          <a:prstGeom prst="rect">
            <a:avLst/>
          </a:prstGeom>
          <a:noFill/>
          <a:ln/>
        </p:spPr>
        <p:txBody>
          <a:bodyPr wrap="squar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Mỗi 5 giây:</a:t>
            </a:r>
            <a:r>
              <a:rPr lang="en-US" dirty="0">
                <a:solidFill>
                  <a:srgbClr val="4B4A4A"/>
                </a:solidFill>
                <a:latin typeface="Geist" pitchFamily="34" charset="0"/>
                <a:ea typeface="Geist" pitchFamily="34" charset="-122"/>
                <a:cs typeface="Geist" pitchFamily="34" charset="-120"/>
              </a:rPr>
              <a:t> Ngay sau khi đọc, đóng gói dữ liệu thành JSON và in ra Serial Monitor</a:t>
            </a:r>
            <a:endParaRPr lang="en-US" dirty="0"/>
          </a:p>
        </p:txBody>
      </p:sp>
      <p:sp>
        <p:nvSpPr>
          <p:cNvPr id="20" name="Text 18"/>
          <p:cNvSpPr/>
          <p:nvPr/>
        </p:nvSpPr>
        <p:spPr>
          <a:xfrm>
            <a:off x="7635597" y="5467945"/>
            <a:ext cx="5979795" cy="635079"/>
          </a:xfrm>
          <a:prstGeom prst="rect">
            <a:avLst/>
          </a:prstGeom>
          <a:noFill/>
          <a:ln/>
        </p:spPr>
        <p:txBody>
          <a:bodyPr wrap="squar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Mỗi 0.5 giây:</a:t>
            </a:r>
            <a:r>
              <a:rPr lang="en-US" dirty="0">
                <a:solidFill>
                  <a:srgbClr val="4B4A4A"/>
                </a:solidFill>
                <a:latin typeface="Geist" pitchFamily="34" charset="0"/>
                <a:ea typeface="Geist" pitchFamily="34" charset="-122"/>
                <a:cs typeface="Geist" pitchFamily="34" charset="-120"/>
              </a:rPr>
              <a:t> LED nhấp nháy liên tục (Heartbeat) để báo hiệu hệ thống đang hoạt động</a:t>
            </a:r>
            <a:endParaRPr lang="en-US" dirty="0"/>
          </a:p>
        </p:txBody>
      </p:sp>
      <p:sp>
        <p:nvSpPr>
          <p:cNvPr id="21" name="Text 19"/>
          <p:cNvSpPr/>
          <p:nvPr/>
        </p:nvSpPr>
        <p:spPr>
          <a:xfrm>
            <a:off x="7635597" y="6172438"/>
            <a:ext cx="5979795" cy="317540"/>
          </a:xfrm>
          <a:prstGeom prst="rect">
            <a:avLst/>
          </a:prstGeom>
          <a:noFill/>
          <a:ln/>
        </p:spPr>
        <p:txBody>
          <a:bodyPr wrap="none" lIns="0" tIns="0" rIns="0" bIns="0" rtlCol="0" anchor="t"/>
          <a:lstStyle/>
          <a:p>
            <a:pPr marL="342900" indent="-342900" algn="l">
              <a:lnSpc>
                <a:spcPts val="2500"/>
              </a:lnSpc>
              <a:buSzPct val="100000"/>
              <a:buChar char="•"/>
            </a:pPr>
            <a:r>
              <a:rPr lang="en-US" b="1" dirty="0">
                <a:solidFill>
                  <a:srgbClr val="4B4A4A"/>
                </a:solidFill>
                <a:latin typeface="Geist" pitchFamily="34" charset="0"/>
                <a:ea typeface="Geist" pitchFamily="34" charset="-122"/>
                <a:cs typeface="Geist" pitchFamily="34" charset="-120"/>
              </a:rPr>
              <a:t>CẤM SỬ DỤNG delay()</a:t>
            </a:r>
            <a:r>
              <a:rPr lang="en-US" dirty="0">
                <a:solidFill>
                  <a:srgbClr val="4B4A4A"/>
                </a:solidFill>
                <a:latin typeface="Geist" pitchFamily="34" charset="0"/>
                <a:ea typeface="Geist" pitchFamily="34" charset="-122"/>
                <a:cs typeface="Geist" pitchFamily="34" charset="-120"/>
              </a:rPr>
              <a:t> trong toàn bộ code!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6" grpId="0" animBg="1"/>
      <p:bldP spid="17" grpId="0" animBg="1"/>
      <p:bldP spid="18" grpId="0" animBg="1"/>
      <p:bldP spid="19" grpId="0" animBg="1"/>
      <p:bldP spid="20" grpId="0" animBg="1"/>
      <p:bldP spid="2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793790" y="685945"/>
            <a:ext cx="4623911"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Tại sao bài này lại khó?</a:t>
            </a:r>
            <a:endParaRPr lang="en-US" sz="3100" dirty="0"/>
          </a:p>
        </p:txBody>
      </p:sp>
      <p:sp>
        <p:nvSpPr>
          <p:cNvPr id="3" name="Text 1"/>
          <p:cNvSpPr/>
          <p:nvPr/>
        </p:nvSpPr>
        <p:spPr>
          <a:xfrm>
            <a:off x="786170" y="1793421"/>
            <a:ext cx="3933230"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Thách thức 1: DHT11 đọc chậm</a:t>
            </a:r>
            <a:endParaRPr lang="en-US" sz="1950" dirty="0"/>
          </a:p>
        </p:txBody>
      </p:sp>
      <p:sp>
        <p:nvSpPr>
          <p:cNvPr id="4" name="Text 2"/>
          <p:cNvSpPr/>
          <p:nvPr/>
        </p:nvSpPr>
        <p:spPr>
          <a:xfrm>
            <a:off x="786170" y="2301937"/>
            <a:ext cx="6279356" cy="95261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Cảm biến DHT11 cần </a:t>
            </a:r>
            <a:r>
              <a:rPr lang="en-US" b="1" dirty="0">
                <a:solidFill>
                  <a:srgbClr val="4B4A4A"/>
                </a:solidFill>
                <a:latin typeface="Geist" pitchFamily="34" charset="0"/>
                <a:ea typeface="Geist" pitchFamily="34" charset="-122"/>
                <a:cs typeface="Geist" pitchFamily="34" charset="-120"/>
              </a:rPr>
              <a:t>ít nhất 2 giây</a:t>
            </a:r>
            <a:r>
              <a:rPr lang="en-US" dirty="0">
                <a:solidFill>
                  <a:srgbClr val="4B4A4A"/>
                </a:solidFill>
                <a:latin typeface="Geist" pitchFamily="34" charset="0"/>
                <a:ea typeface="Geist" pitchFamily="34" charset="-122"/>
                <a:cs typeface="Geist" pitchFamily="34" charset="-120"/>
              </a:rPr>
              <a:t> giữa mỗi lần đọc. Nếu đọc quá nhanh, nó sẽ trả về giá trị lỗi. Điều này yêu cầu bạn phải quản lý thời gian rất chính xác.</a:t>
            </a:r>
            <a:endParaRPr lang="en-US" dirty="0"/>
          </a:p>
        </p:txBody>
      </p:sp>
      <p:sp>
        <p:nvSpPr>
          <p:cNvPr id="5" name="Text 3"/>
          <p:cNvSpPr/>
          <p:nvPr/>
        </p:nvSpPr>
        <p:spPr>
          <a:xfrm>
            <a:off x="786170" y="3433150"/>
            <a:ext cx="6279356" cy="96023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Ngoài ra, hàm </a:t>
            </a:r>
            <a:r>
              <a:rPr lang="en-US" dirty="0">
                <a:solidFill>
                  <a:srgbClr val="4B4A4A"/>
                </a:solidFill>
                <a:highlight>
                  <a:srgbClr val="D8ECE5"/>
                </a:highlight>
                <a:latin typeface="Consolas" pitchFamily="34" charset="0"/>
                <a:ea typeface="Consolas" pitchFamily="34" charset="-122"/>
                <a:cs typeface="Consolas" pitchFamily="34" charset="-120"/>
              </a:rPr>
              <a:t>dht.readTemperature()</a:t>
            </a:r>
            <a:r>
              <a:rPr lang="en-US" dirty="0">
                <a:solidFill>
                  <a:srgbClr val="4B4A4A"/>
                </a:solidFill>
                <a:latin typeface="Geist" pitchFamily="34" charset="0"/>
                <a:ea typeface="Geist" pitchFamily="34" charset="-122"/>
                <a:cs typeface="Geist" pitchFamily="34" charset="-120"/>
              </a:rPr>
              <a:t> có thể mất 100-250ms để hoàn thành. Nếu code không khéo, LED sẽ bị "lag" trong khoảng thời gian này.</a:t>
            </a:r>
            <a:endParaRPr lang="en-US" dirty="0"/>
          </a:p>
        </p:txBody>
      </p:sp>
      <p:sp>
        <p:nvSpPr>
          <p:cNvPr id="6" name="Text 4"/>
          <p:cNvSpPr/>
          <p:nvPr/>
        </p:nvSpPr>
        <p:spPr>
          <a:xfrm>
            <a:off x="7564874" y="2727960"/>
            <a:ext cx="3860244"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Thách thức 2: Đồng bộ 2 tác vụ</a:t>
            </a:r>
            <a:endParaRPr lang="en-US" sz="1950" dirty="0"/>
          </a:p>
        </p:txBody>
      </p:sp>
      <p:sp>
        <p:nvSpPr>
          <p:cNvPr id="7" name="Text 5"/>
          <p:cNvSpPr/>
          <p:nvPr/>
        </p:nvSpPr>
        <p:spPr>
          <a:xfrm>
            <a:off x="7564874" y="3236476"/>
            <a:ext cx="6279356"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Bạn phải đảm bảo:</a:t>
            </a:r>
            <a:endParaRPr lang="en-US" dirty="0"/>
          </a:p>
        </p:txBody>
      </p:sp>
      <p:sp>
        <p:nvSpPr>
          <p:cNvPr id="8" name="Text 6"/>
          <p:cNvSpPr/>
          <p:nvPr/>
        </p:nvSpPr>
        <p:spPr>
          <a:xfrm>
            <a:off x="7564874" y="3732609"/>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LED nháy </a:t>
            </a:r>
            <a:r>
              <a:rPr lang="en-US" b="1" dirty="0">
                <a:solidFill>
                  <a:srgbClr val="4B4A4A"/>
                </a:solidFill>
                <a:latin typeface="Geist" pitchFamily="34" charset="0"/>
                <a:ea typeface="Geist" pitchFamily="34" charset="-122"/>
                <a:cs typeface="Geist" pitchFamily="34" charset="-120"/>
              </a:rPr>
              <a:t>mượt mà liên tục</a:t>
            </a:r>
            <a:r>
              <a:rPr lang="en-US" dirty="0">
                <a:solidFill>
                  <a:srgbClr val="4B4A4A"/>
                </a:solidFill>
                <a:latin typeface="Geist" pitchFamily="34" charset="0"/>
                <a:ea typeface="Geist" pitchFamily="34" charset="-122"/>
                <a:cs typeface="Geist" pitchFamily="34" charset="-120"/>
              </a:rPr>
              <a:t> mỗi 0.5s, không bị gián đoạn</a:t>
            </a:r>
            <a:endParaRPr lang="en-US" dirty="0"/>
          </a:p>
        </p:txBody>
      </p:sp>
      <p:sp>
        <p:nvSpPr>
          <p:cNvPr id="9" name="Text 7"/>
          <p:cNvSpPr/>
          <p:nvPr/>
        </p:nvSpPr>
        <p:spPr>
          <a:xfrm>
            <a:off x="7564874" y="411956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Cảm biến được đọc </a:t>
            </a:r>
            <a:r>
              <a:rPr lang="en-US" b="1" dirty="0">
                <a:solidFill>
                  <a:srgbClr val="4B4A4A"/>
                </a:solidFill>
                <a:latin typeface="Geist" pitchFamily="34" charset="0"/>
                <a:ea typeface="Geist" pitchFamily="34" charset="-122"/>
                <a:cs typeface="Geist" pitchFamily="34" charset="-120"/>
              </a:rPr>
              <a:t>đúng 5s một lần</a:t>
            </a:r>
            <a:r>
              <a:rPr lang="en-US" dirty="0">
                <a:solidFill>
                  <a:srgbClr val="4B4A4A"/>
                </a:solidFill>
                <a:latin typeface="Geist" pitchFamily="34" charset="0"/>
                <a:ea typeface="Geist" pitchFamily="34" charset="-122"/>
                <a:cs typeface="Geist" pitchFamily="34" charset="-120"/>
              </a:rPr>
              <a:t>, không sai lệch</a:t>
            </a:r>
            <a:endParaRPr lang="en-US" dirty="0"/>
          </a:p>
        </p:txBody>
      </p:sp>
      <p:sp>
        <p:nvSpPr>
          <p:cNvPr id="10" name="Text 8"/>
          <p:cNvSpPr/>
          <p:nvPr/>
        </p:nvSpPr>
        <p:spPr>
          <a:xfrm>
            <a:off x="7564874" y="450651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JSON được tạo và in </a:t>
            </a:r>
            <a:r>
              <a:rPr lang="en-US" b="1" dirty="0">
                <a:solidFill>
                  <a:srgbClr val="4B4A4A"/>
                </a:solidFill>
                <a:latin typeface="Geist" pitchFamily="34" charset="0"/>
                <a:ea typeface="Geist" pitchFamily="34" charset="-122"/>
                <a:cs typeface="Geist" pitchFamily="34" charset="-120"/>
              </a:rPr>
              <a:t>ngay sau khi đọc xong</a:t>
            </a:r>
            <a:r>
              <a:rPr lang="en-US" dirty="0">
                <a:solidFill>
                  <a:srgbClr val="4B4A4A"/>
                </a:solidFill>
                <a:latin typeface="Geist" pitchFamily="34" charset="0"/>
                <a:ea typeface="Geist" pitchFamily="34" charset="-122"/>
                <a:cs typeface="Geist" pitchFamily="34" charset="-120"/>
              </a:rPr>
              <a:t> cảm biến</a:t>
            </a:r>
            <a:endParaRPr lang="en-US" dirty="0"/>
          </a:p>
        </p:txBody>
      </p:sp>
      <p:sp>
        <p:nvSpPr>
          <p:cNvPr id="11" name="Text 9"/>
          <p:cNvSpPr/>
          <p:nvPr/>
        </p:nvSpPr>
        <p:spPr>
          <a:xfrm>
            <a:off x="7564874" y="5002649"/>
            <a:ext cx="6279356"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Ba tác vụ này phải chạy song song, không cản trở lẫn nhau.</a:t>
            </a:r>
            <a:endParaRPr lang="en-US" dirty="0"/>
          </a:p>
        </p:txBody>
      </p:sp>
      <p:sp>
        <p:nvSpPr>
          <p:cNvPr id="12" name="Text 10"/>
          <p:cNvSpPr/>
          <p:nvPr/>
        </p:nvSpPr>
        <p:spPr>
          <a:xfrm>
            <a:off x="1091446" y="5953006"/>
            <a:ext cx="12745164"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Mẹo:</a:t>
            </a:r>
            <a:r>
              <a:rPr lang="en-US" dirty="0">
                <a:solidFill>
                  <a:srgbClr val="4B4A4A"/>
                </a:solidFill>
                <a:latin typeface="Geist" pitchFamily="34" charset="0"/>
                <a:ea typeface="Geist" pitchFamily="34" charset="-122"/>
                <a:cs typeface="Geist" pitchFamily="34" charset="-120"/>
              </a:rPr>
              <a:t> Nếu bạn thấy LED bị khựng/chậm khi đọc cảm biến, chứng tỏ code chưa thực sự non-blocking. Hãy xem lại logic!</a:t>
            </a:r>
            <a:endParaRPr lang="en-US" dirty="0"/>
          </a:p>
        </p:txBody>
      </p:sp>
      <p:sp>
        <p:nvSpPr>
          <p:cNvPr id="13" name="Shape 11"/>
          <p:cNvSpPr/>
          <p:nvPr/>
        </p:nvSpPr>
        <p:spPr>
          <a:xfrm>
            <a:off x="793790" y="5729764"/>
            <a:ext cx="22860" cy="764024"/>
          </a:xfrm>
          <a:prstGeom prst="rect">
            <a:avLst/>
          </a:prstGeom>
          <a:solidFill>
            <a:srgbClr val="006747"/>
          </a:solid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793790" y="1684139"/>
            <a:ext cx="4900613"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Sơ đồ nối dây phần cứng</a:t>
            </a:r>
            <a:endParaRPr lang="en-US" sz="3100" dirty="0"/>
          </a:p>
        </p:txBody>
      </p:sp>
      <p:sp>
        <p:nvSpPr>
          <p:cNvPr id="3" name="Text 1"/>
          <p:cNvSpPr/>
          <p:nvPr/>
        </p:nvSpPr>
        <p:spPr>
          <a:xfrm>
            <a:off x="793790" y="267628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Kết nối DHT11</a:t>
            </a:r>
            <a:endParaRPr lang="en-US" sz="1950" dirty="0"/>
          </a:p>
        </p:txBody>
      </p:sp>
      <p:sp>
        <p:nvSpPr>
          <p:cNvPr id="4" name="Shape 2"/>
          <p:cNvSpPr/>
          <p:nvPr/>
        </p:nvSpPr>
        <p:spPr>
          <a:xfrm>
            <a:off x="793790" y="3209687"/>
            <a:ext cx="6279356" cy="2298859"/>
          </a:xfrm>
          <a:prstGeom prst="roundRect">
            <a:avLst>
              <a:gd name="adj" fmla="val 7770"/>
            </a:avLst>
          </a:prstGeom>
          <a:noFill/>
          <a:ln w="7620">
            <a:solidFill>
              <a:srgbClr val="000000">
                <a:alpha val="8000"/>
              </a:srgbClr>
            </a:solidFill>
            <a:prstDash val="solid"/>
          </a:ln>
        </p:spPr>
      </p:sp>
      <p:sp>
        <p:nvSpPr>
          <p:cNvPr id="5" name="Shape 3"/>
          <p:cNvSpPr/>
          <p:nvPr/>
        </p:nvSpPr>
        <p:spPr>
          <a:xfrm>
            <a:off x="801410" y="3217307"/>
            <a:ext cx="6264116" cy="570905"/>
          </a:xfrm>
          <a:prstGeom prst="rect">
            <a:avLst/>
          </a:prstGeom>
          <a:solidFill>
            <a:srgbClr val="FFFFFF">
              <a:alpha val="4000"/>
            </a:srgbClr>
          </a:solidFill>
          <a:ln/>
        </p:spPr>
      </p:sp>
      <p:sp>
        <p:nvSpPr>
          <p:cNvPr id="6" name="Text 4"/>
          <p:cNvSpPr/>
          <p:nvPr/>
        </p:nvSpPr>
        <p:spPr>
          <a:xfrm>
            <a:off x="999887" y="3343989"/>
            <a:ext cx="1478637"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DHT11</a:t>
            </a:r>
            <a:endParaRPr lang="en-US" dirty="0"/>
          </a:p>
        </p:txBody>
      </p:sp>
      <p:sp>
        <p:nvSpPr>
          <p:cNvPr id="7" name="Text 5"/>
          <p:cNvSpPr/>
          <p:nvPr/>
        </p:nvSpPr>
        <p:spPr>
          <a:xfrm>
            <a:off x="2882860" y="3343989"/>
            <a:ext cx="3984308"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ESP32</a:t>
            </a:r>
            <a:endParaRPr lang="en-US" dirty="0"/>
          </a:p>
        </p:txBody>
      </p:sp>
      <p:sp>
        <p:nvSpPr>
          <p:cNvPr id="8" name="Shape 6"/>
          <p:cNvSpPr/>
          <p:nvPr/>
        </p:nvSpPr>
        <p:spPr>
          <a:xfrm>
            <a:off x="801410" y="3788212"/>
            <a:ext cx="6264116" cy="570905"/>
          </a:xfrm>
          <a:prstGeom prst="rect">
            <a:avLst/>
          </a:prstGeom>
          <a:solidFill>
            <a:srgbClr val="000000">
              <a:alpha val="4000"/>
            </a:srgbClr>
          </a:solidFill>
          <a:ln/>
        </p:spPr>
      </p:sp>
      <p:sp>
        <p:nvSpPr>
          <p:cNvPr id="9" name="Text 7"/>
          <p:cNvSpPr/>
          <p:nvPr/>
        </p:nvSpPr>
        <p:spPr>
          <a:xfrm>
            <a:off x="999887" y="3914894"/>
            <a:ext cx="1478637"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VCC (+)</a:t>
            </a:r>
            <a:endParaRPr lang="en-US" dirty="0"/>
          </a:p>
        </p:txBody>
      </p:sp>
      <p:sp>
        <p:nvSpPr>
          <p:cNvPr id="10" name="Text 8"/>
          <p:cNvSpPr/>
          <p:nvPr/>
        </p:nvSpPr>
        <p:spPr>
          <a:xfrm>
            <a:off x="2882860" y="3914894"/>
            <a:ext cx="3984308"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3.3V</a:t>
            </a:r>
            <a:endParaRPr lang="en-US" dirty="0"/>
          </a:p>
        </p:txBody>
      </p:sp>
      <p:sp>
        <p:nvSpPr>
          <p:cNvPr id="11" name="Shape 9"/>
          <p:cNvSpPr/>
          <p:nvPr/>
        </p:nvSpPr>
        <p:spPr>
          <a:xfrm>
            <a:off x="801410" y="4359116"/>
            <a:ext cx="6264116" cy="570905"/>
          </a:xfrm>
          <a:prstGeom prst="rect">
            <a:avLst/>
          </a:prstGeom>
          <a:solidFill>
            <a:srgbClr val="FFFFFF">
              <a:alpha val="4000"/>
            </a:srgbClr>
          </a:solidFill>
          <a:ln/>
        </p:spPr>
      </p:sp>
      <p:sp>
        <p:nvSpPr>
          <p:cNvPr id="12" name="Text 10"/>
          <p:cNvSpPr/>
          <p:nvPr/>
        </p:nvSpPr>
        <p:spPr>
          <a:xfrm>
            <a:off x="999887" y="4485799"/>
            <a:ext cx="1478637"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DATA</a:t>
            </a:r>
            <a:endParaRPr lang="en-US" dirty="0"/>
          </a:p>
        </p:txBody>
      </p:sp>
      <p:sp>
        <p:nvSpPr>
          <p:cNvPr id="13" name="Text 11"/>
          <p:cNvSpPr/>
          <p:nvPr/>
        </p:nvSpPr>
        <p:spPr>
          <a:xfrm>
            <a:off x="2882860" y="4485799"/>
            <a:ext cx="3984308"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GPIO 4 (có thể thay đổi)</a:t>
            </a:r>
            <a:endParaRPr lang="en-US" dirty="0"/>
          </a:p>
        </p:txBody>
      </p:sp>
      <p:sp>
        <p:nvSpPr>
          <p:cNvPr id="14" name="Shape 12"/>
          <p:cNvSpPr/>
          <p:nvPr/>
        </p:nvSpPr>
        <p:spPr>
          <a:xfrm>
            <a:off x="801410" y="4930021"/>
            <a:ext cx="6264116" cy="570905"/>
          </a:xfrm>
          <a:prstGeom prst="rect">
            <a:avLst/>
          </a:prstGeom>
          <a:solidFill>
            <a:srgbClr val="000000">
              <a:alpha val="4000"/>
            </a:srgbClr>
          </a:solidFill>
          <a:ln/>
        </p:spPr>
      </p:sp>
      <p:sp>
        <p:nvSpPr>
          <p:cNvPr id="15" name="Text 13"/>
          <p:cNvSpPr/>
          <p:nvPr/>
        </p:nvSpPr>
        <p:spPr>
          <a:xfrm>
            <a:off x="999887" y="5056703"/>
            <a:ext cx="1478637"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GND (-)</a:t>
            </a:r>
            <a:endParaRPr lang="en-US" dirty="0"/>
          </a:p>
        </p:txBody>
      </p:sp>
      <p:sp>
        <p:nvSpPr>
          <p:cNvPr id="16" name="Text 14"/>
          <p:cNvSpPr/>
          <p:nvPr/>
        </p:nvSpPr>
        <p:spPr>
          <a:xfrm>
            <a:off x="2882860" y="5056703"/>
            <a:ext cx="3984308"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GND</a:t>
            </a:r>
            <a:endParaRPr lang="en-US" dirty="0"/>
          </a:p>
        </p:txBody>
      </p:sp>
      <p:sp>
        <p:nvSpPr>
          <p:cNvPr id="17" name="Text 15"/>
          <p:cNvSpPr/>
          <p:nvPr/>
        </p:nvSpPr>
        <p:spPr>
          <a:xfrm>
            <a:off x="793790" y="5731788"/>
            <a:ext cx="6279356" cy="635079"/>
          </a:xfrm>
          <a:prstGeom prst="rect">
            <a:avLst/>
          </a:prstGeom>
          <a:noFill/>
          <a:ln/>
        </p:spPr>
        <p:txBody>
          <a:bodyPr wrap="square" lIns="0" tIns="0" rIns="0" bIns="0" rtlCol="0" anchor="t"/>
          <a:lstStyle/>
          <a:p>
            <a:pPr marL="0" indent="0" algn="l">
              <a:lnSpc>
                <a:spcPts val="2500"/>
              </a:lnSpc>
              <a:buNone/>
            </a:pPr>
            <a:r>
              <a:rPr lang="en-US" i="1" dirty="0">
                <a:solidFill>
                  <a:srgbClr val="4B4A4A"/>
                </a:solidFill>
                <a:latin typeface="Geist" pitchFamily="34" charset="0"/>
                <a:ea typeface="Geist" pitchFamily="34" charset="-122"/>
                <a:cs typeface="Geist" pitchFamily="34" charset="-120"/>
              </a:rPr>
              <a:t>Lưu ý: Một số module DHT11 đã tích hợp điện trở pull-up. Nếu module của bạn chỉ có 3 chân, không cần thêm điện trở.</a:t>
            </a:r>
            <a:endParaRPr lang="en-US" dirty="0"/>
          </a:p>
        </p:txBody>
      </p:sp>
      <p:sp>
        <p:nvSpPr>
          <p:cNvPr id="18" name="Text 16"/>
          <p:cNvSpPr/>
          <p:nvPr/>
        </p:nvSpPr>
        <p:spPr>
          <a:xfrm>
            <a:off x="7564874" y="267628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6747"/>
                </a:solidFill>
                <a:latin typeface="Noto Serif SC Bold" pitchFamily="34" charset="0"/>
                <a:ea typeface="Noto Serif SC Bold" pitchFamily="34" charset="-122"/>
                <a:cs typeface="Noto Serif SC Bold" pitchFamily="34" charset="-120"/>
              </a:rPr>
              <a:t>Kết nối LED</a:t>
            </a:r>
            <a:endParaRPr lang="en-US" sz="1950" dirty="0"/>
          </a:p>
        </p:txBody>
      </p:sp>
      <p:sp>
        <p:nvSpPr>
          <p:cNvPr id="19" name="Shape 17"/>
          <p:cNvSpPr/>
          <p:nvPr/>
        </p:nvSpPr>
        <p:spPr>
          <a:xfrm>
            <a:off x="7564874" y="3209687"/>
            <a:ext cx="6279356" cy="1727954"/>
          </a:xfrm>
          <a:prstGeom prst="roundRect">
            <a:avLst>
              <a:gd name="adj" fmla="val 10337"/>
            </a:avLst>
          </a:prstGeom>
          <a:noFill/>
          <a:ln w="7620">
            <a:solidFill>
              <a:srgbClr val="000000">
                <a:alpha val="8000"/>
              </a:srgbClr>
            </a:solidFill>
            <a:prstDash val="solid"/>
          </a:ln>
        </p:spPr>
      </p:sp>
      <p:sp>
        <p:nvSpPr>
          <p:cNvPr id="20" name="Shape 18"/>
          <p:cNvSpPr/>
          <p:nvPr/>
        </p:nvSpPr>
        <p:spPr>
          <a:xfrm>
            <a:off x="7572494" y="3217307"/>
            <a:ext cx="6264116" cy="570905"/>
          </a:xfrm>
          <a:prstGeom prst="rect">
            <a:avLst/>
          </a:prstGeom>
          <a:solidFill>
            <a:srgbClr val="FFFFFF">
              <a:alpha val="4000"/>
            </a:srgbClr>
          </a:solidFill>
          <a:ln/>
        </p:spPr>
      </p:sp>
      <p:sp>
        <p:nvSpPr>
          <p:cNvPr id="21" name="Text 19"/>
          <p:cNvSpPr/>
          <p:nvPr/>
        </p:nvSpPr>
        <p:spPr>
          <a:xfrm>
            <a:off x="7770971" y="3343989"/>
            <a:ext cx="1478637"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LED</a:t>
            </a:r>
            <a:endParaRPr lang="en-US" dirty="0"/>
          </a:p>
        </p:txBody>
      </p:sp>
      <p:sp>
        <p:nvSpPr>
          <p:cNvPr id="22" name="Text 20"/>
          <p:cNvSpPr/>
          <p:nvPr/>
        </p:nvSpPr>
        <p:spPr>
          <a:xfrm>
            <a:off x="9653945" y="3343989"/>
            <a:ext cx="3984308" cy="317540"/>
          </a:xfrm>
          <a:prstGeom prst="rect">
            <a:avLst/>
          </a:prstGeom>
          <a:noFill/>
          <a:ln/>
        </p:spPr>
        <p:txBody>
          <a:bodyPr wrap="none" lIns="0" tIns="0" rIns="0" bIns="0" rtlCol="0" anchor="t"/>
          <a:lstStyle/>
          <a:p>
            <a:pPr marL="0" indent="0" algn="l">
              <a:lnSpc>
                <a:spcPts val="2500"/>
              </a:lnSpc>
              <a:buNone/>
            </a:pPr>
            <a:r>
              <a:rPr lang="en-US" b="1" dirty="0">
                <a:solidFill>
                  <a:srgbClr val="4B4A4A"/>
                </a:solidFill>
                <a:latin typeface="Geist" pitchFamily="34" charset="0"/>
                <a:ea typeface="Geist" pitchFamily="34" charset="-122"/>
                <a:cs typeface="Geist" pitchFamily="34" charset="-120"/>
              </a:rPr>
              <a:t>ESP32</a:t>
            </a:r>
            <a:endParaRPr lang="en-US" dirty="0"/>
          </a:p>
        </p:txBody>
      </p:sp>
      <p:sp>
        <p:nvSpPr>
          <p:cNvPr id="23" name="Shape 21"/>
          <p:cNvSpPr/>
          <p:nvPr/>
        </p:nvSpPr>
        <p:spPr>
          <a:xfrm>
            <a:off x="7572494" y="3788212"/>
            <a:ext cx="6264116" cy="570905"/>
          </a:xfrm>
          <a:prstGeom prst="rect">
            <a:avLst/>
          </a:prstGeom>
          <a:solidFill>
            <a:srgbClr val="000000">
              <a:alpha val="4000"/>
            </a:srgbClr>
          </a:solidFill>
          <a:ln/>
        </p:spPr>
      </p:sp>
      <p:sp>
        <p:nvSpPr>
          <p:cNvPr id="24" name="Text 22"/>
          <p:cNvSpPr/>
          <p:nvPr/>
        </p:nvSpPr>
        <p:spPr>
          <a:xfrm>
            <a:off x="7770971" y="3914894"/>
            <a:ext cx="1478637"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Chân dài (+)</a:t>
            </a:r>
            <a:endParaRPr lang="en-US" dirty="0"/>
          </a:p>
        </p:txBody>
      </p:sp>
      <p:sp>
        <p:nvSpPr>
          <p:cNvPr id="25" name="Text 23"/>
          <p:cNvSpPr/>
          <p:nvPr/>
        </p:nvSpPr>
        <p:spPr>
          <a:xfrm>
            <a:off x="9653945" y="3914894"/>
            <a:ext cx="3984308"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GPIO 2 qua điện trở 220Ω</a:t>
            </a:r>
            <a:endParaRPr lang="en-US" dirty="0"/>
          </a:p>
        </p:txBody>
      </p:sp>
      <p:sp>
        <p:nvSpPr>
          <p:cNvPr id="26" name="Shape 24"/>
          <p:cNvSpPr/>
          <p:nvPr/>
        </p:nvSpPr>
        <p:spPr>
          <a:xfrm>
            <a:off x="7572494" y="4359116"/>
            <a:ext cx="6264116" cy="570905"/>
          </a:xfrm>
          <a:prstGeom prst="rect">
            <a:avLst/>
          </a:prstGeom>
          <a:solidFill>
            <a:srgbClr val="FFFFFF">
              <a:alpha val="4000"/>
            </a:srgbClr>
          </a:solidFill>
          <a:ln/>
        </p:spPr>
      </p:sp>
      <p:sp>
        <p:nvSpPr>
          <p:cNvPr id="27" name="Text 25"/>
          <p:cNvSpPr/>
          <p:nvPr/>
        </p:nvSpPr>
        <p:spPr>
          <a:xfrm>
            <a:off x="7770971" y="4485799"/>
            <a:ext cx="1478637"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Chân ngắn (-)</a:t>
            </a:r>
            <a:endParaRPr lang="en-US" dirty="0"/>
          </a:p>
        </p:txBody>
      </p:sp>
      <p:sp>
        <p:nvSpPr>
          <p:cNvPr id="28" name="Text 26"/>
          <p:cNvSpPr/>
          <p:nvPr/>
        </p:nvSpPr>
        <p:spPr>
          <a:xfrm>
            <a:off x="9653945" y="4485799"/>
            <a:ext cx="3984308"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GND</a:t>
            </a:r>
            <a:endParaRPr lang="en-US" dirty="0"/>
          </a:p>
        </p:txBody>
      </p:sp>
      <p:sp>
        <p:nvSpPr>
          <p:cNvPr id="29" name="Text 27"/>
          <p:cNvSpPr/>
          <p:nvPr/>
        </p:nvSpPr>
        <p:spPr>
          <a:xfrm>
            <a:off x="7564874" y="5160883"/>
            <a:ext cx="6279356"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GPIO 2 là chân có LED onboard trên hầu hết ESP32, bạn có thể dùng luôn mà không cần nối thêm LED ngoài!</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9" grpId="0" animBg="1"/>
      <p:bldP spid="10" grpId="0" animBg="1"/>
      <p:bldP spid="12" grpId="0" animBg="1"/>
      <p:bldP spid="13" grpId="0" animBg="1"/>
      <p:bldP spid="15" grpId="0" animBg="1"/>
      <p:bldP spid="16" grpId="0" animBg="1"/>
      <p:bldP spid="17" grpId="0" animBg="1"/>
      <p:bldP spid="18" grpId="0" animBg="1"/>
      <p:bldP spid="21" grpId="0" animBg="1"/>
      <p:bldP spid="22" grpId="0" animBg="1"/>
      <p:bldP spid="24" grpId="0" animBg="1"/>
      <p:bldP spid="25" grpId="0" animBg="1"/>
      <p:bldP spid="27" grpId="0" animBg="1"/>
      <p:bldP spid="28" grpId="0" animBg="1"/>
      <p:bldP spid="2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793790" y="1373862"/>
            <a:ext cx="4178379"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Cài đặt thư viện DHT</a:t>
            </a:r>
            <a:endParaRPr lang="en-US" sz="3100" dirty="0"/>
          </a:p>
        </p:txBody>
      </p:sp>
      <p:pic>
        <p:nvPicPr>
          <p:cNvPr id="3" name="Image 0" descr="preencoded.png"/>
          <p:cNvPicPr>
            <a:picLocks noChangeAspect="1"/>
          </p:cNvPicPr>
          <p:nvPr/>
        </p:nvPicPr>
        <p:blipFill>
          <a:blip r:embed="rId3"/>
          <a:stretch>
            <a:fillRect/>
          </a:stretch>
        </p:blipFill>
        <p:spPr>
          <a:xfrm>
            <a:off x="793790" y="2564487"/>
            <a:ext cx="6422231" cy="1143000"/>
          </a:xfrm>
          <a:prstGeom prst="rect">
            <a:avLst/>
          </a:prstGeom>
        </p:spPr>
      </p:pic>
      <p:sp>
        <p:nvSpPr>
          <p:cNvPr id="4" name="Text 1"/>
          <p:cNvSpPr/>
          <p:nvPr/>
        </p:nvSpPr>
        <p:spPr>
          <a:xfrm>
            <a:off x="992148" y="3358158"/>
            <a:ext cx="2578537"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Mở Library Manager</a:t>
            </a:r>
            <a:endParaRPr lang="en-US" sz="1950" dirty="0"/>
          </a:p>
        </p:txBody>
      </p:sp>
      <p:sp>
        <p:nvSpPr>
          <p:cNvPr id="5" name="Text 2"/>
          <p:cNvSpPr/>
          <p:nvPr/>
        </p:nvSpPr>
        <p:spPr>
          <a:xfrm>
            <a:off x="992148" y="3787378"/>
            <a:ext cx="6025515"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Sketch → Include Library → Manage Libraries</a:t>
            </a:r>
            <a:endParaRPr lang="en-US" dirty="0"/>
          </a:p>
        </p:txBody>
      </p:sp>
      <p:pic>
        <p:nvPicPr>
          <p:cNvPr id="6" name="Image 1" descr="preencoded.png"/>
          <p:cNvPicPr>
            <a:picLocks noChangeAspect="1"/>
          </p:cNvPicPr>
          <p:nvPr/>
        </p:nvPicPr>
        <p:blipFill>
          <a:blip r:embed="rId3"/>
          <a:stretch>
            <a:fillRect/>
          </a:stretch>
        </p:blipFill>
        <p:spPr>
          <a:xfrm>
            <a:off x="7414379" y="2266831"/>
            <a:ext cx="6422231" cy="1143000"/>
          </a:xfrm>
          <a:prstGeom prst="rect">
            <a:avLst/>
          </a:prstGeom>
        </p:spPr>
      </p:pic>
      <p:sp>
        <p:nvSpPr>
          <p:cNvPr id="7" name="Text 3"/>
          <p:cNvSpPr/>
          <p:nvPr/>
        </p:nvSpPr>
        <p:spPr>
          <a:xfrm>
            <a:off x="7612737" y="3060502"/>
            <a:ext cx="3204091"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Tìm "DHT sensor library"</a:t>
            </a:r>
            <a:endParaRPr lang="en-US" sz="1950" dirty="0"/>
          </a:p>
        </p:txBody>
      </p:sp>
      <p:sp>
        <p:nvSpPr>
          <p:cNvPr id="8" name="Text 4"/>
          <p:cNvSpPr/>
          <p:nvPr/>
        </p:nvSpPr>
        <p:spPr>
          <a:xfrm>
            <a:off x="7612737" y="3489722"/>
            <a:ext cx="6025515" cy="317540"/>
          </a:xfrm>
          <a:prstGeom prst="rect">
            <a:avLst/>
          </a:prstGeom>
          <a:noFill/>
          <a:ln/>
        </p:spPr>
        <p:txBody>
          <a:bodyPr wrap="non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Gõ "DHT sensor" trong ô tìm kiếm. Chọn thư viện của </a:t>
            </a:r>
            <a:r>
              <a:rPr lang="en-US" b="1" dirty="0">
                <a:solidFill>
                  <a:srgbClr val="4B4A4A"/>
                </a:solidFill>
                <a:latin typeface="Geist" pitchFamily="34" charset="0"/>
                <a:ea typeface="Geist" pitchFamily="34" charset="-122"/>
                <a:cs typeface="Geist" pitchFamily="34" charset="-120"/>
              </a:rPr>
              <a:t>Adafruit</a:t>
            </a:r>
            <a:endParaRPr lang="en-US" dirty="0"/>
          </a:p>
        </p:txBody>
      </p:sp>
      <p:pic>
        <p:nvPicPr>
          <p:cNvPr id="9" name="Image 2" descr="preencoded.png"/>
          <p:cNvPicPr>
            <a:picLocks noChangeAspect="1"/>
          </p:cNvPicPr>
          <p:nvPr/>
        </p:nvPicPr>
        <p:blipFill>
          <a:blip r:embed="rId3"/>
          <a:stretch>
            <a:fillRect/>
          </a:stretch>
        </p:blipFill>
        <p:spPr>
          <a:xfrm>
            <a:off x="793790" y="4799290"/>
            <a:ext cx="6422231" cy="1143000"/>
          </a:xfrm>
          <a:prstGeom prst="rect">
            <a:avLst/>
          </a:prstGeom>
        </p:spPr>
      </p:pic>
      <p:sp>
        <p:nvSpPr>
          <p:cNvPr id="10" name="Text 5"/>
          <p:cNvSpPr/>
          <p:nvPr/>
        </p:nvSpPr>
        <p:spPr>
          <a:xfrm>
            <a:off x="992148" y="5592961"/>
            <a:ext cx="2715697"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Cài đặt Dependencies</a:t>
            </a:r>
            <a:endParaRPr lang="en-US" sz="1950" dirty="0"/>
          </a:p>
        </p:txBody>
      </p:sp>
      <p:sp>
        <p:nvSpPr>
          <p:cNvPr id="11" name="Text 6"/>
          <p:cNvSpPr/>
          <p:nvPr/>
        </p:nvSpPr>
        <p:spPr>
          <a:xfrm>
            <a:off x="992148" y="6022181"/>
            <a:ext cx="6025515"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Khi cài DHT, sẽ có popup yêu cầu cài </a:t>
            </a:r>
            <a:r>
              <a:rPr lang="en-US" b="1" dirty="0">
                <a:solidFill>
                  <a:srgbClr val="4B4A4A"/>
                </a:solidFill>
                <a:latin typeface="Geist" pitchFamily="34" charset="0"/>
                <a:ea typeface="Geist" pitchFamily="34" charset="-122"/>
                <a:cs typeface="Geist" pitchFamily="34" charset="-120"/>
              </a:rPr>
              <a:t>Adafruit Unified Sensor</a:t>
            </a:r>
            <a:r>
              <a:rPr lang="en-US" dirty="0">
                <a:solidFill>
                  <a:srgbClr val="4B4A4A"/>
                </a:solidFill>
                <a:latin typeface="Geist" pitchFamily="34" charset="0"/>
                <a:ea typeface="Geist" pitchFamily="34" charset="-122"/>
                <a:cs typeface="Geist" pitchFamily="34" charset="-120"/>
              </a:rPr>
              <a:t>. Click "Install All"</a:t>
            </a:r>
            <a:endParaRPr lang="en-US" dirty="0"/>
          </a:p>
        </p:txBody>
      </p:sp>
      <p:pic>
        <p:nvPicPr>
          <p:cNvPr id="12" name="Image 3" descr="preencoded.png"/>
          <p:cNvPicPr>
            <a:picLocks noChangeAspect="1"/>
          </p:cNvPicPr>
          <p:nvPr/>
        </p:nvPicPr>
        <p:blipFill>
          <a:blip r:embed="rId3"/>
          <a:stretch>
            <a:fillRect/>
          </a:stretch>
        </p:blipFill>
        <p:spPr>
          <a:xfrm>
            <a:off x="7414379" y="4501634"/>
            <a:ext cx="6422231" cy="1143000"/>
          </a:xfrm>
          <a:prstGeom prst="rect">
            <a:avLst/>
          </a:prstGeom>
        </p:spPr>
      </p:pic>
      <p:sp>
        <p:nvSpPr>
          <p:cNvPr id="13" name="Text 7"/>
          <p:cNvSpPr/>
          <p:nvPr/>
        </p:nvSpPr>
        <p:spPr>
          <a:xfrm>
            <a:off x="7612737" y="529530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Kiểm tra</a:t>
            </a:r>
            <a:endParaRPr lang="en-US" sz="1950" dirty="0"/>
          </a:p>
        </p:txBody>
      </p:sp>
      <p:sp>
        <p:nvSpPr>
          <p:cNvPr id="14" name="Text 8"/>
          <p:cNvSpPr/>
          <p:nvPr/>
        </p:nvSpPr>
        <p:spPr>
          <a:xfrm>
            <a:off x="7612737" y="5724525"/>
            <a:ext cx="6025515" cy="635079"/>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File → Examples → DHT sensor library → DHTtester để chạy thử nghiệm</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729615" y="503396"/>
            <a:ext cx="7016710" cy="456009"/>
          </a:xfrm>
          <a:prstGeom prst="rect">
            <a:avLst/>
          </a:prstGeom>
          <a:noFill/>
          <a:ln/>
        </p:spPr>
        <p:txBody>
          <a:bodyPr wrap="none" lIns="0" tIns="0" rIns="0" bIns="0" rtlCol="0" anchor="t"/>
          <a:lstStyle/>
          <a:p>
            <a:pPr marL="0" indent="0" algn="l">
              <a:lnSpc>
                <a:spcPts val="3550"/>
              </a:lnSpc>
              <a:buNone/>
            </a:pPr>
            <a:r>
              <a:rPr lang="en-US" sz="2850" b="1" dirty="0">
                <a:solidFill>
                  <a:srgbClr val="006747"/>
                </a:solidFill>
                <a:latin typeface="Noto Serif SC Bold" pitchFamily="34" charset="0"/>
                <a:ea typeface="Noto Serif SC Bold" pitchFamily="34" charset="-122"/>
                <a:cs typeface="Noto Serif SC Bold" pitchFamily="34" charset="-120"/>
              </a:rPr>
              <a:t>Gợi ý cấu trúc Code - Phần 1: Khai báo</a:t>
            </a:r>
            <a:endParaRPr lang="en-US" sz="2850" dirty="0"/>
          </a:p>
        </p:txBody>
      </p:sp>
      <p:sp>
        <p:nvSpPr>
          <p:cNvPr id="3" name="Shape 1"/>
          <p:cNvSpPr/>
          <p:nvPr/>
        </p:nvSpPr>
        <p:spPr>
          <a:xfrm>
            <a:off x="729615" y="1324213"/>
            <a:ext cx="13171170" cy="6401872"/>
          </a:xfrm>
          <a:prstGeom prst="roundRect">
            <a:avLst>
              <a:gd name="adj" fmla="val 2565"/>
            </a:avLst>
          </a:prstGeom>
          <a:solidFill>
            <a:srgbClr val="D8ECE5"/>
          </a:solidFill>
          <a:ln/>
        </p:spPr>
      </p:sp>
      <p:sp>
        <p:nvSpPr>
          <p:cNvPr id="4" name="Shape 2"/>
          <p:cNvSpPr/>
          <p:nvPr/>
        </p:nvSpPr>
        <p:spPr>
          <a:xfrm>
            <a:off x="720566" y="1324213"/>
            <a:ext cx="13189268" cy="6401872"/>
          </a:xfrm>
          <a:prstGeom prst="roundRect">
            <a:avLst>
              <a:gd name="adj" fmla="val 427"/>
            </a:avLst>
          </a:prstGeom>
          <a:solidFill>
            <a:srgbClr val="D8ECE5"/>
          </a:solidFill>
          <a:ln/>
        </p:spPr>
      </p:sp>
      <p:sp>
        <p:nvSpPr>
          <p:cNvPr id="5" name="Text 3"/>
          <p:cNvSpPr/>
          <p:nvPr/>
        </p:nvSpPr>
        <p:spPr>
          <a:xfrm>
            <a:off x="902970" y="1461016"/>
            <a:ext cx="12824460" cy="6128266"/>
          </a:xfrm>
          <a:prstGeom prst="rect">
            <a:avLst/>
          </a:prstGeom>
          <a:noFill/>
          <a:ln/>
        </p:spPr>
        <p:txBody>
          <a:bodyPr wrap="square" lIns="0" tIns="0" rIns="0" bIns="0" rtlCol="0" anchor="t"/>
          <a:lstStyle/>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#include </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#include </a:t>
            </a:r>
            <a:endParaRPr lang="en-US" dirty="0"/>
          </a:p>
          <a:p>
            <a:pPr marL="0" indent="0" algn="l">
              <a:lnSpc>
                <a:spcPts val="2250"/>
              </a:lnSpc>
              <a:buNone/>
            </a:pP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Định nghĩa chân</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#define DHTPIN 4 // DHT11 nối với GPIO 4</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#define DHTTYPE DHT11 // Loại cảm biến</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#define LED_PIN 2 // LED nối với GPIO 2</a:t>
            </a:r>
            <a:endParaRPr lang="en-US" dirty="0"/>
          </a:p>
          <a:p>
            <a:pPr marL="0" indent="0" algn="l">
              <a:lnSpc>
                <a:spcPts val="2250"/>
              </a:lnSpc>
              <a:buNone/>
            </a:pP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Khởi tạo object DHT</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DHT dht(DHTPIN, DHTTYPE);</a:t>
            </a:r>
            <a:endParaRPr lang="en-US" dirty="0"/>
          </a:p>
          <a:p>
            <a:pPr marL="0" indent="0" algn="l">
              <a:lnSpc>
                <a:spcPts val="2250"/>
              </a:lnSpc>
              <a:buNone/>
            </a:pP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Biến thời gian cho đa nhiệm</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unsigned long previousMillisLED = 0;</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unsigned long previousMillisSensor = 0;</a:t>
            </a:r>
            <a:endParaRPr lang="en-US" dirty="0"/>
          </a:p>
          <a:p>
            <a:pPr marL="0" indent="0" algn="l">
              <a:lnSpc>
                <a:spcPts val="2250"/>
              </a:lnSpc>
              <a:buNone/>
            </a:pP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Khoảng thời gian</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const long intervalLED = 500; // 0.5 giây</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const long intervalSensor = 5000; // 5 giây</a:t>
            </a:r>
            <a:endParaRPr lang="en-US" dirty="0"/>
          </a:p>
          <a:p>
            <a:pPr marL="0" indent="0" algn="l">
              <a:lnSpc>
                <a:spcPts val="2250"/>
              </a:lnSpc>
              <a:buNone/>
            </a:pP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 Trạng thái LED</a:t>
            </a:r>
            <a:endParaRPr lang="en-US" dirty="0"/>
          </a:p>
          <a:p>
            <a:pPr marL="0" indent="0" algn="l">
              <a:lnSpc>
                <a:spcPts val="2250"/>
              </a:lnSpc>
              <a:buNone/>
            </a:pPr>
            <a:r>
              <a:rPr lang="en-US" dirty="0">
                <a:solidFill>
                  <a:srgbClr val="4B4A4A"/>
                </a:solidFill>
                <a:highlight>
                  <a:srgbClr val="D8ECE5"/>
                </a:highlight>
                <a:latin typeface="Consolas" pitchFamily="34" charset="0"/>
                <a:ea typeface="Consolas" pitchFamily="34" charset="-122"/>
                <a:cs typeface="Consolas" pitchFamily="34" charset="-120"/>
              </a:rPr>
              <a:t>int ledState = LOW;</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793790" y="820341"/>
            <a:ext cx="6993017"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Gợi ý cấu trúc Code - Phần 2: Setup</a:t>
            </a:r>
            <a:endParaRPr lang="en-US" sz="3100" dirty="0"/>
          </a:p>
        </p:txBody>
      </p:sp>
      <p:sp>
        <p:nvSpPr>
          <p:cNvPr id="3" name="Shape 1"/>
          <p:cNvSpPr/>
          <p:nvPr/>
        </p:nvSpPr>
        <p:spPr>
          <a:xfrm>
            <a:off x="793790" y="1713309"/>
            <a:ext cx="13042821" cy="5695831"/>
          </a:xfrm>
          <a:prstGeom prst="roundRect">
            <a:avLst>
              <a:gd name="adj" fmla="val 3136"/>
            </a:avLst>
          </a:prstGeom>
          <a:solidFill>
            <a:srgbClr val="D8ECE5"/>
          </a:solidFill>
          <a:ln/>
        </p:spPr>
      </p:sp>
      <p:sp>
        <p:nvSpPr>
          <p:cNvPr id="4" name="Shape 2"/>
          <p:cNvSpPr/>
          <p:nvPr/>
        </p:nvSpPr>
        <p:spPr>
          <a:xfrm>
            <a:off x="783908" y="1713309"/>
            <a:ext cx="13062585" cy="5695831"/>
          </a:xfrm>
          <a:prstGeom prst="roundRect">
            <a:avLst>
              <a:gd name="adj" fmla="val 523"/>
            </a:avLst>
          </a:prstGeom>
          <a:solidFill>
            <a:srgbClr val="D8ECE5"/>
          </a:solidFill>
          <a:ln/>
        </p:spPr>
      </p:sp>
      <p:sp>
        <p:nvSpPr>
          <p:cNvPr id="5" name="Text 3"/>
          <p:cNvSpPr/>
          <p:nvPr/>
        </p:nvSpPr>
        <p:spPr>
          <a:xfrm>
            <a:off x="982266" y="1862138"/>
            <a:ext cx="12665869" cy="5398175"/>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setup()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Serial.begin(115200);</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Khởi động cảm biến DHT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dht.begin();</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Cấu hình chân LED</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pinMode(LED_PIN, OUTPUT);</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Serial.println("Hệ thống trạm thời tiết mini khởi động...");</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Serial.println("Đợi 2 giây để DHT11 ổn định...");</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Đợi DHT11 khởi động (chỉ dùng delay() ở đây là OK vì chỉ 1 lần)</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delay(2000);</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Serial.println("Sẵn sàng!");</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793790" y="661630"/>
            <a:ext cx="6858119"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Gợi ý cấu trúc Code - Phần 3: Loop</a:t>
            </a:r>
            <a:endParaRPr lang="en-US" sz="3100" dirty="0"/>
          </a:p>
        </p:txBody>
      </p:sp>
      <p:sp>
        <p:nvSpPr>
          <p:cNvPr id="3" name="Shape 1"/>
          <p:cNvSpPr/>
          <p:nvPr/>
        </p:nvSpPr>
        <p:spPr>
          <a:xfrm>
            <a:off x="793790" y="1554599"/>
            <a:ext cx="13042821" cy="6013371"/>
          </a:xfrm>
          <a:prstGeom prst="roundRect">
            <a:avLst>
              <a:gd name="adj" fmla="val 2970"/>
            </a:avLst>
          </a:prstGeom>
          <a:solidFill>
            <a:srgbClr val="D8ECE5"/>
          </a:solidFill>
          <a:ln/>
        </p:spPr>
      </p:sp>
      <p:sp>
        <p:nvSpPr>
          <p:cNvPr id="4" name="Shape 2"/>
          <p:cNvSpPr/>
          <p:nvPr/>
        </p:nvSpPr>
        <p:spPr>
          <a:xfrm>
            <a:off x="783908" y="1554599"/>
            <a:ext cx="13062585" cy="6013371"/>
          </a:xfrm>
          <a:prstGeom prst="roundRect">
            <a:avLst>
              <a:gd name="adj" fmla="val 495"/>
            </a:avLst>
          </a:prstGeom>
          <a:solidFill>
            <a:srgbClr val="D8ECE5"/>
          </a:solidFill>
          <a:ln/>
        </p:spPr>
      </p:sp>
      <p:sp>
        <p:nvSpPr>
          <p:cNvPr id="5" name="Text 3"/>
          <p:cNvSpPr/>
          <p:nvPr/>
        </p:nvSpPr>
        <p:spPr>
          <a:xfrm>
            <a:off x="982266" y="1703427"/>
            <a:ext cx="12665869" cy="5715714"/>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loop()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unsigned long currentMillis = millis();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 TASK 1: NHÁY LED (HEARTBEAT)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if (currentMillis - previousMillisLED &gt;= intervalLED)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previousMillisLED = currentMillis;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ledState = !ledState; // Đảo trạng thái</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digitalWrite(LED_PIN, ledState);</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 TASK 2: ĐỌC CẢM BIẾN &amp; TẠO JSON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if (currentMillis - previousMillisSensor &gt;= intervalSensor)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previousMillisSensor = currentMillis;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readSensorAndCreateJSON(); // Gọi hàm riêng</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793790" y="2249329"/>
            <a:ext cx="9600724"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Gợi ý cấu trúc Code - Phần 4: Hàm đọc cảm biến</a:t>
            </a:r>
            <a:endParaRPr lang="en-US" sz="3100" dirty="0"/>
          </a:p>
        </p:txBody>
      </p:sp>
      <p:sp>
        <p:nvSpPr>
          <p:cNvPr id="3" name="Shape 1"/>
          <p:cNvSpPr/>
          <p:nvPr/>
        </p:nvSpPr>
        <p:spPr>
          <a:xfrm>
            <a:off x="793790" y="3142298"/>
            <a:ext cx="13042821" cy="2837974"/>
          </a:xfrm>
          <a:prstGeom prst="roundRect">
            <a:avLst>
              <a:gd name="adj" fmla="val 6294"/>
            </a:avLst>
          </a:prstGeom>
          <a:solidFill>
            <a:srgbClr val="D8ECE5"/>
          </a:solidFill>
          <a:ln/>
        </p:spPr>
      </p:sp>
      <p:sp>
        <p:nvSpPr>
          <p:cNvPr id="4" name="Shape 2"/>
          <p:cNvSpPr/>
          <p:nvPr/>
        </p:nvSpPr>
        <p:spPr>
          <a:xfrm>
            <a:off x="783908" y="3142298"/>
            <a:ext cx="13062585" cy="2837974"/>
          </a:xfrm>
          <a:prstGeom prst="roundRect">
            <a:avLst>
              <a:gd name="adj" fmla="val 1049"/>
            </a:avLst>
          </a:prstGeom>
          <a:solidFill>
            <a:srgbClr val="D8ECE5"/>
          </a:solidFill>
          <a:ln/>
        </p:spPr>
      </p:sp>
      <p:sp>
        <p:nvSpPr>
          <p:cNvPr id="5" name="Text 3"/>
          <p:cNvSpPr/>
          <p:nvPr/>
        </p:nvSpPr>
        <p:spPr>
          <a:xfrm>
            <a:off x="982266" y="3291126"/>
            <a:ext cx="12665869" cy="2540318"/>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void readSensorAndCreateJSON()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Đọc nhiệt độ &amp; độ ẩm</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float temperature = dht.readTemperature(); // Celsius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float humidity = dht.readHumidity();</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Kiểm tra lỗi</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if (isnan(temperature) || isnan(humidity))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Serial.println("</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793790" y="2725579"/>
            <a:ext cx="6380798"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Output mẫu trên Serial Monitor</a:t>
            </a:r>
            <a:endParaRPr lang="en-US" sz="3100" dirty="0"/>
          </a:p>
        </p:txBody>
      </p:sp>
      <p:sp>
        <p:nvSpPr>
          <p:cNvPr id="3" name="Shape 1"/>
          <p:cNvSpPr/>
          <p:nvPr/>
        </p:nvSpPr>
        <p:spPr>
          <a:xfrm>
            <a:off x="793790" y="3618548"/>
            <a:ext cx="13042821" cy="1885355"/>
          </a:xfrm>
          <a:prstGeom prst="roundRect">
            <a:avLst>
              <a:gd name="adj" fmla="val 9474"/>
            </a:avLst>
          </a:prstGeom>
          <a:solidFill>
            <a:srgbClr val="D8ECE5"/>
          </a:solidFill>
          <a:ln/>
        </p:spPr>
      </p:sp>
      <p:sp>
        <p:nvSpPr>
          <p:cNvPr id="4" name="Shape 2"/>
          <p:cNvSpPr/>
          <p:nvPr/>
        </p:nvSpPr>
        <p:spPr>
          <a:xfrm>
            <a:off x="783908" y="3618548"/>
            <a:ext cx="13062585" cy="1885355"/>
          </a:xfrm>
          <a:prstGeom prst="roundRect">
            <a:avLst>
              <a:gd name="adj" fmla="val 1579"/>
            </a:avLst>
          </a:prstGeom>
          <a:solidFill>
            <a:srgbClr val="D8ECE5"/>
          </a:solidFill>
          <a:ln/>
        </p:spPr>
      </p:sp>
      <p:sp>
        <p:nvSpPr>
          <p:cNvPr id="5" name="Text 3"/>
          <p:cNvSpPr/>
          <p:nvPr/>
        </p:nvSpPr>
        <p:spPr>
          <a:xfrm>
            <a:off x="982266" y="3767376"/>
            <a:ext cx="12665869" cy="1587698"/>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Hệ thống trạm thời tiết mini khởi động...
Đợi 2 giây để DHT11 ổn định...
Sẵn sàng!
</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793790" y="727343"/>
            <a:ext cx="10063758"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Thử thách nâng cao (cho bạn nào muốn đi xa hơn)</a:t>
            </a:r>
            <a:endParaRPr lang="en-US" sz="3100" dirty="0"/>
          </a:p>
        </p:txBody>
      </p:sp>
      <p:sp>
        <p:nvSpPr>
          <p:cNvPr id="3" name="Shape 1"/>
          <p:cNvSpPr/>
          <p:nvPr/>
        </p:nvSpPr>
        <p:spPr>
          <a:xfrm>
            <a:off x="786170" y="1600200"/>
            <a:ext cx="4215289" cy="2111335"/>
          </a:xfrm>
          <a:prstGeom prst="roundRect">
            <a:avLst>
              <a:gd name="adj" fmla="val 22561"/>
            </a:avLst>
          </a:prstGeom>
          <a:solidFill>
            <a:srgbClr val="006747"/>
          </a:solidFill>
          <a:ln w="7620">
            <a:solidFill>
              <a:srgbClr val="198060"/>
            </a:solidFill>
            <a:prstDash val="solid"/>
          </a:ln>
        </p:spPr>
      </p:sp>
      <p:sp>
        <p:nvSpPr>
          <p:cNvPr id="4" name="Text 2"/>
          <p:cNvSpPr/>
          <p:nvPr/>
        </p:nvSpPr>
        <p:spPr>
          <a:xfrm>
            <a:off x="992148" y="1806178"/>
            <a:ext cx="3469719"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Noto Serif SC Bold" pitchFamily="34" charset="0"/>
                <a:ea typeface="Noto Serif SC Bold" pitchFamily="34" charset="-122"/>
                <a:cs typeface="Noto Serif SC Bold" pitchFamily="34" charset="-120"/>
              </a:rPr>
              <a:t>Challenge 1: Thêm nút bấm</a:t>
            </a:r>
            <a:endParaRPr lang="en-US" sz="1950" dirty="0"/>
          </a:p>
        </p:txBody>
      </p:sp>
      <p:sp>
        <p:nvSpPr>
          <p:cNvPr id="5" name="Text 3"/>
          <p:cNvSpPr/>
          <p:nvPr/>
        </p:nvSpPr>
        <p:spPr>
          <a:xfrm>
            <a:off x="992148" y="2235399"/>
            <a:ext cx="3803333" cy="1270159"/>
          </a:xfrm>
          <a:prstGeom prst="rect">
            <a:avLst/>
          </a:prstGeom>
          <a:noFill/>
          <a:ln/>
        </p:spPr>
        <p:txBody>
          <a:bodyPr wrap="square" lIns="0" tIns="0" rIns="0" bIns="0" rtlCol="0" anchor="t"/>
          <a:lstStyle/>
          <a:p>
            <a:pPr marL="0" indent="0" algn="l">
              <a:lnSpc>
                <a:spcPts val="2500"/>
              </a:lnSpc>
              <a:buNone/>
            </a:pPr>
            <a:r>
              <a:rPr lang="en-US" dirty="0">
                <a:solidFill>
                  <a:srgbClr val="FFFFFF"/>
                </a:solidFill>
                <a:latin typeface="Geist" pitchFamily="34" charset="0"/>
                <a:ea typeface="Geist" pitchFamily="34" charset="-122"/>
                <a:cs typeface="Geist" pitchFamily="34" charset="-120"/>
              </a:rPr>
              <a:t>Thêm một nút bấm. Khi nhấn, ngay lập tức đọc và in JSON ra Serial (không cần đợi 5 giây). Đây là bài tập tuyệt vời về xử lý interrupt!</a:t>
            </a:r>
            <a:endParaRPr lang="en-US" dirty="0"/>
          </a:p>
        </p:txBody>
      </p:sp>
      <p:sp>
        <p:nvSpPr>
          <p:cNvPr id="6" name="Shape 4"/>
          <p:cNvSpPr/>
          <p:nvPr/>
        </p:nvSpPr>
        <p:spPr>
          <a:xfrm>
            <a:off x="5207437" y="3505557"/>
            <a:ext cx="4215408" cy="2669465"/>
          </a:xfrm>
          <a:prstGeom prst="roundRect">
            <a:avLst>
              <a:gd name="adj" fmla="val 22561"/>
            </a:avLst>
          </a:prstGeom>
          <a:solidFill>
            <a:srgbClr val="335E23"/>
          </a:solidFill>
          <a:ln w="7620">
            <a:solidFill>
              <a:srgbClr val="4C773C"/>
            </a:solidFill>
            <a:prstDash val="solid"/>
          </a:ln>
        </p:spPr>
      </p:sp>
      <p:sp>
        <p:nvSpPr>
          <p:cNvPr id="7" name="Text 5"/>
          <p:cNvSpPr/>
          <p:nvPr/>
        </p:nvSpPr>
        <p:spPr>
          <a:xfrm>
            <a:off x="5413415" y="3711535"/>
            <a:ext cx="3002161" cy="310158"/>
          </a:xfrm>
          <a:prstGeom prst="rect">
            <a:avLst/>
          </a:prstGeom>
          <a:noFill/>
          <a:ln/>
        </p:spPr>
        <p:txBody>
          <a:bodyPr wrap="none" lIns="0" tIns="0" rIns="0" bIns="0" rtlCol="0" anchor="t"/>
          <a:lstStyle/>
          <a:p>
            <a:pPr marL="0" indent="0" algn="l">
              <a:lnSpc>
                <a:spcPts val="2400"/>
              </a:lnSpc>
              <a:buNone/>
            </a:pPr>
            <a:r>
              <a:rPr lang="en-US" sz="1950" b="1" dirty="0">
                <a:solidFill>
                  <a:srgbClr val="FFFFFF"/>
                </a:solidFill>
                <a:latin typeface="Noto Serif SC Bold" pitchFamily="34" charset="0"/>
                <a:ea typeface="Noto Serif SC Bold" pitchFamily="34" charset="-122"/>
                <a:cs typeface="Noto Serif SC Bold" pitchFamily="34" charset="-120"/>
              </a:rPr>
              <a:t>Challenge 2: Lưu lịch sử</a:t>
            </a:r>
            <a:endParaRPr lang="en-US" sz="1950" dirty="0"/>
          </a:p>
        </p:txBody>
      </p:sp>
      <p:sp>
        <p:nvSpPr>
          <p:cNvPr id="8" name="Text 6"/>
          <p:cNvSpPr/>
          <p:nvPr/>
        </p:nvSpPr>
        <p:spPr>
          <a:xfrm>
            <a:off x="5413415" y="4140756"/>
            <a:ext cx="3803452" cy="960239"/>
          </a:xfrm>
          <a:prstGeom prst="rect">
            <a:avLst/>
          </a:prstGeom>
          <a:noFill/>
          <a:ln/>
        </p:spPr>
        <p:txBody>
          <a:bodyPr wrap="square" lIns="0" tIns="0" rIns="0" bIns="0" rtlCol="0" anchor="t"/>
          <a:lstStyle/>
          <a:p>
            <a:pPr marL="0" indent="0" algn="l">
              <a:lnSpc>
                <a:spcPts val="2500"/>
              </a:lnSpc>
              <a:buNone/>
            </a:pPr>
            <a:r>
              <a:rPr lang="en-US" dirty="0">
                <a:solidFill>
                  <a:srgbClr val="FFFFFF"/>
                </a:solidFill>
                <a:latin typeface="Geist" pitchFamily="34" charset="0"/>
                <a:ea typeface="Geist" pitchFamily="34" charset="-122"/>
                <a:cs typeface="Geist" pitchFamily="34" charset="-120"/>
              </a:rPr>
              <a:t>Lưu 10 lần đo gần nhất vào một mảng JSON. Khi in, in ra toàn bộ lịch sử dưới dạng JSON array: </a:t>
            </a:r>
            <a:r>
              <a:rPr lang="en-US" dirty="0">
                <a:solidFill>
                  <a:srgbClr val="0070C0"/>
                </a:solidFill>
                <a:highlight>
                  <a:srgbClr val="D8ECE5"/>
                </a:highlight>
                <a:latin typeface="Consolas" pitchFamily="34" charset="0"/>
                <a:ea typeface="Consolas" pitchFamily="34" charset="-122"/>
                <a:cs typeface="Consolas" pitchFamily="34" charset="-120"/>
              </a:rPr>
              <a:t>[{...}, {...}, ...]</a:t>
            </a:r>
            <a:endParaRPr lang="en-US" dirty="0">
              <a:solidFill>
                <a:srgbClr val="0070C0"/>
              </a:solidFill>
            </a:endParaRPr>
          </a:p>
        </p:txBody>
      </p:sp>
      <p:sp>
        <p:nvSpPr>
          <p:cNvPr id="9" name="Shape 7"/>
          <p:cNvSpPr/>
          <p:nvPr/>
        </p:nvSpPr>
        <p:spPr>
          <a:xfrm>
            <a:off x="9519603" y="5492401"/>
            <a:ext cx="4215289" cy="2488843"/>
          </a:xfrm>
          <a:prstGeom prst="roundRect">
            <a:avLst>
              <a:gd name="adj" fmla="val 22561"/>
            </a:avLst>
          </a:prstGeom>
          <a:solidFill>
            <a:srgbClr val="8CAB18"/>
          </a:solidFill>
          <a:ln w="7620">
            <a:solidFill>
              <a:srgbClr val="729100"/>
            </a:solidFill>
            <a:prstDash val="solid"/>
          </a:ln>
        </p:spPr>
      </p:sp>
      <p:sp>
        <p:nvSpPr>
          <p:cNvPr id="10" name="Text 8"/>
          <p:cNvSpPr/>
          <p:nvPr/>
        </p:nvSpPr>
        <p:spPr>
          <a:xfrm>
            <a:off x="9725581" y="5698379"/>
            <a:ext cx="3803333" cy="620316"/>
          </a:xfrm>
          <a:prstGeom prst="rect">
            <a:avLst/>
          </a:prstGeom>
          <a:noFill/>
          <a:ln/>
        </p:spPr>
        <p:txBody>
          <a:bodyPr wrap="square" lIns="0" tIns="0" rIns="0" bIns="0" rtlCol="0" anchor="t"/>
          <a:lstStyle/>
          <a:p>
            <a:pPr marL="0" indent="0" algn="l">
              <a:lnSpc>
                <a:spcPts val="2400"/>
              </a:lnSpc>
              <a:buNone/>
            </a:pPr>
            <a:r>
              <a:rPr lang="en-US" sz="1950" b="1" dirty="0">
                <a:solidFill>
                  <a:srgbClr val="000000"/>
                </a:solidFill>
                <a:latin typeface="Noto Serif SC Bold" pitchFamily="34" charset="0"/>
                <a:ea typeface="Noto Serif SC Bold" pitchFamily="34" charset="-122"/>
                <a:cs typeface="Noto Serif SC Bold" pitchFamily="34" charset="-120"/>
              </a:rPr>
              <a:t>Challenge 3: Cảnh báo bằng LED</a:t>
            </a:r>
            <a:endParaRPr lang="en-US" sz="1950" dirty="0"/>
          </a:p>
        </p:txBody>
      </p:sp>
      <p:sp>
        <p:nvSpPr>
          <p:cNvPr id="11" name="Text 9"/>
          <p:cNvSpPr/>
          <p:nvPr/>
        </p:nvSpPr>
        <p:spPr>
          <a:xfrm>
            <a:off x="9725581" y="6437757"/>
            <a:ext cx="3803333" cy="952619"/>
          </a:xfrm>
          <a:prstGeom prst="rect">
            <a:avLst/>
          </a:prstGeom>
          <a:noFill/>
          <a:ln/>
        </p:spPr>
        <p:txBody>
          <a:bodyPr wrap="square" lIns="0" tIns="0" rIns="0" bIns="0" rtlCol="0" anchor="t"/>
          <a:lstStyle/>
          <a:p>
            <a:pPr marL="0" indent="0" algn="l">
              <a:lnSpc>
                <a:spcPts val="2500"/>
              </a:lnSpc>
              <a:buNone/>
            </a:pPr>
            <a:r>
              <a:rPr lang="en-US" dirty="0">
                <a:solidFill>
                  <a:srgbClr val="000000"/>
                </a:solidFill>
                <a:latin typeface="Geist" pitchFamily="34" charset="0"/>
                <a:ea typeface="Geist" pitchFamily="34" charset="-122"/>
                <a:cs typeface="Geist" pitchFamily="34" charset="-120"/>
              </a:rPr>
              <a:t>Thay vì nháy đều, LED sẽ nháy nhanh (100ms) khi nhiệt độ &gt; 30°C hoặc độ ẩm &lt; 30%. Nháy chậm (1s) khi bình thường.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3" name="Shape 1"/>
          <p:cNvSpPr/>
          <p:nvPr/>
        </p:nvSpPr>
        <p:spPr>
          <a:xfrm>
            <a:off x="793790" y="2628543"/>
            <a:ext cx="4215289" cy="4427013"/>
          </a:xfrm>
          <a:prstGeom prst="roundRect">
            <a:avLst>
              <a:gd name="adj" fmla="val 4621"/>
            </a:avLst>
          </a:prstGeom>
          <a:solidFill>
            <a:srgbClr val="D1EFE4"/>
          </a:solidFill>
          <a:ln w="7620">
            <a:solidFill>
              <a:srgbClr val="006747"/>
            </a:solidFill>
            <a:prstDash val="solid"/>
          </a:ln>
        </p:spPr>
      </p:sp>
      <p:sp>
        <p:nvSpPr>
          <p:cNvPr id="4" name="Shape 2"/>
          <p:cNvSpPr/>
          <p:nvPr/>
        </p:nvSpPr>
        <p:spPr>
          <a:xfrm>
            <a:off x="999768" y="2834521"/>
            <a:ext cx="595313" cy="595313"/>
          </a:xfrm>
          <a:prstGeom prst="roundRect">
            <a:avLst>
              <a:gd name="adj" fmla="val 15358451"/>
            </a:avLst>
          </a:prstGeom>
          <a:solidFill>
            <a:srgbClr val="006747"/>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3479" y="2998113"/>
            <a:ext cx="267891" cy="267891"/>
          </a:xfrm>
          <a:prstGeom prst="rect">
            <a:avLst/>
          </a:prstGeom>
        </p:spPr>
      </p:pic>
      <p:sp>
        <p:nvSpPr>
          <p:cNvPr id="6" name="Text 3"/>
          <p:cNvSpPr/>
          <p:nvPr/>
        </p:nvSpPr>
        <p:spPr>
          <a:xfrm>
            <a:off x="999768" y="3628192"/>
            <a:ext cx="3803333"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1. Tại sao KHÔNG dùng delay()?</a:t>
            </a:r>
            <a:endParaRPr lang="en-US" sz="1950" dirty="0"/>
          </a:p>
        </p:txBody>
      </p:sp>
      <p:sp>
        <p:nvSpPr>
          <p:cNvPr id="7" name="Text 4"/>
          <p:cNvSpPr/>
          <p:nvPr/>
        </p:nvSpPr>
        <p:spPr>
          <a:xfrm>
            <a:off x="999768" y="4367570"/>
            <a:ext cx="3803333" cy="1905238"/>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delay() là </a:t>
            </a:r>
            <a:r>
              <a:rPr lang="en-US" b="1" dirty="0">
                <a:solidFill>
                  <a:srgbClr val="4B4A4A"/>
                </a:solidFill>
                <a:latin typeface="Geist" pitchFamily="34" charset="0"/>
                <a:ea typeface="Geist" pitchFamily="34" charset="-122"/>
                <a:cs typeface="Geist" pitchFamily="34" charset="-120"/>
              </a:rPr>
              <a:t>Blocking Code</a:t>
            </a:r>
            <a:r>
              <a:rPr lang="en-US" dirty="0">
                <a:solidFill>
                  <a:srgbClr val="4B4A4A"/>
                </a:solidFill>
                <a:latin typeface="Geist" pitchFamily="34" charset="0"/>
                <a:ea typeface="Geist" pitchFamily="34" charset="-122"/>
                <a:cs typeface="Geist" pitchFamily="34" charset="-120"/>
              </a:rPr>
              <a:t> - làm đóng băng toàn bộ vi xử lý. Trong thời gian delay(), ESP32 không thể phản ứng với sự kiện khẩn cấp, không thể đọc cảm biến, không thể xử lý nút bấm. Trong IoT, điều này cực kỳ nguy hiểm.</a:t>
            </a:r>
            <a:endParaRPr lang="en-US" dirty="0"/>
          </a:p>
        </p:txBody>
      </p:sp>
      <p:sp>
        <p:nvSpPr>
          <p:cNvPr id="8" name="Shape 5"/>
          <p:cNvSpPr/>
          <p:nvPr/>
        </p:nvSpPr>
        <p:spPr>
          <a:xfrm>
            <a:off x="5207437" y="2628543"/>
            <a:ext cx="4215408" cy="4427013"/>
          </a:xfrm>
          <a:prstGeom prst="roundRect">
            <a:avLst>
              <a:gd name="adj" fmla="val 4621"/>
            </a:avLst>
          </a:prstGeom>
          <a:solidFill>
            <a:srgbClr val="D1EFE4"/>
          </a:solidFill>
          <a:ln w="7620">
            <a:solidFill>
              <a:srgbClr val="335E23"/>
            </a:solidFill>
            <a:prstDash val="solid"/>
          </a:ln>
        </p:spPr>
      </p:sp>
      <p:sp>
        <p:nvSpPr>
          <p:cNvPr id="9" name="Shape 6"/>
          <p:cNvSpPr/>
          <p:nvPr/>
        </p:nvSpPr>
        <p:spPr>
          <a:xfrm>
            <a:off x="5413415" y="2834521"/>
            <a:ext cx="595313" cy="595313"/>
          </a:xfrm>
          <a:prstGeom prst="roundRect">
            <a:avLst>
              <a:gd name="adj" fmla="val 15358451"/>
            </a:avLst>
          </a:prstGeom>
          <a:solidFill>
            <a:srgbClr val="335E23"/>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77126" y="2998113"/>
            <a:ext cx="267891" cy="267891"/>
          </a:xfrm>
          <a:prstGeom prst="rect">
            <a:avLst/>
          </a:prstGeom>
        </p:spPr>
      </p:pic>
      <p:sp>
        <p:nvSpPr>
          <p:cNvPr id="11" name="Text 7"/>
          <p:cNvSpPr/>
          <p:nvPr/>
        </p:nvSpPr>
        <p:spPr>
          <a:xfrm>
            <a:off x="5413415" y="3628192"/>
            <a:ext cx="3803452"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2. Kỹ thuật millis() để đa nhiệm</a:t>
            </a:r>
            <a:endParaRPr lang="en-US" sz="1950" dirty="0"/>
          </a:p>
        </p:txBody>
      </p:sp>
      <p:sp>
        <p:nvSpPr>
          <p:cNvPr id="12" name="Text 8"/>
          <p:cNvSpPr/>
          <p:nvPr/>
        </p:nvSpPr>
        <p:spPr>
          <a:xfrm>
            <a:off x="5413415" y="4367570"/>
            <a:ext cx="3803452" cy="1920478"/>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millis() trả về số mili-giây từ khi khởi động. Bằng cách so sánh </a:t>
            </a:r>
            <a:r>
              <a:rPr lang="en-US" dirty="0">
                <a:solidFill>
                  <a:srgbClr val="4B4A4A"/>
                </a:solidFill>
                <a:highlight>
                  <a:srgbClr val="D8ECE5"/>
                </a:highlight>
                <a:latin typeface="Consolas" pitchFamily="34" charset="0"/>
                <a:ea typeface="Consolas" pitchFamily="34" charset="-122"/>
                <a:cs typeface="Consolas" pitchFamily="34" charset="-120"/>
              </a:rPr>
              <a:t>currentMillis - previousMillis &gt;= interval</a:t>
            </a:r>
            <a:r>
              <a:rPr lang="en-US" dirty="0">
                <a:solidFill>
                  <a:srgbClr val="4B4A4A"/>
                </a:solidFill>
                <a:latin typeface="Geist" pitchFamily="34" charset="0"/>
                <a:ea typeface="Geist" pitchFamily="34" charset="-122"/>
                <a:cs typeface="Geist" pitchFamily="34" charset="-120"/>
              </a:rPr>
              <a:t>, ta biết đã đủ thời gian chưa mà không cần dừng code. Mỗi tác vụ có bộ ba biến riêng: previous, interval, state.</a:t>
            </a:r>
            <a:endParaRPr lang="en-US" dirty="0"/>
          </a:p>
        </p:txBody>
      </p:sp>
      <p:sp>
        <p:nvSpPr>
          <p:cNvPr id="13" name="Shape 9"/>
          <p:cNvSpPr/>
          <p:nvPr/>
        </p:nvSpPr>
        <p:spPr>
          <a:xfrm>
            <a:off x="9621203" y="2628543"/>
            <a:ext cx="4215289" cy="4427013"/>
          </a:xfrm>
          <a:prstGeom prst="roundRect">
            <a:avLst>
              <a:gd name="adj" fmla="val 4621"/>
            </a:avLst>
          </a:prstGeom>
          <a:solidFill>
            <a:srgbClr val="D1EFE4"/>
          </a:solidFill>
          <a:ln w="7620">
            <a:solidFill>
              <a:srgbClr val="8CAB18"/>
            </a:solidFill>
            <a:prstDash val="solid"/>
          </a:ln>
        </p:spPr>
      </p:sp>
      <p:sp>
        <p:nvSpPr>
          <p:cNvPr id="14" name="Shape 10"/>
          <p:cNvSpPr/>
          <p:nvPr/>
        </p:nvSpPr>
        <p:spPr>
          <a:xfrm>
            <a:off x="9827181" y="2834521"/>
            <a:ext cx="595313" cy="595313"/>
          </a:xfrm>
          <a:prstGeom prst="roundRect">
            <a:avLst>
              <a:gd name="adj" fmla="val 15358451"/>
            </a:avLst>
          </a:prstGeom>
          <a:solidFill>
            <a:srgbClr val="8CAB18"/>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0892" y="2998113"/>
            <a:ext cx="267891" cy="267891"/>
          </a:xfrm>
          <a:prstGeom prst="rect">
            <a:avLst/>
          </a:prstGeom>
        </p:spPr>
      </p:pic>
      <p:sp>
        <p:nvSpPr>
          <p:cNvPr id="16" name="Text 11"/>
          <p:cNvSpPr/>
          <p:nvPr/>
        </p:nvSpPr>
        <p:spPr>
          <a:xfrm>
            <a:off x="9827181" y="3628192"/>
            <a:ext cx="3803333"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3. JSON - Ngôn ngữ chung của IoT</a:t>
            </a:r>
            <a:endParaRPr lang="en-US" sz="1950" dirty="0"/>
          </a:p>
        </p:txBody>
      </p:sp>
      <p:sp>
        <p:nvSpPr>
          <p:cNvPr id="17" name="Text 12"/>
          <p:cNvSpPr/>
          <p:nvPr/>
        </p:nvSpPr>
        <p:spPr>
          <a:xfrm>
            <a:off x="9827181" y="4367570"/>
            <a:ext cx="3803333" cy="1595318"/>
          </a:xfrm>
          <a:prstGeom prst="rect">
            <a:avLst/>
          </a:prstGeom>
          <a:noFill/>
          <a:ln/>
        </p:spPr>
        <p:txBody>
          <a:bodyPr wrap="square" lIns="0" tIns="0" rIns="0" bIns="0" rtlCol="0" anchor="t"/>
          <a:lstStyle/>
          <a:p>
            <a:pPr marL="0" indent="0" algn="l">
              <a:lnSpc>
                <a:spcPts val="2500"/>
              </a:lnSpc>
              <a:buNone/>
            </a:pPr>
            <a:r>
              <a:rPr lang="en-US" dirty="0">
                <a:solidFill>
                  <a:srgbClr val="4B4A4A"/>
                </a:solidFill>
                <a:latin typeface="Geist" pitchFamily="34" charset="0"/>
                <a:ea typeface="Geist" pitchFamily="34" charset="-122"/>
                <a:cs typeface="Geist" pitchFamily="34" charset="-120"/>
              </a:rPr>
              <a:t>JSON là định dạng chuẩn quốc tế để trao đổi dữ liệu. Cấu trúc </a:t>
            </a:r>
            <a:r>
              <a:rPr lang="en-US" dirty="0">
                <a:solidFill>
                  <a:srgbClr val="4B4A4A"/>
                </a:solidFill>
                <a:highlight>
                  <a:srgbClr val="D8ECE5"/>
                </a:highlight>
                <a:latin typeface="Consolas" pitchFamily="34" charset="0"/>
                <a:ea typeface="Consolas" pitchFamily="34" charset="-122"/>
                <a:cs typeface="Consolas" pitchFamily="34" charset="-120"/>
              </a:rPr>
              <a:t>{"key": value}</a:t>
            </a:r>
            <a:r>
              <a:rPr lang="en-US" dirty="0">
                <a:solidFill>
                  <a:srgbClr val="4B4A4A"/>
                </a:solidFill>
                <a:latin typeface="Geist" pitchFamily="34" charset="0"/>
                <a:ea typeface="Geist" pitchFamily="34" charset="-122"/>
                <a:cs typeface="Geist" pitchFamily="34" charset="-120"/>
              </a:rPr>
              <a:t> dễ đọc, nhẹ, và được mọi ngôn ngữ lập trình hỗ trợ. Dùng thư viện ArduinoJson để đóng gói dữ liệu trước khi gửi lên mạng.</a:t>
            </a:r>
            <a:endParaRPr lang="en-US" dirty="0"/>
          </a:p>
        </p:txBody>
      </p:sp>
      <p:sp>
        <p:nvSpPr>
          <p:cNvPr id="18" name="Text 0">
            <a:extLst>
              <a:ext uri="{FF2B5EF4-FFF2-40B4-BE49-F238E27FC236}">
                <a16:creationId xmlns:a16="http://schemas.microsoft.com/office/drawing/2014/main" id="{94C3F2D4-D7CB-1F88-878E-A6D3B33F5BE6}"/>
              </a:ext>
            </a:extLst>
          </p:cNvPr>
          <p:cNvSpPr/>
          <p:nvPr/>
        </p:nvSpPr>
        <p:spPr>
          <a:xfrm>
            <a:off x="793790" y="1321474"/>
            <a:ext cx="7432119"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TÓM TẮT KIẾN THỨC TUẦN 4</a:t>
            </a:r>
            <a:endParaRPr lang="en-US" sz="3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659963" y="453747"/>
            <a:ext cx="5674400" cy="412552"/>
          </a:xfrm>
          <a:prstGeom prst="rect">
            <a:avLst/>
          </a:prstGeom>
          <a:noFill/>
          <a:ln/>
        </p:spPr>
        <p:txBody>
          <a:bodyPr wrap="none" lIns="0" tIns="0" rIns="0" bIns="0" rtlCol="0" anchor="t"/>
          <a:lstStyle/>
          <a:p>
            <a:pPr marL="0" indent="0" algn="l">
              <a:lnSpc>
                <a:spcPts val="3200"/>
              </a:lnSpc>
              <a:buNone/>
            </a:pPr>
            <a:r>
              <a:rPr lang="en-US" sz="2550" b="1" dirty="0">
                <a:solidFill>
                  <a:srgbClr val="006747"/>
                </a:solidFill>
                <a:latin typeface="Noto Serif SC Bold" pitchFamily="34" charset="0"/>
                <a:ea typeface="Noto Serif SC Bold" pitchFamily="34" charset="-122"/>
                <a:cs typeface="Noto Serif SC Bold" pitchFamily="34" charset="-120"/>
              </a:rPr>
              <a:t>So sánh Blocking vs Non-Blocking</a:t>
            </a:r>
            <a:endParaRPr lang="en-US" sz="2550" dirty="0"/>
          </a:p>
        </p:txBody>
      </p:sp>
      <p:sp>
        <p:nvSpPr>
          <p:cNvPr id="3" name="Text 1"/>
          <p:cNvSpPr/>
          <p:nvPr/>
        </p:nvSpPr>
        <p:spPr>
          <a:xfrm>
            <a:off x="659963" y="1278612"/>
            <a:ext cx="3199209" cy="280630"/>
          </a:xfrm>
          <a:prstGeom prst="rect">
            <a:avLst/>
          </a:prstGeom>
          <a:noFill/>
          <a:ln/>
        </p:spPr>
        <p:txBody>
          <a:bodyPr wrap="none" lIns="0" tIns="0" rIns="0" bIns="0" rtlCol="0" anchor="t"/>
          <a:lstStyle/>
          <a:p>
            <a:pPr marL="0" indent="0" algn="l">
              <a:lnSpc>
                <a:spcPts val="2000"/>
              </a:lnSpc>
              <a:buNone/>
            </a:pPr>
            <a:r>
              <a:rPr lang="en-US" b="1" dirty="0">
                <a:solidFill>
                  <a:srgbClr val="000000"/>
                </a:solidFill>
                <a:latin typeface="Noto Serif SC Bold" pitchFamily="34" charset="0"/>
                <a:ea typeface="Noto Serif SC Bold" pitchFamily="34" charset="-122"/>
                <a:cs typeface="Noto Serif SC Bold" pitchFamily="34" charset="-120"/>
              </a:rPr>
              <a:t>❌</a:t>
            </a:r>
            <a:r>
              <a:rPr lang="en-US" b="1" dirty="0">
                <a:solidFill>
                  <a:srgbClr val="006747"/>
                </a:solidFill>
                <a:latin typeface="Noto Serif SC Bold" pitchFamily="34" charset="0"/>
                <a:ea typeface="Noto Serif SC Bold" pitchFamily="34" charset="-122"/>
                <a:cs typeface="Noto Serif SC Bold" pitchFamily="34" charset="-120"/>
              </a:rPr>
              <a:t> Blocking Code (Dùng delay)</a:t>
            </a:r>
            <a:endParaRPr lang="en-US" dirty="0"/>
          </a:p>
        </p:txBody>
      </p:sp>
      <p:sp>
        <p:nvSpPr>
          <p:cNvPr id="4" name="Shape 2"/>
          <p:cNvSpPr/>
          <p:nvPr/>
        </p:nvSpPr>
        <p:spPr>
          <a:xfrm>
            <a:off x="659963" y="1744861"/>
            <a:ext cx="6454021" cy="2887028"/>
          </a:xfrm>
          <a:prstGeom prst="roundRect">
            <a:avLst>
              <a:gd name="adj" fmla="val 5144"/>
            </a:avLst>
          </a:prstGeom>
          <a:solidFill>
            <a:srgbClr val="D8ECE5"/>
          </a:solidFill>
          <a:ln/>
        </p:spPr>
      </p:sp>
      <p:sp>
        <p:nvSpPr>
          <p:cNvPr id="5" name="Shape 3"/>
          <p:cNvSpPr/>
          <p:nvPr/>
        </p:nvSpPr>
        <p:spPr>
          <a:xfrm>
            <a:off x="651748" y="1744861"/>
            <a:ext cx="6470452" cy="2887028"/>
          </a:xfrm>
          <a:prstGeom prst="roundRect">
            <a:avLst>
              <a:gd name="adj" fmla="val 857"/>
            </a:avLst>
          </a:prstGeom>
          <a:solidFill>
            <a:srgbClr val="D8ECE5"/>
          </a:solidFill>
          <a:ln/>
        </p:spPr>
      </p:sp>
      <p:sp>
        <p:nvSpPr>
          <p:cNvPr id="6" name="Text 4"/>
          <p:cNvSpPr/>
          <p:nvPr/>
        </p:nvSpPr>
        <p:spPr>
          <a:xfrm>
            <a:off x="816650" y="1868567"/>
            <a:ext cx="6140648" cy="2639616"/>
          </a:xfrm>
          <a:prstGeom prst="rect">
            <a:avLst/>
          </a:prstGeom>
          <a:noFill/>
          <a:ln/>
        </p:spPr>
        <p:txBody>
          <a:bodyPr wrap="square" lIns="0" tIns="0" rIns="0" bIns="0" rtlCol="0" anchor="t"/>
          <a:lstStyle/>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void loop()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readSensor();</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digitalWrite(LED, HIGH);</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delay(1000);  // Đóng băng 1s</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digitalWrite(LED, LOW);</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delay(1000);  // Đóng băng 1s</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Trong 2s trên, không làm gì được!</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7" name="Text 5"/>
          <p:cNvSpPr/>
          <p:nvPr/>
        </p:nvSpPr>
        <p:spPr>
          <a:xfrm>
            <a:off x="659963" y="4817507"/>
            <a:ext cx="6454021" cy="263962"/>
          </a:xfrm>
          <a:prstGeom prst="rect">
            <a:avLst/>
          </a:prstGeom>
          <a:noFill/>
          <a:ln/>
        </p:spPr>
        <p:txBody>
          <a:bodyPr wrap="none" lIns="0" tIns="0" rIns="0" bIns="0" rtlCol="0" anchor="t"/>
          <a:lstStyle/>
          <a:p>
            <a:pPr marL="0" indent="0" algn="l">
              <a:lnSpc>
                <a:spcPts val="2050"/>
              </a:lnSpc>
              <a:buNone/>
            </a:pPr>
            <a:r>
              <a:rPr lang="en-US" b="1" dirty="0">
                <a:solidFill>
                  <a:srgbClr val="4B4A4A"/>
                </a:solidFill>
                <a:latin typeface="Geist" pitchFamily="34" charset="0"/>
                <a:ea typeface="Geist" pitchFamily="34" charset="-122"/>
                <a:cs typeface="Geist" pitchFamily="34" charset="-120"/>
              </a:rPr>
              <a:t>Hậu quả:</a:t>
            </a:r>
            <a:endParaRPr lang="en-US" dirty="0"/>
          </a:p>
        </p:txBody>
      </p:sp>
      <p:sp>
        <p:nvSpPr>
          <p:cNvPr id="8" name="Text 6"/>
          <p:cNvSpPr/>
          <p:nvPr/>
        </p:nvSpPr>
        <p:spPr>
          <a:xfrm>
            <a:off x="659963" y="5229939"/>
            <a:ext cx="6454021" cy="263962"/>
          </a:xfrm>
          <a:prstGeom prst="rect">
            <a:avLst/>
          </a:prstGeom>
          <a:noFill/>
          <a:ln/>
        </p:spPr>
        <p:txBody>
          <a:bodyPr wrap="none" lIns="0" tIns="0" rIns="0" bIns="0" rtlCol="0" anchor="t"/>
          <a:lstStyle/>
          <a:p>
            <a:pPr marL="342900" indent="-342900" algn="l">
              <a:lnSpc>
                <a:spcPts val="2050"/>
              </a:lnSpc>
              <a:buSzPct val="100000"/>
              <a:buChar char="•"/>
            </a:pPr>
            <a:r>
              <a:rPr lang="en-US" dirty="0">
                <a:solidFill>
                  <a:srgbClr val="4B4A4A"/>
                </a:solidFill>
                <a:latin typeface="Geist" pitchFamily="34" charset="0"/>
                <a:ea typeface="Geist" pitchFamily="34" charset="-122"/>
                <a:cs typeface="Geist" pitchFamily="34" charset="-120"/>
              </a:rPr>
              <a:t>Không phản ứng với nút bấm</a:t>
            </a:r>
            <a:endParaRPr lang="en-US" dirty="0"/>
          </a:p>
        </p:txBody>
      </p:sp>
      <p:sp>
        <p:nvSpPr>
          <p:cNvPr id="9" name="Text 7"/>
          <p:cNvSpPr/>
          <p:nvPr/>
        </p:nvSpPr>
        <p:spPr>
          <a:xfrm>
            <a:off x="659963" y="5551646"/>
            <a:ext cx="6454021" cy="263962"/>
          </a:xfrm>
          <a:prstGeom prst="rect">
            <a:avLst/>
          </a:prstGeom>
          <a:noFill/>
          <a:ln/>
        </p:spPr>
        <p:txBody>
          <a:bodyPr wrap="none" lIns="0" tIns="0" rIns="0" bIns="0" rtlCol="0" anchor="t"/>
          <a:lstStyle/>
          <a:p>
            <a:pPr marL="342900" indent="-342900" algn="l">
              <a:lnSpc>
                <a:spcPts val="2050"/>
              </a:lnSpc>
              <a:buSzPct val="100000"/>
              <a:buChar char="•"/>
            </a:pPr>
            <a:r>
              <a:rPr lang="en-US" dirty="0">
                <a:solidFill>
                  <a:srgbClr val="4B4A4A"/>
                </a:solidFill>
                <a:latin typeface="Geist" pitchFamily="34" charset="0"/>
                <a:ea typeface="Geist" pitchFamily="34" charset="-122"/>
                <a:cs typeface="Geist" pitchFamily="34" charset="-120"/>
              </a:rPr>
              <a:t>Không phát hiện sự kiện khẩn cấp</a:t>
            </a:r>
            <a:endParaRPr lang="en-US" dirty="0"/>
          </a:p>
        </p:txBody>
      </p:sp>
      <p:sp>
        <p:nvSpPr>
          <p:cNvPr id="10" name="Text 8"/>
          <p:cNvSpPr/>
          <p:nvPr/>
        </p:nvSpPr>
        <p:spPr>
          <a:xfrm>
            <a:off x="659963" y="5873353"/>
            <a:ext cx="6454021" cy="263962"/>
          </a:xfrm>
          <a:prstGeom prst="rect">
            <a:avLst/>
          </a:prstGeom>
          <a:noFill/>
          <a:ln/>
        </p:spPr>
        <p:txBody>
          <a:bodyPr wrap="none" lIns="0" tIns="0" rIns="0" bIns="0" rtlCol="0" anchor="t"/>
          <a:lstStyle/>
          <a:p>
            <a:pPr marL="342900" indent="-342900" algn="l">
              <a:lnSpc>
                <a:spcPts val="2050"/>
              </a:lnSpc>
              <a:buSzPct val="100000"/>
              <a:buChar char="•"/>
            </a:pPr>
            <a:r>
              <a:rPr lang="en-US" dirty="0">
                <a:solidFill>
                  <a:srgbClr val="4B4A4A"/>
                </a:solidFill>
                <a:latin typeface="Geist" pitchFamily="34" charset="0"/>
                <a:ea typeface="Geist" pitchFamily="34" charset="-122"/>
                <a:cs typeface="Geist" pitchFamily="34" charset="-120"/>
              </a:rPr>
              <a:t>Chỉ làm được 1 việc tại 1 thời điểm</a:t>
            </a:r>
            <a:endParaRPr lang="en-US" dirty="0"/>
          </a:p>
        </p:txBody>
      </p:sp>
      <p:sp>
        <p:nvSpPr>
          <p:cNvPr id="11" name="Text 9"/>
          <p:cNvSpPr/>
          <p:nvPr/>
        </p:nvSpPr>
        <p:spPr>
          <a:xfrm>
            <a:off x="7524036" y="1278612"/>
            <a:ext cx="3750945" cy="280630"/>
          </a:xfrm>
          <a:prstGeom prst="rect">
            <a:avLst/>
          </a:prstGeom>
          <a:noFill/>
          <a:ln/>
        </p:spPr>
        <p:txBody>
          <a:bodyPr wrap="none" lIns="0" tIns="0" rIns="0" bIns="0" rtlCol="0" anchor="t"/>
          <a:lstStyle/>
          <a:p>
            <a:pPr marL="0" indent="0" algn="l">
              <a:lnSpc>
                <a:spcPts val="2000"/>
              </a:lnSpc>
              <a:buNone/>
            </a:pPr>
            <a:r>
              <a:rPr lang="en-US" b="1" dirty="0">
                <a:solidFill>
                  <a:srgbClr val="000000"/>
                </a:solidFill>
                <a:latin typeface="Noto Serif SC Bold" pitchFamily="34" charset="0"/>
                <a:ea typeface="Noto Serif SC Bold" pitchFamily="34" charset="-122"/>
                <a:cs typeface="Noto Serif SC Bold" pitchFamily="34" charset="-120"/>
              </a:rPr>
              <a:t>✅</a:t>
            </a:r>
            <a:r>
              <a:rPr lang="en-US" b="1" dirty="0">
                <a:solidFill>
                  <a:srgbClr val="006747"/>
                </a:solidFill>
                <a:latin typeface="Noto Serif SC Bold" pitchFamily="34" charset="0"/>
                <a:ea typeface="Noto Serif SC Bold" pitchFamily="34" charset="-122"/>
                <a:cs typeface="Noto Serif SC Bold" pitchFamily="34" charset="-120"/>
              </a:rPr>
              <a:t> Non-Blocking Code (Dùng millis)</a:t>
            </a:r>
            <a:endParaRPr lang="en-US" dirty="0"/>
          </a:p>
        </p:txBody>
      </p:sp>
      <p:sp>
        <p:nvSpPr>
          <p:cNvPr id="12" name="Shape 10"/>
          <p:cNvSpPr/>
          <p:nvPr/>
        </p:nvSpPr>
        <p:spPr>
          <a:xfrm>
            <a:off x="7524036" y="1744861"/>
            <a:ext cx="6454021" cy="4470797"/>
          </a:xfrm>
          <a:prstGeom prst="roundRect">
            <a:avLst>
              <a:gd name="adj" fmla="val 3322"/>
            </a:avLst>
          </a:prstGeom>
          <a:solidFill>
            <a:srgbClr val="D8ECE5"/>
          </a:solidFill>
          <a:ln/>
        </p:spPr>
      </p:sp>
      <p:sp>
        <p:nvSpPr>
          <p:cNvPr id="13" name="Shape 11"/>
          <p:cNvSpPr/>
          <p:nvPr/>
        </p:nvSpPr>
        <p:spPr>
          <a:xfrm>
            <a:off x="7515820" y="1744861"/>
            <a:ext cx="6470452" cy="4470797"/>
          </a:xfrm>
          <a:prstGeom prst="roundRect">
            <a:avLst>
              <a:gd name="adj" fmla="val 554"/>
            </a:avLst>
          </a:prstGeom>
          <a:solidFill>
            <a:srgbClr val="D8ECE5"/>
          </a:solidFill>
          <a:ln/>
        </p:spPr>
      </p:sp>
      <p:sp>
        <p:nvSpPr>
          <p:cNvPr id="14" name="Text 12"/>
          <p:cNvSpPr/>
          <p:nvPr/>
        </p:nvSpPr>
        <p:spPr>
          <a:xfrm>
            <a:off x="7680722" y="1868567"/>
            <a:ext cx="6140648" cy="4223385"/>
          </a:xfrm>
          <a:prstGeom prst="rect">
            <a:avLst/>
          </a:prstGeom>
          <a:noFill/>
          <a:ln/>
        </p:spPr>
        <p:txBody>
          <a:bodyPr wrap="square" lIns="0" tIns="0" rIns="0" bIns="0" rtlCol="0" anchor="t"/>
          <a:lstStyle/>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void loop()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unsigned long now = millis();</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if (now - prevSensor &gt;= 5000)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prevSensor = now;</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readSensor();</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if (now - prevLED &gt;= 1000)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prevLED = now;</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ledState = !ledState;</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digitalWrite(LED, ledState);</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  // Luôn sẵn sàng xử lý sự kiện khác!</a:t>
            </a:r>
            <a:endParaRPr lang="en-US" dirty="0"/>
          </a:p>
          <a:p>
            <a:pPr marL="0" indent="0" algn="l">
              <a:lnSpc>
                <a:spcPts val="205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15" name="Text 13"/>
          <p:cNvSpPr/>
          <p:nvPr/>
        </p:nvSpPr>
        <p:spPr>
          <a:xfrm>
            <a:off x="7524036" y="6401276"/>
            <a:ext cx="6454021" cy="263962"/>
          </a:xfrm>
          <a:prstGeom prst="rect">
            <a:avLst/>
          </a:prstGeom>
          <a:noFill/>
          <a:ln/>
        </p:spPr>
        <p:txBody>
          <a:bodyPr wrap="none" lIns="0" tIns="0" rIns="0" bIns="0" rtlCol="0" anchor="t"/>
          <a:lstStyle/>
          <a:p>
            <a:pPr marL="0" indent="0" algn="l">
              <a:lnSpc>
                <a:spcPts val="2050"/>
              </a:lnSpc>
              <a:buNone/>
            </a:pPr>
            <a:r>
              <a:rPr lang="en-US" b="1" dirty="0">
                <a:solidFill>
                  <a:srgbClr val="4B4A4A"/>
                </a:solidFill>
                <a:latin typeface="Geist" pitchFamily="34" charset="0"/>
                <a:ea typeface="Geist" pitchFamily="34" charset="-122"/>
                <a:cs typeface="Geist" pitchFamily="34" charset="-120"/>
              </a:rPr>
              <a:t>Ưu điểm:</a:t>
            </a:r>
            <a:endParaRPr lang="en-US" dirty="0"/>
          </a:p>
        </p:txBody>
      </p:sp>
      <p:sp>
        <p:nvSpPr>
          <p:cNvPr id="16" name="Text 14"/>
          <p:cNvSpPr/>
          <p:nvPr/>
        </p:nvSpPr>
        <p:spPr>
          <a:xfrm>
            <a:off x="7524036" y="6813709"/>
            <a:ext cx="6454021" cy="263962"/>
          </a:xfrm>
          <a:prstGeom prst="rect">
            <a:avLst/>
          </a:prstGeom>
          <a:noFill/>
          <a:ln/>
        </p:spPr>
        <p:txBody>
          <a:bodyPr wrap="none" lIns="0" tIns="0" rIns="0" bIns="0" rtlCol="0" anchor="t"/>
          <a:lstStyle/>
          <a:p>
            <a:pPr marL="342900" indent="-342900" algn="l">
              <a:lnSpc>
                <a:spcPts val="2050"/>
              </a:lnSpc>
              <a:buSzPct val="100000"/>
              <a:buChar char="•"/>
            </a:pPr>
            <a:r>
              <a:rPr lang="en-US" dirty="0">
                <a:solidFill>
                  <a:srgbClr val="4B4A4A"/>
                </a:solidFill>
                <a:latin typeface="Geist" pitchFamily="34" charset="0"/>
                <a:ea typeface="Geist" pitchFamily="34" charset="-122"/>
                <a:cs typeface="Geist" pitchFamily="34" charset="-120"/>
              </a:rPr>
              <a:t>Phản ứng tức thì với mọi sự kiện</a:t>
            </a:r>
            <a:endParaRPr lang="en-US" dirty="0"/>
          </a:p>
        </p:txBody>
      </p:sp>
      <p:sp>
        <p:nvSpPr>
          <p:cNvPr id="17" name="Text 15"/>
          <p:cNvSpPr/>
          <p:nvPr/>
        </p:nvSpPr>
        <p:spPr>
          <a:xfrm>
            <a:off x="7524036" y="7135416"/>
            <a:ext cx="6454021" cy="263962"/>
          </a:xfrm>
          <a:prstGeom prst="rect">
            <a:avLst/>
          </a:prstGeom>
          <a:noFill/>
          <a:ln/>
        </p:spPr>
        <p:txBody>
          <a:bodyPr wrap="none" lIns="0" tIns="0" rIns="0" bIns="0" rtlCol="0" anchor="t"/>
          <a:lstStyle/>
          <a:p>
            <a:pPr marL="342900" indent="-342900" algn="l">
              <a:lnSpc>
                <a:spcPts val="2050"/>
              </a:lnSpc>
              <a:buSzPct val="100000"/>
              <a:buChar char="•"/>
            </a:pPr>
            <a:r>
              <a:rPr lang="en-US" dirty="0">
                <a:solidFill>
                  <a:srgbClr val="4B4A4A"/>
                </a:solidFill>
                <a:latin typeface="Geist" pitchFamily="34" charset="0"/>
                <a:ea typeface="Geist" pitchFamily="34" charset="-122"/>
                <a:cs typeface="Geist" pitchFamily="34" charset="-120"/>
              </a:rPr>
              <a:t>Làm nhiều việc song song</a:t>
            </a:r>
            <a:endParaRPr lang="en-US" dirty="0"/>
          </a:p>
        </p:txBody>
      </p:sp>
      <p:sp>
        <p:nvSpPr>
          <p:cNvPr id="18" name="Text 16"/>
          <p:cNvSpPr/>
          <p:nvPr/>
        </p:nvSpPr>
        <p:spPr>
          <a:xfrm>
            <a:off x="7524036" y="7457123"/>
            <a:ext cx="6454021" cy="263962"/>
          </a:xfrm>
          <a:prstGeom prst="rect">
            <a:avLst/>
          </a:prstGeom>
          <a:noFill/>
          <a:ln/>
        </p:spPr>
        <p:txBody>
          <a:bodyPr wrap="none" lIns="0" tIns="0" rIns="0" bIns="0" rtlCol="0" anchor="t"/>
          <a:lstStyle/>
          <a:p>
            <a:pPr marL="342900" indent="-342900" algn="l">
              <a:lnSpc>
                <a:spcPts val="2050"/>
              </a:lnSpc>
              <a:buSzPct val="100000"/>
              <a:buChar char="•"/>
            </a:pPr>
            <a:r>
              <a:rPr lang="en-US" dirty="0">
                <a:solidFill>
                  <a:srgbClr val="4B4A4A"/>
                </a:solidFill>
                <a:latin typeface="Geist" pitchFamily="34" charset="0"/>
                <a:ea typeface="Geist" pitchFamily="34" charset="-122"/>
                <a:cs typeface="Geist" pitchFamily="34" charset="-120"/>
              </a:rPr>
              <a:t>Code chuyên nghiệp, đáng tin cậy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animBg="1"/>
      <p:bldP spid="14" grpId="0" animBg="1"/>
      <p:bldP spid="15" grpId="0" animBg="1"/>
      <p:bldP spid="16" grpId="0" animBg="1"/>
      <p:bldP spid="17" grpId="0" animBg="1"/>
      <p:bldP spid="1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793790" y="1186339"/>
            <a:ext cx="5516880"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Công </a:t>
            </a:r>
            <a:r>
              <a:rPr lang="en-US" sz="3100" b="1" dirty="0" err="1">
                <a:solidFill>
                  <a:srgbClr val="006747"/>
                </a:solidFill>
                <a:latin typeface="Noto Serif SC Bold" pitchFamily="34" charset="0"/>
                <a:ea typeface="Noto Serif SC Bold" pitchFamily="34" charset="-122"/>
                <a:cs typeface="Noto Serif SC Bold" pitchFamily="34" charset="-120"/>
              </a:rPr>
              <a:t>thức</a:t>
            </a:r>
            <a:r>
              <a:rPr lang="en-US" sz="3100" b="1" dirty="0">
                <a:solidFill>
                  <a:srgbClr val="006747"/>
                </a:solidFill>
                <a:latin typeface="Noto Serif SC Bold" pitchFamily="34" charset="0"/>
                <a:ea typeface="Noto Serif SC Bold" pitchFamily="34" charset="-122"/>
                <a:cs typeface="Noto Serif SC Bold" pitchFamily="34" charset="-120"/>
              </a:rPr>
              <a:t> của millis()</a:t>
            </a:r>
            <a:endParaRPr lang="en-US" sz="3100" dirty="0"/>
          </a:p>
        </p:txBody>
      </p:sp>
      <p:sp>
        <p:nvSpPr>
          <p:cNvPr id="3" name="Text 1"/>
          <p:cNvSpPr/>
          <p:nvPr/>
        </p:nvSpPr>
        <p:spPr>
          <a:xfrm>
            <a:off x="793790" y="2178487"/>
            <a:ext cx="2480905"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Mẫu code cơ bản</a:t>
            </a:r>
            <a:endParaRPr lang="en-US" dirty="0"/>
          </a:p>
        </p:txBody>
      </p:sp>
      <p:sp>
        <p:nvSpPr>
          <p:cNvPr id="4" name="Shape 2"/>
          <p:cNvSpPr/>
          <p:nvPr/>
        </p:nvSpPr>
        <p:spPr>
          <a:xfrm>
            <a:off x="793790" y="2711887"/>
            <a:ext cx="4926568" cy="4108133"/>
          </a:xfrm>
          <a:prstGeom prst="roundRect">
            <a:avLst>
              <a:gd name="adj" fmla="val 4348"/>
            </a:avLst>
          </a:prstGeom>
          <a:solidFill>
            <a:srgbClr val="D8ECE5"/>
          </a:solidFill>
          <a:ln/>
        </p:spPr>
      </p:sp>
      <p:sp>
        <p:nvSpPr>
          <p:cNvPr id="5" name="Shape 3"/>
          <p:cNvSpPr/>
          <p:nvPr/>
        </p:nvSpPr>
        <p:spPr>
          <a:xfrm>
            <a:off x="783908" y="2711887"/>
            <a:ext cx="4946333" cy="4108133"/>
          </a:xfrm>
          <a:prstGeom prst="roundRect">
            <a:avLst>
              <a:gd name="adj" fmla="val 725"/>
            </a:avLst>
          </a:prstGeom>
          <a:solidFill>
            <a:srgbClr val="D8ECE5"/>
          </a:solidFill>
          <a:ln/>
        </p:spPr>
      </p:sp>
      <p:sp>
        <p:nvSpPr>
          <p:cNvPr id="6" name="Text 4"/>
          <p:cNvSpPr/>
          <p:nvPr/>
        </p:nvSpPr>
        <p:spPr>
          <a:xfrm>
            <a:off x="982266" y="2860715"/>
            <a:ext cx="4549616" cy="3810476"/>
          </a:xfrm>
          <a:prstGeom prst="rect">
            <a:avLst/>
          </a:prstGeom>
          <a:noFill/>
          <a:ln/>
        </p:spPr>
        <p:txBody>
          <a:bodyPr wrap="square" lIns="0" tIns="0" rIns="0" bIns="0" rtlCol="0" anchor="t"/>
          <a:lstStyle/>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Khai báo</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unsigned long previousMillis = 0;</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const long interval = 1000;</a:t>
            </a:r>
            <a:endParaRPr lang="en-US" dirty="0"/>
          </a:p>
          <a:p>
            <a:pPr marL="0" indent="0" algn="l">
              <a:lnSpc>
                <a:spcPts val="2500"/>
              </a:lnSpc>
              <a:buNone/>
            </a:pP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Trong loop()</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unsigned long currentMillis = millis();</a:t>
            </a:r>
            <a:endParaRPr lang="en-US" dirty="0"/>
          </a:p>
          <a:p>
            <a:pPr marL="0" indent="0" algn="l">
              <a:lnSpc>
                <a:spcPts val="2500"/>
              </a:lnSpc>
              <a:buNone/>
            </a:pP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if (currentMillis - previousMillis &gt;= interval)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previousMillis = currentMillis;</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  // Làm công việc</a:t>
            </a:r>
            <a:endParaRPr lang="en-US" dirty="0"/>
          </a:p>
          <a:p>
            <a:pPr marL="0" indent="0" algn="l">
              <a:lnSpc>
                <a:spcPts val="2500"/>
              </a:lnSpc>
              <a:buNone/>
            </a:pPr>
            <a:r>
              <a:rPr lang="en-US" dirty="0">
                <a:solidFill>
                  <a:srgbClr val="4B4A4A"/>
                </a:solidFill>
                <a:highlight>
                  <a:srgbClr val="D8ECE5"/>
                </a:highlight>
                <a:latin typeface="Consolas" pitchFamily="34" charset="0"/>
                <a:ea typeface="Consolas" pitchFamily="34" charset="-122"/>
                <a:cs typeface="Consolas" pitchFamily="34" charset="-120"/>
              </a:rPr>
              <a:t>}</a:t>
            </a:r>
            <a:endParaRPr lang="en-US" dirty="0"/>
          </a:p>
        </p:txBody>
      </p:sp>
      <p:sp>
        <p:nvSpPr>
          <p:cNvPr id="7" name="Text 5"/>
          <p:cNvSpPr/>
          <p:nvPr/>
        </p:nvSpPr>
        <p:spPr>
          <a:xfrm>
            <a:off x="6212086" y="2178487"/>
            <a:ext cx="2562701" cy="310158"/>
          </a:xfrm>
          <a:prstGeom prst="rect">
            <a:avLst/>
          </a:prstGeom>
          <a:noFill/>
          <a:ln/>
        </p:spPr>
        <p:txBody>
          <a:bodyPr wrap="none" lIns="0" tIns="0" rIns="0" bIns="0" rtlCol="0" anchor="t"/>
          <a:lstStyle/>
          <a:p>
            <a:pPr marL="0" indent="0" algn="l">
              <a:lnSpc>
                <a:spcPts val="2400"/>
              </a:lnSpc>
              <a:buNone/>
            </a:pPr>
            <a:r>
              <a:rPr lang="en-US" b="1" dirty="0">
                <a:solidFill>
                  <a:srgbClr val="006747"/>
                </a:solidFill>
                <a:latin typeface="Noto Serif SC Bold" pitchFamily="34" charset="0"/>
                <a:ea typeface="Noto Serif SC Bold" pitchFamily="34" charset="-122"/>
                <a:cs typeface="Noto Serif SC Bold" pitchFamily="34" charset="-120"/>
              </a:rPr>
              <a:t>Giải thích từng bước</a:t>
            </a:r>
            <a:endParaRPr lang="en-US" dirty="0"/>
          </a:p>
        </p:txBody>
      </p:sp>
      <p:sp>
        <p:nvSpPr>
          <p:cNvPr id="8" name="Text 6"/>
          <p:cNvSpPr/>
          <p:nvPr/>
        </p:nvSpPr>
        <p:spPr>
          <a:xfrm>
            <a:off x="6212086" y="2687003"/>
            <a:ext cx="7632025"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a:pPr>
            <a:r>
              <a:rPr lang="en-US" b="1" dirty="0">
                <a:solidFill>
                  <a:srgbClr val="4B4A4A"/>
                </a:solidFill>
                <a:latin typeface="Geist" pitchFamily="34" charset="0"/>
                <a:ea typeface="Geist" pitchFamily="34" charset="-122"/>
                <a:cs typeface="Geist" pitchFamily="34" charset="-120"/>
              </a:rPr>
              <a:t>previousMillis</a:t>
            </a:r>
            <a:r>
              <a:rPr lang="en-US" dirty="0">
                <a:solidFill>
                  <a:srgbClr val="4B4A4A"/>
                </a:solidFill>
                <a:latin typeface="Geist" pitchFamily="34" charset="0"/>
                <a:ea typeface="Geist" pitchFamily="34" charset="-122"/>
                <a:cs typeface="Geist" pitchFamily="34" charset="-120"/>
              </a:rPr>
              <a:t>: Lưu mốc thời gian lần trước</a:t>
            </a:r>
            <a:endParaRPr lang="en-US" dirty="0"/>
          </a:p>
        </p:txBody>
      </p:sp>
      <p:sp>
        <p:nvSpPr>
          <p:cNvPr id="9" name="Text 7"/>
          <p:cNvSpPr/>
          <p:nvPr/>
        </p:nvSpPr>
        <p:spPr>
          <a:xfrm>
            <a:off x="6212086" y="3073956"/>
            <a:ext cx="7632025"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2"/>
            </a:pPr>
            <a:r>
              <a:rPr lang="en-US" b="1" dirty="0">
                <a:solidFill>
                  <a:srgbClr val="4B4A4A"/>
                </a:solidFill>
                <a:latin typeface="Geist" pitchFamily="34" charset="0"/>
                <a:ea typeface="Geist" pitchFamily="34" charset="-122"/>
                <a:cs typeface="Geist" pitchFamily="34" charset="-120"/>
              </a:rPr>
              <a:t>interval</a:t>
            </a:r>
            <a:r>
              <a:rPr lang="en-US" dirty="0">
                <a:solidFill>
                  <a:srgbClr val="4B4A4A"/>
                </a:solidFill>
                <a:latin typeface="Geist" pitchFamily="34" charset="0"/>
                <a:ea typeface="Geist" pitchFamily="34" charset="-122"/>
                <a:cs typeface="Geist" pitchFamily="34" charset="-120"/>
              </a:rPr>
              <a:t>: Khoảng thời gian chờ (ms)</a:t>
            </a:r>
            <a:endParaRPr lang="en-US" dirty="0"/>
          </a:p>
        </p:txBody>
      </p:sp>
      <p:sp>
        <p:nvSpPr>
          <p:cNvPr id="10" name="Text 8"/>
          <p:cNvSpPr/>
          <p:nvPr/>
        </p:nvSpPr>
        <p:spPr>
          <a:xfrm>
            <a:off x="6212086" y="3460909"/>
            <a:ext cx="7632025"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3"/>
            </a:pPr>
            <a:r>
              <a:rPr lang="en-US" b="1" dirty="0">
                <a:solidFill>
                  <a:srgbClr val="4B4A4A"/>
                </a:solidFill>
                <a:latin typeface="Geist" pitchFamily="34" charset="0"/>
                <a:ea typeface="Geist" pitchFamily="34" charset="-122"/>
                <a:cs typeface="Geist" pitchFamily="34" charset="-120"/>
              </a:rPr>
              <a:t>currentMillis</a:t>
            </a:r>
            <a:r>
              <a:rPr lang="en-US" dirty="0">
                <a:solidFill>
                  <a:srgbClr val="4B4A4A"/>
                </a:solidFill>
                <a:latin typeface="Geist" pitchFamily="34" charset="0"/>
                <a:ea typeface="Geist" pitchFamily="34" charset="-122"/>
                <a:cs typeface="Geist" pitchFamily="34" charset="-120"/>
              </a:rPr>
              <a:t>: Thời gian ngay bây giờ</a:t>
            </a:r>
            <a:endParaRPr lang="en-US" dirty="0"/>
          </a:p>
        </p:txBody>
      </p:sp>
      <p:sp>
        <p:nvSpPr>
          <p:cNvPr id="11" name="Text 9"/>
          <p:cNvSpPr/>
          <p:nvPr/>
        </p:nvSpPr>
        <p:spPr>
          <a:xfrm>
            <a:off x="6212086" y="3847862"/>
            <a:ext cx="7632025"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4"/>
            </a:pPr>
            <a:r>
              <a:rPr lang="en-US" b="1" dirty="0">
                <a:solidFill>
                  <a:srgbClr val="4B4A4A"/>
                </a:solidFill>
                <a:latin typeface="Geist" pitchFamily="34" charset="0"/>
                <a:ea typeface="Geist" pitchFamily="34" charset="-122"/>
                <a:cs typeface="Geist" pitchFamily="34" charset="-120"/>
              </a:rPr>
              <a:t>Điều kiện if</a:t>
            </a:r>
            <a:r>
              <a:rPr lang="en-US" dirty="0">
                <a:solidFill>
                  <a:srgbClr val="4B4A4A"/>
                </a:solidFill>
                <a:latin typeface="Geist" pitchFamily="34" charset="0"/>
                <a:ea typeface="Geist" pitchFamily="34" charset="-122"/>
                <a:cs typeface="Geist" pitchFamily="34" charset="-120"/>
              </a:rPr>
              <a:t>: Kiểm tra đã đủ thời gian chưa</a:t>
            </a:r>
            <a:endParaRPr lang="en-US" dirty="0"/>
          </a:p>
        </p:txBody>
      </p:sp>
      <p:sp>
        <p:nvSpPr>
          <p:cNvPr id="12" name="Text 10"/>
          <p:cNvSpPr/>
          <p:nvPr/>
        </p:nvSpPr>
        <p:spPr>
          <a:xfrm>
            <a:off x="6212086" y="4234815"/>
            <a:ext cx="7632025"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5"/>
            </a:pPr>
            <a:r>
              <a:rPr lang="en-US" b="1" dirty="0">
                <a:solidFill>
                  <a:srgbClr val="4B4A4A"/>
                </a:solidFill>
                <a:latin typeface="Geist" pitchFamily="34" charset="0"/>
                <a:ea typeface="Geist" pitchFamily="34" charset="-122"/>
                <a:cs typeface="Geist" pitchFamily="34" charset="-120"/>
              </a:rPr>
              <a:t>Cập nhật mốc</a:t>
            </a:r>
            <a:r>
              <a:rPr lang="en-US" dirty="0">
                <a:solidFill>
                  <a:srgbClr val="4B4A4A"/>
                </a:solidFill>
                <a:latin typeface="Geist" pitchFamily="34" charset="0"/>
                <a:ea typeface="Geist" pitchFamily="34" charset="-122"/>
                <a:cs typeface="Geist" pitchFamily="34" charset="-120"/>
              </a:rPr>
              <a:t>: previousMillis = currentMillis</a:t>
            </a:r>
            <a:endParaRPr lang="en-US" dirty="0"/>
          </a:p>
        </p:txBody>
      </p:sp>
      <p:sp>
        <p:nvSpPr>
          <p:cNvPr id="13" name="Text 11"/>
          <p:cNvSpPr/>
          <p:nvPr/>
        </p:nvSpPr>
        <p:spPr>
          <a:xfrm>
            <a:off x="6212086" y="4621768"/>
            <a:ext cx="7632025" cy="317540"/>
          </a:xfrm>
          <a:prstGeom prst="rect">
            <a:avLst/>
          </a:prstGeom>
          <a:noFill/>
          <a:ln/>
        </p:spPr>
        <p:txBody>
          <a:bodyPr wrap="none" lIns="0" tIns="0" rIns="0" bIns="0" rtlCol="0" anchor="t"/>
          <a:lstStyle/>
          <a:p>
            <a:pPr marL="342900" indent="-342900" algn="l">
              <a:lnSpc>
                <a:spcPts val="2500"/>
              </a:lnSpc>
              <a:buSzPct val="100000"/>
              <a:buFont typeface="+mj-lt"/>
              <a:buAutoNum type="arabicPeriod" startAt="6"/>
            </a:pPr>
            <a:r>
              <a:rPr lang="en-US" b="1" dirty="0">
                <a:solidFill>
                  <a:srgbClr val="4B4A4A"/>
                </a:solidFill>
                <a:latin typeface="Geist" pitchFamily="34" charset="0"/>
                <a:ea typeface="Geist" pitchFamily="34" charset="-122"/>
                <a:cs typeface="Geist" pitchFamily="34" charset="-120"/>
              </a:rPr>
              <a:t>Thực hiện công việc</a:t>
            </a:r>
            <a:r>
              <a:rPr lang="en-US" dirty="0">
                <a:solidFill>
                  <a:srgbClr val="4B4A4A"/>
                </a:solidFill>
                <a:latin typeface="Geist" pitchFamily="34" charset="0"/>
                <a:ea typeface="Geist" pitchFamily="34" charset="-122"/>
                <a:cs typeface="Geist" pitchFamily="34" charset="-120"/>
              </a:rPr>
              <a:t>: Trong khối if</a:t>
            </a:r>
            <a:endParaRPr lang="en-US" dirty="0"/>
          </a:p>
        </p:txBody>
      </p:sp>
      <p:sp>
        <p:nvSpPr>
          <p:cNvPr id="14" name="Text 12"/>
          <p:cNvSpPr/>
          <p:nvPr/>
        </p:nvSpPr>
        <p:spPr>
          <a:xfrm>
            <a:off x="6212086" y="5117902"/>
            <a:ext cx="7632025" cy="325160"/>
          </a:xfrm>
          <a:prstGeom prst="rect">
            <a:avLst/>
          </a:prstGeom>
          <a:noFill/>
          <a:ln/>
        </p:spPr>
        <p:txBody>
          <a:bodyPr wrap="none" lIns="0" tIns="0" rIns="0" bIns="0" rtlCol="0" anchor="t"/>
          <a:lstStyle/>
          <a:p>
            <a:pPr marL="0" indent="0" algn="l">
              <a:lnSpc>
                <a:spcPts val="2500"/>
              </a:lnSpc>
              <a:buNone/>
            </a:pPr>
            <a:r>
              <a:rPr lang="en-US" dirty="0">
                <a:solidFill>
                  <a:srgbClr val="4B4A4A"/>
                </a:solidFill>
                <a:highlight>
                  <a:srgbClr val="E5F9F2"/>
                </a:highlight>
                <a:latin typeface="Geist" pitchFamily="34" charset="0"/>
                <a:ea typeface="Geist" pitchFamily="34" charset="-122"/>
                <a:cs typeface="Geist" pitchFamily="34" charset="-120"/>
              </a:rPr>
              <a:t>Luôn dùng </a:t>
            </a:r>
            <a:r>
              <a:rPr lang="en-US" dirty="0">
                <a:solidFill>
                  <a:srgbClr val="4B4A4A"/>
                </a:solidFill>
                <a:highlight>
                  <a:srgbClr val="D8ECE5"/>
                </a:highlight>
                <a:latin typeface="Consolas" pitchFamily="34" charset="0"/>
                <a:ea typeface="Consolas" pitchFamily="34" charset="-122"/>
                <a:cs typeface="Consolas" pitchFamily="34" charset="-120"/>
              </a:rPr>
              <a:t>unsigned long</a:t>
            </a:r>
            <a:r>
              <a:rPr lang="en-US" dirty="0">
                <a:solidFill>
                  <a:srgbClr val="4B4A4A"/>
                </a:solidFill>
                <a:latin typeface="Geist" pitchFamily="34" charset="0"/>
                <a:ea typeface="Geist" pitchFamily="34" charset="-122"/>
                <a:cs typeface="Geist" pitchFamily="34" charset="-120"/>
              </a:rPr>
              <a:t> cho các biến thời gian!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675203" y="465058"/>
            <a:ext cx="4733092" cy="422077"/>
          </a:xfrm>
          <a:prstGeom prst="rect">
            <a:avLst/>
          </a:prstGeom>
          <a:noFill/>
          <a:ln/>
        </p:spPr>
        <p:txBody>
          <a:bodyPr wrap="none" lIns="0" tIns="0" rIns="0" bIns="0" rtlCol="0" anchor="t"/>
          <a:lstStyle/>
          <a:p>
            <a:pPr marL="0" indent="0" algn="l">
              <a:lnSpc>
                <a:spcPts val="3300"/>
              </a:lnSpc>
              <a:buNone/>
            </a:pPr>
            <a:r>
              <a:rPr lang="en-US" sz="2650" b="1" dirty="0">
                <a:solidFill>
                  <a:srgbClr val="006747"/>
                </a:solidFill>
                <a:latin typeface="Noto Serif SC Bold" pitchFamily="34" charset="0"/>
                <a:ea typeface="Noto Serif SC Bold" pitchFamily="34" charset="-122"/>
                <a:cs typeface="Noto Serif SC Bold" pitchFamily="34" charset="-120"/>
              </a:rPr>
              <a:t>Quy trình làm việc với JSON</a:t>
            </a:r>
            <a:endParaRPr lang="en-US" sz="2650" dirty="0"/>
          </a:p>
        </p:txBody>
      </p:sp>
      <p:pic>
        <p:nvPicPr>
          <p:cNvPr id="3" name="Image 0" descr="preencoded.png"/>
          <p:cNvPicPr>
            <a:picLocks noChangeAspect="1"/>
          </p:cNvPicPr>
          <p:nvPr/>
        </p:nvPicPr>
        <p:blipFill>
          <a:blip r:embed="rId3"/>
          <a:stretch>
            <a:fillRect/>
          </a:stretch>
        </p:blipFill>
        <p:spPr>
          <a:xfrm>
            <a:off x="675203" y="1224677"/>
            <a:ext cx="844034" cy="1314212"/>
          </a:xfrm>
          <a:prstGeom prst="rect">
            <a:avLst/>
          </a:prstGeom>
        </p:spPr>
      </p:pic>
      <p:sp>
        <p:nvSpPr>
          <p:cNvPr id="4" name="Text 1"/>
          <p:cNvSpPr/>
          <p:nvPr/>
        </p:nvSpPr>
        <p:spPr>
          <a:xfrm>
            <a:off x="1687949" y="1393388"/>
            <a:ext cx="2110264" cy="263723"/>
          </a:xfrm>
          <a:prstGeom prst="rect">
            <a:avLst/>
          </a:prstGeom>
          <a:noFill/>
          <a:ln/>
        </p:spPr>
        <p:txBody>
          <a:bodyPr wrap="none" lIns="0" tIns="0" rIns="0" bIns="0" rtlCol="0" anchor="t"/>
          <a:lstStyle/>
          <a:p>
            <a:pPr marL="0" indent="0" algn="l">
              <a:lnSpc>
                <a:spcPts val="2050"/>
              </a:lnSpc>
              <a:buNone/>
            </a:pPr>
            <a:r>
              <a:rPr lang="en-US" b="1" dirty="0">
                <a:solidFill>
                  <a:srgbClr val="4B4A4A"/>
                </a:solidFill>
                <a:latin typeface="Noto Serif SC Bold" pitchFamily="34" charset="0"/>
                <a:ea typeface="Noto Serif SC Bold" pitchFamily="34" charset="-122"/>
                <a:cs typeface="Noto Serif SC Bold" pitchFamily="34" charset="-120"/>
              </a:rPr>
              <a:t>1. Include thư viện</a:t>
            </a:r>
            <a:endParaRPr lang="en-US" dirty="0"/>
          </a:p>
        </p:txBody>
      </p:sp>
      <p:sp>
        <p:nvSpPr>
          <p:cNvPr id="5" name="Shape 2"/>
          <p:cNvSpPr/>
          <p:nvPr/>
        </p:nvSpPr>
        <p:spPr>
          <a:xfrm>
            <a:off x="1687949" y="1847017"/>
            <a:ext cx="12267248" cy="523161"/>
          </a:xfrm>
          <a:prstGeom prst="roundRect">
            <a:avLst>
              <a:gd name="adj" fmla="val 29044"/>
            </a:avLst>
          </a:prstGeom>
          <a:solidFill>
            <a:srgbClr val="D8ECE5"/>
          </a:solidFill>
          <a:ln/>
        </p:spPr>
      </p:sp>
      <p:sp>
        <p:nvSpPr>
          <p:cNvPr id="6" name="Shape 3"/>
          <p:cNvSpPr/>
          <p:nvPr/>
        </p:nvSpPr>
        <p:spPr>
          <a:xfrm>
            <a:off x="1679615" y="1847017"/>
            <a:ext cx="12283916" cy="523161"/>
          </a:xfrm>
          <a:prstGeom prst="roundRect">
            <a:avLst>
              <a:gd name="adj" fmla="val 4841"/>
            </a:avLst>
          </a:prstGeom>
          <a:solidFill>
            <a:srgbClr val="D8ECE5"/>
          </a:solidFill>
          <a:ln/>
        </p:spPr>
      </p:sp>
      <p:sp>
        <p:nvSpPr>
          <p:cNvPr id="7" name="Text 4"/>
          <p:cNvSpPr/>
          <p:nvPr/>
        </p:nvSpPr>
        <p:spPr>
          <a:xfrm>
            <a:off x="1848326" y="1973580"/>
            <a:ext cx="11946493" cy="270034"/>
          </a:xfrm>
          <a:prstGeom prst="rect">
            <a:avLst/>
          </a:prstGeom>
          <a:noFill/>
          <a:ln/>
        </p:spPr>
        <p:txBody>
          <a:bodyPr wrap="none" lIns="0" tIns="0" rIns="0" bIns="0" rtlCol="0" anchor="t"/>
          <a:lstStyle/>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#include </a:t>
            </a:r>
            <a:endParaRPr lang="en-US" dirty="0"/>
          </a:p>
        </p:txBody>
      </p:sp>
      <p:pic>
        <p:nvPicPr>
          <p:cNvPr id="8" name="Image 1" descr="preencoded.png"/>
          <p:cNvPicPr>
            <a:picLocks noChangeAspect="1"/>
          </p:cNvPicPr>
          <p:nvPr/>
        </p:nvPicPr>
        <p:blipFill>
          <a:blip r:embed="rId4"/>
          <a:stretch>
            <a:fillRect/>
          </a:stretch>
        </p:blipFill>
        <p:spPr>
          <a:xfrm>
            <a:off x="675203" y="2538889"/>
            <a:ext cx="844034" cy="1314212"/>
          </a:xfrm>
          <a:prstGeom prst="rect">
            <a:avLst/>
          </a:prstGeom>
        </p:spPr>
      </p:pic>
      <p:sp>
        <p:nvSpPr>
          <p:cNvPr id="9" name="Text 5"/>
          <p:cNvSpPr/>
          <p:nvPr/>
        </p:nvSpPr>
        <p:spPr>
          <a:xfrm>
            <a:off x="1687949" y="2707600"/>
            <a:ext cx="2273618" cy="263723"/>
          </a:xfrm>
          <a:prstGeom prst="rect">
            <a:avLst/>
          </a:prstGeom>
          <a:noFill/>
          <a:ln/>
        </p:spPr>
        <p:txBody>
          <a:bodyPr wrap="none" lIns="0" tIns="0" rIns="0" bIns="0" rtlCol="0" anchor="t"/>
          <a:lstStyle/>
          <a:p>
            <a:pPr marL="0" indent="0" algn="l">
              <a:lnSpc>
                <a:spcPts val="2050"/>
              </a:lnSpc>
              <a:buNone/>
            </a:pPr>
            <a:r>
              <a:rPr lang="en-US" b="1" dirty="0">
                <a:solidFill>
                  <a:srgbClr val="4B4A4A"/>
                </a:solidFill>
                <a:latin typeface="Noto Serif SC Bold" pitchFamily="34" charset="0"/>
                <a:ea typeface="Noto Serif SC Bold" pitchFamily="34" charset="-122"/>
                <a:cs typeface="Noto Serif SC Bold" pitchFamily="34" charset="-120"/>
              </a:rPr>
              <a:t>2. Tạo JsonDocument</a:t>
            </a:r>
            <a:endParaRPr lang="en-US" dirty="0"/>
          </a:p>
        </p:txBody>
      </p:sp>
      <p:sp>
        <p:nvSpPr>
          <p:cNvPr id="10" name="Shape 6"/>
          <p:cNvSpPr/>
          <p:nvPr/>
        </p:nvSpPr>
        <p:spPr>
          <a:xfrm>
            <a:off x="1687949" y="3161228"/>
            <a:ext cx="12267248" cy="523161"/>
          </a:xfrm>
          <a:prstGeom prst="roundRect">
            <a:avLst>
              <a:gd name="adj" fmla="val 29044"/>
            </a:avLst>
          </a:prstGeom>
          <a:solidFill>
            <a:srgbClr val="D8ECE5"/>
          </a:solidFill>
          <a:ln/>
        </p:spPr>
      </p:sp>
      <p:sp>
        <p:nvSpPr>
          <p:cNvPr id="11" name="Shape 7"/>
          <p:cNvSpPr/>
          <p:nvPr/>
        </p:nvSpPr>
        <p:spPr>
          <a:xfrm>
            <a:off x="1679615" y="3161228"/>
            <a:ext cx="12283916" cy="523161"/>
          </a:xfrm>
          <a:prstGeom prst="roundRect">
            <a:avLst>
              <a:gd name="adj" fmla="val 4841"/>
            </a:avLst>
          </a:prstGeom>
          <a:solidFill>
            <a:srgbClr val="D8ECE5"/>
          </a:solidFill>
          <a:ln/>
        </p:spPr>
      </p:sp>
      <p:sp>
        <p:nvSpPr>
          <p:cNvPr id="12" name="Text 8"/>
          <p:cNvSpPr/>
          <p:nvPr/>
        </p:nvSpPr>
        <p:spPr>
          <a:xfrm>
            <a:off x="1848326" y="3287792"/>
            <a:ext cx="11946493" cy="270034"/>
          </a:xfrm>
          <a:prstGeom prst="rect">
            <a:avLst/>
          </a:prstGeom>
          <a:noFill/>
          <a:ln/>
        </p:spPr>
        <p:txBody>
          <a:bodyPr wrap="none" lIns="0" tIns="0" rIns="0" bIns="0" rtlCol="0" anchor="t"/>
          <a:lstStyle/>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JsonDocument doc;</a:t>
            </a:r>
            <a:endParaRPr lang="en-US" dirty="0"/>
          </a:p>
        </p:txBody>
      </p:sp>
      <p:pic>
        <p:nvPicPr>
          <p:cNvPr id="13" name="Image 2" descr="preencoded.png"/>
          <p:cNvPicPr>
            <a:picLocks noChangeAspect="1"/>
          </p:cNvPicPr>
          <p:nvPr/>
        </p:nvPicPr>
        <p:blipFill>
          <a:blip r:embed="rId5"/>
          <a:stretch>
            <a:fillRect/>
          </a:stretch>
        </p:blipFill>
        <p:spPr>
          <a:xfrm>
            <a:off x="675203" y="3853101"/>
            <a:ext cx="844034" cy="1314212"/>
          </a:xfrm>
          <a:prstGeom prst="rect">
            <a:avLst/>
          </a:prstGeom>
        </p:spPr>
      </p:pic>
      <p:sp>
        <p:nvSpPr>
          <p:cNvPr id="14" name="Text 9"/>
          <p:cNvSpPr/>
          <p:nvPr/>
        </p:nvSpPr>
        <p:spPr>
          <a:xfrm>
            <a:off x="1687949" y="4021812"/>
            <a:ext cx="2110264" cy="263723"/>
          </a:xfrm>
          <a:prstGeom prst="rect">
            <a:avLst/>
          </a:prstGeom>
          <a:noFill/>
          <a:ln/>
        </p:spPr>
        <p:txBody>
          <a:bodyPr wrap="none" lIns="0" tIns="0" rIns="0" bIns="0" rtlCol="0" anchor="t"/>
          <a:lstStyle/>
          <a:p>
            <a:pPr marL="0" indent="0" algn="l">
              <a:lnSpc>
                <a:spcPts val="2050"/>
              </a:lnSpc>
              <a:buNone/>
            </a:pPr>
            <a:r>
              <a:rPr lang="en-US" b="1" dirty="0">
                <a:solidFill>
                  <a:srgbClr val="4B4A4A"/>
                </a:solidFill>
                <a:latin typeface="Noto Serif SC Bold" pitchFamily="34" charset="0"/>
                <a:ea typeface="Noto Serif SC Bold" pitchFamily="34" charset="-122"/>
                <a:cs typeface="Noto Serif SC Bold" pitchFamily="34" charset="-120"/>
              </a:rPr>
              <a:t>3. Gán dữ liệu</a:t>
            </a:r>
            <a:endParaRPr lang="en-US" dirty="0"/>
          </a:p>
        </p:txBody>
      </p:sp>
      <p:sp>
        <p:nvSpPr>
          <p:cNvPr id="15" name="Shape 10"/>
          <p:cNvSpPr/>
          <p:nvPr/>
        </p:nvSpPr>
        <p:spPr>
          <a:xfrm>
            <a:off x="1687949" y="4475440"/>
            <a:ext cx="12267248" cy="523161"/>
          </a:xfrm>
          <a:prstGeom prst="roundRect">
            <a:avLst>
              <a:gd name="adj" fmla="val 29044"/>
            </a:avLst>
          </a:prstGeom>
          <a:solidFill>
            <a:srgbClr val="D8ECE5"/>
          </a:solidFill>
          <a:ln/>
        </p:spPr>
      </p:sp>
      <p:sp>
        <p:nvSpPr>
          <p:cNvPr id="16" name="Shape 11"/>
          <p:cNvSpPr/>
          <p:nvPr/>
        </p:nvSpPr>
        <p:spPr>
          <a:xfrm>
            <a:off x="1679615" y="4475440"/>
            <a:ext cx="12283916" cy="523161"/>
          </a:xfrm>
          <a:prstGeom prst="roundRect">
            <a:avLst>
              <a:gd name="adj" fmla="val 4841"/>
            </a:avLst>
          </a:prstGeom>
          <a:solidFill>
            <a:srgbClr val="D8ECE5"/>
          </a:solidFill>
          <a:ln/>
        </p:spPr>
      </p:sp>
      <p:sp>
        <p:nvSpPr>
          <p:cNvPr id="17" name="Text 12"/>
          <p:cNvSpPr/>
          <p:nvPr/>
        </p:nvSpPr>
        <p:spPr>
          <a:xfrm>
            <a:off x="1848326" y="4602004"/>
            <a:ext cx="11946493" cy="270034"/>
          </a:xfrm>
          <a:prstGeom prst="rect">
            <a:avLst/>
          </a:prstGeom>
          <a:noFill/>
          <a:ln/>
        </p:spPr>
        <p:txBody>
          <a:bodyPr wrap="none" lIns="0" tIns="0" rIns="0" bIns="0" rtlCol="0" anchor="t"/>
          <a:lstStyle/>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doc["key"] = value;</a:t>
            </a:r>
            <a:endParaRPr lang="en-US" dirty="0"/>
          </a:p>
        </p:txBody>
      </p:sp>
      <p:pic>
        <p:nvPicPr>
          <p:cNvPr id="18" name="Image 3" descr="preencoded.png"/>
          <p:cNvPicPr>
            <a:picLocks noChangeAspect="1"/>
          </p:cNvPicPr>
          <p:nvPr/>
        </p:nvPicPr>
        <p:blipFill>
          <a:blip r:embed="rId6"/>
          <a:stretch>
            <a:fillRect/>
          </a:stretch>
        </p:blipFill>
        <p:spPr>
          <a:xfrm>
            <a:off x="675203" y="5167313"/>
            <a:ext cx="844034" cy="1584246"/>
          </a:xfrm>
          <a:prstGeom prst="rect">
            <a:avLst/>
          </a:prstGeom>
        </p:spPr>
      </p:pic>
      <p:sp>
        <p:nvSpPr>
          <p:cNvPr id="19" name="Text 13"/>
          <p:cNvSpPr/>
          <p:nvPr/>
        </p:nvSpPr>
        <p:spPr>
          <a:xfrm>
            <a:off x="1687949" y="5336024"/>
            <a:ext cx="2110264" cy="263723"/>
          </a:xfrm>
          <a:prstGeom prst="rect">
            <a:avLst/>
          </a:prstGeom>
          <a:noFill/>
          <a:ln/>
        </p:spPr>
        <p:txBody>
          <a:bodyPr wrap="none" lIns="0" tIns="0" rIns="0" bIns="0" rtlCol="0" anchor="t"/>
          <a:lstStyle/>
          <a:p>
            <a:pPr marL="0" indent="0" algn="l">
              <a:lnSpc>
                <a:spcPts val="2050"/>
              </a:lnSpc>
              <a:buNone/>
            </a:pPr>
            <a:r>
              <a:rPr lang="en-US" b="1" dirty="0">
                <a:solidFill>
                  <a:srgbClr val="4B4A4A"/>
                </a:solidFill>
                <a:latin typeface="Noto Serif SC Bold" pitchFamily="34" charset="0"/>
                <a:ea typeface="Noto Serif SC Bold" pitchFamily="34" charset="-122"/>
                <a:cs typeface="Noto Serif SC Bold" pitchFamily="34" charset="-120"/>
              </a:rPr>
              <a:t>4. Serialize</a:t>
            </a:r>
            <a:endParaRPr lang="en-US" dirty="0"/>
          </a:p>
        </p:txBody>
      </p:sp>
      <p:sp>
        <p:nvSpPr>
          <p:cNvPr id="20" name="Shape 14"/>
          <p:cNvSpPr/>
          <p:nvPr/>
        </p:nvSpPr>
        <p:spPr>
          <a:xfrm>
            <a:off x="1687949" y="5789652"/>
            <a:ext cx="12267248" cy="793194"/>
          </a:xfrm>
          <a:prstGeom prst="roundRect">
            <a:avLst>
              <a:gd name="adj" fmla="val 19156"/>
            </a:avLst>
          </a:prstGeom>
          <a:solidFill>
            <a:srgbClr val="D8ECE5"/>
          </a:solidFill>
          <a:ln/>
        </p:spPr>
      </p:sp>
      <p:sp>
        <p:nvSpPr>
          <p:cNvPr id="21" name="Shape 15"/>
          <p:cNvSpPr/>
          <p:nvPr/>
        </p:nvSpPr>
        <p:spPr>
          <a:xfrm>
            <a:off x="1679615" y="5789652"/>
            <a:ext cx="12283916" cy="793194"/>
          </a:xfrm>
          <a:prstGeom prst="roundRect">
            <a:avLst>
              <a:gd name="adj" fmla="val 3193"/>
            </a:avLst>
          </a:prstGeom>
          <a:solidFill>
            <a:srgbClr val="D8ECE5"/>
          </a:solidFill>
          <a:ln/>
        </p:spPr>
      </p:sp>
      <p:sp>
        <p:nvSpPr>
          <p:cNvPr id="22" name="Text 16"/>
          <p:cNvSpPr/>
          <p:nvPr/>
        </p:nvSpPr>
        <p:spPr>
          <a:xfrm>
            <a:off x="1848326" y="5916216"/>
            <a:ext cx="11946493" cy="540068"/>
          </a:xfrm>
          <a:prstGeom prst="rect">
            <a:avLst/>
          </a:prstGeom>
          <a:noFill/>
          <a:ln/>
        </p:spPr>
        <p:txBody>
          <a:bodyPr wrap="square" lIns="0" tIns="0" rIns="0" bIns="0" rtlCol="0" anchor="t"/>
          <a:lstStyle/>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String output;</a:t>
            </a:r>
            <a:endParaRPr lang="en-US" dirty="0"/>
          </a:p>
          <a:p>
            <a:pPr marL="0" indent="0" algn="l">
              <a:lnSpc>
                <a:spcPts val="2100"/>
              </a:lnSpc>
              <a:buNone/>
            </a:pPr>
            <a:r>
              <a:rPr lang="en-US" dirty="0">
                <a:solidFill>
                  <a:srgbClr val="4B4A4A"/>
                </a:solidFill>
                <a:highlight>
                  <a:srgbClr val="D8ECE5"/>
                </a:highlight>
                <a:latin typeface="Consolas" pitchFamily="34" charset="0"/>
                <a:ea typeface="Consolas" pitchFamily="34" charset="-122"/>
                <a:cs typeface="Consolas" pitchFamily="34" charset="-120"/>
              </a:rPr>
              <a:t>serializeJson(doc, output);</a:t>
            </a:r>
            <a:endParaRPr lang="en-US" dirty="0"/>
          </a:p>
        </p:txBody>
      </p:sp>
      <p:pic>
        <p:nvPicPr>
          <p:cNvPr id="23" name="Image 4" descr="preencoded.png"/>
          <p:cNvPicPr>
            <a:picLocks noChangeAspect="1"/>
          </p:cNvPicPr>
          <p:nvPr/>
        </p:nvPicPr>
        <p:blipFill>
          <a:blip r:embed="rId7"/>
          <a:stretch>
            <a:fillRect/>
          </a:stretch>
        </p:blipFill>
        <p:spPr>
          <a:xfrm>
            <a:off x="675203" y="6751558"/>
            <a:ext cx="844034" cy="1012865"/>
          </a:xfrm>
          <a:prstGeom prst="rect">
            <a:avLst/>
          </a:prstGeom>
        </p:spPr>
      </p:pic>
      <p:sp>
        <p:nvSpPr>
          <p:cNvPr id="24" name="Text 17"/>
          <p:cNvSpPr/>
          <p:nvPr/>
        </p:nvSpPr>
        <p:spPr>
          <a:xfrm>
            <a:off x="1687949" y="6920270"/>
            <a:ext cx="2110264" cy="263723"/>
          </a:xfrm>
          <a:prstGeom prst="rect">
            <a:avLst/>
          </a:prstGeom>
          <a:noFill/>
          <a:ln/>
        </p:spPr>
        <p:txBody>
          <a:bodyPr wrap="none" lIns="0" tIns="0" rIns="0" bIns="0" rtlCol="0" anchor="t"/>
          <a:lstStyle/>
          <a:p>
            <a:pPr marL="0" indent="0" algn="l">
              <a:lnSpc>
                <a:spcPts val="2050"/>
              </a:lnSpc>
              <a:buNone/>
            </a:pPr>
            <a:r>
              <a:rPr lang="en-US" b="1" dirty="0">
                <a:solidFill>
                  <a:srgbClr val="4B4A4A"/>
                </a:solidFill>
                <a:latin typeface="Noto Serif SC Bold" pitchFamily="34" charset="0"/>
                <a:ea typeface="Noto Serif SC Bold" pitchFamily="34" charset="-122"/>
                <a:cs typeface="Noto Serif SC Bold" pitchFamily="34" charset="-120"/>
              </a:rPr>
              <a:t>5. Gửi đi</a:t>
            </a:r>
            <a:endParaRPr lang="en-US" dirty="0"/>
          </a:p>
        </p:txBody>
      </p:sp>
      <p:sp>
        <p:nvSpPr>
          <p:cNvPr id="25" name="Text 18"/>
          <p:cNvSpPr/>
          <p:nvPr/>
        </p:nvSpPr>
        <p:spPr>
          <a:xfrm>
            <a:off x="1687949" y="7285196"/>
            <a:ext cx="12267248" cy="270034"/>
          </a:xfrm>
          <a:prstGeom prst="rect">
            <a:avLst/>
          </a:prstGeom>
          <a:noFill/>
          <a:ln/>
        </p:spPr>
        <p:txBody>
          <a:bodyPr wrap="none" lIns="0" tIns="0" rIns="0" bIns="0" rtlCol="0" anchor="t"/>
          <a:lstStyle/>
          <a:p>
            <a:pPr marL="0" indent="0" algn="l">
              <a:lnSpc>
                <a:spcPts val="2100"/>
              </a:lnSpc>
              <a:buNone/>
            </a:pPr>
            <a:r>
              <a:rPr lang="en-US" dirty="0">
                <a:solidFill>
                  <a:srgbClr val="4B4A4A"/>
                </a:solidFill>
                <a:latin typeface="Geist" pitchFamily="34" charset="0"/>
                <a:ea typeface="Geist" pitchFamily="34" charset="-122"/>
                <a:cs typeface="Geist" pitchFamily="34" charset="-120"/>
              </a:rPr>
              <a:t>Qua Serial, MQTT, HTTP...</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793790" y="1492567"/>
            <a:ext cx="5896213"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Checklist hoàn thành bài Lab</a:t>
            </a:r>
            <a:endParaRPr lang="en-US" sz="3100" dirty="0"/>
          </a:p>
        </p:txBody>
      </p:sp>
      <p:sp>
        <p:nvSpPr>
          <p:cNvPr id="3" name="Text 1"/>
          <p:cNvSpPr/>
          <p:nvPr/>
        </p:nvSpPr>
        <p:spPr>
          <a:xfrm>
            <a:off x="793790" y="2484715"/>
            <a:ext cx="3780949" cy="333018"/>
          </a:xfrm>
          <a:prstGeom prst="rect">
            <a:avLst/>
          </a:prstGeom>
          <a:noFill/>
          <a:ln/>
        </p:spPr>
        <p:txBody>
          <a:bodyPr wrap="none" lIns="0" tIns="0" rIns="0" bIns="0" rtlCol="0" anchor="t"/>
          <a:lstStyle/>
          <a:p>
            <a:pPr marL="0" indent="0" algn="l">
              <a:lnSpc>
                <a:spcPts val="2400"/>
              </a:lnSpc>
              <a:buNone/>
            </a:pPr>
            <a:r>
              <a:rPr lang="en-US" b="1" dirty="0">
                <a:solidFill>
                  <a:srgbClr val="000000"/>
                </a:solidFill>
                <a:latin typeface="Noto Serif SC Bold" pitchFamily="34" charset="0"/>
                <a:ea typeface="Noto Serif SC Bold" pitchFamily="34" charset="-122"/>
                <a:cs typeface="Noto Serif SC Bold" pitchFamily="34" charset="-120"/>
              </a:rPr>
              <a:t>✅</a:t>
            </a:r>
            <a:r>
              <a:rPr lang="en-US" b="1" dirty="0">
                <a:solidFill>
                  <a:srgbClr val="006747"/>
                </a:solidFill>
                <a:latin typeface="Noto Serif SC Bold" pitchFamily="34" charset="0"/>
                <a:ea typeface="Noto Serif SC Bold" pitchFamily="34" charset="-122"/>
                <a:cs typeface="Noto Serif SC Bold" pitchFamily="34" charset="-120"/>
              </a:rPr>
              <a:t> Bài Lab 1: Đa nhiệm cơ bản</a:t>
            </a:r>
            <a:endParaRPr lang="en-US" dirty="0"/>
          </a:p>
        </p:txBody>
      </p:sp>
      <p:sp>
        <p:nvSpPr>
          <p:cNvPr id="4" name="Text 2"/>
          <p:cNvSpPr/>
          <p:nvPr/>
        </p:nvSpPr>
        <p:spPr>
          <a:xfrm>
            <a:off x="793790" y="30160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Nháy 2 LED với tốc độ khác nhau (1s và 0.5s)</a:t>
            </a:r>
            <a:endParaRPr lang="en-US" dirty="0"/>
          </a:p>
        </p:txBody>
      </p:sp>
      <p:sp>
        <p:nvSpPr>
          <p:cNvPr id="5" name="Text 3"/>
          <p:cNvSpPr/>
          <p:nvPr/>
        </p:nvSpPr>
        <p:spPr>
          <a:xfrm>
            <a:off x="793790" y="340304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In thông báo mỗi 2 giây ra Serial</a:t>
            </a:r>
            <a:endParaRPr lang="en-US" dirty="0"/>
          </a:p>
        </p:txBody>
      </p:sp>
      <p:sp>
        <p:nvSpPr>
          <p:cNvPr id="6" name="Text 4"/>
          <p:cNvSpPr/>
          <p:nvPr/>
        </p:nvSpPr>
        <p:spPr>
          <a:xfrm>
            <a:off x="793790" y="378999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Code không có lệnh delay() nào</a:t>
            </a:r>
            <a:endParaRPr lang="en-US" dirty="0"/>
          </a:p>
        </p:txBody>
      </p:sp>
      <p:sp>
        <p:nvSpPr>
          <p:cNvPr id="7" name="Text 5"/>
          <p:cNvSpPr/>
          <p:nvPr/>
        </p:nvSpPr>
        <p:spPr>
          <a:xfrm>
            <a:off x="793790" y="417695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Tất cả task chạy mượt mà, không cản trở nhau</a:t>
            </a:r>
            <a:endParaRPr lang="en-US" dirty="0"/>
          </a:p>
        </p:txBody>
      </p:sp>
      <p:sp>
        <p:nvSpPr>
          <p:cNvPr id="8" name="Text 6"/>
          <p:cNvSpPr/>
          <p:nvPr/>
        </p:nvSpPr>
        <p:spPr>
          <a:xfrm>
            <a:off x="793790" y="4563904"/>
            <a:ext cx="6279356" cy="32516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Dùng đúng kiểu </a:t>
            </a:r>
            <a:r>
              <a:rPr lang="en-US" dirty="0">
                <a:solidFill>
                  <a:srgbClr val="4B4A4A"/>
                </a:solidFill>
                <a:highlight>
                  <a:srgbClr val="D8ECE5"/>
                </a:highlight>
                <a:latin typeface="Consolas" pitchFamily="34" charset="0"/>
                <a:ea typeface="Consolas" pitchFamily="34" charset="-122"/>
                <a:cs typeface="Consolas" pitchFamily="34" charset="-120"/>
              </a:rPr>
              <a:t>unsigned long</a:t>
            </a:r>
            <a:r>
              <a:rPr lang="en-US" dirty="0">
                <a:solidFill>
                  <a:srgbClr val="4B4A4A"/>
                </a:solidFill>
                <a:latin typeface="Geist" pitchFamily="34" charset="0"/>
                <a:ea typeface="Geist" pitchFamily="34" charset="-122"/>
                <a:cs typeface="Geist" pitchFamily="34" charset="-120"/>
              </a:rPr>
              <a:t> cho biến thời gian</a:t>
            </a:r>
            <a:endParaRPr lang="en-US" dirty="0"/>
          </a:p>
        </p:txBody>
      </p:sp>
      <p:sp>
        <p:nvSpPr>
          <p:cNvPr id="9" name="Text 7"/>
          <p:cNvSpPr/>
          <p:nvPr/>
        </p:nvSpPr>
        <p:spPr>
          <a:xfrm>
            <a:off x="793790" y="4958477"/>
            <a:ext cx="6279356" cy="325160"/>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Hiểu rõ công </a:t>
            </a:r>
            <a:r>
              <a:rPr lang="en-US" dirty="0" err="1">
                <a:solidFill>
                  <a:srgbClr val="4B4A4A"/>
                </a:solidFill>
                <a:latin typeface="Geist" pitchFamily="34" charset="0"/>
                <a:ea typeface="Geist" pitchFamily="34" charset="-122"/>
                <a:cs typeface="Geist" pitchFamily="34" charset="-120"/>
              </a:rPr>
              <a:t>thức</a:t>
            </a:r>
            <a:r>
              <a:rPr lang="en-US" dirty="0">
                <a:solidFill>
                  <a:srgbClr val="4B4A4A"/>
                </a:solidFill>
                <a:latin typeface="Geist" pitchFamily="34" charset="0"/>
                <a:ea typeface="Geist" pitchFamily="34" charset="-122"/>
                <a:cs typeface="Geist" pitchFamily="34" charset="-120"/>
              </a:rPr>
              <a:t> </a:t>
            </a:r>
          </a:p>
          <a:p>
            <a:pPr algn="l">
              <a:lnSpc>
                <a:spcPts val="2500"/>
              </a:lnSpc>
              <a:buSzPct val="100000"/>
            </a:pPr>
            <a:r>
              <a:rPr lang="en-US" dirty="0">
                <a:solidFill>
                  <a:srgbClr val="4B4A4A"/>
                </a:solidFill>
                <a:highlight>
                  <a:srgbClr val="D8ECE5"/>
                </a:highlight>
                <a:latin typeface="Geist" pitchFamily="34" charset="0"/>
                <a:ea typeface="Geist" pitchFamily="34" charset="-122"/>
                <a:cs typeface="Geist" pitchFamily="34" charset="-120"/>
              </a:rPr>
              <a:t>	</a:t>
            </a:r>
            <a:r>
              <a:rPr lang="en-US" dirty="0" err="1">
                <a:solidFill>
                  <a:srgbClr val="4B4A4A"/>
                </a:solidFill>
                <a:highlight>
                  <a:srgbClr val="D8ECE5"/>
                </a:highlight>
                <a:latin typeface="Consolas" pitchFamily="34" charset="0"/>
                <a:ea typeface="Consolas" pitchFamily="34" charset="-122"/>
                <a:cs typeface="Consolas" pitchFamily="34" charset="-120"/>
              </a:rPr>
              <a:t>currentMillis</a:t>
            </a:r>
            <a:r>
              <a:rPr lang="en-US" dirty="0">
                <a:solidFill>
                  <a:srgbClr val="4B4A4A"/>
                </a:solidFill>
                <a:highlight>
                  <a:srgbClr val="D8ECE5"/>
                </a:highlight>
                <a:latin typeface="Consolas" pitchFamily="34" charset="0"/>
                <a:ea typeface="Consolas" pitchFamily="34" charset="-122"/>
                <a:cs typeface="Consolas" pitchFamily="34" charset="-120"/>
              </a:rPr>
              <a:t> - previousMillis &gt;= interval</a:t>
            </a:r>
            <a:endParaRPr lang="en-US" dirty="0"/>
          </a:p>
        </p:txBody>
      </p:sp>
      <p:sp>
        <p:nvSpPr>
          <p:cNvPr id="10" name="Text 8"/>
          <p:cNvSpPr/>
          <p:nvPr/>
        </p:nvSpPr>
        <p:spPr>
          <a:xfrm>
            <a:off x="7564874" y="2484715"/>
            <a:ext cx="3486388" cy="333018"/>
          </a:xfrm>
          <a:prstGeom prst="rect">
            <a:avLst/>
          </a:prstGeom>
          <a:noFill/>
          <a:ln/>
        </p:spPr>
        <p:txBody>
          <a:bodyPr wrap="none" lIns="0" tIns="0" rIns="0" bIns="0" rtlCol="0" anchor="t"/>
          <a:lstStyle/>
          <a:p>
            <a:pPr marL="0" indent="0" algn="l">
              <a:lnSpc>
                <a:spcPts val="2400"/>
              </a:lnSpc>
              <a:buNone/>
            </a:pPr>
            <a:r>
              <a:rPr lang="en-US" b="1" dirty="0">
                <a:solidFill>
                  <a:srgbClr val="000000"/>
                </a:solidFill>
                <a:latin typeface="Noto Serif SC Bold" pitchFamily="34" charset="0"/>
                <a:ea typeface="Noto Serif SC Bold" pitchFamily="34" charset="-122"/>
                <a:cs typeface="Noto Serif SC Bold" pitchFamily="34" charset="-120"/>
              </a:rPr>
              <a:t>✅</a:t>
            </a:r>
            <a:r>
              <a:rPr lang="en-US" b="1" dirty="0">
                <a:solidFill>
                  <a:srgbClr val="006747"/>
                </a:solidFill>
                <a:latin typeface="Noto Serif SC Bold" pitchFamily="34" charset="0"/>
                <a:ea typeface="Noto Serif SC Bold" pitchFamily="34" charset="-122"/>
                <a:cs typeface="Noto Serif SC Bold" pitchFamily="34" charset="-120"/>
              </a:rPr>
              <a:t> Bài Lab 2: Đóng gói JSON</a:t>
            </a:r>
            <a:endParaRPr lang="en-US" dirty="0"/>
          </a:p>
        </p:txBody>
      </p:sp>
      <p:sp>
        <p:nvSpPr>
          <p:cNvPr id="11" name="Text 9"/>
          <p:cNvSpPr/>
          <p:nvPr/>
        </p:nvSpPr>
        <p:spPr>
          <a:xfrm>
            <a:off x="7564874" y="301609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Cài đặt thành công thư viện ArduinoJson</a:t>
            </a:r>
            <a:endParaRPr lang="en-US" dirty="0"/>
          </a:p>
        </p:txBody>
      </p:sp>
      <p:sp>
        <p:nvSpPr>
          <p:cNvPr id="12" name="Text 10"/>
          <p:cNvSpPr/>
          <p:nvPr/>
        </p:nvSpPr>
        <p:spPr>
          <a:xfrm>
            <a:off x="7564874" y="340304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Tạo được JsonDocument và gán dữ liệu</a:t>
            </a:r>
            <a:endParaRPr lang="en-US" dirty="0"/>
          </a:p>
        </p:txBody>
      </p:sp>
      <p:sp>
        <p:nvSpPr>
          <p:cNvPr id="13" name="Text 11"/>
          <p:cNvSpPr/>
          <p:nvPr/>
        </p:nvSpPr>
        <p:spPr>
          <a:xfrm>
            <a:off x="7564874" y="378999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Serialize thành công thành chuỗi</a:t>
            </a:r>
            <a:endParaRPr lang="en-US" dirty="0"/>
          </a:p>
        </p:txBody>
      </p:sp>
      <p:sp>
        <p:nvSpPr>
          <p:cNvPr id="14" name="Text 12"/>
          <p:cNvSpPr/>
          <p:nvPr/>
        </p:nvSpPr>
        <p:spPr>
          <a:xfrm>
            <a:off x="7564874" y="417695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JSON hiển thị đúng trên Serial Monitor</a:t>
            </a:r>
            <a:endParaRPr lang="en-US" dirty="0"/>
          </a:p>
        </p:txBody>
      </p:sp>
      <p:sp>
        <p:nvSpPr>
          <p:cNvPr id="15" name="Text 13"/>
          <p:cNvSpPr/>
          <p:nvPr/>
        </p:nvSpPr>
        <p:spPr>
          <a:xfrm>
            <a:off x="7564874" y="456390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Hiểu được cấu trúc key:value</a:t>
            </a:r>
            <a:endParaRPr lang="en-US" dirty="0"/>
          </a:p>
        </p:txBody>
      </p:sp>
      <p:sp>
        <p:nvSpPr>
          <p:cNvPr id="16" name="Text 14"/>
          <p:cNvSpPr/>
          <p:nvPr/>
        </p:nvSpPr>
        <p:spPr>
          <a:xfrm>
            <a:off x="7564874" y="495085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B4A4A"/>
                </a:solidFill>
                <a:latin typeface="Geist" pitchFamily="34" charset="0"/>
                <a:ea typeface="Geist" pitchFamily="34" charset="-122"/>
                <a:cs typeface="Geist" pitchFamily="34" charset="-120"/>
              </a:rPr>
              <a:t>☐ Biết cách dùng serializeJsonPretty() để debug</a:t>
            </a:r>
            <a:endParaRPr lang="en-US" dirty="0"/>
          </a:p>
        </p:txBody>
      </p:sp>
      <p:sp>
        <p:nvSpPr>
          <p:cNvPr id="17" name="Shape 15"/>
          <p:cNvSpPr/>
          <p:nvPr/>
        </p:nvSpPr>
        <p:spPr>
          <a:xfrm>
            <a:off x="793790" y="5576292"/>
            <a:ext cx="13042821" cy="1160740"/>
          </a:xfrm>
          <a:prstGeom prst="roundRect">
            <a:avLst>
              <a:gd name="adj" fmla="val 15389"/>
            </a:avLst>
          </a:prstGeom>
          <a:solidFill>
            <a:srgbClr val="B3FFE7"/>
          </a:solidFill>
          <a:ln/>
        </p:spPr>
      </p:sp>
      <p:pic>
        <p:nvPicPr>
          <p:cNvPr id="18" name="Image 0" descr="preencoded.png"/>
          <p:cNvPicPr>
            <a:picLocks noChangeAspect="1"/>
          </p:cNvPicPr>
          <p:nvPr/>
        </p:nvPicPr>
        <p:blipFill>
          <a:blip r:embed="rId3"/>
          <a:stretch>
            <a:fillRect/>
          </a:stretch>
        </p:blipFill>
        <p:spPr>
          <a:xfrm>
            <a:off x="992148" y="5871567"/>
            <a:ext cx="248007" cy="198358"/>
          </a:xfrm>
          <a:prstGeom prst="rect">
            <a:avLst/>
          </a:prstGeom>
        </p:spPr>
      </p:pic>
      <p:sp>
        <p:nvSpPr>
          <p:cNvPr id="19" name="Text 16"/>
          <p:cNvSpPr/>
          <p:nvPr/>
        </p:nvSpPr>
        <p:spPr>
          <a:xfrm>
            <a:off x="1438513" y="5824180"/>
            <a:ext cx="12199739" cy="635079"/>
          </a:xfrm>
          <a:prstGeom prst="rect">
            <a:avLst/>
          </a:prstGeom>
          <a:noFill/>
          <a:ln/>
        </p:spPr>
        <p:txBody>
          <a:bodyPr wrap="square" lIns="0" tIns="0" rIns="0" bIns="0" rtlCol="0" anchor="t"/>
          <a:lstStyle/>
          <a:p>
            <a:pPr marL="0" indent="0" algn="l">
              <a:lnSpc>
                <a:spcPts val="2500"/>
              </a:lnSpc>
              <a:buNone/>
            </a:pPr>
            <a:r>
              <a:rPr lang="en-US" b="1" dirty="0">
                <a:solidFill>
                  <a:srgbClr val="000000"/>
                </a:solidFill>
                <a:latin typeface="Geist" pitchFamily="34" charset="0"/>
                <a:ea typeface="Geist" pitchFamily="34" charset="-122"/>
                <a:cs typeface="Geist" pitchFamily="34" charset="-120"/>
              </a:rPr>
              <a:t>Mẹo:</a:t>
            </a:r>
            <a:r>
              <a:rPr lang="en-US" dirty="0">
                <a:solidFill>
                  <a:srgbClr val="000000"/>
                </a:solidFill>
                <a:latin typeface="Geist" pitchFamily="34" charset="0"/>
                <a:ea typeface="Geist" pitchFamily="34" charset="-122"/>
                <a:cs typeface="Geist" pitchFamily="34" charset="-120"/>
              </a:rPr>
              <a:t> Nếu bạn làm được cả 2 bài lab + bài tập tổng hợp, bạn đã vượt qua ngưỡng cửa từ "người mới" sang "người có kinh nghiệm" trong lập trình IoT!</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800112"/>
            <a:ext cx="5859899" cy="620078"/>
          </a:xfrm>
          <a:prstGeom prst="rect">
            <a:avLst/>
          </a:prstGeom>
          <a:noFill/>
          <a:ln/>
        </p:spPr>
        <p:txBody>
          <a:bodyPr wrap="none" lIns="0" tIns="0" rIns="0" bIns="0" rtlCol="0" anchor="t"/>
          <a:lstStyle/>
          <a:p>
            <a:pPr marL="0" indent="0" algn="l">
              <a:lnSpc>
                <a:spcPts val="4850"/>
              </a:lnSpc>
              <a:buNone/>
            </a:pPr>
            <a:r>
              <a:rPr lang="en-US" sz="3900" b="1" dirty="0">
                <a:solidFill>
                  <a:srgbClr val="006747"/>
                </a:solidFill>
                <a:latin typeface="Noto Serif SC Bold" pitchFamily="34" charset="0"/>
                <a:ea typeface="Noto Serif SC Bold" pitchFamily="34" charset="-122"/>
                <a:cs typeface="Noto Serif SC Bold" pitchFamily="34" charset="-120"/>
              </a:rPr>
              <a:t>CÂU HỎI THƯỜNG GẶP</a:t>
            </a:r>
            <a:endParaRPr lang="en-US" sz="3900" dirty="0"/>
          </a:p>
        </p:txBody>
      </p:sp>
      <p:sp>
        <p:nvSpPr>
          <p:cNvPr id="4" name="Text 1"/>
          <p:cNvSpPr/>
          <p:nvPr/>
        </p:nvSpPr>
        <p:spPr>
          <a:xfrm>
            <a:off x="793790" y="3717846"/>
            <a:ext cx="7556421" cy="1711642"/>
          </a:xfrm>
          <a:prstGeom prst="rect">
            <a:avLst/>
          </a:prstGeom>
          <a:noFill/>
          <a:ln/>
        </p:spPr>
        <p:txBody>
          <a:bodyPr wrap="square" lIns="0" tIns="0" rIns="0" bIns="0" rtlCol="0" anchor="t"/>
          <a:lstStyle/>
          <a:p>
            <a:pPr marL="0" indent="0" algn="l">
              <a:lnSpc>
                <a:spcPts val="6700"/>
              </a:lnSpc>
              <a:buNone/>
            </a:pPr>
            <a:r>
              <a:rPr lang="en-US" sz="5350" b="1" dirty="0">
                <a:solidFill>
                  <a:srgbClr val="006747"/>
                </a:solidFill>
                <a:latin typeface="Noto Serif SC Bold" pitchFamily="34" charset="0"/>
                <a:ea typeface="Noto Serif SC Bold" pitchFamily="34" charset="-122"/>
                <a:cs typeface="Noto Serif SC Bold" pitchFamily="34" charset="-120"/>
              </a:rPr>
              <a:t>Q&amp;A - Giải đáp thắc mắc</a:t>
            </a:r>
            <a:endParaRPr lang="en-US" sz="53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793790" y="1549122"/>
            <a:ext cx="4785122"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5 Câu hỏi phổ biến nhất</a:t>
            </a:r>
            <a:endParaRPr lang="en-US" sz="3100" dirty="0"/>
          </a:p>
        </p:txBody>
      </p:sp>
      <p:sp>
        <p:nvSpPr>
          <p:cNvPr id="3" name="Shape 1"/>
          <p:cNvSpPr/>
          <p:nvPr/>
        </p:nvSpPr>
        <p:spPr>
          <a:xfrm>
            <a:off x="793790" y="2442091"/>
            <a:ext cx="4215289" cy="4238268"/>
          </a:xfrm>
          <a:prstGeom prst="roundRect">
            <a:avLst>
              <a:gd name="adj" fmla="val 4238"/>
            </a:avLst>
          </a:prstGeom>
          <a:solidFill>
            <a:srgbClr val="E5F9F2">
              <a:alpha val="95000"/>
            </a:srgbClr>
          </a:solidFill>
          <a:ln w="22860">
            <a:solidFill>
              <a:srgbClr val="B7D5CA"/>
            </a:solidFill>
            <a:prstDash val="solid"/>
          </a:ln>
        </p:spPr>
      </p:sp>
      <p:pic>
        <p:nvPicPr>
          <p:cNvPr id="4" name="Image 0" descr="preencoded.png"/>
          <p:cNvPicPr>
            <a:picLocks noChangeAspect="1"/>
          </p:cNvPicPr>
          <p:nvPr/>
        </p:nvPicPr>
        <p:blipFill>
          <a:blip r:embed="rId3"/>
          <a:stretch>
            <a:fillRect/>
          </a:stretch>
        </p:blipFill>
        <p:spPr>
          <a:xfrm>
            <a:off x="697587" y="2345888"/>
            <a:ext cx="238125" cy="238125"/>
          </a:xfrm>
          <a:prstGeom prst="rect">
            <a:avLst/>
          </a:prstGeom>
        </p:spPr>
      </p:pic>
      <p:pic>
        <p:nvPicPr>
          <p:cNvPr id="5" name="Image 1" descr="preencoded.png"/>
          <p:cNvPicPr>
            <a:picLocks noChangeAspect="1"/>
          </p:cNvPicPr>
          <p:nvPr/>
        </p:nvPicPr>
        <p:blipFill>
          <a:blip r:embed="rId4"/>
          <a:stretch>
            <a:fillRect/>
          </a:stretch>
        </p:blipFill>
        <p:spPr>
          <a:xfrm>
            <a:off x="4867156" y="6538436"/>
            <a:ext cx="238125" cy="238125"/>
          </a:xfrm>
          <a:prstGeom prst="rect">
            <a:avLst/>
          </a:prstGeom>
        </p:spPr>
      </p:pic>
      <p:sp>
        <p:nvSpPr>
          <p:cNvPr id="6" name="Text 2"/>
          <p:cNvSpPr/>
          <p:nvPr/>
        </p:nvSpPr>
        <p:spPr>
          <a:xfrm>
            <a:off x="1114306" y="2762607"/>
            <a:ext cx="3574256"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Q1: Tại sao millis() lại có giới hạn 49 ngày?</a:t>
            </a:r>
            <a:endParaRPr lang="en-US" sz="1950" dirty="0"/>
          </a:p>
        </p:txBody>
      </p:sp>
      <p:sp>
        <p:nvSpPr>
          <p:cNvPr id="7" name="Text 3"/>
          <p:cNvSpPr/>
          <p:nvPr/>
        </p:nvSpPr>
        <p:spPr>
          <a:xfrm>
            <a:off x="1114306" y="3501985"/>
            <a:ext cx="3574256" cy="2857857"/>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Trả lời:</a:t>
            </a:r>
            <a:r>
              <a:rPr lang="en-US" sz="1550" dirty="0">
                <a:solidFill>
                  <a:srgbClr val="4B4A4A"/>
                </a:solidFill>
                <a:latin typeface="Geist" pitchFamily="34" charset="0"/>
                <a:ea typeface="Geist" pitchFamily="34" charset="-122"/>
                <a:cs typeface="Geist" pitchFamily="34" charset="-120"/>
              </a:rPr>
              <a:t> unsigned long là kiểu 32-bit, giá trị tối đa 4,294,967,295. Khi ESP32 chạy liên tục, sau 49.7 ngày (4,294,967,295 ms), giá trị sẽ tràn về 0 (overflow). Điều này gọi là "millis rollover". Code tốt phải xử lý trường hợp này, nhưng với hầu hết dự án, ESP32 sẽ được reset trước 49 ngày nên không lo!</a:t>
            </a:r>
            <a:endParaRPr lang="en-US" sz="1550" dirty="0"/>
          </a:p>
        </p:txBody>
      </p:sp>
      <p:sp>
        <p:nvSpPr>
          <p:cNvPr id="8" name="Shape 4"/>
          <p:cNvSpPr/>
          <p:nvPr/>
        </p:nvSpPr>
        <p:spPr>
          <a:xfrm>
            <a:off x="5207437" y="2442091"/>
            <a:ext cx="4215408" cy="4238268"/>
          </a:xfrm>
          <a:prstGeom prst="roundRect">
            <a:avLst>
              <a:gd name="adj" fmla="val 4237"/>
            </a:avLst>
          </a:prstGeom>
          <a:solidFill>
            <a:srgbClr val="E5F9F2">
              <a:alpha val="95000"/>
            </a:srgbClr>
          </a:solidFill>
          <a:ln w="22860">
            <a:solidFill>
              <a:srgbClr val="B7D5CA"/>
            </a:solidFill>
            <a:prstDash val="solid"/>
          </a:ln>
        </p:spPr>
      </p:sp>
      <p:pic>
        <p:nvPicPr>
          <p:cNvPr id="9" name="Image 2" descr="preencoded.png"/>
          <p:cNvPicPr>
            <a:picLocks noChangeAspect="1"/>
          </p:cNvPicPr>
          <p:nvPr/>
        </p:nvPicPr>
        <p:blipFill>
          <a:blip r:embed="rId3"/>
          <a:stretch>
            <a:fillRect/>
          </a:stretch>
        </p:blipFill>
        <p:spPr>
          <a:xfrm>
            <a:off x="5111234" y="2345888"/>
            <a:ext cx="238125" cy="238125"/>
          </a:xfrm>
          <a:prstGeom prst="rect">
            <a:avLst/>
          </a:prstGeom>
        </p:spPr>
      </p:pic>
      <p:pic>
        <p:nvPicPr>
          <p:cNvPr id="10" name="Image 3" descr="preencoded.png"/>
          <p:cNvPicPr>
            <a:picLocks noChangeAspect="1"/>
          </p:cNvPicPr>
          <p:nvPr/>
        </p:nvPicPr>
        <p:blipFill>
          <a:blip r:embed="rId4"/>
          <a:stretch>
            <a:fillRect/>
          </a:stretch>
        </p:blipFill>
        <p:spPr>
          <a:xfrm>
            <a:off x="9280922" y="6538436"/>
            <a:ext cx="238125" cy="238125"/>
          </a:xfrm>
          <a:prstGeom prst="rect">
            <a:avLst/>
          </a:prstGeom>
        </p:spPr>
      </p:pic>
      <p:sp>
        <p:nvSpPr>
          <p:cNvPr id="11" name="Text 5"/>
          <p:cNvSpPr/>
          <p:nvPr/>
        </p:nvSpPr>
        <p:spPr>
          <a:xfrm>
            <a:off x="5527953" y="2762607"/>
            <a:ext cx="3574375"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Q2: Nếu dùng delay(1) thì có sao không?</a:t>
            </a:r>
            <a:endParaRPr lang="en-US" sz="1950" dirty="0"/>
          </a:p>
        </p:txBody>
      </p:sp>
      <p:sp>
        <p:nvSpPr>
          <p:cNvPr id="12" name="Text 6"/>
          <p:cNvSpPr/>
          <p:nvPr/>
        </p:nvSpPr>
        <p:spPr>
          <a:xfrm>
            <a:off x="5527953" y="3501985"/>
            <a:ext cx="3574375" cy="2857857"/>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Trả lời:</a:t>
            </a:r>
            <a:r>
              <a:rPr lang="en-US" sz="1550" dirty="0">
                <a:solidFill>
                  <a:srgbClr val="4B4A4A"/>
                </a:solidFill>
                <a:latin typeface="Geist" pitchFamily="34" charset="0"/>
                <a:ea typeface="Geist" pitchFamily="34" charset="-122"/>
                <a:cs typeface="Geist" pitchFamily="34" charset="-120"/>
              </a:rPr>
              <a:t> Ngay cả delay(1) cũng không tốt trong IoT. 1ms nghe có vẻ nhỏ, nhưng trong thời gian đó ESP32 có thể thực hiện hàng nghìn lệnh. Ngoài ra, nếu bạn gọi delay(1) nhiều lần trong loop(), chúng cộng dồn lại và tạo ra độ trễ đáng kể. Hãy luôn dùng millis() trừ khi thực sự cần thiết (như trong setup()).</a:t>
            </a:r>
            <a:endParaRPr lang="en-US" sz="1550" dirty="0"/>
          </a:p>
        </p:txBody>
      </p:sp>
      <p:sp>
        <p:nvSpPr>
          <p:cNvPr id="13" name="Shape 7"/>
          <p:cNvSpPr/>
          <p:nvPr/>
        </p:nvSpPr>
        <p:spPr>
          <a:xfrm>
            <a:off x="9621203" y="2442091"/>
            <a:ext cx="4215289" cy="4238268"/>
          </a:xfrm>
          <a:prstGeom prst="roundRect">
            <a:avLst>
              <a:gd name="adj" fmla="val 4238"/>
            </a:avLst>
          </a:prstGeom>
          <a:solidFill>
            <a:srgbClr val="E5F9F2">
              <a:alpha val="95000"/>
            </a:srgbClr>
          </a:solidFill>
          <a:ln w="22860">
            <a:solidFill>
              <a:srgbClr val="B7D5CA"/>
            </a:solidFill>
            <a:prstDash val="solid"/>
          </a:ln>
        </p:spPr>
      </p:sp>
      <p:pic>
        <p:nvPicPr>
          <p:cNvPr id="14" name="Image 4" descr="preencoded.png"/>
          <p:cNvPicPr>
            <a:picLocks noChangeAspect="1"/>
          </p:cNvPicPr>
          <p:nvPr/>
        </p:nvPicPr>
        <p:blipFill>
          <a:blip r:embed="rId3"/>
          <a:stretch>
            <a:fillRect/>
          </a:stretch>
        </p:blipFill>
        <p:spPr>
          <a:xfrm>
            <a:off x="9525000" y="2345888"/>
            <a:ext cx="238125" cy="238125"/>
          </a:xfrm>
          <a:prstGeom prst="rect">
            <a:avLst/>
          </a:prstGeom>
        </p:spPr>
      </p:pic>
      <p:pic>
        <p:nvPicPr>
          <p:cNvPr id="15" name="Image 5" descr="preencoded.png"/>
          <p:cNvPicPr>
            <a:picLocks noChangeAspect="1"/>
          </p:cNvPicPr>
          <p:nvPr/>
        </p:nvPicPr>
        <p:blipFill>
          <a:blip r:embed="rId4"/>
          <a:stretch>
            <a:fillRect/>
          </a:stretch>
        </p:blipFill>
        <p:spPr>
          <a:xfrm>
            <a:off x="13694569" y="6538436"/>
            <a:ext cx="238125" cy="238125"/>
          </a:xfrm>
          <a:prstGeom prst="rect">
            <a:avLst/>
          </a:prstGeom>
        </p:spPr>
      </p:pic>
      <p:sp>
        <p:nvSpPr>
          <p:cNvPr id="16" name="Text 8"/>
          <p:cNvSpPr/>
          <p:nvPr/>
        </p:nvSpPr>
        <p:spPr>
          <a:xfrm>
            <a:off x="9941719" y="2762607"/>
            <a:ext cx="3574256"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Q3: JSON có tốn nhiều bộ nhớ không?</a:t>
            </a:r>
            <a:endParaRPr lang="en-US" sz="1950" dirty="0"/>
          </a:p>
        </p:txBody>
      </p:sp>
      <p:sp>
        <p:nvSpPr>
          <p:cNvPr id="17" name="Text 9"/>
          <p:cNvSpPr/>
          <p:nvPr/>
        </p:nvSpPr>
        <p:spPr>
          <a:xfrm>
            <a:off x="9941719" y="3501985"/>
            <a:ext cx="3574256" cy="2222778"/>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Trả lời:</a:t>
            </a:r>
            <a:r>
              <a:rPr lang="en-US" sz="1550" dirty="0">
                <a:solidFill>
                  <a:srgbClr val="4B4A4A"/>
                </a:solidFill>
                <a:latin typeface="Geist" pitchFamily="34" charset="0"/>
                <a:ea typeface="Geist" pitchFamily="34" charset="-122"/>
                <a:cs typeface="Geist" pitchFamily="34" charset="-120"/>
              </a:rPr>
              <a:t> Có, JSON tốn RAM hơn so với gửi dữ liệu thô. Tuy nhiên, lợi ích về tính rõ ràng, tương thích và dễ debug vượt trội hơn nhiều. Với ESP32 có 520KB RAM, việc tạo JSON vài trăm bytes là hoàn toàn OK. Chỉ cần cẩn thận với các object JSON cực lớn (&gt;10KB).</a:t>
            </a:r>
            <a:endParaRPr lang="en-US" sz="15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793790" y="1710928"/>
            <a:ext cx="3969425" cy="496133"/>
          </a:xfrm>
          <a:prstGeom prst="rect">
            <a:avLst/>
          </a:prstGeom>
          <a:noFill/>
          <a:ln/>
        </p:spPr>
        <p:txBody>
          <a:bodyPr wrap="none" lIns="0" tIns="0" rIns="0" bIns="0" rtlCol="0" anchor="t"/>
          <a:lstStyle/>
          <a:p>
            <a:pPr marL="0" indent="0" algn="l">
              <a:lnSpc>
                <a:spcPts val="3900"/>
              </a:lnSpc>
              <a:buNone/>
            </a:pPr>
            <a:r>
              <a:rPr lang="en-US" sz="3100" b="1" dirty="0">
                <a:solidFill>
                  <a:srgbClr val="006747"/>
                </a:solidFill>
                <a:latin typeface="Noto Serif SC Bold" pitchFamily="34" charset="0"/>
                <a:ea typeface="Noto Serif SC Bold" pitchFamily="34" charset="-122"/>
                <a:cs typeface="Noto Serif SC Bold" pitchFamily="34" charset="-120"/>
              </a:rPr>
              <a:t>Câu hỏi nâng cao</a:t>
            </a:r>
            <a:endParaRPr lang="en-US" sz="3100" dirty="0"/>
          </a:p>
        </p:txBody>
      </p:sp>
      <p:pic>
        <p:nvPicPr>
          <p:cNvPr id="3" name="Image 0" descr="preencoded.png"/>
          <p:cNvPicPr>
            <a:picLocks noChangeAspect="1"/>
          </p:cNvPicPr>
          <p:nvPr/>
        </p:nvPicPr>
        <p:blipFill>
          <a:blip r:embed="rId3"/>
          <a:stretch>
            <a:fillRect/>
          </a:stretch>
        </p:blipFill>
        <p:spPr>
          <a:xfrm>
            <a:off x="793790" y="2603897"/>
            <a:ext cx="4215289" cy="3914656"/>
          </a:xfrm>
          <a:prstGeom prst="rect">
            <a:avLst/>
          </a:prstGeom>
        </p:spPr>
      </p:pic>
      <p:sp>
        <p:nvSpPr>
          <p:cNvPr id="4" name="Text 1"/>
          <p:cNvSpPr/>
          <p:nvPr/>
        </p:nvSpPr>
        <p:spPr>
          <a:xfrm>
            <a:off x="992148" y="2802255"/>
            <a:ext cx="3818573"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Q4: Làm sao để xử lý millis rollover (tràn số)?</a:t>
            </a:r>
            <a:endParaRPr lang="en-US" sz="1950" dirty="0"/>
          </a:p>
        </p:txBody>
      </p:sp>
      <p:sp>
        <p:nvSpPr>
          <p:cNvPr id="5" name="Text 2"/>
          <p:cNvSpPr/>
          <p:nvPr/>
        </p:nvSpPr>
        <p:spPr>
          <a:xfrm>
            <a:off x="992148" y="3541633"/>
            <a:ext cx="3818573" cy="2245638"/>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Trả lời:</a:t>
            </a:r>
            <a:r>
              <a:rPr lang="en-US" sz="1550" dirty="0">
                <a:solidFill>
                  <a:srgbClr val="4B4A4A"/>
                </a:solidFill>
                <a:latin typeface="Geist" pitchFamily="34" charset="0"/>
                <a:ea typeface="Geist" pitchFamily="34" charset="-122"/>
                <a:cs typeface="Geist" pitchFamily="34" charset="-120"/>
              </a:rPr>
              <a:t> Công thức </a:t>
            </a:r>
            <a:r>
              <a:rPr lang="en-US" sz="1550" dirty="0">
                <a:solidFill>
                  <a:srgbClr val="4B4A4A"/>
                </a:solidFill>
                <a:highlight>
                  <a:srgbClr val="D8ECE5"/>
                </a:highlight>
                <a:latin typeface="Consolas" pitchFamily="34" charset="0"/>
                <a:ea typeface="Consolas" pitchFamily="34" charset="-122"/>
                <a:cs typeface="Consolas" pitchFamily="34" charset="-120"/>
              </a:rPr>
              <a:t>currentMillis - previousMillis &gt;= interval</a:t>
            </a:r>
            <a:r>
              <a:rPr lang="en-US" sz="1550" dirty="0">
                <a:solidFill>
                  <a:srgbClr val="4B4A4A"/>
                </a:solidFill>
                <a:latin typeface="Geist" pitchFamily="34" charset="0"/>
                <a:ea typeface="Geist" pitchFamily="34" charset="-122"/>
                <a:cs typeface="Geist" pitchFamily="34" charset="-120"/>
              </a:rPr>
              <a:t> tự động xử lý rollover! Vì cả 2 biến đều là unsigned long, phép trừ sẽ cho kết quả đúng ngay cả khi currentMillis nhỏ hơn previousMillis (sau khi tràn). Ví dụ: </a:t>
            </a:r>
            <a:r>
              <a:rPr lang="en-US" sz="1550" dirty="0">
                <a:solidFill>
                  <a:srgbClr val="4B4A4A"/>
                </a:solidFill>
                <a:highlight>
                  <a:srgbClr val="D8ECE5"/>
                </a:highlight>
                <a:latin typeface="Consolas" pitchFamily="34" charset="0"/>
                <a:ea typeface="Consolas" pitchFamily="34" charset="-122"/>
                <a:cs typeface="Consolas" pitchFamily="34" charset="-120"/>
              </a:rPr>
              <a:t>10 - 4294967290 = 16</a:t>
            </a:r>
            <a:r>
              <a:rPr lang="en-US" sz="1550" dirty="0">
                <a:solidFill>
                  <a:srgbClr val="4B4A4A"/>
                </a:solidFill>
                <a:latin typeface="Geist" pitchFamily="34" charset="0"/>
                <a:ea typeface="Geist" pitchFamily="34" charset="-122"/>
                <a:cs typeface="Geist" pitchFamily="34" charset="-120"/>
              </a:rPr>
              <a:t> (do unsigned long overflow math).</a:t>
            </a:r>
            <a:endParaRPr lang="en-US" sz="1550" dirty="0"/>
          </a:p>
        </p:txBody>
      </p:sp>
      <p:pic>
        <p:nvPicPr>
          <p:cNvPr id="6" name="Image 1" descr="preencoded.png"/>
          <p:cNvPicPr>
            <a:picLocks noChangeAspect="1"/>
          </p:cNvPicPr>
          <p:nvPr/>
        </p:nvPicPr>
        <p:blipFill>
          <a:blip r:embed="rId4"/>
          <a:stretch>
            <a:fillRect/>
          </a:stretch>
        </p:blipFill>
        <p:spPr>
          <a:xfrm>
            <a:off x="5207437" y="2603897"/>
            <a:ext cx="4215408" cy="3914656"/>
          </a:xfrm>
          <a:prstGeom prst="rect">
            <a:avLst/>
          </a:prstGeom>
        </p:spPr>
      </p:pic>
      <p:sp>
        <p:nvSpPr>
          <p:cNvPr id="7" name="Text 3"/>
          <p:cNvSpPr/>
          <p:nvPr/>
        </p:nvSpPr>
        <p:spPr>
          <a:xfrm>
            <a:off x="5405795" y="2802255"/>
            <a:ext cx="3818692"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Q5: Có thể dùng micros() thay vì millis() không?</a:t>
            </a:r>
            <a:endParaRPr lang="en-US" sz="1950" dirty="0"/>
          </a:p>
        </p:txBody>
      </p:sp>
      <p:sp>
        <p:nvSpPr>
          <p:cNvPr id="8" name="Text 4"/>
          <p:cNvSpPr/>
          <p:nvPr/>
        </p:nvSpPr>
        <p:spPr>
          <a:xfrm>
            <a:off x="5405795" y="3541633"/>
            <a:ext cx="3818692" cy="2222778"/>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Trả lời:</a:t>
            </a:r>
            <a:r>
              <a:rPr lang="en-US" sz="1550" dirty="0">
                <a:solidFill>
                  <a:srgbClr val="4B4A4A"/>
                </a:solidFill>
                <a:latin typeface="Geist" pitchFamily="34" charset="0"/>
                <a:ea typeface="Geist" pitchFamily="34" charset="-122"/>
                <a:cs typeface="Geist" pitchFamily="34" charset="-120"/>
              </a:rPr>
              <a:t> Có! micros() hoạt động tương tự nhưng đếm theo micro-giây (µs), chính xác hơn 1000 lần. Tuy nhiên, nó tràn số sau 71 phút (~70 phút). Chỉ dùng micros() khi cần độ chính xác cực cao (ví dụ: đo xung PWM, giao tiếp tốc độ cao). Với IoT thông thường, millis() là đủ.</a:t>
            </a:r>
            <a:endParaRPr lang="en-US" sz="1550" dirty="0"/>
          </a:p>
        </p:txBody>
      </p:sp>
      <p:pic>
        <p:nvPicPr>
          <p:cNvPr id="9" name="Image 2" descr="preencoded.png"/>
          <p:cNvPicPr>
            <a:picLocks noChangeAspect="1"/>
          </p:cNvPicPr>
          <p:nvPr/>
        </p:nvPicPr>
        <p:blipFill>
          <a:blip r:embed="rId3"/>
          <a:stretch>
            <a:fillRect/>
          </a:stretch>
        </p:blipFill>
        <p:spPr>
          <a:xfrm>
            <a:off x="9621203" y="2603897"/>
            <a:ext cx="4215289" cy="3914656"/>
          </a:xfrm>
          <a:prstGeom prst="rect">
            <a:avLst/>
          </a:prstGeom>
        </p:spPr>
      </p:pic>
      <p:sp>
        <p:nvSpPr>
          <p:cNvPr id="10" name="Text 5"/>
          <p:cNvSpPr/>
          <p:nvPr/>
        </p:nvSpPr>
        <p:spPr>
          <a:xfrm>
            <a:off x="9819561" y="2802255"/>
            <a:ext cx="3818573" cy="620316"/>
          </a:xfrm>
          <a:prstGeom prst="rect">
            <a:avLst/>
          </a:prstGeom>
          <a:noFill/>
          <a:ln/>
        </p:spPr>
        <p:txBody>
          <a:bodyPr wrap="square" lIns="0" tIns="0" rIns="0" bIns="0" rtlCol="0" anchor="t"/>
          <a:lstStyle/>
          <a:p>
            <a:pPr marL="0" indent="0" algn="l">
              <a:lnSpc>
                <a:spcPts val="2400"/>
              </a:lnSpc>
              <a:buNone/>
            </a:pPr>
            <a:r>
              <a:rPr lang="en-US" sz="1950" b="1" dirty="0">
                <a:solidFill>
                  <a:srgbClr val="4B4A4A"/>
                </a:solidFill>
                <a:latin typeface="Noto Serif SC Bold" pitchFamily="34" charset="0"/>
                <a:ea typeface="Noto Serif SC Bold" pitchFamily="34" charset="-122"/>
                <a:cs typeface="Noto Serif SC Bold" pitchFamily="34" charset="-120"/>
              </a:rPr>
              <a:t>Q6: Có giới hạn số lượng task với millis() không?</a:t>
            </a:r>
            <a:endParaRPr lang="en-US" sz="1950" dirty="0"/>
          </a:p>
        </p:txBody>
      </p:sp>
      <p:sp>
        <p:nvSpPr>
          <p:cNvPr id="11" name="Text 6"/>
          <p:cNvSpPr/>
          <p:nvPr/>
        </p:nvSpPr>
        <p:spPr>
          <a:xfrm>
            <a:off x="9819561" y="3541633"/>
            <a:ext cx="3818573" cy="2540318"/>
          </a:xfrm>
          <a:prstGeom prst="rect">
            <a:avLst/>
          </a:prstGeom>
          <a:noFill/>
          <a:ln/>
        </p:spPr>
        <p:txBody>
          <a:bodyPr wrap="square" lIns="0" tIns="0" rIns="0" bIns="0" rtlCol="0" anchor="t"/>
          <a:lstStyle/>
          <a:p>
            <a:pPr marL="0" indent="0" algn="l">
              <a:lnSpc>
                <a:spcPts val="2500"/>
              </a:lnSpc>
              <a:buNone/>
            </a:pPr>
            <a:r>
              <a:rPr lang="en-US" sz="1550" b="1" dirty="0">
                <a:solidFill>
                  <a:srgbClr val="4B4A4A"/>
                </a:solidFill>
                <a:latin typeface="Geist" pitchFamily="34" charset="0"/>
                <a:ea typeface="Geist" pitchFamily="34" charset="-122"/>
                <a:cs typeface="Geist" pitchFamily="34" charset="-120"/>
              </a:rPr>
              <a:t>Trả lời:</a:t>
            </a:r>
            <a:r>
              <a:rPr lang="en-US" sz="1550" dirty="0">
                <a:solidFill>
                  <a:srgbClr val="4B4A4A"/>
                </a:solidFill>
                <a:latin typeface="Geist" pitchFamily="34" charset="0"/>
                <a:ea typeface="Geist" pitchFamily="34" charset="-122"/>
                <a:cs typeface="Geist" pitchFamily="34" charset="-120"/>
              </a:rPr>
              <a:t> Về lý thuyết, không có giới hạn! Bạn có thể có 10, 20, 50 task (nếu RAM đủ). Tuy nhiên, mỗi task cần 3 biến (previous, interval, state), và loop() sẽ phải kiểm tra tất cả mỗi lần chạy. Với quá nhiều task (&gt;50), code sẽ khó đọc. Lúc đó nên cân nhắc dùng RTOS (Real-Time Operating System) của ESP32.</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7196</Words>
  <Application>Microsoft Office PowerPoint</Application>
  <PresentationFormat>Custom</PresentationFormat>
  <Paragraphs>816</Paragraphs>
  <Slides>57</Slides>
  <Notes>57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Consolas</vt:lpstr>
      <vt:lpstr>Arial</vt:lpstr>
      <vt:lpstr>Noto Serif SC Bold</vt:lpstr>
      <vt:lpstr>Noto Serif SC Light</vt:lpstr>
      <vt:lpstr>Cambria Math</vt:lpstr>
      <vt:lpstr>Geist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Mr Trần</cp:lastModifiedBy>
  <cp:revision>5</cp:revision>
  <dcterms:created xsi:type="dcterms:W3CDTF">2025-12-30T09:14:29Z</dcterms:created>
  <dcterms:modified xsi:type="dcterms:W3CDTF">2026-03-05T14:54:54Z</dcterms:modified>
</cp:coreProperties>
</file>