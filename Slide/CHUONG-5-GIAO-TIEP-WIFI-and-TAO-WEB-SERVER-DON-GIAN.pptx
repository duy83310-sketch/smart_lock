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8" r:id="rId43"/>
    <p:sldId id="299" r:id="rId44"/>
    <p:sldId id="300" r:id="rId45"/>
    <p:sldId id="301" r:id="rId46"/>
    <p:sldId id="302" r:id="rId47"/>
    <p:sldId id="303" r:id="rId48"/>
    <p:sldId id="305" r:id="rId49"/>
    <p:sldId id="307" r:id="rId50"/>
    <p:sldId id="308" r:id="rId51"/>
    <p:sldId id="309" r:id="rId52"/>
    <p:sldId id="310" r:id="rId53"/>
  </p:sldIdLst>
  <p:sldSz cx="14630400" cy="8229600"/>
  <p:notesSz cx="8229600" cy="14630400"/>
  <p:embeddedFontLst>
    <p:embeddedFont>
      <p:font typeface="Consolas" panose="020B0609020204030204" pitchFamily="49" charset="0"/>
      <p:regular r:id="rId55"/>
      <p:bold r:id="rId56"/>
      <p:italic r:id="rId57"/>
      <p:boldItalic r:id="rId58"/>
    </p:embeddedFont>
    <p:embeddedFont>
      <p:font typeface="Geist" pitchFamily="2" charset="0"/>
      <p:regular r:id="rId59"/>
      <p:bold r:id="rId60"/>
    </p:embeddedFont>
    <p:embeddedFont>
      <p:font typeface="Noto Serif SC Bold" panose="02020200000000000000" pitchFamily="18" charset="-128"/>
      <p:bold r:id="rId61"/>
    </p:embeddedFont>
    <p:embeddedFont>
      <p:font typeface="Noto Serif SC Light" panose="02020200000000000000" pitchFamily="18" charset="-128"/>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autoAdjust="0"/>
    <p:restoredTop sz="94610"/>
  </p:normalViewPr>
  <p:slideViewPr>
    <p:cSldViewPr snapToGrid="0" snapToObjects="1">
      <p:cViewPr varScale="1">
        <p:scale>
          <a:sx n="65" d="100"/>
          <a:sy n="65" d="100"/>
        </p:scale>
        <p:origin x="87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61"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9332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3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3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3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4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lide 4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lide 4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lide 4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lide 4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lide 4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lide 4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lide 4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lide 4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lide 4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lide 5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lide 5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lide 5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lide 5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lide 5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lide 5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2.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hyperlink" Target="http://google.com" TargetMode="External"/><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7.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notesSlide" Target="../notesSlides/notesSlide18.xml"/><Relationship Id="rId1" Type="http://schemas.openxmlformats.org/officeDocument/2006/relationships/slideLayout" Target="../slideLayouts/slideLayout19.xml"/><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36.xml"/><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0.xml"/><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5.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8" Type="http://schemas.openxmlformats.org/officeDocument/2006/relationships/image" Target="../media/image66.sv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svg"/><Relationship Id="rId2" Type="http://schemas.openxmlformats.org/officeDocument/2006/relationships/notesSlide" Target="../notesSlides/notesSlide45.xml"/><Relationship Id="rId16" Type="http://schemas.openxmlformats.org/officeDocument/2006/relationships/image" Target="../media/image74.png"/><Relationship Id="rId20" Type="http://schemas.openxmlformats.org/officeDocument/2006/relationships/image" Target="../media/image78.svg"/><Relationship Id="rId1" Type="http://schemas.openxmlformats.org/officeDocument/2006/relationships/slideLayout" Target="../slideLayouts/slideLayout47.xml"/><Relationship Id="rId6" Type="http://schemas.openxmlformats.org/officeDocument/2006/relationships/image" Target="../media/image64.png"/><Relationship Id="rId11" Type="http://schemas.openxmlformats.org/officeDocument/2006/relationships/image" Target="../media/image69.svg"/><Relationship Id="rId5" Type="http://schemas.openxmlformats.org/officeDocument/2006/relationships/image" Target="../media/image63.svg"/><Relationship Id="rId15" Type="http://schemas.openxmlformats.org/officeDocument/2006/relationships/image" Target="../media/image73.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9.xml"/></Relationships>
</file>

<file path=ppt/slides/_rels/slide4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8.xml"/><Relationship Id="rId1" Type="http://schemas.openxmlformats.org/officeDocument/2006/relationships/slideLayout" Target="../slideLayouts/slideLayout51.xml"/><Relationship Id="rId4" Type="http://schemas.openxmlformats.org/officeDocument/2006/relationships/image" Target="../media/image8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3.xml"/></Relationships>
</file>

<file path=ppt/slides/_rels/slide50.xml.rels><?xml version="1.0" encoding="UTF-8" standalone="yes"?>
<Relationships xmlns="http://schemas.openxmlformats.org/package/2006/relationships"><Relationship Id="rId8" Type="http://schemas.openxmlformats.org/officeDocument/2006/relationships/image" Target="../media/image86.sv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50.xml"/><Relationship Id="rId1" Type="http://schemas.openxmlformats.org/officeDocument/2006/relationships/slideLayout" Target="../slideLayouts/slideLayout54.xml"/><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82.sv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5.xml"/></Relationships>
</file>

<file path=ppt/slides/_rels/slide5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2.xm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2869525"/>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TUẦN 5: GIAO TIẾP WIFI &amp; TẠO WEB SERVER ĐƠN GIẢN</a:t>
            </a:r>
            <a:endParaRPr lang="en-US" sz="3900" dirty="0"/>
          </a:p>
        </p:txBody>
      </p:sp>
      <p:sp>
        <p:nvSpPr>
          <p:cNvPr id="4" name="Text 1"/>
          <p:cNvSpPr/>
          <p:nvPr/>
        </p:nvSpPr>
        <p:spPr>
          <a:xfrm>
            <a:off x="6280190" y="4407337"/>
            <a:ext cx="7887366" cy="952619"/>
          </a:xfrm>
          <a:prstGeom prst="rect">
            <a:avLst/>
          </a:prstGeom>
          <a:noFill/>
          <a:ln/>
        </p:spPr>
        <p:txBody>
          <a:bodyPr wrap="square" lIns="0" tIns="0" rIns="0" bIns="0" rtlCol="0" anchor="t"/>
          <a:lstStyle/>
          <a:p>
            <a:pPr marL="0" indent="0" algn="l">
              <a:lnSpc>
                <a:spcPct val="150000"/>
              </a:lnSpc>
              <a:buNone/>
            </a:pPr>
            <a:r>
              <a:rPr lang="en-US" dirty="0">
                <a:solidFill>
                  <a:srgbClr val="4B4A4A"/>
                </a:solidFill>
                <a:latin typeface="Geist" pitchFamily="34" charset="0"/>
                <a:ea typeface="Geist" pitchFamily="34" charset="-122"/>
                <a:cs typeface="Geist" pitchFamily="34" charset="-120"/>
              </a:rPr>
              <a:t>Hôm nay chúng ta sẽ cùng nhau biến chiếc ESP32 thành một thiết bị IoT thực thụ - có thể điều khiển từ xa qua WiFi. Đây chính là bước đột phá giúp bạn hiểu rõ cách mà các thiết bị thông minh trong nhà hoạt động.</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42160"/>
            <a:ext cx="6488549"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Mục tiêu bài học hôm nay</a:t>
            </a:r>
            <a:endParaRPr lang="en-US" sz="3900" dirty="0"/>
          </a:p>
        </p:txBody>
      </p:sp>
      <p:sp>
        <p:nvSpPr>
          <p:cNvPr id="3" name="Shape 1"/>
          <p:cNvSpPr/>
          <p:nvPr/>
        </p:nvSpPr>
        <p:spPr>
          <a:xfrm>
            <a:off x="793790" y="3059073"/>
            <a:ext cx="4215289" cy="2587466"/>
          </a:xfrm>
          <a:prstGeom prst="roundRect">
            <a:avLst>
              <a:gd name="adj" fmla="val 6904"/>
            </a:avLst>
          </a:prstGeom>
          <a:solidFill>
            <a:srgbClr val="D1EFE4"/>
          </a:solidFill>
          <a:ln w="7620">
            <a:solidFill>
              <a:srgbClr val="B7D5CA"/>
            </a:solidFill>
            <a:prstDash val="solid"/>
          </a:ln>
        </p:spPr>
      </p:sp>
      <p:sp>
        <p:nvSpPr>
          <p:cNvPr id="4" name="Shape 2"/>
          <p:cNvSpPr/>
          <p:nvPr/>
        </p:nvSpPr>
        <p:spPr>
          <a:xfrm>
            <a:off x="999768" y="3265051"/>
            <a:ext cx="595313" cy="595313"/>
          </a:xfrm>
          <a:prstGeom prst="roundRect">
            <a:avLst>
              <a:gd name="adj" fmla="val 15358451"/>
            </a:avLst>
          </a:prstGeom>
          <a:solidFill>
            <a:srgbClr val="006747"/>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3479" y="3428643"/>
            <a:ext cx="267891" cy="267891"/>
          </a:xfrm>
          <a:prstGeom prst="rect">
            <a:avLst/>
          </a:prstGeom>
        </p:spPr>
      </p:pic>
      <p:sp>
        <p:nvSpPr>
          <p:cNvPr id="6" name="Text 3"/>
          <p:cNvSpPr/>
          <p:nvPr/>
        </p:nvSpPr>
        <p:spPr>
          <a:xfrm>
            <a:off x="999768" y="4058722"/>
            <a:ext cx="2614493"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Hiểu hai chế độ WiFi</a:t>
            </a:r>
            <a:endParaRPr lang="en-US" sz="1950" dirty="0"/>
          </a:p>
        </p:txBody>
      </p:sp>
      <p:sp>
        <p:nvSpPr>
          <p:cNvPr id="7" name="Text 4"/>
          <p:cNvSpPr/>
          <p:nvPr/>
        </p:nvSpPr>
        <p:spPr>
          <a:xfrm>
            <a:off x="999768" y="4487942"/>
            <a:ext cx="3803333"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Nắm vững cách hoạt động của chế độ Station (STA) và Access Point (AP) trên ESP32</a:t>
            </a:r>
            <a:endParaRPr lang="en-US" dirty="0"/>
          </a:p>
        </p:txBody>
      </p:sp>
      <p:sp>
        <p:nvSpPr>
          <p:cNvPr id="8" name="Shape 5"/>
          <p:cNvSpPr/>
          <p:nvPr/>
        </p:nvSpPr>
        <p:spPr>
          <a:xfrm>
            <a:off x="5207437" y="3059073"/>
            <a:ext cx="4215408" cy="2587466"/>
          </a:xfrm>
          <a:prstGeom prst="roundRect">
            <a:avLst>
              <a:gd name="adj" fmla="val 6904"/>
            </a:avLst>
          </a:prstGeom>
          <a:solidFill>
            <a:srgbClr val="D1EFE4"/>
          </a:solidFill>
          <a:ln w="7620">
            <a:solidFill>
              <a:srgbClr val="B7D5CA"/>
            </a:solidFill>
            <a:prstDash val="solid"/>
          </a:ln>
        </p:spPr>
      </p:sp>
      <p:sp>
        <p:nvSpPr>
          <p:cNvPr id="9" name="Shape 6"/>
          <p:cNvSpPr/>
          <p:nvPr/>
        </p:nvSpPr>
        <p:spPr>
          <a:xfrm>
            <a:off x="5413415" y="3265051"/>
            <a:ext cx="595313" cy="595313"/>
          </a:xfrm>
          <a:prstGeom prst="roundRect">
            <a:avLst>
              <a:gd name="adj" fmla="val 15358451"/>
            </a:avLst>
          </a:prstGeom>
          <a:solidFill>
            <a:srgbClr val="006747"/>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77126" y="3428643"/>
            <a:ext cx="267891" cy="267891"/>
          </a:xfrm>
          <a:prstGeom prst="rect">
            <a:avLst/>
          </a:prstGeom>
        </p:spPr>
      </p:pic>
      <p:sp>
        <p:nvSpPr>
          <p:cNvPr id="11" name="Text 7"/>
          <p:cNvSpPr/>
          <p:nvPr/>
        </p:nvSpPr>
        <p:spPr>
          <a:xfrm>
            <a:off x="5413415" y="4058722"/>
            <a:ext cx="2898219"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Giao thức HTTP cơ bản</a:t>
            </a:r>
            <a:endParaRPr lang="en-US" sz="1950" dirty="0"/>
          </a:p>
        </p:txBody>
      </p:sp>
      <p:sp>
        <p:nvSpPr>
          <p:cNvPr id="12" name="Text 8"/>
          <p:cNvSpPr/>
          <p:nvPr/>
        </p:nvSpPr>
        <p:spPr>
          <a:xfrm>
            <a:off x="5413415" y="4487942"/>
            <a:ext cx="3803452"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Tìm hiểu mô hình Client-Server và cách truyền thông tin trên web</a:t>
            </a:r>
            <a:endParaRPr lang="en-US" dirty="0"/>
          </a:p>
        </p:txBody>
      </p:sp>
      <p:sp>
        <p:nvSpPr>
          <p:cNvPr id="13" name="Shape 9"/>
          <p:cNvSpPr/>
          <p:nvPr/>
        </p:nvSpPr>
        <p:spPr>
          <a:xfrm>
            <a:off x="9621203" y="3059073"/>
            <a:ext cx="4215289" cy="2587466"/>
          </a:xfrm>
          <a:prstGeom prst="roundRect">
            <a:avLst>
              <a:gd name="adj" fmla="val 6904"/>
            </a:avLst>
          </a:prstGeom>
          <a:solidFill>
            <a:srgbClr val="D1EFE4"/>
          </a:solidFill>
          <a:ln w="7620">
            <a:solidFill>
              <a:srgbClr val="B7D5CA"/>
            </a:solidFill>
            <a:prstDash val="solid"/>
          </a:ln>
        </p:spPr>
      </p:sp>
      <p:sp>
        <p:nvSpPr>
          <p:cNvPr id="14" name="Shape 10"/>
          <p:cNvSpPr/>
          <p:nvPr/>
        </p:nvSpPr>
        <p:spPr>
          <a:xfrm>
            <a:off x="9827181" y="3265051"/>
            <a:ext cx="595313" cy="595313"/>
          </a:xfrm>
          <a:prstGeom prst="roundRect">
            <a:avLst>
              <a:gd name="adj" fmla="val 15358451"/>
            </a:avLst>
          </a:prstGeom>
          <a:solidFill>
            <a:srgbClr val="006747"/>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90892" y="3428643"/>
            <a:ext cx="267891" cy="267891"/>
          </a:xfrm>
          <a:prstGeom prst="rect">
            <a:avLst/>
          </a:prstGeom>
        </p:spPr>
      </p:pic>
      <p:sp>
        <p:nvSpPr>
          <p:cNvPr id="16" name="Text 11"/>
          <p:cNvSpPr/>
          <p:nvPr/>
        </p:nvSpPr>
        <p:spPr>
          <a:xfrm>
            <a:off x="9827181" y="4058722"/>
            <a:ext cx="2863334"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Thực hành Web Server</a:t>
            </a:r>
            <a:endParaRPr lang="en-US" sz="1950" dirty="0"/>
          </a:p>
        </p:txBody>
      </p:sp>
      <p:sp>
        <p:nvSpPr>
          <p:cNvPr id="17" name="Text 12"/>
          <p:cNvSpPr/>
          <p:nvPr/>
        </p:nvSpPr>
        <p:spPr>
          <a:xfrm>
            <a:off x="9827181" y="4487942"/>
            <a:ext cx="3803333"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Tự tay tạo một trang web điều khiển LED chạy ngay trên chip ESP32</a:t>
            </a:r>
            <a:endParaRPr lang="en-US" dirty="0"/>
          </a:p>
        </p:txBody>
      </p:sp>
      <p:sp>
        <p:nvSpPr>
          <p:cNvPr id="18" name="Text 13"/>
          <p:cNvSpPr/>
          <p:nvPr/>
        </p:nvSpPr>
        <p:spPr>
          <a:xfrm>
            <a:off x="793790" y="5869781"/>
            <a:ext cx="1304282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Sau bài học này, các bạn sẽ có thể tạo ra một thiết bị IoT hoàn chỉnh - điều khiển được từ bất kỳ đâu trong nhà qua smartphone!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2" grpId="0" animBg="1"/>
      <p:bldP spid="16" grpId="0" animBg="1"/>
      <p:bldP spid="17"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04849"/>
          </a:xfrm>
          <a:prstGeom prst="rect">
            <a:avLst/>
          </a:prstGeom>
        </p:spPr>
      </p:pic>
      <p:sp>
        <p:nvSpPr>
          <p:cNvPr id="3" name="Text 0"/>
          <p:cNvSpPr/>
          <p:nvPr/>
        </p:nvSpPr>
        <p:spPr>
          <a:xfrm>
            <a:off x="1405176" y="3524347"/>
            <a:ext cx="11819930" cy="1240393"/>
          </a:xfrm>
          <a:prstGeom prst="rect">
            <a:avLst/>
          </a:prstGeom>
          <a:noFill/>
          <a:ln/>
        </p:spPr>
        <p:txBody>
          <a:bodyPr wrap="none" lIns="0" tIns="0" rIns="0" bIns="0" rtlCol="0" anchor="t"/>
          <a:lstStyle/>
          <a:p>
            <a:pPr marL="0" indent="0" algn="ctr">
              <a:lnSpc>
                <a:spcPts val="9750"/>
              </a:lnSpc>
              <a:buNone/>
            </a:pPr>
            <a:r>
              <a:rPr lang="en-US" sz="7800" b="1" dirty="0">
                <a:solidFill>
                  <a:srgbClr val="006747"/>
                </a:solidFill>
                <a:latin typeface="Noto Serif SC Bold" pitchFamily="34" charset="0"/>
                <a:ea typeface="Noto Serif SC Bold" pitchFamily="34" charset="-122"/>
                <a:cs typeface="Noto Serif SC Bold" pitchFamily="34" charset="-120"/>
              </a:rPr>
              <a:t>CẮT DÂY VÀ LÊN MẠNG</a:t>
            </a:r>
            <a:endParaRPr lang="en-US" sz="7800" dirty="0"/>
          </a:p>
        </p:txBody>
      </p:sp>
      <p:sp>
        <p:nvSpPr>
          <p:cNvPr id="4" name="Text 1"/>
          <p:cNvSpPr/>
          <p:nvPr/>
        </p:nvSpPr>
        <p:spPr>
          <a:xfrm>
            <a:off x="793790" y="5062397"/>
            <a:ext cx="13042821" cy="317540"/>
          </a:xfrm>
          <a:prstGeom prst="rect">
            <a:avLst/>
          </a:prstGeom>
          <a:noFill/>
          <a:ln/>
        </p:spPr>
        <p:txBody>
          <a:bodyPr wrap="none" lIns="0" tIns="0" rIns="0" bIns="0" rtlCol="0" anchor="t"/>
          <a:lstStyle/>
          <a:p>
            <a:pPr marL="0" indent="0" algn="ctr">
              <a:lnSpc>
                <a:spcPts val="2500"/>
              </a:lnSpc>
              <a:buNone/>
            </a:pPr>
            <a:r>
              <a:rPr lang="en-US" sz="2000" b="1" dirty="0">
                <a:solidFill>
                  <a:srgbClr val="4B4A4A"/>
                </a:solidFill>
                <a:latin typeface="Geist" pitchFamily="34" charset="0"/>
                <a:ea typeface="Geist" pitchFamily="34" charset="-122"/>
                <a:cs typeface="Geist" pitchFamily="34" charset="-120"/>
              </a:rPr>
              <a:t>Phần 1: Lý thuyết nền tảng</a:t>
            </a:r>
            <a:endParaRPr lang="en-US" sz="2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49536"/>
            <a:ext cx="8433792"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ESP32 - Chiếc chip "biết bắt WiFi"</a:t>
            </a:r>
            <a:endParaRPr lang="en-US" sz="3900" dirty="0"/>
          </a:p>
        </p:txBody>
      </p:sp>
      <p:pic>
        <p:nvPicPr>
          <p:cNvPr id="3" name="Image 0" descr="preencoded.png"/>
          <p:cNvPicPr>
            <a:picLocks noChangeAspect="1"/>
          </p:cNvPicPr>
          <p:nvPr/>
        </p:nvPicPr>
        <p:blipFill>
          <a:blip r:embed="rId3"/>
          <a:stretch>
            <a:fillRect/>
          </a:stretch>
        </p:blipFill>
        <p:spPr>
          <a:xfrm>
            <a:off x="793790" y="2190512"/>
            <a:ext cx="6279356" cy="4766310"/>
          </a:xfrm>
          <a:prstGeom prst="rect">
            <a:avLst/>
          </a:prstGeom>
        </p:spPr>
      </p:pic>
      <p:sp>
        <p:nvSpPr>
          <p:cNvPr id="4" name="Text 1"/>
          <p:cNvSpPr/>
          <p:nvPr/>
        </p:nvSpPr>
        <p:spPr>
          <a:xfrm>
            <a:off x="7722919" y="2780942"/>
            <a:ext cx="6279356"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ESP32 không chỉ là một vi điều khiển thông thường. Nó được tích hợp sẵn một card </a:t>
            </a:r>
            <a:r>
              <a:rPr lang="en-US" dirty="0" err="1">
                <a:solidFill>
                  <a:srgbClr val="4B4A4A"/>
                </a:solidFill>
                <a:latin typeface="Geist" pitchFamily="34" charset="0"/>
                <a:ea typeface="Geist" pitchFamily="34" charset="-122"/>
                <a:cs typeface="Geist" pitchFamily="34" charset="-120"/>
              </a:rPr>
              <a:t>mạng</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WiFi</a:t>
            </a:r>
            <a:r>
              <a:rPr lang="en-US" dirty="0">
                <a:solidFill>
                  <a:srgbClr val="4B4A4A"/>
                </a:solidFill>
                <a:latin typeface="Geist" pitchFamily="34" charset="0"/>
                <a:ea typeface="Geist" pitchFamily="34" charset="-122"/>
                <a:cs typeface="Geist" pitchFamily="34" charset="-120"/>
              </a:rPr>
              <a:t> cho phép kết nối Internet và giao tiếp không dây.</a:t>
            </a:r>
            <a:endParaRPr lang="en-US" dirty="0"/>
          </a:p>
        </p:txBody>
      </p:sp>
      <p:sp>
        <p:nvSpPr>
          <p:cNvPr id="5" name="Text 2"/>
          <p:cNvSpPr/>
          <p:nvPr/>
        </p:nvSpPr>
        <p:spPr>
          <a:xfrm>
            <a:off x="7722918" y="3912155"/>
            <a:ext cx="6625259"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ESP32 có thể hoạt động ở </a:t>
            </a:r>
            <a:r>
              <a:rPr lang="en-US" b="1" dirty="0">
                <a:solidFill>
                  <a:srgbClr val="4B4A4A"/>
                </a:solidFill>
                <a:latin typeface="Geist" pitchFamily="34" charset="0"/>
                <a:ea typeface="Geist" pitchFamily="34" charset="-122"/>
                <a:cs typeface="Geist" pitchFamily="34" charset="-120"/>
              </a:rPr>
              <a:t>hai chế độ khác nhau</a:t>
            </a:r>
            <a:r>
              <a:rPr lang="en-US" dirty="0">
                <a:solidFill>
                  <a:srgbClr val="4B4A4A"/>
                </a:solidFill>
                <a:latin typeface="Geist" pitchFamily="34" charset="0"/>
                <a:ea typeface="Geist" pitchFamily="34" charset="-122"/>
                <a:cs typeface="Geist" pitchFamily="34" charset="-120"/>
              </a:rPr>
              <a:t>, giống như chiếc laptop có thể vừa kết nối </a:t>
            </a:r>
            <a:r>
              <a:rPr lang="en-US" b="1" dirty="0">
                <a:solidFill>
                  <a:srgbClr val="4B4A4A"/>
                </a:solidFill>
                <a:latin typeface="Geist" pitchFamily="34" charset="0"/>
                <a:ea typeface="Geist" pitchFamily="34" charset="-122"/>
                <a:cs typeface="Geist" pitchFamily="34" charset="-120"/>
              </a:rPr>
              <a:t>WiFi</a:t>
            </a:r>
            <a:r>
              <a:rPr lang="en-US" dirty="0">
                <a:solidFill>
                  <a:srgbClr val="4B4A4A"/>
                </a:solidFill>
                <a:latin typeface="Geist" pitchFamily="34" charset="0"/>
                <a:ea typeface="Geist" pitchFamily="34" charset="-122"/>
                <a:cs typeface="Geist" pitchFamily="34" charset="-120"/>
              </a:rPr>
              <a:t>, vừa phát </a:t>
            </a:r>
            <a:r>
              <a:rPr lang="en-US" b="1" dirty="0">
                <a:solidFill>
                  <a:srgbClr val="4B4A4A"/>
                </a:solidFill>
                <a:latin typeface="Geist" pitchFamily="34" charset="0"/>
                <a:ea typeface="Geist" pitchFamily="34" charset="-122"/>
                <a:cs typeface="Geist" pitchFamily="34" charset="-120"/>
              </a:rPr>
              <a:t>WiFi hotspot</a:t>
            </a:r>
            <a:r>
              <a:rPr lang="en-US" dirty="0">
                <a:solidFill>
                  <a:srgbClr val="4B4A4A"/>
                </a:solidFill>
                <a:latin typeface="Geist" pitchFamily="34" charset="0"/>
                <a:ea typeface="Geist" pitchFamily="34" charset="-122"/>
                <a:cs typeface="Geist" pitchFamily="34" charset="-120"/>
              </a:rPr>
              <a:t>.</a:t>
            </a:r>
            <a:endParaRPr lang="en-US" dirty="0"/>
          </a:p>
        </p:txBody>
      </p:sp>
      <p:sp>
        <p:nvSpPr>
          <p:cNvPr id="6" name="Text 3"/>
          <p:cNvSpPr/>
          <p:nvPr/>
        </p:nvSpPr>
        <p:spPr>
          <a:xfrm>
            <a:off x="7722919" y="4725828"/>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Hãy cùng tìm hiểu chi tiết hai chế </a:t>
            </a:r>
            <a:r>
              <a:rPr lang="en-US" dirty="0" err="1">
                <a:solidFill>
                  <a:srgbClr val="4B4A4A"/>
                </a:solidFill>
                <a:latin typeface="Geist" pitchFamily="34" charset="0"/>
                <a:ea typeface="Geist" pitchFamily="34" charset="-122"/>
                <a:cs typeface="Geist" pitchFamily="34" charset="-120"/>
              </a:rPr>
              <a:t>độ</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này</a:t>
            </a:r>
            <a:r>
              <a:rPr lang="en-US" dirty="0">
                <a:solidFill>
                  <a:srgbClr val="4B4A4A"/>
                </a:solidFill>
                <a:latin typeface="Geist" pitchFamily="34" charset="0"/>
                <a:ea typeface="Geist" pitchFamily="34" charset="-122"/>
                <a:cs typeface="Geist" pitchFamily="34" charset="-120"/>
              </a:rPr>
              <a: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19889"/>
            <a:ext cx="12879229"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Chế độ 1: Station Mode (STA) - Vai trò "Khách hàng"</a:t>
            </a:r>
            <a:endParaRPr lang="en-US" sz="3900" dirty="0"/>
          </a:p>
        </p:txBody>
      </p:sp>
      <p:sp>
        <p:nvSpPr>
          <p:cNvPr id="3" name="Shape 1"/>
          <p:cNvSpPr/>
          <p:nvPr/>
        </p:nvSpPr>
        <p:spPr>
          <a:xfrm>
            <a:off x="793790" y="2036802"/>
            <a:ext cx="4215289" cy="3788926"/>
          </a:xfrm>
          <a:prstGeom prst="roundRect">
            <a:avLst>
              <a:gd name="adj" fmla="val 2896"/>
            </a:avLst>
          </a:prstGeom>
          <a:solidFill>
            <a:srgbClr val="E5F9F2">
              <a:alpha val="95000"/>
            </a:srgbClr>
          </a:solidFill>
          <a:ln w="22860">
            <a:solidFill>
              <a:srgbClr val="B7D5CA"/>
            </a:solidFill>
            <a:prstDash val="solid"/>
          </a:ln>
        </p:spPr>
      </p:sp>
      <p:sp>
        <p:nvSpPr>
          <p:cNvPr id="4" name="Shape 2"/>
          <p:cNvSpPr/>
          <p:nvPr/>
        </p:nvSpPr>
        <p:spPr>
          <a:xfrm>
            <a:off x="770930" y="2036802"/>
            <a:ext cx="91440" cy="3788926"/>
          </a:xfrm>
          <a:prstGeom prst="roundRect">
            <a:avLst>
              <a:gd name="adj" fmla="val 195349"/>
            </a:avLst>
          </a:prstGeom>
          <a:solidFill>
            <a:srgbClr val="006747"/>
          </a:solidFill>
          <a:ln/>
        </p:spPr>
      </p:sp>
      <p:sp>
        <p:nvSpPr>
          <p:cNvPr id="5" name="Text 3"/>
          <p:cNvSpPr/>
          <p:nvPr/>
        </p:nvSpPr>
        <p:spPr>
          <a:xfrm>
            <a:off x="1083588" y="225802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ESP32 làm "khách"</a:t>
            </a:r>
            <a:endParaRPr lang="en-US" sz="1950" dirty="0"/>
          </a:p>
        </p:txBody>
      </p:sp>
      <p:sp>
        <p:nvSpPr>
          <p:cNvPr id="6" name="Text 4"/>
          <p:cNvSpPr/>
          <p:nvPr/>
        </p:nvSpPr>
        <p:spPr>
          <a:xfrm>
            <a:off x="1083588" y="2687241"/>
            <a:ext cx="3704273"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Trong chế độ này, ESP32 đóng vai trò như một thiết bị bình thường - nó sẽ </a:t>
            </a:r>
            <a:r>
              <a:rPr lang="en-US" b="1" dirty="0">
                <a:solidFill>
                  <a:srgbClr val="4B4A4A"/>
                </a:solidFill>
                <a:latin typeface="Geist" pitchFamily="34" charset="0"/>
                <a:ea typeface="Geist" pitchFamily="34" charset="-122"/>
                <a:cs typeface="Geist" pitchFamily="34" charset="-120"/>
              </a:rPr>
              <a:t>xin phép</a:t>
            </a:r>
            <a:r>
              <a:rPr lang="en-US" dirty="0">
                <a:solidFill>
                  <a:srgbClr val="4B4A4A"/>
                </a:solidFill>
                <a:latin typeface="Geist" pitchFamily="34" charset="0"/>
                <a:ea typeface="Geist" pitchFamily="34" charset="-122"/>
                <a:cs typeface="Geist" pitchFamily="34" charset="-120"/>
              </a:rPr>
              <a:t> kết nối vào mạng WiFi có sẵn.</a:t>
            </a:r>
            <a:endParaRPr lang="en-US" dirty="0"/>
          </a:p>
        </p:txBody>
      </p:sp>
      <p:sp>
        <p:nvSpPr>
          <p:cNvPr id="7" name="Text 5"/>
          <p:cNvSpPr/>
          <p:nvPr/>
        </p:nvSpPr>
        <p:spPr>
          <a:xfrm>
            <a:off x="1083588" y="4052436"/>
            <a:ext cx="3704273"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Giống như khi kết nối điện thoại với WiFi, chọn tên mạng "xxxxxx_2.4G".</a:t>
            </a:r>
            <a:endParaRPr lang="en-US" dirty="0"/>
          </a:p>
        </p:txBody>
      </p:sp>
      <p:sp>
        <p:nvSpPr>
          <p:cNvPr id="8" name="Shape 6"/>
          <p:cNvSpPr/>
          <p:nvPr/>
        </p:nvSpPr>
        <p:spPr>
          <a:xfrm>
            <a:off x="5207437" y="2036802"/>
            <a:ext cx="4215408" cy="3788926"/>
          </a:xfrm>
          <a:prstGeom prst="roundRect">
            <a:avLst>
              <a:gd name="adj" fmla="val 2896"/>
            </a:avLst>
          </a:prstGeom>
          <a:solidFill>
            <a:srgbClr val="E5F9F2">
              <a:alpha val="95000"/>
            </a:srgbClr>
          </a:solidFill>
          <a:ln w="22860">
            <a:solidFill>
              <a:srgbClr val="B7D5CA"/>
            </a:solidFill>
            <a:prstDash val="solid"/>
          </a:ln>
        </p:spPr>
      </p:sp>
      <p:sp>
        <p:nvSpPr>
          <p:cNvPr id="9" name="Shape 7"/>
          <p:cNvSpPr/>
          <p:nvPr/>
        </p:nvSpPr>
        <p:spPr>
          <a:xfrm>
            <a:off x="5184577" y="2036802"/>
            <a:ext cx="91440" cy="3788926"/>
          </a:xfrm>
          <a:prstGeom prst="roundRect">
            <a:avLst>
              <a:gd name="adj" fmla="val 195349"/>
            </a:avLst>
          </a:prstGeom>
          <a:solidFill>
            <a:srgbClr val="006747"/>
          </a:solidFill>
          <a:ln/>
        </p:spPr>
      </p:sp>
      <p:sp>
        <p:nvSpPr>
          <p:cNvPr id="10" name="Text 8"/>
          <p:cNvSpPr/>
          <p:nvPr/>
        </p:nvSpPr>
        <p:spPr>
          <a:xfrm>
            <a:off x="5497235" y="225802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Ưu điểm vượt trội</a:t>
            </a:r>
            <a:endParaRPr lang="en-US" sz="1950" dirty="0"/>
          </a:p>
        </p:txBody>
      </p:sp>
      <p:sp>
        <p:nvSpPr>
          <p:cNvPr id="11" name="Text 9"/>
          <p:cNvSpPr/>
          <p:nvPr/>
        </p:nvSpPr>
        <p:spPr>
          <a:xfrm>
            <a:off x="5497235" y="2687241"/>
            <a:ext cx="3704392"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ESP32 có thể truy cập Internet (lên mạng, gửi dữ liệu lên Cloud)</a:t>
            </a:r>
            <a:endParaRPr lang="en-US" dirty="0"/>
          </a:p>
        </p:txBody>
      </p:sp>
      <p:sp>
        <p:nvSpPr>
          <p:cNvPr id="12" name="Text 10"/>
          <p:cNvSpPr/>
          <p:nvPr/>
        </p:nvSpPr>
        <p:spPr>
          <a:xfrm>
            <a:off x="5497235" y="3391733"/>
            <a:ext cx="3704392"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Mọi thiết bị trong cùng mạng LAN đều có thể "nói chuyện" với ESP32</a:t>
            </a:r>
            <a:endParaRPr lang="en-US" dirty="0"/>
          </a:p>
        </p:txBody>
      </p:sp>
      <p:sp>
        <p:nvSpPr>
          <p:cNvPr id="13" name="Text 11"/>
          <p:cNvSpPr/>
          <p:nvPr/>
        </p:nvSpPr>
        <p:spPr>
          <a:xfrm>
            <a:off x="5497235" y="4367162"/>
            <a:ext cx="3704392"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Không cần phải chuyển đổi WiFi trên điện thoại</a:t>
            </a:r>
            <a:endParaRPr lang="en-US" dirty="0"/>
          </a:p>
        </p:txBody>
      </p:sp>
      <p:sp>
        <p:nvSpPr>
          <p:cNvPr id="14" name="Text 12"/>
          <p:cNvSpPr/>
          <p:nvPr/>
        </p:nvSpPr>
        <p:spPr>
          <a:xfrm>
            <a:off x="5497235" y="5071655"/>
            <a:ext cx="3704392"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Phù hợp với ứng dụng Smart Home thực tế</a:t>
            </a:r>
            <a:endParaRPr lang="en-US" dirty="0"/>
          </a:p>
        </p:txBody>
      </p:sp>
      <p:sp>
        <p:nvSpPr>
          <p:cNvPr id="15" name="Shape 13"/>
          <p:cNvSpPr/>
          <p:nvPr/>
        </p:nvSpPr>
        <p:spPr>
          <a:xfrm>
            <a:off x="9621203" y="2036802"/>
            <a:ext cx="4602797" cy="3788926"/>
          </a:xfrm>
          <a:prstGeom prst="roundRect">
            <a:avLst>
              <a:gd name="adj" fmla="val 2896"/>
            </a:avLst>
          </a:prstGeom>
          <a:solidFill>
            <a:srgbClr val="E5F9F2">
              <a:alpha val="95000"/>
            </a:srgbClr>
          </a:solidFill>
          <a:ln w="22860">
            <a:solidFill>
              <a:srgbClr val="B7D5CA"/>
            </a:solidFill>
            <a:prstDash val="solid"/>
          </a:ln>
        </p:spPr>
      </p:sp>
      <p:sp>
        <p:nvSpPr>
          <p:cNvPr id="16" name="Shape 14"/>
          <p:cNvSpPr/>
          <p:nvPr/>
        </p:nvSpPr>
        <p:spPr>
          <a:xfrm>
            <a:off x="9598343" y="2036802"/>
            <a:ext cx="91440" cy="3788926"/>
          </a:xfrm>
          <a:prstGeom prst="roundRect">
            <a:avLst>
              <a:gd name="adj" fmla="val 195349"/>
            </a:avLst>
          </a:prstGeom>
          <a:solidFill>
            <a:srgbClr val="006747"/>
          </a:solidFill>
          <a:ln/>
        </p:spPr>
      </p:sp>
      <p:sp>
        <p:nvSpPr>
          <p:cNvPr id="17" name="Text 15"/>
          <p:cNvSpPr/>
          <p:nvPr/>
        </p:nvSpPr>
        <p:spPr>
          <a:xfrm>
            <a:off x="9911001" y="225802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Ví dụ</a:t>
            </a:r>
            <a:endParaRPr lang="en-US" sz="1950" dirty="0"/>
          </a:p>
        </p:txBody>
      </p:sp>
      <p:sp>
        <p:nvSpPr>
          <p:cNvPr id="18" name="Text 16"/>
          <p:cNvSpPr/>
          <p:nvPr/>
        </p:nvSpPr>
        <p:spPr>
          <a:xfrm>
            <a:off x="9911001" y="2687241"/>
            <a:ext cx="3704273"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Trong nhà bạn có:</a:t>
            </a:r>
            <a:endParaRPr lang="en-US" dirty="0"/>
          </a:p>
        </p:txBody>
      </p:sp>
      <p:sp>
        <p:nvSpPr>
          <p:cNvPr id="19" name="Text 17"/>
          <p:cNvSpPr/>
          <p:nvPr/>
        </p:nvSpPr>
        <p:spPr>
          <a:xfrm>
            <a:off x="9911001" y="3123843"/>
            <a:ext cx="3704273"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Router phát sóng "GiaDinhAB_2.4G"</a:t>
            </a:r>
            <a:endParaRPr lang="en-US" dirty="0"/>
          </a:p>
        </p:txBody>
      </p:sp>
      <p:sp>
        <p:nvSpPr>
          <p:cNvPr id="20" name="Text 18"/>
          <p:cNvSpPr/>
          <p:nvPr/>
        </p:nvSpPr>
        <p:spPr>
          <a:xfrm>
            <a:off x="9911001" y="3510796"/>
            <a:ext cx="3704273"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Điện thoại của bạn bắt WiFi đó</a:t>
            </a:r>
            <a:endParaRPr lang="en-US" dirty="0"/>
          </a:p>
        </p:txBody>
      </p:sp>
      <p:sp>
        <p:nvSpPr>
          <p:cNvPr id="21" name="Text 19"/>
          <p:cNvSpPr/>
          <p:nvPr/>
        </p:nvSpPr>
        <p:spPr>
          <a:xfrm>
            <a:off x="9911001" y="3897749"/>
            <a:ext cx="3704273"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ESP32 cũng bắt WiFi đó</a:t>
            </a:r>
            <a:endParaRPr lang="en-US" dirty="0"/>
          </a:p>
        </p:txBody>
      </p:sp>
      <p:sp>
        <p:nvSpPr>
          <p:cNvPr id="22" name="Text 20"/>
          <p:cNvSpPr/>
          <p:nvPr/>
        </p:nvSpPr>
        <p:spPr>
          <a:xfrm>
            <a:off x="9911001" y="4334351"/>
            <a:ext cx="3704273" cy="127015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 Lúc này điện thoại và ESP32 đều là "hàng xóm" trong cùng một khu phố (mạng LAN), có thể giao tiếp với nhau dễ dàng!</a:t>
            </a:r>
            <a:endParaRPr lang="en-US" dirty="0"/>
          </a:p>
        </p:txBody>
      </p:sp>
      <p:sp>
        <p:nvSpPr>
          <p:cNvPr id="23" name="Shape 21"/>
          <p:cNvSpPr/>
          <p:nvPr/>
        </p:nvSpPr>
        <p:spPr>
          <a:xfrm>
            <a:off x="793790" y="6048970"/>
            <a:ext cx="13042821" cy="1160740"/>
          </a:xfrm>
          <a:prstGeom prst="roundRect">
            <a:avLst>
              <a:gd name="adj" fmla="val 15389"/>
            </a:avLst>
          </a:prstGeom>
          <a:solidFill>
            <a:srgbClr val="B3FFE7"/>
          </a:solidFill>
          <a:ln/>
        </p:spPr>
      </p:sp>
      <p:pic>
        <p:nvPicPr>
          <p:cNvPr id="24" name="Image 0" descr="preencoded.png"/>
          <p:cNvPicPr>
            <a:picLocks noChangeAspect="1"/>
          </p:cNvPicPr>
          <p:nvPr/>
        </p:nvPicPr>
        <p:blipFill>
          <a:blip r:embed="rId3"/>
          <a:stretch>
            <a:fillRect/>
          </a:stretch>
        </p:blipFill>
        <p:spPr>
          <a:xfrm>
            <a:off x="992148" y="6344245"/>
            <a:ext cx="248007" cy="198358"/>
          </a:xfrm>
          <a:prstGeom prst="rect">
            <a:avLst/>
          </a:prstGeom>
        </p:spPr>
      </p:pic>
      <p:sp>
        <p:nvSpPr>
          <p:cNvPr id="25" name="Text 22"/>
          <p:cNvSpPr/>
          <p:nvPr/>
        </p:nvSpPr>
        <p:spPr>
          <a:xfrm>
            <a:off x="1438513" y="6296858"/>
            <a:ext cx="12199739" cy="635079"/>
          </a:xfrm>
          <a:prstGeom prst="rect">
            <a:avLst/>
          </a:prstGeom>
          <a:noFill/>
          <a:ln/>
        </p:spPr>
        <p:txBody>
          <a:bodyPr wrap="square" lIns="0" tIns="0" rIns="0" bIns="0" rtlCol="0" anchor="t"/>
          <a:lstStyle/>
          <a:p>
            <a:pPr marL="0" indent="0" algn="l">
              <a:lnSpc>
                <a:spcPts val="2500"/>
              </a:lnSpc>
              <a:buNone/>
            </a:pPr>
            <a:r>
              <a:rPr lang="en-US" b="1" dirty="0">
                <a:solidFill>
                  <a:srgbClr val="000000"/>
                </a:solidFill>
                <a:latin typeface="Geist" pitchFamily="34" charset="0"/>
                <a:ea typeface="Geist" pitchFamily="34" charset="-122"/>
                <a:cs typeface="Geist" pitchFamily="34" charset="-120"/>
              </a:rPr>
              <a:t>Lưu ý:</a:t>
            </a:r>
            <a:r>
              <a:rPr lang="en-US" dirty="0">
                <a:solidFill>
                  <a:srgbClr val="000000"/>
                </a:solidFill>
                <a:latin typeface="Geist" pitchFamily="34" charset="0"/>
                <a:ea typeface="Geist" pitchFamily="34" charset="-122"/>
                <a:cs typeface="Geist" pitchFamily="34" charset="-120"/>
              </a:rPr>
              <a:t> Trong bài học hôm nay, chúng ta sẽ sử dụng chế độ </a:t>
            </a:r>
            <a:r>
              <a:rPr lang="en-US" b="1" dirty="0">
                <a:solidFill>
                  <a:srgbClr val="006747"/>
                </a:solidFill>
                <a:latin typeface="Geist" pitchFamily="34" charset="0"/>
                <a:ea typeface="Geist" pitchFamily="34" charset="-122"/>
                <a:cs typeface="Geist" pitchFamily="34" charset="-120"/>
              </a:rPr>
              <a:t>Station (STA)</a:t>
            </a:r>
            <a:r>
              <a:rPr lang="en-US" dirty="0">
                <a:solidFill>
                  <a:srgbClr val="000000"/>
                </a:solidFill>
                <a:latin typeface="Geist" pitchFamily="34" charset="0"/>
                <a:ea typeface="Geist" pitchFamily="34" charset="-122"/>
                <a:cs typeface="Geist" pitchFamily="34" charset="-120"/>
              </a:rPr>
              <a:t> vì đây là cách chuẩn nhất cho các ứng dụng Smart Home. Nó cho phép nhiều thiết bị cùng điều khiển và giám sát ESP32.</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500"/>
                                        <p:tgtEl>
                                          <p:spTgt spid="23"/>
                                        </p:tgtEl>
                                      </p:cBhvr>
                                    </p:animEffect>
                                  </p:childTnLst>
                                </p:cTn>
                              </p:par>
                              <p:par>
                                <p:cTn id="74" presetID="10" presetClass="entr" presetSubtype="0" fill="hold"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00"/>
                                        <p:tgtEl>
                                          <p:spTgt spid="2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animBg="1"/>
      <p:bldP spid="11" grpId="0" animBg="1"/>
      <p:bldP spid="12" grpId="0" animBg="1"/>
      <p:bldP spid="13" grpId="0" animBg="1"/>
      <p:bldP spid="14" grpId="0" animBg="1"/>
      <p:bldP spid="17" grpId="0" animBg="1"/>
      <p:bldP spid="18" grpId="0" animBg="1"/>
      <p:bldP spid="19" grpId="0" animBg="1"/>
      <p:bldP spid="20" grpId="0" animBg="1"/>
      <p:bldP spid="21" grpId="0" animBg="1"/>
      <p:bldP spid="22"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99624"/>
            <a:ext cx="11275219"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Chế độ 2: Access Point Mode (AP)</a:t>
            </a:r>
            <a:endParaRPr lang="en-US" sz="3900" dirty="0"/>
          </a:p>
        </p:txBody>
      </p:sp>
      <p:sp>
        <p:nvSpPr>
          <p:cNvPr id="3" name="Text 1"/>
          <p:cNvSpPr/>
          <p:nvPr/>
        </p:nvSpPr>
        <p:spPr>
          <a:xfrm>
            <a:off x="793790" y="1915716"/>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ESP32 làm host</a:t>
            </a:r>
            <a:endParaRPr lang="en-US" dirty="0"/>
          </a:p>
        </p:txBody>
      </p:sp>
      <p:sp>
        <p:nvSpPr>
          <p:cNvPr id="4" name="Text 2"/>
          <p:cNvSpPr/>
          <p:nvPr/>
        </p:nvSpPr>
        <p:spPr>
          <a:xfrm>
            <a:off x="793790" y="2424232"/>
            <a:ext cx="7632025"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Ở chế độ này, ESP32 tự mình </a:t>
            </a:r>
            <a:r>
              <a:rPr lang="en-US" b="1" dirty="0">
                <a:solidFill>
                  <a:srgbClr val="4B4A4A"/>
                </a:solidFill>
                <a:latin typeface="Geist" pitchFamily="34" charset="0"/>
                <a:ea typeface="Geist" pitchFamily="34" charset="-122"/>
                <a:cs typeface="Geist" pitchFamily="34" charset="-120"/>
              </a:rPr>
              <a:t>phát sóng WiFi</a:t>
            </a:r>
            <a:r>
              <a:rPr lang="en-US" dirty="0">
                <a:solidFill>
                  <a:srgbClr val="4B4A4A"/>
                </a:solidFill>
                <a:latin typeface="Geist" pitchFamily="34" charset="0"/>
                <a:ea typeface="Geist" pitchFamily="34" charset="-122"/>
                <a:cs typeface="Geist" pitchFamily="34" charset="-120"/>
              </a:rPr>
              <a:t> - nó trở thành một "Router mini". Ta sẽ thấy xuất hiện một mạng WiFi mới tên "MyESP32" trên danh sách WiFi của điện thoại.</a:t>
            </a:r>
            <a:endParaRPr lang="en-US" dirty="0"/>
          </a:p>
        </p:txBody>
      </p:sp>
      <p:sp>
        <p:nvSpPr>
          <p:cNvPr id="5" name="Text 3"/>
          <p:cNvSpPr/>
          <p:nvPr/>
        </p:nvSpPr>
        <p:spPr>
          <a:xfrm>
            <a:off x="793790" y="3575209"/>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Ưu điểm</a:t>
            </a:r>
            <a:endParaRPr lang="en-US" dirty="0"/>
          </a:p>
        </p:txBody>
      </p:sp>
      <p:sp>
        <p:nvSpPr>
          <p:cNvPr id="6" name="Text 4"/>
          <p:cNvSpPr/>
          <p:nvPr/>
        </p:nvSpPr>
        <p:spPr>
          <a:xfrm>
            <a:off x="793790" y="4083725"/>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Hoạt động độc lập, không cần Router</a:t>
            </a:r>
            <a:endParaRPr lang="en-US" dirty="0"/>
          </a:p>
        </p:txBody>
      </p:sp>
      <p:sp>
        <p:nvSpPr>
          <p:cNvPr id="7" name="Text 5"/>
          <p:cNvSpPr/>
          <p:nvPr/>
        </p:nvSpPr>
        <p:spPr>
          <a:xfrm>
            <a:off x="793790" y="4470678"/>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Hữu ích khi làm việc ở nơi không có mạng (rừng, núi, công trường)</a:t>
            </a:r>
            <a:endParaRPr lang="en-US" dirty="0"/>
          </a:p>
        </p:txBody>
      </p:sp>
      <p:sp>
        <p:nvSpPr>
          <p:cNvPr id="8" name="Text 6"/>
          <p:cNvSpPr/>
          <p:nvPr/>
        </p:nvSpPr>
        <p:spPr>
          <a:xfrm>
            <a:off x="793790" y="4857631"/>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Kiểm soát hoàn toàn ai được kết nối</a:t>
            </a:r>
            <a:endParaRPr lang="en-US" dirty="0"/>
          </a:p>
        </p:txBody>
      </p:sp>
      <p:sp>
        <p:nvSpPr>
          <p:cNvPr id="9" name="Text 7"/>
          <p:cNvSpPr/>
          <p:nvPr/>
        </p:nvSpPr>
        <p:spPr>
          <a:xfrm>
            <a:off x="793790" y="5373529"/>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Nhược điểm</a:t>
            </a:r>
            <a:endParaRPr lang="en-US" dirty="0"/>
          </a:p>
        </p:txBody>
      </p:sp>
      <p:sp>
        <p:nvSpPr>
          <p:cNvPr id="10" name="Text 8"/>
          <p:cNvSpPr/>
          <p:nvPr/>
        </p:nvSpPr>
        <p:spPr>
          <a:xfrm>
            <a:off x="793790" y="5882045"/>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ESP32 </a:t>
            </a:r>
            <a:r>
              <a:rPr lang="en-US" b="1" dirty="0">
                <a:solidFill>
                  <a:srgbClr val="4B4A4A"/>
                </a:solidFill>
                <a:latin typeface="Geist" pitchFamily="34" charset="0"/>
                <a:ea typeface="Geist" pitchFamily="34" charset="-122"/>
                <a:cs typeface="Geist" pitchFamily="34" charset="-120"/>
              </a:rPr>
              <a:t>không thể</a:t>
            </a:r>
            <a:r>
              <a:rPr lang="en-US" dirty="0">
                <a:solidFill>
                  <a:srgbClr val="4B4A4A"/>
                </a:solidFill>
                <a:latin typeface="Geist" pitchFamily="34" charset="0"/>
                <a:ea typeface="Geist" pitchFamily="34" charset="-122"/>
                <a:cs typeface="Geist" pitchFamily="34" charset="-120"/>
              </a:rPr>
              <a:t> ra Internet</a:t>
            </a:r>
            <a:endParaRPr lang="en-US" dirty="0"/>
          </a:p>
        </p:txBody>
      </p:sp>
      <p:sp>
        <p:nvSpPr>
          <p:cNvPr id="11" name="Text 9"/>
          <p:cNvSpPr/>
          <p:nvPr/>
        </p:nvSpPr>
        <p:spPr>
          <a:xfrm>
            <a:off x="793790" y="6268998"/>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Điện thoại phải ngắt WiFi nhà để bắt WiFi của ESP32</a:t>
            </a:r>
            <a:endParaRPr lang="en-US" dirty="0"/>
          </a:p>
        </p:txBody>
      </p:sp>
      <p:sp>
        <p:nvSpPr>
          <p:cNvPr id="12" name="Text 10"/>
          <p:cNvSpPr/>
          <p:nvPr/>
        </p:nvSpPr>
        <p:spPr>
          <a:xfrm>
            <a:off x="793790" y="6655951"/>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Khi bắt WiFi ESP32, điện thoại sẽ mất kết nối Internet</a:t>
            </a:r>
            <a:endParaRPr lang="en-US" dirty="0"/>
          </a:p>
        </p:txBody>
      </p:sp>
      <p:sp>
        <p:nvSpPr>
          <p:cNvPr id="13" name="Text 11"/>
          <p:cNvSpPr/>
          <p:nvPr/>
        </p:nvSpPr>
        <p:spPr>
          <a:xfrm>
            <a:off x="793790" y="7042904"/>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Chỉ phù hợp cho điều khiển trực tiếp tại chỗ</a:t>
            </a:r>
            <a:endParaRPr lang="en-US" dirty="0"/>
          </a:p>
        </p:txBody>
      </p:sp>
      <p:pic>
        <p:nvPicPr>
          <p:cNvPr id="14" name="Image 0" descr="preencoded.png"/>
          <p:cNvPicPr>
            <a:picLocks noChangeAspect="1"/>
          </p:cNvPicPr>
          <p:nvPr/>
        </p:nvPicPr>
        <p:blipFill>
          <a:blip r:embed="rId3"/>
          <a:stretch>
            <a:fillRect/>
          </a:stretch>
        </p:blipFill>
        <p:spPr>
          <a:xfrm>
            <a:off x="8917543" y="1940600"/>
            <a:ext cx="4074914" cy="2911435"/>
          </a:xfrm>
          <a:prstGeom prst="rect">
            <a:avLst/>
          </a:prstGeom>
        </p:spPr>
      </p:pic>
      <p:sp>
        <p:nvSpPr>
          <p:cNvPr id="15" name="Text 12"/>
          <p:cNvSpPr/>
          <p:nvPr/>
        </p:nvSpPr>
        <p:spPr>
          <a:xfrm>
            <a:off x="8917543" y="5075277"/>
            <a:ext cx="4926568"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Chế độ AP thường được dùng trong các dự án Demo hoặc khi triển khai IoT ở vùng sâu vùng xa không có hạ tầng mạng.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71337"/>
            <a:ext cx="5953720"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So sánh hai chế độ WiFi</a:t>
            </a:r>
            <a:endParaRPr lang="en-US" sz="3900" dirty="0"/>
          </a:p>
        </p:txBody>
      </p:sp>
      <p:sp>
        <p:nvSpPr>
          <p:cNvPr id="3" name="Shape 1"/>
          <p:cNvSpPr/>
          <p:nvPr/>
        </p:nvSpPr>
        <p:spPr>
          <a:xfrm>
            <a:off x="793790" y="2188250"/>
            <a:ext cx="13042821" cy="4011573"/>
          </a:xfrm>
          <a:prstGeom prst="roundRect">
            <a:avLst>
              <a:gd name="adj" fmla="val 4453"/>
            </a:avLst>
          </a:prstGeom>
          <a:noFill/>
          <a:ln w="7620">
            <a:solidFill>
              <a:srgbClr val="000000">
                <a:alpha val="8000"/>
              </a:srgbClr>
            </a:solidFill>
            <a:prstDash val="solid"/>
          </a:ln>
        </p:spPr>
      </p:sp>
      <p:sp>
        <p:nvSpPr>
          <p:cNvPr id="4" name="Shape 2"/>
          <p:cNvSpPr/>
          <p:nvPr/>
        </p:nvSpPr>
        <p:spPr>
          <a:xfrm>
            <a:off x="801410" y="2195870"/>
            <a:ext cx="13027581" cy="570905"/>
          </a:xfrm>
          <a:prstGeom prst="rect">
            <a:avLst/>
          </a:prstGeom>
          <a:solidFill>
            <a:srgbClr val="FFFFFF">
              <a:alpha val="4000"/>
            </a:srgbClr>
          </a:solidFill>
          <a:ln/>
        </p:spPr>
      </p:sp>
      <p:sp>
        <p:nvSpPr>
          <p:cNvPr id="5" name="Text 3"/>
          <p:cNvSpPr/>
          <p:nvPr/>
        </p:nvSpPr>
        <p:spPr>
          <a:xfrm>
            <a:off x="999887" y="2322552"/>
            <a:ext cx="3507700"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Tiêu chí</a:t>
            </a:r>
            <a:endParaRPr lang="en-US" dirty="0"/>
          </a:p>
        </p:txBody>
      </p:sp>
      <p:sp>
        <p:nvSpPr>
          <p:cNvPr id="6" name="Text 4"/>
          <p:cNvSpPr/>
          <p:nvPr/>
        </p:nvSpPr>
        <p:spPr>
          <a:xfrm>
            <a:off x="4911923" y="2322552"/>
            <a:ext cx="4155281"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Station Mode (STA)</a:t>
            </a:r>
            <a:endParaRPr lang="en-US" dirty="0"/>
          </a:p>
        </p:txBody>
      </p:sp>
      <p:sp>
        <p:nvSpPr>
          <p:cNvPr id="7" name="Text 5"/>
          <p:cNvSpPr/>
          <p:nvPr/>
        </p:nvSpPr>
        <p:spPr>
          <a:xfrm>
            <a:off x="9471541" y="2322552"/>
            <a:ext cx="4159091"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Access Point Mode (AP)</a:t>
            </a:r>
            <a:endParaRPr lang="en-US" dirty="0"/>
          </a:p>
        </p:txBody>
      </p:sp>
      <p:sp>
        <p:nvSpPr>
          <p:cNvPr id="8" name="Shape 6"/>
          <p:cNvSpPr/>
          <p:nvPr/>
        </p:nvSpPr>
        <p:spPr>
          <a:xfrm>
            <a:off x="801410" y="2766774"/>
            <a:ext cx="13027581" cy="570905"/>
          </a:xfrm>
          <a:prstGeom prst="rect">
            <a:avLst/>
          </a:prstGeom>
          <a:solidFill>
            <a:srgbClr val="000000">
              <a:alpha val="4000"/>
            </a:srgbClr>
          </a:solidFill>
          <a:ln/>
        </p:spPr>
      </p:sp>
      <p:sp>
        <p:nvSpPr>
          <p:cNvPr id="9" name="Text 7"/>
          <p:cNvSpPr/>
          <p:nvPr/>
        </p:nvSpPr>
        <p:spPr>
          <a:xfrm>
            <a:off x="999887" y="2893457"/>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Vai trò</a:t>
            </a:r>
            <a:endParaRPr lang="en-US" dirty="0"/>
          </a:p>
        </p:txBody>
      </p:sp>
      <p:sp>
        <p:nvSpPr>
          <p:cNvPr id="10" name="Text 8"/>
          <p:cNvSpPr/>
          <p:nvPr/>
        </p:nvSpPr>
        <p:spPr>
          <a:xfrm>
            <a:off x="4911923" y="2893457"/>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Khách - Kết nối vào Router</a:t>
            </a:r>
            <a:endParaRPr lang="en-US" dirty="0"/>
          </a:p>
        </p:txBody>
      </p:sp>
      <p:sp>
        <p:nvSpPr>
          <p:cNvPr id="11" name="Text 9"/>
          <p:cNvSpPr/>
          <p:nvPr/>
        </p:nvSpPr>
        <p:spPr>
          <a:xfrm>
            <a:off x="9471541" y="2893457"/>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Chủ - Tự phát WiFi</a:t>
            </a:r>
            <a:endParaRPr lang="en-US" dirty="0"/>
          </a:p>
        </p:txBody>
      </p:sp>
      <p:sp>
        <p:nvSpPr>
          <p:cNvPr id="12" name="Shape 10"/>
          <p:cNvSpPr/>
          <p:nvPr/>
        </p:nvSpPr>
        <p:spPr>
          <a:xfrm>
            <a:off x="801410" y="3337679"/>
            <a:ext cx="13027581" cy="570905"/>
          </a:xfrm>
          <a:prstGeom prst="rect">
            <a:avLst/>
          </a:prstGeom>
          <a:solidFill>
            <a:srgbClr val="FFFFFF">
              <a:alpha val="4000"/>
            </a:srgbClr>
          </a:solidFill>
          <a:ln/>
        </p:spPr>
      </p:sp>
      <p:sp>
        <p:nvSpPr>
          <p:cNvPr id="13" name="Text 11"/>
          <p:cNvSpPr/>
          <p:nvPr/>
        </p:nvSpPr>
        <p:spPr>
          <a:xfrm>
            <a:off x="999887" y="3464362"/>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Cần Router?</a:t>
            </a:r>
            <a:endParaRPr lang="en-US" dirty="0"/>
          </a:p>
        </p:txBody>
      </p:sp>
      <p:sp>
        <p:nvSpPr>
          <p:cNvPr id="14" name="Text 12"/>
          <p:cNvSpPr/>
          <p:nvPr/>
        </p:nvSpPr>
        <p:spPr>
          <a:xfrm>
            <a:off x="4911923" y="3464362"/>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Có</a:t>
            </a:r>
            <a:endParaRPr lang="en-US" dirty="0"/>
          </a:p>
        </p:txBody>
      </p:sp>
      <p:sp>
        <p:nvSpPr>
          <p:cNvPr id="15" name="Text 13"/>
          <p:cNvSpPr/>
          <p:nvPr/>
        </p:nvSpPr>
        <p:spPr>
          <a:xfrm>
            <a:off x="9471541" y="3464362"/>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Không</a:t>
            </a:r>
            <a:endParaRPr lang="en-US" dirty="0"/>
          </a:p>
        </p:txBody>
      </p:sp>
      <p:sp>
        <p:nvSpPr>
          <p:cNvPr id="16" name="Shape 14"/>
          <p:cNvSpPr/>
          <p:nvPr/>
        </p:nvSpPr>
        <p:spPr>
          <a:xfrm>
            <a:off x="801410" y="3908584"/>
            <a:ext cx="13027581" cy="570905"/>
          </a:xfrm>
          <a:prstGeom prst="rect">
            <a:avLst/>
          </a:prstGeom>
          <a:solidFill>
            <a:srgbClr val="000000">
              <a:alpha val="4000"/>
            </a:srgbClr>
          </a:solidFill>
          <a:ln/>
        </p:spPr>
      </p:sp>
      <p:sp>
        <p:nvSpPr>
          <p:cNvPr id="17" name="Text 15"/>
          <p:cNvSpPr/>
          <p:nvPr/>
        </p:nvSpPr>
        <p:spPr>
          <a:xfrm>
            <a:off x="999887" y="4035266"/>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Truy cập Internet</a:t>
            </a:r>
            <a:endParaRPr lang="en-US" dirty="0"/>
          </a:p>
        </p:txBody>
      </p:sp>
      <p:sp>
        <p:nvSpPr>
          <p:cNvPr id="18" name="Text 16"/>
          <p:cNvSpPr/>
          <p:nvPr/>
        </p:nvSpPr>
        <p:spPr>
          <a:xfrm>
            <a:off x="4911923" y="4035266"/>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Có ✓</a:t>
            </a:r>
            <a:endParaRPr lang="en-US" dirty="0"/>
          </a:p>
        </p:txBody>
      </p:sp>
      <p:sp>
        <p:nvSpPr>
          <p:cNvPr id="19" name="Text 17"/>
          <p:cNvSpPr/>
          <p:nvPr/>
        </p:nvSpPr>
        <p:spPr>
          <a:xfrm>
            <a:off x="9471541" y="4035266"/>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Không ✗</a:t>
            </a:r>
            <a:endParaRPr lang="en-US" dirty="0"/>
          </a:p>
        </p:txBody>
      </p:sp>
      <p:sp>
        <p:nvSpPr>
          <p:cNvPr id="20" name="Shape 18"/>
          <p:cNvSpPr/>
          <p:nvPr/>
        </p:nvSpPr>
        <p:spPr>
          <a:xfrm>
            <a:off x="801410" y="4479488"/>
            <a:ext cx="13027581" cy="570905"/>
          </a:xfrm>
          <a:prstGeom prst="rect">
            <a:avLst/>
          </a:prstGeom>
          <a:solidFill>
            <a:srgbClr val="FFFFFF">
              <a:alpha val="4000"/>
            </a:srgbClr>
          </a:solidFill>
          <a:ln/>
        </p:spPr>
      </p:sp>
      <p:sp>
        <p:nvSpPr>
          <p:cNvPr id="21" name="Text 19"/>
          <p:cNvSpPr/>
          <p:nvPr/>
        </p:nvSpPr>
        <p:spPr>
          <a:xfrm>
            <a:off x="999887" y="4606171"/>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Điện thoại</a:t>
            </a:r>
            <a:endParaRPr lang="en-US" dirty="0"/>
          </a:p>
        </p:txBody>
      </p:sp>
      <p:sp>
        <p:nvSpPr>
          <p:cNvPr id="22" name="Text 20"/>
          <p:cNvSpPr/>
          <p:nvPr/>
        </p:nvSpPr>
        <p:spPr>
          <a:xfrm>
            <a:off x="4911923" y="4606171"/>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Giữ nguyên WiFi nhà</a:t>
            </a:r>
            <a:endParaRPr lang="en-US" dirty="0"/>
          </a:p>
        </p:txBody>
      </p:sp>
      <p:sp>
        <p:nvSpPr>
          <p:cNvPr id="23" name="Text 21"/>
          <p:cNvSpPr/>
          <p:nvPr/>
        </p:nvSpPr>
        <p:spPr>
          <a:xfrm>
            <a:off x="9471541" y="4606171"/>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Phải đổi sang WiFi ESP32</a:t>
            </a:r>
            <a:endParaRPr lang="en-US" dirty="0"/>
          </a:p>
        </p:txBody>
      </p:sp>
      <p:sp>
        <p:nvSpPr>
          <p:cNvPr id="24" name="Shape 22"/>
          <p:cNvSpPr/>
          <p:nvPr/>
        </p:nvSpPr>
        <p:spPr>
          <a:xfrm>
            <a:off x="801410" y="5050393"/>
            <a:ext cx="13027581" cy="570905"/>
          </a:xfrm>
          <a:prstGeom prst="rect">
            <a:avLst/>
          </a:prstGeom>
          <a:solidFill>
            <a:srgbClr val="000000">
              <a:alpha val="4000"/>
            </a:srgbClr>
          </a:solidFill>
          <a:ln/>
        </p:spPr>
      </p:sp>
      <p:sp>
        <p:nvSpPr>
          <p:cNvPr id="25" name="Text 23"/>
          <p:cNvSpPr/>
          <p:nvPr/>
        </p:nvSpPr>
        <p:spPr>
          <a:xfrm>
            <a:off x="999887" y="5177076"/>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Phạm vi điều khiển</a:t>
            </a:r>
            <a:endParaRPr lang="en-US" dirty="0"/>
          </a:p>
        </p:txBody>
      </p:sp>
      <p:sp>
        <p:nvSpPr>
          <p:cNvPr id="26" name="Text 24"/>
          <p:cNvSpPr/>
          <p:nvPr/>
        </p:nvSpPr>
        <p:spPr>
          <a:xfrm>
            <a:off x="4911923" y="5177076"/>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Toàn bộ mạng LAN</a:t>
            </a:r>
            <a:endParaRPr lang="en-US" dirty="0"/>
          </a:p>
        </p:txBody>
      </p:sp>
      <p:sp>
        <p:nvSpPr>
          <p:cNvPr id="27" name="Text 25"/>
          <p:cNvSpPr/>
          <p:nvPr/>
        </p:nvSpPr>
        <p:spPr>
          <a:xfrm>
            <a:off x="9471541" y="5177076"/>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Chỉ ai bắt WiFi ESP32</a:t>
            </a:r>
            <a:endParaRPr lang="en-US" dirty="0"/>
          </a:p>
        </p:txBody>
      </p:sp>
      <p:sp>
        <p:nvSpPr>
          <p:cNvPr id="28" name="Shape 26"/>
          <p:cNvSpPr/>
          <p:nvPr/>
        </p:nvSpPr>
        <p:spPr>
          <a:xfrm>
            <a:off x="801410" y="5621298"/>
            <a:ext cx="13027581" cy="570905"/>
          </a:xfrm>
          <a:prstGeom prst="rect">
            <a:avLst/>
          </a:prstGeom>
          <a:solidFill>
            <a:srgbClr val="FFFFFF">
              <a:alpha val="4000"/>
            </a:srgbClr>
          </a:solidFill>
          <a:ln/>
        </p:spPr>
      </p:sp>
      <p:sp>
        <p:nvSpPr>
          <p:cNvPr id="29" name="Text 27"/>
          <p:cNvSpPr/>
          <p:nvPr/>
        </p:nvSpPr>
        <p:spPr>
          <a:xfrm>
            <a:off x="999887" y="5747980"/>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Ứng dụng</a:t>
            </a:r>
            <a:endParaRPr lang="en-US" dirty="0"/>
          </a:p>
        </p:txBody>
      </p:sp>
      <p:sp>
        <p:nvSpPr>
          <p:cNvPr id="30" name="Text 28"/>
          <p:cNvSpPr/>
          <p:nvPr/>
        </p:nvSpPr>
        <p:spPr>
          <a:xfrm>
            <a:off x="4911923" y="5747980"/>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Smart Home, IoT thực tế</a:t>
            </a:r>
            <a:endParaRPr lang="en-US" dirty="0"/>
          </a:p>
        </p:txBody>
      </p:sp>
      <p:sp>
        <p:nvSpPr>
          <p:cNvPr id="31" name="Text 29"/>
          <p:cNvSpPr/>
          <p:nvPr/>
        </p:nvSpPr>
        <p:spPr>
          <a:xfrm>
            <a:off x="9471541" y="5747980"/>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Demo, vùng không có mạng</a:t>
            </a:r>
            <a:endParaRPr lang="en-US" dirty="0"/>
          </a:p>
        </p:txBody>
      </p:sp>
      <p:sp>
        <p:nvSpPr>
          <p:cNvPr id="32" name="Text 30"/>
          <p:cNvSpPr/>
          <p:nvPr/>
        </p:nvSpPr>
        <p:spPr>
          <a:xfrm>
            <a:off x="793790" y="6423065"/>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Nhìn vào bảng so sánh, các bạn sẽ thấy rõ tại sao chúng ta chọn </a:t>
            </a:r>
            <a:r>
              <a:rPr lang="en-US" b="1" dirty="0">
                <a:solidFill>
                  <a:srgbClr val="006747"/>
                </a:solidFill>
                <a:latin typeface="Geist" pitchFamily="34" charset="0"/>
                <a:ea typeface="Geist" pitchFamily="34" charset="-122"/>
                <a:cs typeface="Geist" pitchFamily="34" charset="-120"/>
              </a:rPr>
              <a:t>chế độ Station</a:t>
            </a:r>
            <a:r>
              <a:rPr lang="en-US" dirty="0">
                <a:solidFill>
                  <a:srgbClr val="4B4A4A"/>
                </a:solidFill>
                <a:latin typeface="Geist" pitchFamily="34" charset="0"/>
                <a:ea typeface="Geist" pitchFamily="34" charset="-122"/>
                <a:cs typeface="Geist" pitchFamily="34" charset="-120"/>
              </a:rPr>
              <a:t> cho bài học hôm nay. Đây là lựa chọn thực tế nhất cho các dự án IoT!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65290"/>
            <a:ext cx="6441400"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Khi nào dùng chế độ nào?</a:t>
            </a:r>
            <a:endParaRPr lang="en-US" sz="3900" dirty="0"/>
          </a:p>
        </p:txBody>
      </p:sp>
      <p:pic>
        <p:nvPicPr>
          <p:cNvPr id="3" name="Image 0" descr="preencoded.png"/>
          <p:cNvPicPr>
            <a:picLocks noChangeAspect="1"/>
          </p:cNvPicPr>
          <p:nvPr/>
        </p:nvPicPr>
        <p:blipFill>
          <a:blip r:embed="rId3"/>
          <a:stretch>
            <a:fillRect/>
          </a:stretch>
        </p:blipFill>
        <p:spPr>
          <a:xfrm>
            <a:off x="793790" y="2382203"/>
            <a:ext cx="6521410" cy="793790"/>
          </a:xfrm>
          <a:prstGeom prst="rect">
            <a:avLst/>
          </a:prstGeom>
        </p:spPr>
      </p:pic>
      <p:sp>
        <p:nvSpPr>
          <p:cNvPr id="4" name="Text 1"/>
          <p:cNvSpPr/>
          <p:nvPr/>
        </p:nvSpPr>
        <p:spPr>
          <a:xfrm>
            <a:off x="992148" y="337435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Dùng Station Mode</a:t>
            </a:r>
            <a:endParaRPr lang="en-US" sz="1950" dirty="0"/>
          </a:p>
        </p:txBody>
      </p:sp>
      <p:sp>
        <p:nvSpPr>
          <p:cNvPr id="5" name="Text 2"/>
          <p:cNvSpPr/>
          <p:nvPr/>
        </p:nvSpPr>
        <p:spPr>
          <a:xfrm>
            <a:off x="992148" y="3803571"/>
            <a:ext cx="6124694"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Xây dựng Smart Home</a:t>
            </a:r>
            <a:endParaRPr lang="en-US" dirty="0"/>
          </a:p>
        </p:txBody>
      </p:sp>
      <p:sp>
        <p:nvSpPr>
          <p:cNvPr id="6" name="Text 3"/>
          <p:cNvSpPr/>
          <p:nvPr/>
        </p:nvSpPr>
        <p:spPr>
          <a:xfrm>
            <a:off x="992148" y="4190524"/>
            <a:ext cx="6124694"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Cần nhiều thiết bị kết nối</a:t>
            </a:r>
            <a:endParaRPr lang="en-US" dirty="0"/>
          </a:p>
        </p:txBody>
      </p:sp>
      <p:sp>
        <p:nvSpPr>
          <p:cNvPr id="7" name="Text 4"/>
          <p:cNvSpPr/>
          <p:nvPr/>
        </p:nvSpPr>
        <p:spPr>
          <a:xfrm>
            <a:off x="992148" y="4577477"/>
            <a:ext cx="6124694"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Cần truy cập Internet</a:t>
            </a:r>
            <a:endParaRPr lang="en-US" dirty="0"/>
          </a:p>
        </p:txBody>
      </p:sp>
      <p:sp>
        <p:nvSpPr>
          <p:cNvPr id="8" name="Text 5"/>
          <p:cNvSpPr/>
          <p:nvPr/>
        </p:nvSpPr>
        <p:spPr>
          <a:xfrm>
            <a:off x="992148" y="4964430"/>
            <a:ext cx="6124694"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Giám sát từ xa qua Cloud</a:t>
            </a:r>
            <a:endParaRPr lang="en-US" dirty="0"/>
          </a:p>
        </p:txBody>
      </p:sp>
      <p:pic>
        <p:nvPicPr>
          <p:cNvPr id="9" name="Image 1" descr="preencoded.png"/>
          <p:cNvPicPr>
            <a:picLocks noChangeAspect="1"/>
          </p:cNvPicPr>
          <p:nvPr/>
        </p:nvPicPr>
        <p:blipFill>
          <a:blip r:embed="rId4"/>
          <a:stretch>
            <a:fillRect/>
          </a:stretch>
        </p:blipFill>
        <p:spPr>
          <a:xfrm>
            <a:off x="7315200" y="2382203"/>
            <a:ext cx="6521410" cy="793790"/>
          </a:xfrm>
          <a:prstGeom prst="rect">
            <a:avLst/>
          </a:prstGeom>
        </p:spPr>
      </p:pic>
      <p:sp>
        <p:nvSpPr>
          <p:cNvPr id="10" name="Text 6"/>
          <p:cNvSpPr/>
          <p:nvPr/>
        </p:nvSpPr>
        <p:spPr>
          <a:xfrm>
            <a:off x="7513558" y="337435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Dùng AP Mode</a:t>
            </a:r>
            <a:endParaRPr lang="en-US" sz="1950" dirty="0"/>
          </a:p>
        </p:txBody>
      </p:sp>
      <p:sp>
        <p:nvSpPr>
          <p:cNvPr id="11" name="Text 7"/>
          <p:cNvSpPr/>
          <p:nvPr/>
        </p:nvSpPr>
        <p:spPr>
          <a:xfrm>
            <a:off x="7513558" y="3803571"/>
            <a:ext cx="6124694"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Demo nhanh, không có Router</a:t>
            </a:r>
            <a:endParaRPr lang="en-US" dirty="0"/>
          </a:p>
        </p:txBody>
      </p:sp>
      <p:sp>
        <p:nvSpPr>
          <p:cNvPr id="12" name="Text 8"/>
          <p:cNvSpPr/>
          <p:nvPr/>
        </p:nvSpPr>
        <p:spPr>
          <a:xfrm>
            <a:off x="7513558" y="4190524"/>
            <a:ext cx="6124694"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Dự án ngoài trời, vùng xa</a:t>
            </a:r>
            <a:endParaRPr lang="en-US" dirty="0"/>
          </a:p>
        </p:txBody>
      </p:sp>
      <p:sp>
        <p:nvSpPr>
          <p:cNvPr id="13" name="Text 9"/>
          <p:cNvSpPr/>
          <p:nvPr/>
        </p:nvSpPr>
        <p:spPr>
          <a:xfrm>
            <a:off x="7513558" y="4577477"/>
            <a:ext cx="6124694"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Chỉ cần điều khiển trực tiếp</a:t>
            </a:r>
            <a:endParaRPr lang="en-US" dirty="0"/>
          </a:p>
        </p:txBody>
      </p:sp>
      <p:sp>
        <p:nvSpPr>
          <p:cNvPr id="14" name="Text 10"/>
          <p:cNvSpPr/>
          <p:nvPr/>
        </p:nvSpPr>
        <p:spPr>
          <a:xfrm>
            <a:off x="7513558" y="4964430"/>
            <a:ext cx="6124694"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Bảo mật cao (mạng riêng)</a:t>
            </a:r>
            <a:endParaRPr lang="en-US" dirty="0"/>
          </a:p>
        </p:txBody>
      </p:sp>
      <p:sp>
        <p:nvSpPr>
          <p:cNvPr id="15" name="Shape 11"/>
          <p:cNvSpPr/>
          <p:nvPr/>
        </p:nvSpPr>
        <p:spPr>
          <a:xfrm>
            <a:off x="793790" y="5703570"/>
            <a:ext cx="13042821" cy="1160740"/>
          </a:xfrm>
          <a:prstGeom prst="roundRect">
            <a:avLst>
              <a:gd name="adj" fmla="val 15389"/>
            </a:avLst>
          </a:prstGeom>
          <a:solidFill>
            <a:srgbClr val="B3FFE7"/>
          </a:solidFill>
          <a:ln/>
        </p:spPr>
      </p:sp>
      <p:pic>
        <p:nvPicPr>
          <p:cNvPr id="16" name="Image 2" descr="preencoded.png"/>
          <p:cNvPicPr>
            <a:picLocks noChangeAspect="1"/>
          </p:cNvPicPr>
          <p:nvPr/>
        </p:nvPicPr>
        <p:blipFill>
          <a:blip r:embed="rId5"/>
          <a:stretch>
            <a:fillRect/>
          </a:stretch>
        </p:blipFill>
        <p:spPr>
          <a:xfrm>
            <a:off x="992148" y="5998845"/>
            <a:ext cx="248007" cy="198358"/>
          </a:xfrm>
          <a:prstGeom prst="rect">
            <a:avLst/>
          </a:prstGeom>
        </p:spPr>
      </p:pic>
      <p:sp>
        <p:nvSpPr>
          <p:cNvPr id="17" name="Text 12"/>
          <p:cNvSpPr/>
          <p:nvPr/>
        </p:nvSpPr>
        <p:spPr>
          <a:xfrm>
            <a:off x="1438513" y="5951458"/>
            <a:ext cx="12199739" cy="635079"/>
          </a:xfrm>
          <a:prstGeom prst="rect">
            <a:avLst/>
          </a:prstGeom>
          <a:noFill/>
          <a:ln/>
        </p:spPr>
        <p:txBody>
          <a:bodyPr wrap="square" lIns="0" tIns="0" rIns="0" bIns="0" rtlCol="0" anchor="t"/>
          <a:lstStyle/>
          <a:p>
            <a:pPr marL="0" indent="0" algn="l">
              <a:lnSpc>
                <a:spcPts val="2500"/>
              </a:lnSpc>
              <a:buNone/>
            </a:pPr>
            <a:r>
              <a:rPr lang="en-US" b="1" dirty="0">
                <a:solidFill>
                  <a:srgbClr val="000000"/>
                </a:solidFill>
                <a:latin typeface="Geist" pitchFamily="34" charset="0"/>
                <a:ea typeface="Geist" pitchFamily="34" charset="-122"/>
                <a:cs typeface="Geist" pitchFamily="34" charset="-120"/>
              </a:rPr>
              <a:t>Mẹo hay:</a:t>
            </a:r>
            <a:r>
              <a:rPr lang="en-US" dirty="0">
                <a:solidFill>
                  <a:srgbClr val="000000"/>
                </a:solidFill>
                <a:latin typeface="Geist" pitchFamily="34" charset="0"/>
                <a:ea typeface="Geist" pitchFamily="34" charset="-122"/>
                <a:cs typeface="Geist" pitchFamily="34" charset="-120"/>
              </a:rPr>
              <a:t> ESP32 còn có thể hoạt động ở cả hai chế độ đồng thời! Vừa kết nối vào Router (STA), vừa tự phát WiFi (AP). Chế độ này gọi là </a:t>
            </a:r>
            <a:r>
              <a:rPr lang="en-US" b="1" dirty="0">
                <a:solidFill>
                  <a:srgbClr val="000000"/>
                </a:solidFill>
                <a:latin typeface="Geist" pitchFamily="34" charset="0"/>
                <a:ea typeface="Geist" pitchFamily="34" charset="-122"/>
                <a:cs typeface="Geist" pitchFamily="34" charset="-120"/>
              </a:rPr>
              <a:t>AP+STA Mode</a:t>
            </a:r>
            <a:r>
              <a:rPr lang="en-US" dirty="0">
                <a:solidFill>
                  <a:srgbClr val="000000"/>
                </a:solidFill>
                <a:latin typeface="Geist" pitchFamily="34" charset="0"/>
                <a:ea typeface="Geist" pitchFamily="34" charset="-122"/>
                <a:cs typeface="Geist" pitchFamily="34" charset="-120"/>
              </a:rPr>
              <a:t>, rất hữu ích cho các ứng dụng phức tạp.</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3186946"/>
            <a:ext cx="7556421" cy="1240393"/>
          </a:xfrm>
          <a:prstGeom prst="rect">
            <a:avLst/>
          </a:prstGeom>
          <a:noFill/>
          <a:ln/>
        </p:spPr>
        <p:txBody>
          <a:bodyPr wrap="none" lIns="0" tIns="0" rIns="0" bIns="0" rtlCol="0" anchor="t"/>
          <a:lstStyle/>
          <a:p>
            <a:pPr marL="0" indent="0" algn="ctr">
              <a:lnSpc>
                <a:spcPts val="9750"/>
              </a:lnSpc>
              <a:buNone/>
            </a:pPr>
            <a:r>
              <a:rPr lang="en-US" sz="7800" b="1" dirty="0">
                <a:solidFill>
                  <a:srgbClr val="006747"/>
                </a:solidFill>
                <a:latin typeface="Noto Serif SC Bold" pitchFamily="34" charset="0"/>
                <a:ea typeface="Noto Serif SC Bold" pitchFamily="34" charset="-122"/>
                <a:cs typeface="Noto Serif SC Bold" pitchFamily="34" charset="-120"/>
              </a:rPr>
              <a:t>WEB SERVER</a:t>
            </a:r>
            <a:endParaRPr lang="en-US" sz="7800" dirty="0"/>
          </a:p>
        </p:txBody>
      </p:sp>
      <p:sp>
        <p:nvSpPr>
          <p:cNvPr id="4" name="Text 1"/>
          <p:cNvSpPr/>
          <p:nvPr/>
        </p:nvSpPr>
        <p:spPr>
          <a:xfrm>
            <a:off x="6280190" y="4724995"/>
            <a:ext cx="7556421" cy="317540"/>
          </a:xfrm>
          <a:prstGeom prst="rect">
            <a:avLst/>
          </a:prstGeom>
          <a:noFill/>
          <a:ln/>
        </p:spPr>
        <p:txBody>
          <a:bodyPr wrap="none" lIns="0" tIns="0" rIns="0" bIns="0" rtlCol="0" anchor="t"/>
          <a:lstStyle/>
          <a:p>
            <a:pPr marL="0" indent="0" algn="ctr">
              <a:lnSpc>
                <a:spcPts val="2500"/>
              </a:lnSpc>
              <a:buNone/>
            </a:pPr>
            <a:r>
              <a:rPr lang="en-US" sz="2000" dirty="0" err="1">
                <a:solidFill>
                  <a:srgbClr val="4B4A4A"/>
                </a:solidFill>
                <a:latin typeface="Geist" pitchFamily="34" charset="0"/>
                <a:ea typeface="Geist" pitchFamily="34" charset="-122"/>
                <a:cs typeface="Geist" pitchFamily="34" charset="-120"/>
              </a:rPr>
              <a:t>Mô</a:t>
            </a:r>
            <a:r>
              <a:rPr lang="en-US" sz="2000" dirty="0">
                <a:solidFill>
                  <a:srgbClr val="4B4A4A"/>
                </a:solidFill>
                <a:latin typeface="Geist" pitchFamily="34" charset="0"/>
                <a:ea typeface="Geist" pitchFamily="34" charset="-122"/>
                <a:cs typeface="Geist" pitchFamily="34" charset="-120"/>
              </a:rPr>
              <a:t> </a:t>
            </a:r>
            <a:r>
              <a:rPr lang="en-US" sz="2000" dirty="0" err="1">
                <a:solidFill>
                  <a:srgbClr val="4B4A4A"/>
                </a:solidFill>
                <a:latin typeface="Geist" pitchFamily="34" charset="0"/>
                <a:ea typeface="Geist" pitchFamily="34" charset="-122"/>
                <a:cs typeface="Geist" pitchFamily="34" charset="-120"/>
              </a:rPr>
              <a:t>hình</a:t>
            </a:r>
            <a:r>
              <a:rPr lang="en-US" sz="2000" dirty="0">
                <a:solidFill>
                  <a:srgbClr val="4B4A4A"/>
                </a:solidFill>
                <a:latin typeface="Geist" pitchFamily="34" charset="0"/>
                <a:ea typeface="Geist" pitchFamily="34" charset="-122"/>
                <a:cs typeface="Geist" pitchFamily="34" charset="-120"/>
              </a:rPr>
              <a:t> Client-Server</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915948"/>
            <a:ext cx="8167449"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Web Server là gì? Tại sao lại cần?</a:t>
            </a:r>
            <a:endParaRPr lang="en-US" sz="3900" dirty="0"/>
          </a:p>
        </p:txBody>
      </p:sp>
      <p:sp>
        <p:nvSpPr>
          <p:cNvPr id="3" name="Text 1"/>
          <p:cNvSpPr/>
          <p:nvPr/>
        </p:nvSpPr>
        <p:spPr>
          <a:xfrm>
            <a:off x="793790" y="2012275"/>
            <a:ext cx="6955631"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Mỗi khi chúng ta mở trình duyệt và gõ </a:t>
            </a:r>
            <a:r>
              <a:rPr lang="en-US" u="sng" dirty="0">
                <a:solidFill>
                  <a:srgbClr val="006747"/>
                </a:solidFill>
                <a:latin typeface="Geist" pitchFamily="34" charset="0"/>
                <a:ea typeface="Geist" pitchFamily="34" charset="-122"/>
                <a:cs typeface="Geist" pitchFamily="34" charset="-120"/>
                <a:hlinkClick r:id="rId3">
                  <a:extLst>
                    <a:ext uri="{A12FA001-AC4F-418D-AE19-62706E023703}">
                      <ahyp:hlinkClr xmlns:ahyp="http://schemas.microsoft.com/office/drawing/2018/hyperlinkcolor" val="tx"/>
                    </a:ext>
                  </a:extLst>
                </a:hlinkClick>
              </a:rPr>
              <a:t>google.com</a:t>
            </a:r>
            <a:r>
              <a:rPr lang="en-US" dirty="0">
                <a:solidFill>
                  <a:srgbClr val="4B4A4A"/>
                </a:solidFill>
                <a:latin typeface="Geist" pitchFamily="34" charset="0"/>
                <a:ea typeface="Geist" pitchFamily="34" charset="-122"/>
                <a:cs typeface="Geist" pitchFamily="34" charset="-120"/>
              </a:rPr>
              <a:t>, lúc này ta đang thực hiện một "cuộc trò chuyện" với một cái máy tính ở đâu đó trên thế giới. Máy tính đó chính là </a:t>
            </a:r>
            <a:r>
              <a:rPr lang="en-US" b="1" dirty="0">
                <a:solidFill>
                  <a:srgbClr val="4B4A4A"/>
                </a:solidFill>
                <a:latin typeface="Geist" pitchFamily="34" charset="0"/>
                <a:ea typeface="Geist" pitchFamily="34" charset="-122"/>
                <a:cs typeface="Geist" pitchFamily="34" charset="-120"/>
              </a:rPr>
              <a:t>Web Server</a:t>
            </a:r>
            <a:r>
              <a:rPr lang="en-US" dirty="0">
                <a:solidFill>
                  <a:srgbClr val="4B4A4A"/>
                </a:solidFill>
                <a:latin typeface="Geist" pitchFamily="34" charset="0"/>
                <a:ea typeface="Geist" pitchFamily="34" charset="-122"/>
                <a:cs typeface="Geist" pitchFamily="34" charset="-120"/>
              </a:rPr>
              <a:t>.</a:t>
            </a:r>
            <a:endParaRPr lang="en-US" dirty="0"/>
          </a:p>
        </p:txBody>
      </p:sp>
      <p:sp>
        <p:nvSpPr>
          <p:cNvPr id="4" name="Text 2"/>
          <p:cNvSpPr/>
          <p:nvPr/>
        </p:nvSpPr>
        <p:spPr>
          <a:xfrm>
            <a:off x="793790" y="3143488"/>
            <a:ext cx="6955631"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Web Server</a:t>
            </a:r>
            <a:r>
              <a:rPr lang="en-US" dirty="0">
                <a:solidFill>
                  <a:srgbClr val="4B4A4A"/>
                </a:solidFill>
                <a:latin typeface="Geist" pitchFamily="34" charset="0"/>
                <a:ea typeface="Geist" pitchFamily="34" charset="-122"/>
                <a:cs typeface="Geist" pitchFamily="34" charset="-120"/>
              </a:rPr>
              <a:t> là một chương trình máy tính có nhiệm vụ:</a:t>
            </a:r>
            <a:endParaRPr lang="en-US" dirty="0"/>
          </a:p>
        </p:txBody>
      </p:sp>
      <p:sp>
        <p:nvSpPr>
          <p:cNvPr id="5" name="Text 3"/>
          <p:cNvSpPr/>
          <p:nvPr/>
        </p:nvSpPr>
        <p:spPr>
          <a:xfrm>
            <a:off x="793790" y="3639622"/>
            <a:ext cx="6955631"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Lắng nghe yêu cầu từ người dùng (Client)</a:t>
            </a:r>
            <a:endParaRPr lang="en-US" dirty="0"/>
          </a:p>
        </p:txBody>
      </p:sp>
      <p:sp>
        <p:nvSpPr>
          <p:cNvPr id="6" name="Text 4"/>
          <p:cNvSpPr/>
          <p:nvPr/>
        </p:nvSpPr>
        <p:spPr>
          <a:xfrm>
            <a:off x="793790" y="4026575"/>
            <a:ext cx="6955631"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Xử lý yêu cầu đó (tìm file, chạy code)</a:t>
            </a:r>
            <a:endParaRPr lang="en-US" dirty="0"/>
          </a:p>
        </p:txBody>
      </p:sp>
      <p:sp>
        <p:nvSpPr>
          <p:cNvPr id="7" name="Text 5"/>
          <p:cNvSpPr/>
          <p:nvPr/>
        </p:nvSpPr>
        <p:spPr>
          <a:xfrm>
            <a:off x="793790" y="4413528"/>
            <a:ext cx="6955631"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Gửi trả lại kết quả (HTML, hình ảnh, dữ liệu)</a:t>
            </a:r>
            <a:endParaRPr lang="en-US" dirty="0"/>
          </a:p>
        </p:txBody>
      </p:sp>
      <p:sp>
        <p:nvSpPr>
          <p:cNvPr id="8" name="Text 6"/>
          <p:cNvSpPr/>
          <p:nvPr/>
        </p:nvSpPr>
        <p:spPr>
          <a:xfrm>
            <a:off x="793790" y="4909661"/>
            <a:ext cx="695563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Hôm nay, chúng ta sẽ biến ESP32 thành một Web Server mini - nó sẽ "phục vụ" các trang web cho bất kỳ ai truy cập vào địa chỉ IP của nó!</a:t>
            </a:r>
            <a:endParaRPr lang="en-US" dirty="0"/>
          </a:p>
        </p:txBody>
      </p:sp>
      <p:pic>
        <p:nvPicPr>
          <p:cNvPr id="9" name="Image 0" descr="preencoded.png"/>
          <p:cNvPicPr>
            <a:picLocks noChangeAspect="1"/>
          </p:cNvPicPr>
          <p:nvPr/>
        </p:nvPicPr>
        <p:blipFill>
          <a:blip r:embed="rId4"/>
          <a:stretch>
            <a:fillRect/>
          </a:stretch>
        </p:blipFill>
        <p:spPr>
          <a:xfrm>
            <a:off x="8241149" y="2056924"/>
            <a:ext cx="5602962" cy="4219694"/>
          </a:xfrm>
          <a:prstGeom prst="rect">
            <a:avLst/>
          </a:prstGeom>
        </p:spPr>
      </p:pic>
      <p:sp>
        <p:nvSpPr>
          <p:cNvPr id="10" name="Text 7"/>
          <p:cNvSpPr/>
          <p:nvPr/>
        </p:nvSpPr>
        <p:spPr>
          <a:xfrm>
            <a:off x="8241149" y="6499860"/>
            <a:ext cx="5602962"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ESP32 tuy nhỏ nhưng đủ mạnh để làm một Web Server đơn giản, phục vụ giao diện điều khiển cho Smart Home.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676043"/>
            <a:ext cx="11021735"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Mô hình hoạt động: Client gọi, Server trả lời</a:t>
            </a:r>
            <a:endParaRPr lang="en-US" sz="3900" dirty="0"/>
          </a:p>
        </p:txBody>
      </p:sp>
      <p:sp>
        <p:nvSpPr>
          <p:cNvPr id="3" name="Text 1"/>
          <p:cNvSpPr/>
          <p:nvPr/>
        </p:nvSpPr>
        <p:spPr>
          <a:xfrm>
            <a:off x="793790" y="2692956"/>
            <a:ext cx="198358" cy="248007"/>
          </a:xfrm>
          <a:prstGeom prst="rect">
            <a:avLst/>
          </a:prstGeom>
          <a:noFill/>
          <a:ln/>
        </p:spPr>
        <p:txBody>
          <a:bodyPr wrap="none" lIns="0" tIns="0" rIns="0" bIns="0" rtlCol="0" anchor="t"/>
          <a:lstStyle/>
          <a:p>
            <a:pPr marL="0" indent="0" algn="l">
              <a:lnSpc>
                <a:spcPts val="2500"/>
              </a:lnSpc>
              <a:buNone/>
            </a:pPr>
            <a:r>
              <a:rPr lang="en-US" sz="1900" dirty="0">
                <a:solidFill>
                  <a:srgbClr val="4B4A4A"/>
                </a:solidFill>
                <a:latin typeface="Noto Serif SC Light" pitchFamily="34" charset="0"/>
                <a:ea typeface="Noto Serif SC Light" pitchFamily="34" charset="-122"/>
                <a:cs typeface="Noto Serif SC Light" pitchFamily="34" charset="-120"/>
              </a:rPr>
              <a:t>01</a:t>
            </a:r>
            <a:endParaRPr lang="en-US" sz="1900" dirty="0"/>
          </a:p>
        </p:txBody>
      </p:sp>
      <p:sp>
        <p:nvSpPr>
          <p:cNvPr id="4" name="Shape 2"/>
          <p:cNvSpPr/>
          <p:nvPr/>
        </p:nvSpPr>
        <p:spPr>
          <a:xfrm>
            <a:off x="793790" y="3007281"/>
            <a:ext cx="6422231" cy="22860"/>
          </a:xfrm>
          <a:prstGeom prst="rect">
            <a:avLst/>
          </a:prstGeom>
          <a:solidFill>
            <a:srgbClr val="006747"/>
          </a:solidFill>
          <a:ln/>
        </p:spPr>
      </p:sp>
      <p:sp>
        <p:nvSpPr>
          <p:cNvPr id="5" name="Text 3"/>
          <p:cNvSpPr/>
          <p:nvPr/>
        </p:nvSpPr>
        <p:spPr>
          <a:xfrm>
            <a:off x="793790" y="3152180"/>
            <a:ext cx="3525917" cy="310158"/>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Client gửi Request (Yêu cầu)</a:t>
            </a:r>
            <a:endParaRPr lang="en-US" sz="1900" dirty="0"/>
          </a:p>
        </p:txBody>
      </p:sp>
      <p:sp>
        <p:nvSpPr>
          <p:cNvPr id="6" name="Text 4"/>
          <p:cNvSpPr/>
          <p:nvPr/>
        </p:nvSpPr>
        <p:spPr>
          <a:xfrm>
            <a:off x="793790" y="3581400"/>
            <a:ext cx="6422231"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Trình duyệt trên điện thoại khi gửi một thông điệp: </a:t>
            </a:r>
            <a:r>
              <a:rPr lang="en-US" i="1" dirty="0">
                <a:solidFill>
                  <a:srgbClr val="4B4A4A"/>
                </a:solidFill>
                <a:latin typeface="Geist" pitchFamily="34" charset="0"/>
                <a:ea typeface="Geist" pitchFamily="34" charset="-122"/>
                <a:cs typeface="Geist" pitchFamily="34" charset="-120"/>
              </a:rPr>
              <a:t>"Ê ESP32, cho tôi xem trang chủ đi!"</a:t>
            </a:r>
            <a:r>
              <a:rPr lang="en-US" dirty="0">
                <a:solidFill>
                  <a:srgbClr val="4B4A4A"/>
                </a:solidFill>
                <a:latin typeface="Geist" pitchFamily="34" charset="0"/>
                <a:ea typeface="Geist" pitchFamily="34" charset="-122"/>
                <a:cs typeface="Geist" pitchFamily="34" charset="-120"/>
              </a:rPr>
              <a:t>. Thông điệp này gọi là </a:t>
            </a:r>
            <a:r>
              <a:rPr lang="en-US" b="1" dirty="0">
                <a:solidFill>
                  <a:srgbClr val="4B4A4A"/>
                </a:solidFill>
                <a:latin typeface="Geist" pitchFamily="34" charset="0"/>
                <a:ea typeface="Geist" pitchFamily="34" charset="-122"/>
                <a:cs typeface="Geist" pitchFamily="34" charset="-120"/>
              </a:rPr>
              <a:t>HTTP Request</a:t>
            </a:r>
            <a:r>
              <a:rPr lang="en-US" dirty="0">
                <a:solidFill>
                  <a:srgbClr val="4B4A4A"/>
                </a:solidFill>
                <a:latin typeface="Geist" pitchFamily="34" charset="0"/>
                <a:ea typeface="Geist" pitchFamily="34" charset="-122"/>
                <a:cs typeface="Geist" pitchFamily="34" charset="-120"/>
              </a:rPr>
              <a:t>, và thường là lệnh </a:t>
            </a:r>
            <a:r>
              <a:rPr lang="en-US" b="1" dirty="0">
                <a:solidFill>
                  <a:srgbClr val="4B4A4A"/>
                </a:solidFill>
                <a:latin typeface="Geist" pitchFamily="34" charset="0"/>
                <a:ea typeface="Geist" pitchFamily="34" charset="-122"/>
                <a:cs typeface="Geist" pitchFamily="34" charset="-120"/>
              </a:rPr>
              <a:t>GET</a:t>
            </a:r>
            <a:r>
              <a:rPr lang="en-US" dirty="0">
                <a:solidFill>
                  <a:srgbClr val="4B4A4A"/>
                </a:solidFill>
                <a:latin typeface="Geist" pitchFamily="34" charset="0"/>
                <a:ea typeface="Geist" pitchFamily="34" charset="-122"/>
                <a:cs typeface="Geist" pitchFamily="34" charset="-120"/>
              </a:rPr>
              <a:t>.</a:t>
            </a:r>
            <a:endParaRPr lang="en-US" dirty="0"/>
          </a:p>
        </p:txBody>
      </p:sp>
      <p:sp>
        <p:nvSpPr>
          <p:cNvPr id="7" name="Text 5"/>
          <p:cNvSpPr/>
          <p:nvPr/>
        </p:nvSpPr>
        <p:spPr>
          <a:xfrm>
            <a:off x="7414379" y="2692956"/>
            <a:ext cx="198358" cy="248007"/>
          </a:xfrm>
          <a:prstGeom prst="rect">
            <a:avLst/>
          </a:prstGeom>
          <a:noFill/>
          <a:ln/>
        </p:spPr>
        <p:txBody>
          <a:bodyPr wrap="none" lIns="0" tIns="0" rIns="0" bIns="0" rtlCol="0" anchor="t"/>
          <a:lstStyle/>
          <a:p>
            <a:pPr marL="0" indent="0" algn="l">
              <a:lnSpc>
                <a:spcPts val="2500"/>
              </a:lnSpc>
              <a:buNone/>
            </a:pPr>
            <a:r>
              <a:rPr lang="en-US" sz="1900" dirty="0">
                <a:solidFill>
                  <a:srgbClr val="4B4A4A"/>
                </a:solidFill>
                <a:latin typeface="Noto Serif SC Light" pitchFamily="34" charset="0"/>
                <a:ea typeface="Noto Serif SC Light" pitchFamily="34" charset="-122"/>
                <a:cs typeface="Noto Serif SC Light" pitchFamily="34" charset="-120"/>
              </a:rPr>
              <a:t>02</a:t>
            </a:r>
            <a:endParaRPr lang="en-US" sz="1900" dirty="0"/>
          </a:p>
        </p:txBody>
      </p:sp>
      <p:sp>
        <p:nvSpPr>
          <p:cNvPr id="8" name="Shape 6"/>
          <p:cNvSpPr/>
          <p:nvPr/>
        </p:nvSpPr>
        <p:spPr>
          <a:xfrm>
            <a:off x="7414379" y="3007281"/>
            <a:ext cx="6422231" cy="22860"/>
          </a:xfrm>
          <a:prstGeom prst="rect">
            <a:avLst/>
          </a:prstGeom>
          <a:solidFill>
            <a:srgbClr val="006747"/>
          </a:solidFill>
          <a:ln/>
        </p:spPr>
      </p:sp>
      <p:sp>
        <p:nvSpPr>
          <p:cNvPr id="9" name="Text 7"/>
          <p:cNvSpPr/>
          <p:nvPr/>
        </p:nvSpPr>
        <p:spPr>
          <a:xfrm>
            <a:off x="7414379" y="3152180"/>
            <a:ext cx="2550081" cy="310158"/>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Server nhận và xử lý</a:t>
            </a:r>
            <a:endParaRPr lang="en-US" sz="1900" dirty="0"/>
          </a:p>
        </p:txBody>
      </p:sp>
      <p:sp>
        <p:nvSpPr>
          <p:cNvPr id="10" name="Text 8"/>
          <p:cNvSpPr/>
          <p:nvPr/>
        </p:nvSpPr>
        <p:spPr>
          <a:xfrm>
            <a:off x="7414379" y="3581400"/>
            <a:ext cx="6422231"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ESP32 (đang đóng vai trò Server) nhận được yêu cầu, kiểm tra xem khách muốn gì. Nếu muốn xem trang chủ, nó sẽ chuẩn bị file HTML (code tạo giao diện).</a:t>
            </a:r>
            <a:endParaRPr lang="en-US" dirty="0"/>
          </a:p>
        </p:txBody>
      </p:sp>
      <p:sp>
        <p:nvSpPr>
          <p:cNvPr id="11" name="Text 9"/>
          <p:cNvSpPr/>
          <p:nvPr/>
        </p:nvSpPr>
        <p:spPr>
          <a:xfrm>
            <a:off x="793790" y="4881205"/>
            <a:ext cx="198358" cy="248007"/>
          </a:xfrm>
          <a:prstGeom prst="rect">
            <a:avLst/>
          </a:prstGeom>
          <a:noFill/>
          <a:ln/>
        </p:spPr>
        <p:txBody>
          <a:bodyPr wrap="none" lIns="0" tIns="0" rIns="0" bIns="0" rtlCol="0" anchor="t"/>
          <a:lstStyle/>
          <a:p>
            <a:pPr marL="0" indent="0" algn="l">
              <a:lnSpc>
                <a:spcPts val="2500"/>
              </a:lnSpc>
              <a:buNone/>
            </a:pPr>
            <a:r>
              <a:rPr lang="en-US" sz="1900" dirty="0">
                <a:solidFill>
                  <a:srgbClr val="4B4A4A"/>
                </a:solidFill>
                <a:latin typeface="Noto Serif SC Light" pitchFamily="34" charset="0"/>
                <a:ea typeface="Noto Serif SC Light" pitchFamily="34" charset="-122"/>
                <a:cs typeface="Noto Serif SC Light" pitchFamily="34" charset="-120"/>
              </a:rPr>
              <a:t>03</a:t>
            </a:r>
            <a:endParaRPr lang="en-US" sz="1900" dirty="0"/>
          </a:p>
        </p:txBody>
      </p:sp>
      <p:sp>
        <p:nvSpPr>
          <p:cNvPr id="12" name="Shape 10"/>
          <p:cNvSpPr/>
          <p:nvPr/>
        </p:nvSpPr>
        <p:spPr>
          <a:xfrm>
            <a:off x="793790" y="5195530"/>
            <a:ext cx="6422231" cy="22860"/>
          </a:xfrm>
          <a:prstGeom prst="rect">
            <a:avLst/>
          </a:prstGeom>
          <a:solidFill>
            <a:srgbClr val="006747"/>
          </a:solidFill>
          <a:ln/>
        </p:spPr>
      </p:sp>
      <p:sp>
        <p:nvSpPr>
          <p:cNvPr id="13" name="Text 11"/>
          <p:cNvSpPr/>
          <p:nvPr/>
        </p:nvSpPr>
        <p:spPr>
          <a:xfrm>
            <a:off x="793790" y="5340429"/>
            <a:ext cx="3932396" cy="310158"/>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Server gửi Response (Phản hồi)</a:t>
            </a:r>
            <a:endParaRPr lang="en-US" sz="1900" dirty="0"/>
          </a:p>
        </p:txBody>
      </p:sp>
      <p:sp>
        <p:nvSpPr>
          <p:cNvPr id="14" name="Text 12"/>
          <p:cNvSpPr/>
          <p:nvPr/>
        </p:nvSpPr>
        <p:spPr>
          <a:xfrm>
            <a:off x="793790" y="5769650"/>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ESP32 gửi trả lại một gói dữ liệu chứa mã HTML: </a:t>
            </a:r>
            <a:r>
              <a:rPr lang="en-US" i="1" dirty="0">
                <a:solidFill>
                  <a:srgbClr val="4B4A4A"/>
                </a:solidFill>
                <a:latin typeface="Geist" pitchFamily="34" charset="0"/>
                <a:ea typeface="Geist" pitchFamily="34" charset="-122"/>
                <a:cs typeface="Geist" pitchFamily="34" charset="-120"/>
              </a:rPr>
              <a:t>"Đây, hiển thị lên màn hình đi!"</a:t>
            </a:r>
            <a:r>
              <a:rPr lang="en-US" dirty="0">
                <a:solidFill>
                  <a:srgbClr val="4B4A4A"/>
                </a:solidFill>
                <a:latin typeface="Geist" pitchFamily="34" charset="0"/>
                <a:ea typeface="Geist" pitchFamily="34" charset="-122"/>
                <a:cs typeface="Geist" pitchFamily="34" charset="-120"/>
              </a:rPr>
              <a:t>. Gói này gọi là </a:t>
            </a:r>
            <a:r>
              <a:rPr lang="en-US" b="1" dirty="0">
                <a:solidFill>
                  <a:srgbClr val="4B4A4A"/>
                </a:solidFill>
                <a:latin typeface="Geist" pitchFamily="34" charset="0"/>
                <a:ea typeface="Geist" pitchFamily="34" charset="-122"/>
                <a:cs typeface="Geist" pitchFamily="34" charset="-120"/>
              </a:rPr>
              <a:t>HTTP Response</a:t>
            </a:r>
            <a:r>
              <a:rPr lang="en-US" dirty="0">
                <a:solidFill>
                  <a:srgbClr val="4B4A4A"/>
                </a:solidFill>
                <a:latin typeface="Geist" pitchFamily="34" charset="0"/>
                <a:ea typeface="Geist" pitchFamily="34" charset="-122"/>
                <a:cs typeface="Geist" pitchFamily="34" charset="-120"/>
              </a:rPr>
              <a:t>.</a:t>
            </a:r>
            <a:endParaRPr lang="en-US" dirty="0"/>
          </a:p>
        </p:txBody>
      </p:sp>
      <p:sp>
        <p:nvSpPr>
          <p:cNvPr id="15" name="Text 13"/>
          <p:cNvSpPr/>
          <p:nvPr/>
        </p:nvSpPr>
        <p:spPr>
          <a:xfrm>
            <a:off x="7414379" y="4881205"/>
            <a:ext cx="198358" cy="248007"/>
          </a:xfrm>
          <a:prstGeom prst="rect">
            <a:avLst/>
          </a:prstGeom>
          <a:noFill/>
          <a:ln/>
        </p:spPr>
        <p:txBody>
          <a:bodyPr wrap="none" lIns="0" tIns="0" rIns="0" bIns="0" rtlCol="0" anchor="t"/>
          <a:lstStyle/>
          <a:p>
            <a:pPr marL="0" indent="0" algn="l">
              <a:lnSpc>
                <a:spcPts val="2500"/>
              </a:lnSpc>
              <a:buNone/>
            </a:pPr>
            <a:r>
              <a:rPr lang="en-US" sz="1900" dirty="0">
                <a:solidFill>
                  <a:srgbClr val="4B4A4A"/>
                </a:solidFill>
                <a:latin typeface="Noto Serif SC Light" pitchFamily="34" charset="0"/>
                <a:ea typeface="Noto Serif SC Light" pitchFamily="34" charset="-122"/>
                <a:cs typeface="Noto Serif SC Light" pitchFamily="34" charset="-120"/>
              </a:rPr>
              <a:t>04</a:t>
            </a:r>
            <a:endParaRPr lang="en-US" sz="1900" dirty="0"/>
          </a:p>
        </p:txBody>
      </p:sp>
      <p:sp>
        <p:nvSpPr>
          <p:cNvPr id="16" name="Shape 14"/>
          <p:cNvSpPr/>
          <p:nvPr/>
        </p:nvSpPr>
        <p:spPr>
          <a:xfrm>
            <a:off x="7414379" y="5195530"/>
            <a:ext cx="6422231" cy="22860"/>
          </a:xfrm>
          <a:prstGeom prst="rect">
            <a:avLst/>
          </a:prstGeom>
          <a:solidFill>
            <a:srgbClr val="006747"/>
          </a:solidFill>
          <a:ln/>
        </p:spPr>
      </p:sp>
      <p:sp>
        <p:nvSpPr>
          <p:cNvPr id="17" name="Text 15"/>
          <p:cNvSpPr/>
          <p:nvPr/>
        </p:nvSpPr>
        <p:spPr>
          <a:xfrm>
            <a:off x="7414379" y="5340429"/>
            <a:ext cx="2795826" cy="310158"/>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Client hiển thị kết quả</a:t>
            </a:r>
            <a:endParaRPr lang="en-US" sz="1900" dirty="0"/>
          </a:p>
        </p:txBody>
      </p:sp>
      <p:sp>
        <p:nvSpPr>
          <p:cNvPr id="18" name="Text 16"/>
          <p:cNvSpPr/>
          <p:nvPr/>
        </p:nvSpPr>
        <p:spPr>
          <a:xfrm>
            <a:off x="7414379" y="5769650"/>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Trình duyệt nhận được mã HTML, "vẽ" nó lên màn hình thành giao diện đẹp mắt với nút bấm, chữ, màu sắc...</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0797" y="454343"/>
            <a:ext cx="7582257" cy="516255"/>
          </a:xfrm>
          <a:prstGeom prst="rect">
            <a:avLst/>
          </a:prstGeom>
          <a:noFill/>
          <a:ln/>
        </p:spPr>
        <p:txBody>
          <a:bodyPr wrap="none" lIns="0" tIns="0" rIns="0" bIns="0" rtlCol="0" anchor="t"/>
          <a:lstStyle/>
          <a:p>
            <a:pPr marL="0" indent="0" algn="l">
              <a:lnSpc>
                <a:spcPts val="4050"/>
              </a:lnSpc>
              <a:buNone/>
            </a:pPr>
            <a:r>
              <a:rPr lang="en-US" sz="3250" b="1" dirty="0">
                <a:solidFill>
                  <a:srgbClr val="006747"/>
                </a:solidFill>
                <a:latin typeface="Noto Serif SC Bold" pitchFamily="34" charset="0"/>
                <a:ea typeface="Noto Serif SC Bold" pitchFamily="34" charset="-122"/>
                <a:cs typeface="Noto Serif SC Bold" pitchFamily="34" charset="-120"/>
              </a:rPr>
              <a:t>Giao thức HTTP - Ngôn ngữ của Web</a:t>
            </a:r>
            <a:endParaRPr lang="en-US" sz="3250" dirty="0"/>
          </a:p>
        </p:txBody>
      </p:sp>
      <p:sp>
        <p:nvSpPr>
          <p:cNvPr id="3" name="Text 1"/>
          <p:cNvSpPr/>
          <p:nvPr/>
        </p:nvSpPr>
        <p:spPr>
          <a:xfrm>
            <a:off x="660797" y="1383506"/>
            <a:ext cx="2065258" cy="258128"/>
          </a:xfrm>
          <a:prstGeom prst="rect">
            <a:avLst/>
          </a:prstGeom>
          <a:noFill/>
          <a:ln/>
        </p:spPr>
        <p:txBody>
          <a:bodyPr wrap="none" lIns="0" tIns="0" rIns="0" bIns="0" rtlCol="0" anchor="t"/>
          <a:lstStyle/>
          <a:p>
            <a:pPr marL="0" indent="0" algn="l">
              <a:lnSpc>
                <a:spcPts val="2000"/>
              </a:lnSpc>
              <a:buNone/>
            </a:pPr>
            <a:r>
              <a:rPr lang="en-US" b="1" dirty="0">
                <a:solidFill>
                  <a:srgbClr val="006747"/>
                </a:solidFill>
                <a:latin typeface="Noto Serif SC Bold" pitchFamily="34" charset="0"/>
                <a:ea typeface="Noto Serif SC Bold" pitchFamily="34" charset="-122"/>
                <a:cs typeface="Noto Serif SC Bold" pitchFamily="34" charset="-120"/>
              </a:rPr>
              <a:t>HTTP là gì?</a:t>
            </a:r>
            <a:endParaRPr lang="en-US" dirty="0"/>
          </a:p>
        </p:txBody>
      </p:sp>
      <p:sp>
        <p:nvSpPr>
          <p:cNvPr id="4" name="Text 2"/>
          <p:cNvSpPr/>
          <p:nvPr/>
        </p:nvSpPr>
        <p:spPr>
          <a:xfrm>
            <a:off x="660797" y="1863218"/>
            <a:ext cx="6452830" cy="528638"/>
          </a:xfrm>
          <a:prstGeom prst="rect">
            <a:avLst/>
          </a:prstGeom>
          <a:noFill/>
          <a:ln/>
        </p:spPr>
        <p:txBody>
          <a:bodyPr wrap="square" lIns="0" tIns="0" rIns="0" bIns="0" rtlCol="0" anchor="t"/>
          <a:lstStyle/>
          <a:p>
            <a:pPr marL="0" indent="0" algn="l">
              <a:lnSpc>
                <a:spcPts val="2050"/>
              </a:lnSpc>
              <a:buNone/>
            </a:pPr>
            <a:r>
              <a:rPr lang="en-US" b="1" dirty="0">
                <a:solidFill>
                  <a:srgbClr val="4B4A4A"/>
                </a:solidFill>
                <a:latin typeface="Geist" pitchFamily="34" charset="0"/>
                <a:ea typeface="Geist" pitchFamily="34" charset="-122"/>
                <a:cs typeface="Geist" pitchFamily="34" charset="-120"/>
              </a:rPr>
              <a:t>HTTP</a:t>
            </a:r>
            <a:r>
              <a:rPr lang="en-US" dirty="0">
                <a:solidFill>
                  <a:srgbClr val="4B4A4A"/>
                </a:solidFill>
                <a:latin typeface="Geist" pitchFamily="34" charset="0"/>
                <a:ea typeface="Geist" pitchFamily="34" charset="-122"/>
                <a:cs typeface="Geist" pitchFamily="34" charset="-120"/>
              </a:rPr>
              <a:t> (HyperText Transfer Protocol) là "ngôn ngữ chung" mà Client và Server dùng để nói chuyện với nhau. Nó quy định cách đóng gói và giải mã thông tin.</a:t>
            </a:r>
            <a:endParaRPr lang="en-US" dirty="0"/>
          </a:p>
        </p:txBody>
      </p:sp>
      <p:sp>
        <p:nvSpPr>
          <p:cNvPr id="5" name="Text 3"/>
          <p:cNvSpPr/>
          <p:nvPr/>
        </p:nvSpPr>
        <p:spPr>
          <a:xfrm>
            <a:off x="660797" y="2997267"/>
            <a:ext cx="2547937" cy="258128"/>
          </a:xfrm>
          <a:prstGeom prst="rect">
            <a:avLst/>
          </a:prstGeom>
          <a:noFill/>
          <a:ln/>
        </p:spPr>
        <p:txBody>
          <a:bodyPr wrap="none" lIns="0" tIns="0" rIns="0" bIns="0" rtlCol="0" anchor="t"/>
          <a:lstStyle/>
          <a:p>
            <a:pPr marL="0" indent="0" algn="l">
              <a:lnSpc>
                <a:spcPts val="2000"/>
              </a:lnSpc>
              <a:buNone/>
            </a:pPr>
            <a:r>
              <a:rPr lang="en-US" b="1" dirty="0">
                <a:solidFill>
                  <a:srgbClr val="006747"/>
                </a:solidFill>
                <a:latin typeface="Noto Serif SC Bold" pitchFamily="34" charset="0"/>
                <a:ea typeface="Noto Serif SC Bold" pitchFamily="34" charset="-122"/>
                <a:cs typeface="Noto Serif SC Bold" pitchFamily="34" charset="-120"/>
              </a:rPr>
              <a:t>Các lệnh HTTP phổ biến</a:t>
            </a:r>
            <a:endParaRPr lang="en-US" dirty="0"/>
          </a:p>
        </p:txBody>
      </p:sp>
      <p:sp>
        <p:nvSpPr>
          <p:cNvPr id="6" name="Text 4"/>
          <p:cNvSpPr/>
          <p:nvPr/>
        </p:nvSpPr>
        <p:spPr>
          <a:xfrm>
            <a:off x="660797" y="3420534"/>
            <a:ext cx="6452830" cy="264319"/>
          </a:xfrm>
          <a:prstGeom prst="rect">
            <a:avLst/>
          </a:prstGeom>
          <a:noFill/>
          <a:ln/>
        </p:spPr>
        <p:txBody>
          <a:bodyPr wrap="none" lIns="0" tIns="0" rIns="0" bIns="0" rtlCol="0" anchor="t"/>
          <a:lstStyle/>
          <a:p>
            <a:pPr marL="342900" indent="-342900" algn="l">
              <a:lnSpc>
                <a:spcPts val="2050"/>
              </a:lnSpc>
              <a:buSzPct val="100000"/>
              <a:buChar char="•"/>
            </a:pPr>
            <a:r>
              <a:rPr lang="en-US" b="1" dirty="0">
                <a:solidFill>
                  <a:srgbClr val="4B4A4A"/>
                </a:solidFill>
                <a:latin typeface="Geist" pitchFamily="34" charset="0"/>
                <a:ea typeface="Geist" pitchFamily="34" charset="-122"/>
                <a:cs typeface="Geist" pitchFamily="34" charset="-120"/>
              </a:rPr>
              <a:t>GET:</a:t>
            </a:r>
            <a:r>
              <a:rPr lang="en-US" dirty="0">
                <a:solidFill>
                  <a:srgbClr val="4B4A4A"/>
                </a:solidFill>
                <a:latin typeface="Geist" pitchFamily="34" charset="0"/>
                <a:ea typeface="Geist" pitchFamily="34" charset="-122"/>
                <a:cs typeface="Geist" pitchFamily="34" charset="-120"/>
              </a:rPr>
              <a:t> Xin lấy dữ liệu (ví dụ: hiển thị trang web)</a:t>
            </a:r>
            <a:endParaRPr lang="en-US" dirty="0"/>
          </a:p>
        </p:txBody>
      </p:sp>
      <p:sp>
        <p:nvSpPr>
          <p:cNvPr id="7" name="Text 5"/>
          <p:cNvSpPr/>
          <p:nvPr/>
        </p:nvSpPr>
        <p:spPr>
          <a:xfrm>
            <a:off x="660797" y="3742598"/>
            <a:ext cx="6452830" cy="264319"/>
          </a:xfrm>
          <a:prstGeom prst="rect">
            <a:avLst/>
          </a:prstGeom>
          <a:noFill/>
          <a:ln/>
        </p:spPr>
        <p:txBody>
          <a:bodyPr wrap="none" lIns="0" tIns="0" rIns="0" bIns="0" rtlCol="0" anchor="t"/>
          <a:lstStyle/>
          <a:p>
            <a:pPr marL="342900" indent="-342900" algn="l">
              <a:lnSpc>
                <a:spcPts val="2050"/>
              </a:lnSpc>
              <a:buSzPct val="100000"/>
              <a:buChar char="•"/>
            </a:pPr>
            <a:r>
              <a:rPr lang="en-US" b="1" dirty="0">
                <a:solidFill>
                  <a:srgbClr val="4B4A4A"/>
                </a:solidFill>
                <a:latin typeface="Geist" pitchFamily="34" charset="0"/>
                <a:ea typeface="Geist" pitchFamily="34" charset="-122"/>
                <a:cs typeface="Geist" pitchFamily="34" charset="-120"/>
              </a:rPr>
              <a:t>POST:</a:t>
            </a:r>
            <a:r>
              <a:rPr lang="en-US" dirty="0">
                <a:solidFill>
                  <a:srgbClr val="4B4A4A"/>
                </a:solidFill>
                <a:latin typeface="Geist" pitchFamily="34" charset="0"/>
                <a:ea typeface="Geist" pitchFamily="34" charset="-122"/>
                <a:cs typeface="Geist" pitchFamily="34" charset="-120"/>
              </a:rPr>
              <a:t> Gửi dữ liệu lên (ví dụ: submit form đăng nhập)</a:t>
            </a:r>
            <a:endParaRPr lang="en-US" dirty="0"/>
          </a:p>
        </p:txBody>
      </p:sp>
      <p:sp>
        <p:nvSpPr>
          <p:cNvPr id="8" name="Text 6"/>
          <p:cNvSpPr/>
          <p:nvPr/>
        </p:nvSpPr>
        <p:spPr>
          <a:xfrm>
            <a:off x="660797" y="4064662"/>
            <a:ext cx="6452830" cy="264319"/>
          </a:xfrm>
          <a:prstGeom prst="rect">
            <a:avLst/>
          </a:prstGeom>
          <a:noFill/>
          <a:ln/>
        </p:spPr>
        <p:txBody>
          <a:bodyPr wrap="none" lIns="0" tIns="0" rIns="0" bIns="0" rtlCol="0" anchor="t"/>
          <a:lstStyle/>
          <a:p>
            <a:pPr marL="342900" indent="-342900" algn="l">
              <a:lnSpc>
                <a:spcPts val="2050"/>
              </a:lnSpc>
              <a:buSzPct val="100000"/>
              <a:buChar char="•"/>
            </a:pPr>
            <a:r>
              <a:rPr lang="en-US" b="1" dirty="0">
                <a:solidFill>
                  <a:srgbClr val="4B4A4A"/>
                </a:solidFill>
                <a:latin typeface="Geist" pitchFamily="34" charset="0"/>
                <a:ea typeface="Geist" pitchFamily="34" charset="-122"/>
                <a:cs typeface="Geist" pitchFamily="34" charset="-120"/>
              </a:rPr>
              <a:t>PUT:</a:t>
            </a:r>
            <a:r>
              <a:rPr lang="en-US" dirty="0">
                <a:solidFill>
                  <a:srgbClr val="4B4A4A"/>
                </a:solidFill>
                <a:latin typeface="Geist" pitchFamily="34" charset="0"/>
                <a:ea typeface="Geist" pitchFamily="34" charset="-122"/>
                <a:cs typeface="Geist" pitchFamily="34" charset="-120"/>
              </a:rPr>
              <a:t> Cập nhật dữ liệu</a:t>
            </a:r>
            <a:endParaRPr lang="en-US" dirty="0"/>
          </a:p>
        </p:txBody>
      </p:sp>
      <p:sp>
        <p:nvSpPr>
          <p:cNvPr id="9" name="Text 7"/>
          <p:cNvSpPr/>
          <p:nvPr/>
        </p:nvSpPr>
        <p:spPr>
          <a:xfrm>
            <a:off x="660797" y="4386726"/>
            <a:ext cx="6452830" cy="264319"/>
          </a:xfrm>
          <a:prstGeom prst="rect">
            <a:avLst/>
          </a:prstGeom>
          <a:noFill/>
          <a:ln/>
        </p:spPr>
        <p:txBody>
          <a:bodyPr wrap="none" lIns="0" tIns="0" rIns="0" bIns="0" rtlCol="0" anchor="t"/>
          <a:lstStyle/>
          <a:p>
            <a:pPr marL="342900" indent="-342900" algn="l">
              <a:lnSpc>
                <a:spcPts val="2050"/>
              </a:lnSpc>
              <a:buSzPct val="100000"/>
              <a:buChar char="•"/>
            </a:pPr>
            <a:r>
              <a:rPr lang="en-US" b="1" dirty="0">
                <a:solidFill>
                  <a:srgbClr val="4B4A4A"/>
                </a:solidFill>
                <a:latin typeface="Geist" pitchFamily="34" charset="0"/>
                <a:ea typeface="Geist" pitchFamily="34" charset="-122"/>
                <a:cs typeface="Geist" pitchFamily="34" charset="-120"/>
              </a:rPr>
              <a:t>DELETE:</a:t>
            </a:r>
            <a:r>
              <a:rPr lang="en-US" dirty="0">
                <a:solidFill>
                  <a:srgbClr val="4B4A4A"/>
                </a:solidFill>
                <a:latin typeface="Geist" pitchFamily="34" charset="0"/>
                <a:ea typeface="Geist" pitchFamily="34" charset="-122"/>
                <a:cs typeface="Geist" pitchFamily="34" charset="-120"/>
              </a:rPr>
              <a:t> Xóa dữ liệu</a:t>
            </a:r>
            <a:endParaRPr lang="en-US" dirty="0"/>
          </a:p>
        </p:txBody>
      </p:sp>
      <p:sp>
        <p:nvSpPr>
          <p:cNvPr id="10" name="Text 8"/>
          <p:cNvSpPr/>
          <p:nvPr/>
        </p:nvSpPr>
        <p:spPr>
          <a:xfrm>
            <a:off x="660797" y="4889947"/>
            <a:ext cx="6452830" cy="528638"/>
          </a:xfrm>
          <a:prstGeom prst="rect">
            <a:avLst/>
          </a:prstGeom>
          <a:noFill/>
          <a:ln/>
        </p:spPr>
        <p:txBody>
          <a:bodyPr wrap="square" lIns="0" tIns="0" rIns="0" bIns="0" rtlCol="0" anchor="t"/>
          <a:lstStyle/>
          <a:p>
            <a:pPr marL="0" indent="0" algn="l">
              <a:lnSpc>
                <a:spcPts val="2050"/>
              </a:lnSpc>
              <a:buNone/>
            </a:pPr>
            <a:r>
              <a:rPr lang="en-US" dirty="0">
                <a:solidFill>
                  <a:srgbClr val="4B4A4A"/>
                </a:solidFill>
                <a:latin typeface="Geist" pitchFamily="34" charset="0"/>
                <a:ea typeface="Geist" pitchFamily="34" charset="-122"/>
                <a:cs typeface="Geist" pitchFamily="34" charset="-120"/>
              </a:rPr>
              <a:t>Trong bài học hôm nay, chúng ta chỉ cần dùng </a:t>
            </a:r>
            <a:r>
              <a:rPr lang="en-US" b="1" dirty="0">
                <a:solidFill>
                  <a:srgbClr val="4B4A4A"/>
                </a:solidFill>
                <a:latin typeface="Geist" pitchFamily="34" charset="0"/>
                <a:ea typeface="Geist" pitchFamily="34" charset="-122"/>
                <a:cs typeface="Geist" pitchFamily="34" charset="-120"/>
              </a:rPr>
              <a:t>GET</a:t>
            </a:r>
            <a:r>
              <a:rPr lang="en-US" dirty="0">
                <a:solidFill>
                  <a:srgbClr val="4B4A4A"/>
                </a:solidFill>
                <a:latin typeface="Geist" pitchFamily="34" charset="0"/>
                <a:ea typeface="Geist" pitchFamily="34" charset="-122"/>
                <a:cs typeface="Geist" pitchFamily="34" charset="-120"/>
              </a:rPr>
              <a:t> thôi. Khi bạn bấm nút "BẬT ĐÈN", trình duyệt sẽ gửi một lệnh GET đến địa chỉ </a:t>
            </a:r>
            <a:r>
              <a:rPr lang="en-US" dirty="0">
                <a:solidFill>
                  <a:srgbClr val="4B4A4A"/>
                </a:solidFill>
                <a:highlight>
                  <a:srgbClr val="D8ECE5"/>
                </a:highlight>
                <a:latin typeface="Consolas" pitchFamily="34" charset="0"/>
                <a:ea typeface="Consolas" pitchFamily="34" charset="-122"/>
                <a:cs typeface="Consolas" pitchFamily="34" charset="-120"/>
              </a:rPr>
              <a:t>http://192.168.1.5/on</a:t>
            </a:r>
            <a:r>
              <a:rPr lang="en-US" dirty="0">
                <a:solidFill>
                  <a:srgbClr val="4B4A4A"/>
                </a:solidFill>
                <a:latin typeface="Geist" pitchFamily="34" charset="0"/>
                <a:ea typeface="Geist" pitchFamily="34" charset="-122"/>
                <a:cs typeface="Geist" pitchFamily="34" charset="-120"/>
              </a:rPr>
              <a:t>.</a:t>
            </a:r>
            <a:endParaRPr lang="en-US" dirty="0"/>
          </a:p>
        </p:txBody>
      </p:sp>
      <p:pic>
        <p:nvPicPr>
          <p:cNvPr id="11" name="Image 0" descr="preencoded.png"/>
          <p:cNvPicPr>
            <a:picLocks noChangeAspect="1"/>
          </p:cNvPicPr>
          <p:nvPr/>
        </p:nvPicPr>
        <p:blipFill>
          <a:blip r:embed="rId3"/>
          <a:stretch>
            <a:fillRect/>
          </a:stretch>
        </p:blipFill>
        <p:spPr>
          <a:xfrm>
            <a:off x="7524393" y="1404223"/>
            <a:ext cx="6030754" cy="4523065"/>
          </a:xfrm>
          <a:prstGeom prst="rect">
            <a:avLst/>
          </a:prstGeom>
        </p:spPr>
      </p:pic>
      <p:sp>
        <p:nvSpPr>
          <p:cNvPr id="12" name="Shape 9"/>
          <p:cNvSpPr/>
          <p:nvPr/>
        </p:nvSpPr>
        <p:spPr>
          <a:xfrm>
            <a:off x="7524393" y="6113145"/>
            <a:ext cx="6452830" cy="1667947"/>
          </a:xfrm>
          <a:prstGeom prst="roundRect">
            <a:avLst>
              <a:gd name="adj" fmla="val 8915"/>
            </a:avLst>
          </a:prstGeom>
          <a:solidFill>
            <a:srgbClr val="B3FFE7"/>
          </a:solidFill>
          <a:ln/>
        </p:spPr>
      </p:sp>
      <p:pic>
        <p:nvPicPr>
          <p:cNvPr id="13" name="Image 1" descr="preencoded.png"/>
          <p:cNvPicPr>
            <a:picLocks noChangeAspect="1"/>
          </p:cNvPicPr>
          <p:nvPr/>
        </p:nvPicPr>
        <p:blipFill>
          <a:blip r:embed="rId4"/>
          <a:stretch>
            <a:fillRect/>
          </a:stretch>
        </p:blipFill>
        <p:spPr>
          <a:xfrm>
            <a:off x="7689533" y="6365438"/>
            <a:ext cx="206454" cy="165140"/>
          </a:xfrm>
          <a:prstGeom prst="rect">
            <a:avLst/>
          </a:prstGeom>
        </p:spPr>
      </p:pic>
      <p:sp>
        <p:nvSpPr>
          <p:cNvPr id="14" name="Text 10"/>
          <p:cNvSpPr/>
          <p:nvPr/>
        </p:nvSpPr>
        <p:spPr>
          <a:xfrm>
            <a:off x="8061127" y="6319480"/>
            <a:ext cx="5750957" cy="264319"/>
          </a:xfrm>
          <a:prstGeom prst="rect">
            <a:avLst/>
          </a:prstGeom>
          <a:noFill/>
          <a:ln/>
        </p:spPr>
        <p:txBody>
          <a:bodyPr wrap="none" lIns="0" tIns="0" rIns="0" bIns="0" rtlCol="0" anchor="t"/>
          <a:lstStyle/>
          <a:p>
            <a:pPr marL="0" indent="0" algn="l">
              <a:lnSpc>
                <a:spcPts val="2050"/>
              </a:lnSpc>
              <a:buNone/>
            </a:pPr>
            <a:r>
              <a:rPr lang="en-US" b="1" dirty="0">
                <a:solidFill>
                  <a:srgbClr val="000000"/>
                </a:solidFill>
                <a:latin typeface="Geist" pitchFamily="34" charset="0"/>
                <a:ea typeface="Geist" pitchFamily="34" charset="-122"/>
                <a:cs typeface="Geist" pitchFamily="34" charset="-120"/>
              </a:rPr>
              <a:t>Mã trạng thái phổ biến:</a:t>
            </a:r>
            <a:endParaRPr lang="en-US" dirty="0"/>
          </a:p>
        </p:txBody>
      </p:sp>
      <p:sp>
        <p:nvSpPr>
          <p:cNvPr id="15" name="Text 11"/>
          <p:cNvSpPr/>
          <p:nvPr/>
        </p:nvSpPr>
        <p:spPr>
          <a:xfrm>
            <a:off x="8061127" y="6732389"/>
            <a:ext cx="5750957" cy="264319"/>
          </a:xfrm>
          <a:prstGeom prst="rect">
            <a:avLst/>
          </a:prstGeom>
          <a:noFill/>
          <a:ln/>
        </p:spPr>
        <p:txBody>
          <a:bodyPr wrap="none" lIns="0" tIns="0" rIns="0" bIns="0" rtlCol="0" anchor="t"/>
          <a:lstStyle/>
          <a:p>
            <a:pPr marL="342900" indent="-342900" algn="l">
              <a:lnSpc>
                <a:spcPts val="2050"/>
              </a:lnSpc>
              <a:buSzPct val="100000"/>
              <a:buChar char="•"/>
            </a:pPr>
            <a:r>
              <a:rPr lang="en-US" b="1" dirty="0">
                <a:solidFill>
                  <a:srgbClr val="000000"/>
                </a:solidFill>
                <a:latin typeface="Geist" pitchFamily="34" charset="0"/>
                <a:ea typeface="Geist" pitchFamily="34" charset="-122"/>
                <a:cs typeface="Geist" pitchFamily="34" charset="-120"/>
              </a:rPr>
              <a:t>200 OK:</a:t>
            </a:r>
            <a:r>
              <a:rPr lang="en-US" dirty="0">
                <a:solidFill>
                  <a:srgbClr val="000000"/>
                </a:solidFill>
                <a:latin typeface="Geist" pitchFamily="34" charset="0"/>
                <a:ea typeface="Geist" pitchFamily="34" charset="-122"/>
                <a:cs typeface="Geist" pitchFamily="34" charset="-120"/>
              </a:rPr>
              <a:t> Thành công</a:t>
            </a:r>
            <a:endParaRPr lang="en-US" dirty="0"/>
          </a:p>
        </p:txBody>
      </p:sp>
      <p:sp>
        <p:nvSpPr>
          <p:cNvPr id="16" name="Text 12"/>
          <p:cNvSpPr/>
          <p:nvPr/>
        </p:nvSpPr>
        <p:spPr>
          <a:xfrm>
            <a:off x="8061127" y="7054453"/>
            <a:ext cx="5750957" cy="264319"/>
          </a:xfrm>
          <a:prstGeom prst="rect">
            <a:avLst/>
          </a:prstGeom>
          <a:noFill/>
          <a:ln/>
        </p:spPr>
        <p:txBody>
          <a:bodyPr wrap="none" lIns="0" tIns="0" rIns="0" bIns="0" rtlCol="0" anchor="t"/>
          <a:lstStyle/>
          <a:p>
            <a:pPr marL="342900" indent="-342900" algn="l">
              <a:lnSpc>
                <a:spcPts val="2050"/>
              </a:lnSpc>
              <a:buSzPct val="100000"/>
              <a:buChar char="•"/>
            </a:pPr>
            <a:r>
              <a:rPr lang="en-US" b="1" dirty="0">
                <a:solidFill>
                  <a:srgbClr val="000000"/>
                </a:solidFill>
                <a:latin typeface="Geist" pitchFamily="34" charset="0"/>
                <a:ea typeface="Geist" pitchFamily="34" charset="-122"/>
                <a:cs typeface="Geist" pitchFamily="34" charset="-120"/>
              </a:rPr>
              <a:t>404 Not Found:</a:t>
            </a:r>
            <a:r>
              <a:rPr lang="en-US" dirty="0">
                <a:solidFill>
                  <a:srgbClr val="000000"/>
                </a:solidFill>
                <a:latin typeface="Geist" pitchFamily="34" charset="0"/>
                <a:ea typeface="Geist" pitchFamily="34" charset="-122"/>
                <a:cs typeface="Geist" pitchFamily="34" charset="-120"/>
              </a:rPr>
              <a:t> Không tìm thấy trang</a:t>
            </a:r>
            <a:endParaRPr lang="en-US" dirty="0"/>
          </a:p>
        </p:txBody>
      </p:sp>
      <p:sp>
        <p:nvSpPr>
          <p:cNvPr id="17" name="Text 13"/>
          <p:cNvSpPr/>
          <p:nvPr/>
        </p:nvSpPr>
        <p:spPr>
          <a:xfrm>
            <a:off x="8061127" y="7376517"/>
            <a:ext cx="5750957" cy="264319"/>
          </a:xfrm>
          <a:prstGeom prst="rect">
            <a:avLst/>
          </a:prstGeom>
          <a:noFill/>
          <a:ln/>
        </p:spPr>
        <p:txBody>
          <a:bodyPr wrap="none" lIns="0" tIns="0" rIns="0" bIns="0" rtlCol="0" anchor="t"/>
          <a:lstStyle/>
          <a:p>
            <a:pPr marL="342900" indent="-342900" algn="l">
              <a:lnSpc>
                <a:spcPts val="2050"/>
              </a:lnSpc>
              <a:buSzPct val="100000"/>
              <a:buChar char="•"/>
            </a:pPr>
            <a:r>
              <a:rPr lang="en-US" b="1" dirty="0">
                <a:solidFill>
                  <a:srgbClr val="000000"/>
                </a:solidFill>
                <a:latin typeface="Geist" pitchFamily="34" charset="0"/>
                <a:ea typeface="Geist" pitchFamily="34" charset="-122"/>
                <a:cs typeface="Geist" pitchFamily="34" charset="-120"/>
              </a:rPr>
              <a:t>500 Error:</a:t>
            </a:r>
            <a:r>
              <a:rPr lang="en-US" dirty="0">
                <a:solidFill>
                  <a:srgbClr val="000000"/>
                </a:solidFill>
                <a:latin typeface="Geist" pitchFamily="34" charset="0"/>
                <a:ea typeface="Geist" pitchFamily="34" charset="-122"/>
                <a:cs typeface="Geist" pitchFamily="34" charset="-120"/>
              </a:rPr>
              <a:t> Lỗi server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4" grpId="0" animBg="1"/>
      <p:bldP spid="15" grpId="0" animBg="1"/>
      <p:bldP spid="16"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944047"/>
            <a:ext cx="9907905"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Địa chỉ IP - "Số nhà" trên mạng Internet</a:t>
            </a:r>
            <a:endParaRPr lang="en-US" sz="3900" dirty="0"/>
          </a:p>
        </p:txBody>
      </p:sp>
      <p:sp>
        <p:nvSpPr>
          <p:cNvPr id="3" name="Shape 1"/>
          <p:cNvSpPr/>
          <p:nvPr/>
        </p:nvSpPr>
        <p:spPr>
          <a:xfrm>
            <a:off x="793790" y="1960959"/>
            <a:ext cx="4215289" cy="4891397"/>
          </a:xfrm>
          <a:prstGeom prst="roundRect">
            <a:avLst>
              <a:gd name="adj" fmla="val 4238"/>
            </a:avLst>
          </a:prstGeom>
          <a:solidFill>
            <a:srgbClr val="E5F9F2">
              <a:alpha val="95000"/>
            </a:srgbClr>
          </a:solidFill>
          <a:ln w="22860">
            <a:solidFill>
              <a:srgbClr val="B7D5CA"/>
            </a:solidFill>
            <a:prstDash val="solid"/>
          </a:ln>
        </p:spPr>
      </p:sp>
      <p:sp>
        <p:nvSpPr>
          <p:cNvPr id="4" name="Text 2"/>
          <p:cNvSpPr/>
          <p:nvPr/>
        </p:nvSpPr>
        <p:spPr>
          <a:xfrm>
            <a:off x="1015008" y="218217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IP Address là gì?</a:t>
            </a:r>
            <a:endParaRPr lang="en-US" sz="1950" dirty="0"/>
          </a:p>
        </p:txBody>
      </p:sp>
      <p:sp>
        <p:nvSpPr>
          <p:cNvPr id="5" name="Text 3"/>
          <p:cNvSpPr/>
          <p:nvPr/>
        </p:nvSpPr>
        <p:spPr>
          <a:xfrm>
            <a:off x="1015008" y="2611398"/>
            <a:ext cx="3772853" cy="12777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Mỗi thiết bị kết nối vào mạng đều có một </a:t>
            </a:r>
            <a:r>
              <a:rPr lang="en-US" b="1" dirty="0">
                <a:solidFill>
                  <a:srgbClr val="4B4A4A"/>
                </a:solidFill>
                <a:latin typeface="Geist" pitchFamily="34" charset="0"/>
                <a:ea typeface="Geist" pitchFamily="34" charset="-122"/>
                <a:cs typeface="Geist" pitchFamily="34" charset="-120"/>
              </a:rPr>
              <a:t>địa chỉ IP</a:t>
            </a:r>
            <a:r>
              <a:rPr lang="en-US" dirty="0">
                <a:solidFill>
                  <a:srgbClr val="4B4A4A"/>
                </a:solidFill>
                <a:latin typeface="Geist" pitchFamily="34" charset="0"/>
                <a:ea typeface="Geist" pitchFamily="34" charset="-122"/>
                <a:cs typeface="Geist" pitchFamily="34" charset="-120"/>
              </a:rPr>
              <a:t> duy nhất, giống như số nhà của bạn vậy. Địa chỉ IP thường có dạng: </a:t>
            </a:r>
            <a:r>
              <a:rPr lang="en-US" dirty="0">
                <a:solidFill>
                  <a:srgbClr val="4B4A4A"/>
                </a:solidFill>
                <a:highlight>
                  <a:srgbClr val="D8ECE5"/>
                </a:highlight>
                <a:latin typeface="Consolas" pitchFamily="34" charset="0"/>
                <a:ea typeface="Consolas" pitchFamily="34" charset="-122"/>
                <a:cs typeface="Consolas" pitchFamily="34" charset="-120"/>
              </a:rPr>
              <a:t>192.168.1.15</a:t>
            </a:r>
            <a:endParaRPr lang="en-US" dirty="0"/>
          </a:p>
        </p:txBody>
      </p:sp>
      <p:sp>
        <p:nvSpPr>
          <p:cNvPr id="6" name="Text 4"/>
          <p:cNvSpPr/>
          <p:nvPr/>
        </p:nvSpPr>
        <p:spPr>
          <a:xfrm>
            <a:off x="1015008" y="4008239"/>
            <a:ext cx="3772853" cy="127015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Khi ESP32 kết nối vào Router nhà bạn, Router sẽ "cấp phát" cho nó một địa chỉ IP. Để "vào nhà" của ESP32, bạn phải gõ đúng địa chỉ IP này lên trình duyệt.</a:t>
            </a:r>
            <a:endParaRPr lang="en-US" dirty="0"/>
          </a:p>
        </p:txBody>
      </p:sp>
      <p:sp>
        <p:nvSpPr>
          <p:cNvPr id="7" name="Shape 5"/>
          <p:cNvSpPr/>
          <p:nvPr/>
        </p:nvSpPr>
        <p:spPr>
          <a:xfrm>
            <a:off x="5207437" y="1960959"/>
            <a:ext cx="4215408" cy="4891397"/>
          </a:xfrm>
          <a:prstGeom prst="roundRect">
            <a:avLst>
              <a:gd name="adj" fmla="val 4237"/>
            </a:avLst>
          </a:prstGeom>
          <a:solidFill>
            <a:srgbClr val="E5F9F2">
              <a:alpha val="95000"/>
            </a:srgbClr>
          </a:solidFill>
          <a:ln w="22860">
            <a:solidFill>
              <a:srgbClr val="B7D5CA"/>
            </a:solidFill>
            <a:prstDash val="solid"/>
          </a:ln>
        </p:spPr>
      </p:sp>
      <p:sp>
        <p:nvSpPr>
          <p:cNvPr id="8" name="Text 6"/>
          <p:cNvSpPr/>
          <p:nvPr/>
        </p:nvSpPr>
        <p:spPr>
          <a:xfrm>
            <a:off x="5428655" y="2182177"/>
            <a:ext cx="3772972"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Cách xem địa chỉ IP của ESP32</a:t>
            </a:r>
            <a:endParaRPr lang="en-US" sz="1950" dirty="0"/>
          </a:p>
        </p:txBody>
      </p:sp>
      <p:sp>
        <p:nvSpPr>
          <p:cNvPr id="9" name="Text 7"/>
          <p:cNvSpPr/>
          <p:nvPr/>
        </p:nvSpPr>
        <p:spPr>
          <a:xfrm>
            <a:off x="5428655" y="2921556"/>
            <a:ext cx="3772972"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Sau khi nạp code, mở </a:t>
            </a:r>
            <a:r>
              <a:rPr lang="en-US" b="1" dirty="0">
                <a:solidFill>
                  <a:srgbClr val="4B4A4A"/>
                </a:solidFill>
                <a:latin typeface="Geist" pitchFamily="34" charset="0"/>
                <a:ea typeface="Geist" pitchFamily="34" charset="-122"/>
                <a:cs typeface="Geist" pitchFamily="34" charset="-120"/>
              </a:rPr>
              <a:t>Serial Monitor</a:t>
            </a:r>
            <a:r>
              <a:rPr lang="en-US" dirty="0">
                <a:solidFill>
                  <a:srgbClr val="4B4A4A"/>
                </a:solidFill>
                <a:latin typeface="Geist" pitchFamily="34" charset="0"/>
                <a:ea typeface="Geist" pitchFamily="34" charset="-122"/>
                <a:cs typeface="Geist" pitchFamily="34" charset="-120"/>
              </a:rPr>
              <a:t> (tốc độ 115200 baud). ESP32 sẽ in ra dòng chữ:</a:t>
            </a:r>
            <a:endParaRPr lang="en-US" dirty="0"/>
          </a:p>
        </p:txBody>
      </p:sp>
      <p:sp>
        <p:nvSpPr>
          <p:cNvPr id="10" name="Shape 8"/>
          <p:cNvSpPr/>
          <p:nvPr/>
        </p:nvSpPr>
        <p:spPr>
          <a:xfrm>
            <a:off x="5428655" y="4097417"/>
            <a:ext cx="3772972" cy="1250275"/>
          </a:xfrm>
          <a:prstGeom prst="roundRect">
            <a:avLst>
              <a:gd name="adj" fmla="val 14287"/>
            </a:avLst>
          </a:prstGeom>
          <a:solidFill>
            <a:srgbClr val="D8ECE5"/>
          </a:solidFill>
          <a:ln/>
        </p:spPr>
      </p:sp>
      <p:sp>
        <p:nvSpPr>
          <p:cNvPr id="11" name="Shape 9"/>
          <p:cNvSpPr/>
          <p:nvPr/>
        </p:nvSpPr>
        <p:spPr>
          <a:xfrm>
            <a:off x="5418773" y="4097417"/>
            <a:ext cx="3792736" cy="1250275"/>
          </a:xfrm>
          <a:prstGeom prst="roundRect">
            <a:avLst>
              <a:gd name="adj" fmla="val 2381"/>
            </a:avLst>
          </a:prstGeom>
          <a:solidFill>
            <a:srgbClr val="D8ECE5"/>
          </a:solidFill>
          <a:ln/>
        </p:spPr>
      </p:sp>
      <p:sp>
        <p:nvSpPr>
          <p:cNvPr id="12" name="Text 10"/>
          <p:cNvSpPr/>
          <p:nvPr/>
        </p:nvSpPr>
        <p:spPr>
          <a:xfrm>
            <a:off x="5617131" y="4246245"/>
            <a:ext cx="3396020"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WiFi da ket noi!</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Dia chi IP cua ESP32 la: 192.168.1.105</a:t>
            </a:r>
            <a:endParaRPr lang="en-US" dirty="0"/>
          </a:p>
        </p:txBody>
      </p:sp>
      <p:sp>
        <p:nvSpPr>
          <p:cNvPr id="13" name="Text 11"/>
          <p:cNvSpPr/>
          <p:nvPr/>
        </p:nvSpPr>
        <p:spPr>
          <a:xfrm>
            <a:off x="5428655" y="5570934"/>
            <a:ext cx="3772972"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Ghi nhớ con số này! Đây chính là "địa chỉ nhà" của ESP32 trên mạng của bạn.</a:t>
            </a:r>
            <a:endParaRPr lang="en-US" dirty="0"/>
          </a:p>
        </p:txBody>
      </p:sp>
      <p:sp>
        <p:nvSpPr>
          <p:cNvPr id="14" name="Shape 12"/>
          <p:cNvSpPr/>
          <p:nvPr/>
        </p:nvSpPr>
        <p:spPr>
          <a:xfrm>
            <a:off x="9621203" y="1960959"/>
            <a:ext cx="4215289" cy="4891397"/>
          </a:xfrm>
          <a:prstGeom prst="roundRect">
            <a:avLst>
              <a:gd name="adj" fmla="val 4238"/>
            </a:avLst>
          </a:prstGeom>
          <a:solidFill>
            <a:srgbClr val="E5F9F2">
              <a:alpha val="95000"/>
            </a:srgbClr>
          </a:solidFill>
          <a:ln w="22860">
            <a:solidFill>
              <a:srgbClr val="B7D5CA"/>
            </a:solidFill>
            <a:prstDash val="solid"/>
          </a:ln>
        </p:spPr>
      </p:sp>
      <p:sp>
        <p:nvSpPr>
          <p:cNvPr id="15" name="Text 13"/>
          <p:cNvSpPr/>
          <p:nvPr/>
        </p:nvSpPr>
        <p:spPr>
          <a:xfrm>
            <a:off x="9842421" y="2182177"/>
            <a:ext cx="2599372"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Truy cập Web Server</a:t>
            </a:r>
            <a:endParaRPr lang="en-US" sz="1950" dirty="0"/>
          </a:p>
        </p:txBody>
      </p:sp>
      <p:sp>
        <p:nvSpPr>
          <p:cNvPr id="16" name="Text 14"/>
          <p:cNvSpPr/>
          <p:nvPr/>
        </p:nvSpPr>
        <p:spPr>
          <a:xfrm>
            <a:off x="9842421" y="2611398"/>
            <a:ext cx="3772853"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Lấy điện thoại (đã bắt cùng WiFi với ESP32), mở trình duyệt Chrome hoặc Safari, gõ vào thanh địa chỉ:</a:t>
            </a:r>
            <a:endParaRPr lang="en-US" dirty="0"/>
          </a:p>
        </p:txBody>
      </p:sp>
      <p:sp>
        <p:nvSpPr>
          <p:cNvPr id="17" name="Shape 15"/>
          <p:cNvSpPr/>
          <p:nvPr/>
        </p:nvSpPr>
        <p:spPr>
          <a:xfrm>
            <a:off x="9842421" y="3787259"/>
            <a:ext cx="3772853" cy="615196"/>
          </a:xfrm>
          <a:prstGeom prst="roundRect">
            <a:avLst>
              <a:gd name="adj" fmla="val 29036"/>
            </a:avLst>
          </a:prstGeom>
          <a:solidFill>
            <a:srgbClr val="D8ECE5"/>
          </a:solidFill>
          <a:ln/>
        </p:spPr>
      </p:sp>
      <p:sp>
        <p:nvSpPr>
          <p:cNvPr id="18" name="Shape 16"/>
          <p:cNvSpPr/>
          <p:nvPr/>
        </p:nvSpPr>
        <p:spPr>
          <a:xfrm>
            <a:off x="9832538" y="3787259"/>
            <a:ext cx="3792617" cy="615196"/>
          </a:xfrm>
          <a:prstGeom prst="roundRect">
            <a:avLst>
              <a:gd name="adj" fmla="val 4839"/>
            </a:avLst>
          </a:prstGeom>
          <a:solidFill>
            <a:srgbClr val="D8ECE5"/>
          </a:solidFill>
          <a:ln/>
        </p:spPr>
      </p:sp>
      <p:sp>
        <p:nvSpPr>
          <p:cNvPr id="19" name="Text 17"/>
          <p:cNvSpPr/>
          <p:nvPr/>
        </p:nvSpPr>
        <p:spPr>
          <a:xfrm>
            <a:off x="10030897" y="3936087"/>
            <a:ext cx="339590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http://192.168.1.105</a:t>
            </a:r>
            <a:endParaRPr lang="en-US" dirty="0"/>
          </a:p>
        </p:txBody>
      </p:sp>
      <p:sp>
        <p:nvSpPr>
          <p:cNvPr id="20" name="Text 18"/>
          <p:cNvSpPr/>
          <p:nvPr/>
        </p:nvSpPr>
        <p:spPr>
          <a:xfrm>
            <a:off x="9842421" y="4625697"/>
            <a:ext cx="3772853"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Nhấn Enter và chiêm ngưỡng thành quả của bạn! Trang web điều khiển LED sẽ hiện ra ngay lập tức.</a:t>
            </a:r>
            <a:endParaRPr lang="en-US" dirty="0"/>
          </a:p>
        </p:txBody>
      </p:sp>
      <p:sp>
        <p:nvSpPr>
          <p:cNvPr id="21" name="Text 19"/>
          <p:cNvSpPr/>
          <p:nvPr/>
        </p:nvSpPr>
        <p:spPr>
          <a:xfrm>
            <a:off x="793671" y="7166610"/>
            <a:ext cx="13042821" cy="635079"/>
          </a:xfrm>
          <a:prstGeom prst="rect">
            <a:avLst/>
          </a:prstGeom>
          <a:noFill/>
          <a:ln/>
        </p:spPr>
        <p:txBody>
          <a:bodyPr wrap="squar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Lưu ý:</a:t>
            </a:r>
            <a:r>
              <a:rPr lang="en-US" dirty="0">
                <a:solidFill>
                  <a:srgbClr val="4B4A4A"/>
                </a:solidFill>
                <a:latin typeface="Geist" pitchFamily="34" charset="0"/>
                <a:ea typeface="Geist" pitchFamily="34" charset="-122"/>
                <a:cs typeface="Geist" pitchFamily="34" charset="-120"/>
              </a:rPr>
              <a:t> Địa chỉ IP có thể thay đổi sau mỗi lần ESP32 khởi động lại (do Router cấp ngẫu nhiên). Nếu muốn IP cố định, bạn cần cấu hình "Static IP" - chúng ta sẽ học ở các bài nâng cao!</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2" grpId="0" animBg="1"/>
      <p:bldP spid="13" grpId="0" animBg="1"/>
      <p:bldP spid="15" grpId="0" animBg="1"/>
      <p:bldP spid="16" grpId="0" animBg="1"/>
      <p:bldP spid="19" grpId="0" animBg="1"/>
      <p:bldP spid="20"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3186946"/>
            <a:ext cx="7556421" cy="1240393"/>
          </a:xfrm>
          <a:prstGeom prst="rect">
            <a:avLst/>
          </a:prstGeom>
          <a:noFill/>
          <a:ln/>
        </p:spPr>
        <p:txBody>
          <a:bodyPr wrap="none" lIns="0" tIns="0" rIns="0" bIns="0" rtlCol="0" anchor="t"/>
          <a:lstStyle/>
          <a:p>
            <a:pPr marL="0" indent="0" algn="ctr">
              <a:lnSpc>
                <a:spcPts val="9750"/>
              </a:lnSpc>
              <a:buNone/>
            </a:pPr>
            <a:r>
              <a:rPr lang="en-US" sz="7800" b="1" dirty="0">
                <a:solidFill>
                  <a:srgbClr val="006747"/>
                </a:solidFill>
                <a:latin typeface="Noto Serif SC Bold" pitchFamily="34" charset="0"/>
                <a:ea typeface="Noto Serif SC Bold" pitchFamily="34" charset="-122"/>
                <a:cs typeface="Noto Serif SC Bold" pitchFamily="34" charset="-120"/>
              </a:rPr>
              <a:t>THỰC HÀNH</a:t>
            </a:r>
            <a:endParaRPr lang="en-US" sz="7800" dirty="0"/>
          </a:p>
        </p:txBody>
      </p:sp>
      <p:sp>
        <p:nvSpPr>
          <p:cNvPr id="4" name="Text 1"/>
          <p:cNvSpPr/>
          <p:nvPr/>
        </p:nvSpPr>
        <p:spPr>
          <a:xfrm>
            <a:off x="793790" y="4724995"/>
            <a:ext cx="7556421" cy="317540"/>
          </a:xfrm>
          <a:prstGeom prst="rect">
            <a:avLst/>
          </a:prstGeom>
          <a:noFill/>
          <a:ln/>
        </p:spPr>
        <p:txBody>
          <a:bodyPr wrap="none" lIns="0" tIns="0" rIns="0" bIns="0" rtlCol="0" anchor="t"/>
          <a:lstStyle/>
          <a:p>
            <a:pPr marL="0" indent="0" algn="ctr">
              <a:lnSpc>
                <a:spcPts val="2500"/>
              </a:lnSpc>
              <a:buNone/>
            </a:pPr>
            <a:r>
              <a:rPr lang="en-US" sz="2000" b="1" dirty="0">
                <a:solidFill>
                  <a:srgbClr val="4B4A4A"/>
                </a:solidFill>
                <a:latin typeface="Geist" pitchFamily="34" charset="0"/>
                <a:ea typeface="Geist" pitchFamily="34" charset="-122"/>
                <a:cs typeface="Geist" pitchFamily="34" charset="-120"/>
              </a:rPr>
              <a:t>Tự tay tạo Web Server trên ESP32</a:t>
            </a:r>
            <a:endParaRPr lang="en-US" sz="20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44260" y="511612"/>
            <a:ext cx="10885646" cy="581382"/>
          </a:xfrm>
          <a:prstGeom prst="rect">
            <a:avLst/>
          </a:prstGeom>
          <a:noFill/>
          <a:ln/>
        </p:spPr>
        <p:txBody>
          <a:bodyPr wrap="none" lIns="0" tIns="0" rIns="0" bIns="0" rtlCol="0" anchor="t"/>
          <a:lstStyle/>
          <a:p>
            <a:pPr marL="0" indent="0" algn="l">
              <a:lnSpc>
                <a:spcPts val="4550"/>
              </a:lnSpc>
              <a:buNone/>
            </a:pPr>
            <a:r>
              <a:rPr lang="en-US" sz="3650" b="1" dirty="0">
                <a:solidFill>
                  <a:srgbClr val="006747"/>
                </a:solidFill>
                <a:latin typeface="Noto Serif SC Bold" pitchFamily="34" charset="0"/>
                <a:ea typeface="Noto Serif SC Bold" pitchFamily="34" charset="-122"/>
                <a:cs typeface="Noto Serif SC Bold" pitchFamily="34" charset="-120"/>
              </a:rPr>
              <a:t>Bài toán thực tế: Điều khiển đèn LED qua WiFi</a:t>
            </a:r>
            <a:endParaRPr lang="en-US" sz="3650" dirty="0"/>
          </a:p>
        </p:txBody>
      </p:sp>
      <p:sp>
        <p:nvSpPr>
          <p:cNvPr id="3" name="Text 1"/>
          <p:cNvSpPr/>
          <p:nvPr/>
        </p:nvSpPr>
        <p:spPr>
          <a:xfrm>
            <a:off x="744260" y="1558052"/>
            <a:ext cx="2325767" cy="290632"/>
          </a:xfrm>
          <a:prstGeom prst="rect">
            <a:avLst/>
          </a:prstGeom>
          <a:noFill/>
          <a:ln/>
        </p:spPr>
        <p:txBody>
          <a:bodyPr wrap="none" lIns="0" tIns="0" rIns="0" bIns="0" rtlCol="0" anchor="t"/>
          <a:lstStyle/>
          <a:p>
            <a:pPr marL="0" indent="0" algn="l">
              <a:lnSpc>
                <a:spcPts val="2250"/>
              </a:lnSpc>
              <a:buNone/>
            </a:pPr>
            <a:r>
              <a:rPr lang="en-US" b="1" dirty="0">
                <a:solidFill>
                  <a:srgbClr val="006747"/>
                </a:solidFill>
                <a:latin typeface="Noto Serif SC Bold" pitchFamily="34" charset="0"/>
                <a:ea typeface="Noto Serif SC Bold" pitchFamily="34" charset="-122"/>
                <a:cs typeface="Noto Serif SC Bold" pitchFamily="34" charset="-120"/>
              </a:rPr>
              <a:t>Mục tiêu</a:t>
            </a:r>
            <a:endParaRPr lang="en-US" dirty="0"/>
          </a:p>
        </p:txBody>
      </p:sp>
      <p:sp>
        <p:nvSpPr>
          <p:cNvPr id="4" name="Text 2"/>
          <p:cNvSpPr/>
          <p:nvPr/>
        </p:nvSpPr>
        <p:spPr>
          <a:xfrm>
            <a:off x="744260" y="2034659"/>
            <a:ext cx="6344007" cy="595313"/>
          </a:xfrm>
          <a:prstGeom prst="rect">
            <a:avLst/>
          </a:prstGeom>
          <a:noFill/>
          <a:ln/>
        </p:spPr>
        <p:txBody>
          <a:bodyPr wrap="square" lIns="0" tIns="0" rIns="0" bIns="0" rtlCol="0" anchor="t"/>
          <a:lstStyle/>
          <a:p>
            <a:pPr marL="0" indent="0" algn="l">
              <a:lnSpc>
                <a:spcPts val="2300"/>
              </a:lnSpc>
              <a:buNone/>
            </a:pPr>
            <a:r>
              <a:rPr lang="en-US" dirty="0">
                <a:solidFill>
                  <a:srgbClr val="4B4A4A"/>
                </a:solidFill>
                <a:latin typeface="Geist" pitchFamily="34" charset="0"/>
                <a:ea typeface="Geist" pitchFamily="34" charset="-122"/>
                <a:cs typeface="Geist" pitchFamily="34" charset="-120"/>
              </a:rPr>
              <a:t>Chúng ta sẽ tạo một trang web đơn giản chạy trên ESP32. Trang web này có hai nút bấm:</a:t>
            </a:r>
            <a:endParaRPr lang="en-US" dirty="0"/>
          </a:p>
        </p:txBody>
      </p:sp>
      <p:sp>
        <p:nvSpPr>
          <p:cNvPr id="5" name="Text 3"/>
          <p:cNvSpPr/>
          <p:nvPr/>
        </p:nvSpPr>
        <p:spPr>
          <a:xfrm>
            <a:off x="744260" y="2797373"/>
            <a:ext cx="6344007" cy="297656"/>
          </a:xfrm>
          <a:prstGeom prst="rect">
            <a:avLst/>
          </a:prstGeom>
          <a:noFill/>
          <a:ln/>
        </p:spPr>
        <p:txBody>
          <a:bodyPr wrap="none" lIns="0" tIns="0" rIns="0" bIns="0" rtlCol="0" anchor="t"/>
          <a:lstStyle/>
          <a:p>
            <a:pPr marL="342900" indent="-342900" algn="l">
              <a:lnSpc>
                <a:spcPts val="2300"/>
              </a:lnSpc>
              <a:buSzPct val="100000"/>
              <a:buChar char="•"/>
            </a:pPr>
            <a:r>
              <a:rPr lang="en-US" b="1" dirty="0">
                <a:solidFill>
                  <a:srgbClr val="006747"/>
                </a:solidFill>
                <a:latin typeface="Geist" pitchFamily="34" charset="0"/>
                <a:ea typeface="Geist" pitchFamily="34" charset="-122"/>
                <a:cs typeface="Geist" pitchFamily="34" charset="-120"/>
              </a:rPr>
              <a:t>[BẬT ĐÈN]</a:t>
            </a:r>
            <a:r>
              <a:rPr lang="en-US" dirty="0">
                <a:solidFill>
                  <a:srgbClr val="4B4A4A"/>
                </a:solidFill>
                <a:latin typeface="Geist" pitchFamily="34" charset="0"/>
                <a:ea typeface="Geist" pitchFamily="34" charset="-122"/>
                <a:cs typeface="Geist" pitchFamily="34" charset="-120"/>
              </a:rPr>
              <a:t> - Nút màu xanh lá</a:t>
            </a:r>
            <a:endParaRPr lang="en-US" dirty="0"/>
          </a:p>
        </p:txBody>
      </p:sp>
      <p:sp>
        <p:nvSpPr>
          <p:cNvPr id="6" name="Text 4"/>
          <p:cNvSpPr/>
          <p:nvPr/>
        </p:nvSpPr>
        <p:spPr>
          <a:xfrm>
            <a:off x="744260" y="3160038"/>
            <a:ext cx="6344007" cy="297656"/>
          </a:xfrm>
          <a:prstGeom prst="rect">
            <a:avLst/>
          </a:prstGeom>
          <a:noFill/>
          <a:ln/>
        </p:spPr>
        <p:txBody>
          <a:bodyPr wrap="none" lIns="0" tIns="0" rIns="0" bIns="0" rtlCol="0" anchor="t"/>
          <a:lstStyle/>
          <a:p>
            <a:pPr marL="342900" indent="-342900" algn="l">
              <a:lnSpc>
                <a:spcPts val="2300"/>
              </a:lnSpc>
              <a:buSzPct val="100000"/>
              <a:buChar char="•"/>
            </a:pPr>
            <a:r>
              <a:rPr lang="en-US" b="1" dirty="0">
                <a:solidFill>
                  <a:srgbClr val="E5330C"/>
                </a:solidFill>
                <a:latin typeface="Geist" pitchFamily="34" charset="0"/>
                <a:ea typeface="Geist" pitchFamily="34" charset="-122"/>
                <a:cs typeface="Geist" pitchFamily="34" charset="-120"/>
              </a:rPr>
              <a:t>[TẮT ĐÈN]</a:t>
            </a:r>
            <a:r>
              <a:rPr lang="en-US" dirty="0">
                <a:solidFill>
                  <a:srgbClr val="4B4A4A"/>
                </a:solidFill>
                <a:latin typeface="Geist" pitchFamily="34" charset="0"/>
                <a:ea typeface="Geist" pitchFamily="34" charset="-122"/>
                <a:cs typeface="Geist" pitchFamily="34" charset="-120"/>
              </a:rPr>
              <a:t> - Nút màu đỏ</a:t>
            </a:r>
            <a:endParaRPr lang="en-US" dirty="0"/>
          </a:p>
        </p:txBody>
      </p:sp>
      <p:sp>
        <p:nvSpPr>
          <p:cNvPr id="7" name="Text 5"/>
          <p:cNvSpPr/>
          <p:nvPr/>
        </p:nvSpPr>
        <p:spPr>
          <a:xfrm>
            <a:off x="744260" y="4050268"/>
            <a:ext cx="6344007" cy="595313"/>
          </a:xfrm>
          <a:prstGeom prst="rect">
            <a:avLst/>
          </a:prstGeom>
          <a:noFill/>
          <a:ln/>
        </p:spPr>
        <p:txBody>
          <a:bodyPr wrap="square" lIns="0" tIns="0" rIns="0" bIns="0" rtlCol="0" anchor="t"/>
          <a:lstStyle/>
          <a:p>
            <a:pPr marL="0" indent="0" algn="l">
              <a:lnSpc>
                <a:spcPts val="2300"/>
              </a:lnSpc>
              <a:buNone/>
            </a:pPr>
            <a:r>
              <a:rPr lang="en-US" dirty="0">
                <a:solidFill>
                  <a:srgbClr val="4B4A4A"/>
                </a:solidFill>
                <a:latin typeface="Geist" pitchFamily="34" charset="0"/>
                <a:ea typeface="Geist" pitchFamily="34" charset="-122"/>
                <a:cs typeface="Geist" pitchFamily="34" charset="-120"/>
              </a:rPr>
              <a:t>Khi </a:t>
            </a:r>
            <a:r>
              <a:rPr lang="en-US" dirty="0" err="1">
                <a:solidFill>
                  <a:srgbClr val="4B4A4A"/>
                </a:solidFill>
                <a:latin typeface="Geist" pitchFamily="34" charset="0"/>
                <a:ea typeface="Geist" pitchFamily="34" charset="-122"/>
                <a:cs typeface="Geist" pitchFamily="34" charset="-120"/>
              </a:rPr>
              <a:t>bấm</a:t>
            </a:r>
            <a:r>
              <a:rPr lang="en-US" dirty="0">
                <a:solidFill>
                  <a:srgbClr val="4B4A4A"/>
                </a:solidFill>
                <a:latin typeface="Geist" pitchFamily="34" charset="0"/>
                <a:ea typeface="Geist" pitchFamily="34" charset="-122"/>
                <a:cs typeface="Geist" pitchFamily="34" charset="-120"/>
              </a:rPr>
              <a:t> vào nút trên điện thoại, đèn LED trên mạch ESP32 sẽ phản ứng ngay lập tức - sáng hoặc tắt theo lệnh.</a:t>
            </a:r>
            <a:endParaRPr lang="en-US" dirty="0"/>
          </a:p>
        </p:txBody>
      </p:sp>
      <p:sp>
        <p:nvSpPr>
          <p:cNvPr id="8" name="Text 6"/>
          <p:cNvSpPr/>
          <p:nvPr/>
        </p:nvSpPr>
        <p:spPr>
          <a:xfrm>
            <a:off x="744260" y="5132877"/>
            <a:ext cx="6344007" cy="595313"/>
          </a:xfrm>
          <a:prstGeom prst="rect">
            <a:avLst/>
          </a:prstGeom>
          <a:noFill/>
          <a:ln/>
        </p:spPr>
        <p:txBody>
          <a:bodyPr wrap="square" lIns="0" tIns="0" rIns="0" bIns="0" rtlCol="0" anchor="t"/>
          <a:lstStyle/>
          <a:p>
            <a:pPr marL="0" indent="0" algn="l">
              <a:lnSpc>
                <a:spcPts val="2300"/>
              </a:lnSpc>
              <a:buNone/>
            </a:pPr>
            <a:r>
              <a:rPr lang="en-US" dirty="0">
                <a:solidFill>
                  <a:srgbClr val="4B4A4A"/>
                </a:solidFill>
                <a:latin typeface="Geist" pitchFamily="34" charset="0"/>
                <a:ea typeface="Geist" pitchFamily="34" charset="-122"/>
                <a:cs typeface="Geist" pitchFamily="34" charset="-120"/>
              </a:rPr>
              <a:t>Đây chính là nguyên lý hoạt động của </a:t>
            </a:r>
            <a:r>
              <a:rPr lang="en-US" b="1" dirty="0">
                <a:solidFill>
                  <a:srgbClr val="4B4A4A"/>
                </a:solidFill>
                <a:latin typeface="Geist" pitchFamily="34" charset="0"/>
                <a:ea typeface="Geist" pitchFamily="34" charset="-122"/>
                <a:cs typeface="Geist" pitchFamily="34" charset="-120"/>
              </a:rPr>
              <a:t>tất cả</a:t>
            </a:r>
            <a:r>
              <a:rPr lang="en-US" dirty="0">
                <a:solidFill>
                  <a:srgbClr val="4B4A4A"/>
                </a:solidFill>
                <a:latin typeface="Geist" pitchFamily="34" charset="0"/>
                <a:ea typeface="Geist" pitchFamily="34" charset="-122"/>
                <a:cs typeface="Geist" pitchFamily="34" charset="-120"/>
              </a:rPr>
              <a:t> các thiết bị Smart Home như ổ cắm thông minh, đèn LED WiFi mà bạn thấy trên thị trường!</a:t>
            </a:r>
            <a:endParaRPr lang="en-US" dirty="0"/>
          </a:p>
        </p:txBody>
      </p:sp>
      <p:pic>
        <p:nvPicPr>
          <p:cNvPr id="9" name="Image 0" descr="preencoded.png"/>
          <p:cNvPicPr>
            <a:picLocks noChangeAspect="1"/>
          </p:cNvPicPr>
          <p:nvPr/>
        </p:nvPicPr>
        <p:blipFill>
          <a:blip r:embed="rId3"/>
          <a:stretch>
            <a:fillRect/>
          </a:stretch>
        </p:blipFill>
        <p:spPr>
          <a:xfrm>
            <a:off x="7549753" y="1581388"/>
            <a:ext cx="6344007" cy="4937760"/>
          </a:xfrm>
          <a:prstGeom prst="rect">
            <a:avLst/>
          </a:prstGeom>
        </p:spPr>
      </p:pic>
      <p:sp>
        <p:nvSpPr>
          <p:cNvPr id="10" name="Shape 7"/>
          <p:cNvSpPr/>
          <p:nvPr/>
        </p:nvSpPr>
        <p:spPr>
          <a:xfrm>
            <a:off x="7549753" y="6728460"/>
            <a:ext cx="6344007" cy="1297940"/>
          </a:xfrm>
          <a:prstGeom prst="roundRect">
            <a:avLst>
              <a:gd name="adj" fmla="val 15390"/>
            </a:avLst>
          </a:prstGeom>
          <a:solidFill>
            <a:srgbClr val="B3FFE7"/>
          </a:solidFill>
          <a:ln/>
        </p:spPr>
      </p:sp>
      <p:pic>
        <p:nvPicPr>
          <p:cNvPr id="11" name="Image 1" descr="preencoded.png"/>
          <p:cNvPicPr>
            <a:picLocks noChangeAspect="1"/>
          </p:cNvPicPr>
          <p:nvPr/>
        </p:nvPicPr>
        <p:blipFill>
          <a:blip r:embed="rId4"/>
          <a:stretch>
            <a:fillRect/>
          </a:stretch>
        </p:blipFill>
        <p:spPr>
          <a:xfrm>
            <a:off x="7735729" y="7011472"/>
            <a:ext cx="232529" cy="185976"/>
          </a:xfrm>
          <a:prstGeom prst="rect">
            <a:avLst/>
          </a:prstGeom>
        </p:spPr>
      </p:pic>
      <p:sp>
        <p:nvSpPr>
          <p:cNvPr id="12" name="Text 8"/>
          <p:cNvSpPr/>
          <p:nvPr/>
        </p:nvSpPr>
        <p:spPr>
          <a:xfrm>
            <a:off x="8154233" y="6960870"/>
            <a:ext cx="5553551" cy="595313"/>
          </a:xfrm>
          <a:prstGeom prst="rect">
            <a:avLst/>
          </a:prstGeom>
          <a:noFill/>
          <a:ln/>
        </p:spPr>
        <p:txBody>
          <a:bodyPr wrap="square" lIns="0" tIns="0" rIns="0" bIns="0" rtlCol="0" anchor="t"/>
          <a:lstStyle/>
          <a:p>
            <a:pPr marL="0" indent="0" algn="l">
              <a:lnSpc>
                <a:spcPts val="2300"/>
              </a:lnSpc>
              <a:buNone/>
            </a:pPr>
            <a:r>
              <a:rPr lang="en-US" b="1" dirty="0">
                <a:solidFill>
                  <a:srgbClr val="000000"/>
                </a:solidFill>
                <a:latin typeface="Geist" pitchFamily="34" charset="0"/>
                <a:ea typeface="Geist" pitchFamily="34" charset="-122"/>
                <a:cs typeface="Geist" pitchFamily="34" charset="-120"/>
              </a:rPr>
              <a:t>Điểm nhấn:</a:t>
            </a:r>
            <a:r>
              <a:rPr lang="en-US" dirty="0">
                <a:solidFill>
                  <a:srgbClr val="000000"/>
                </a:solidFill>
                <a:latin typeface="Geist" pitchFamily="34" charset="0"/>
                <a:ea typeface="Geist" pitchFamily="34" charset="-122"/>
                <a:cs typeface="Geist" pitchFamily="34" charset="-120"/>
              </a:rPr>
              <a:t> Không cần cài app! Chỉ cần trình duyệt web có sẵn trên điện thoại là đủ. Đơn giản, tiện lợi và dễ mở rộng.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580073"/>
            <a:ext cx="8326636"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Chuẩn bị linh kiện và môi trường</a:t>
            </a:r>
            <a:endParaRPr lang="en-US" sz="3900" dirty="0"/>
          </a:p>
        </p:txBody>
      </p:sp>
      <p:pic>
        <p:nvPicPr>
          <p:cNvPr id="3" name="Image 0" descr="preencoded.png"/>
          <p:cNvPicPr>
            <a:picLocks noChangeAspect="1"/>
          </p:cNvPicPr>
          <p:nvPr/>
        </p:nvPicPr>
        <p:blipFill>
          <a:blip r:embed="rId3"/>
          <a:stretch>
            <a:fillRect/>
          </a:stretch>
        </p:blipFill>
        <p:spPr>
          <a:xfrm>
            <a:off x="793790" y="1596985"/>
            <a:ext cx="2425660" cy="2425660"/>
          </a:xfrm>
          <a:prstGeom prst="rect">
            <a:avLst/>
          </a:prstGeom>
        </p:spPr>
      </p:pic>
      <p:sp>
        <p:nvSpPr>
          <p:cNvPr id="4" name="Text 1"/>
          <p:cNvSpPr/>
          <p:nvPr/>
        </p:nvSpPr>
        <p:spPr>
          <a:xfrm>
            <a:off x="793790" y="427065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ESP32 DevKit</a:t>
            </a:r>
            <a:endParaRPr lang="en-US" sz="1950" dirty="0"/>
          </a:p>
        </p:txBody>
      </p:sp>
      <p:sp>
        <p:nvSpPr>
          <p:cNvPr id="5" name="Text 2"/>
          <p:cNvSpPr/>
          <p:nvPr/>
        </p:nvSpPr>
        <p:spPr>
          <a:xfrm>
            <a:off x="793790" y="4699873"/>
            <a:ext cx="4182189"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Bo mạch ESP32 bất kỳ (NodeMCU-32S, ESP32-WROOM-32, etc.). Đảm bảo có cổng USB để nạp code.</a:t>
            </a:r>
            <a:endParaRPr lang="en-US" dirty="0"/>
          </a:p>
        </p:txBody>
      </p:sp>
      <p:pic>
        <p:nvPicPr>
          <p:cNvPr id="6" name="Image 1" descr="preencoded.png"/>
          <p:cNvPicPr>
            <a:picLocks noChangeAspect="1"/>
          </p:cNvPicPr>
          <p:nvPr/>
        </p:nvPicPr>
        <p:blipFill>
          <a:blip r:embed="rId4"/>
          <a:stretch>
            <a:fillRect/>
          </a:stretch>
        </p:blipFill>
        <p:spPr>
          <a:xfrm>
            <a:off x="5223986" y="1596985"/>
            <a:ext cx="2425660" cy="2425660"/>
          </a:xfrm>
          <a:prstGeom prst="rect">
            <a:avLst/>
          </a:prstGeom>
        </p:spPr>
      </p:pic>
      <p:sp>
        <p:nvSpPr>
          <p:cNvPr id="7" name="Text 3"/>
          <p:cNvSpPr/>
          <p:nvPr/>
        </p:nvSpPr>
        <p:spPr>
          <a:xfrm>
            <a:off x="5223986" y="427065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LED</a:t>
            </a:r>
            <a:endParaRPr lang="en-US" sz="1950" dirty="0"/>
          </a:p>
        </p:txBody>
      </p:sp>
      <p:sp>
        <p:nvSpPr>
          <p:cNvPr id="8" name="Text 4"/>
          <p:cNvSpPr/>
          <p:nvPr/>
        </p:nvSpPr>
        <p:spPr>
          <a:xfrm>
            <a:off x="5223986" y="4699873"/>
            <a:ext cx="4182308"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1 chiếc LED bất kỳ (đỏ, xanh, vàng...) nối vào chân GPIO 2. Hoặc dùng luôn LED onboard có sẵn trên mạch.</a:t>
            </a:r>
            <a:endParaRPr lang="en-US" dirty="0"/>
          </a:p>
        </p:txBody>
      </p:sp>
      <p:pic>
        <p:nvPicPr>
          <p:cNvPr id="9" name="Image 2" descr="preencoded.png"/>
          <p:cNvPicPr>
            <a:picLocks noChangeAspect="1"/>
          </p:cNvPicPr>
          <p:nvPr/>
        </p:nvPicPr>
        <p:blipFill>
          <a:blip r:embed="rId5"/>
          <a:stretch>
            <a:fillRect/>
          </a:stretch>
        </p:blipFill>
        <p:spPr>
          <a:xfrm>
            <a:off x="9654302" y="1596985"/>
            <a:ext cx="2425660" cy="2425660"/>
          </a:xfrm>
          <a:prstGeom prst="rect">
            <a:avLst/>
          </a:prstGeom>
        </p:spPr>
      </p:pic>
      <p:sp>
        <p:nvSpPr>
          <p:cNvPr id="10" name="Text 5"/>
          <p:cNvSpPr/>
          <p:nvPr/>
        </p:nvSpPr>
        <p:spPr>
          <a:xfrm>
            <a:off x="9654302" y="427065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Cáp USB</a:t>
            </a:r>
            <a:endParaRPr lang="en-US" sz="1950" dirty="0"/>
          </a:p>
        </p:txBody>
      </p:sp>
      <p:sp>
        <p:nvSpPr>
          <p:cNvPr id="11" name="Text 6"/>
          <p:cNvSpPr/>
          <p:nvPr/>
        </p:nvSpPr>
        <p:spPr>
          <a:xfrm>
            <a:off x="9654302" y="4699873"/>
            <a:ext cx="4182308"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Dây cáp Micro-USB hoặc USB-C (tùy loại mạch) để kết nối ESP32 với máy tính và nạp code.</a:t>
            </a:r>
            <a:endParaRPr lang="en-US" dirty="0"/>
          </a:p>
        </p:txBody>
      </p:sp>
      <p:sp>
        <p:nvSpPr>
          <p:cNvPr id="12" name="Text 7"/>
          <p:cNvSpPr/>
          <p:nvPr/>
        </p:nvSpPr>
        <p:spPr>
          <a:xfrm>
            <a:off x="793790" y="5950148"/>
            <a:ext cx="2523053"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Phần mềm cần thiết</a:t>
            </a:r>
            <a:endParaRPr lang="en-US" dirty="0"/>
          </a:p>
        </p:txBody>
      </p:sp>
      <p:sp>
        <p:nvSpPr>
          <p:cNvPr id="13" name="Text 8"/>
          <p:cNvSpPr/>
          <p:nvPr/>
        </p:nvSpPr>
        <p:spPr>
          <a:xfrm>
            <a:off x="793790" y="6557963"/>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Arduino IDE</a:t>
            </a:r>
            <a:r>
              <a:rPr lang="en-US" dirty="0">
                <a:solidFill>
                  <a:srgbClr val="4B4A4A"/>
                </a:solidFill>
                <a:latin typeface="Geist" pitchFamily="34" charset="0"/>
                <a:ea typeface="Geist" pitchFamily="34" charset="-122"/>
                <a:cs typeface="Geist" pitchFamily="34" charset="-120"/>
              </a:rPr>
              <a:t> (đã cài đặt ESP32 Board Manager)</a:t>
            </a:r>
            <a:endParaRPr lang="en-US" dirty="0"/>
          </a:p>
        </p:txBody>
      </p:sp>
      <p:sp>
        <p:nvSpPr>
          <p:cNvPr id="14" name="Text 9"/>
          <p:cNvSpPr/>
          <p:nvPr/>
        </p:nvSpPr>
        <p:spPr>
          <a:xfrm>
            <a:off x="793790" y="6944916"/>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Driver CP2102/CH340</a:t>
            </a:r>
            <a:r>
              <a:rPr lang="en-US" dirty="0">
                <a:solidFill>
                  <a:srgbClr val="4B4A4A"/>
                </a:solidFill>
                <a:latin typeface="Geist" pitchFamily="34" charset="0"/>
                <a:ea typeface="Geist" pitchFamily="34" charset="-122"/>
                <a:cs typeface="Geist" pitchFamily="34" charset="-120"/>
              </a:rPr>
              <a:t> (nếu máy tính chưa nhận diện được mạch)</a:t>
            </a:r>
            <a:endParaRPr lang="en-US" dirty="0"/>
          </a:p>
        </p:txBody>
      </p:sp>
      <p:sp>
        <p:nvSpPr>
          <p:cNvPr id="15" name="Text 10"/>
          <p:cNvSpPr/>
          <p:nvPr/>
        </p:nvSpPr>
        <p:spPr>
          <a:xfrm>
            <a:off x="793790" y="7331869"/>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Serial Monitor</a:t>
            </a:r>
            <a:r>
              <a:rPr lang="en-US" dirty="0">
                <a:solidFill>
                  <a:srgbClr val="4B4A4A"/>
                </a:solidFill>
                <a:latin typeface="Geist" pitchFamily="34" charset="0"/>
                <a:ea typeface="Geist" pitchFamily="34" charset="-122"/>
                <a:cs typeface="Geist" pitchFamily="34" charset="-120"/>
              </a:rPr>
              <a:t> để xem địa chỉ IP</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2"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nvSpPr>
        <p:spPr>
          <a:xfrm>
            <a:off x="5039736" y="846530"/>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Sơ đồ kết nối mạch</a:t>
            </a:r>
            <a:endParaRPr lang="en-US" sz="3900" dirty="0"/>
          </a:p>
        </p:txBody>
      </p:sp>
      <p:sp>
        <p:nvSpPr>
          <p:cNvPr id="4" name="Text 1"/>
          <p:cNvSpPr/>
          <p:nvPr/>
        </p:nvSpPr>
        <p:spPr>
          <a:xfrm>
            <a:off x="1279212" y="2338506"/>
            <a:ext cx="4741629"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Kết nối đơn giản</a:t>
            </a:r>
            <a:endParaRPr lang="en-US" dirty="0"/>
          </a:p>
        </p:txBody>
      </p:sp>
      <p:sp>
        <p:nvSpPr>
          <p:cNvPr id="7" name="Text 4"/>
          <p:cNvSpPr/>
          <p:nvPr/>
        </p:nvSpPr>
        <p:spPr>
          <a:xfrm>
            <a:off x="1279212" y="3241140"/>
            <a:ext cx="6758477"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Chân dương (+) của LED → GPIO 2</a:t>
            </a:r>
            <a:endParaRPr lang="en-US" dirty="0"/>
          </a:p>
        </p:txBody>
      </p:sp>
      <p:sp>
        <p:nvSpPr>
          <p:cNvPr id="8" name="Text 5"/>
          <p:cNvSpPr/>
          <p:nvPr/>
        </p:nvSpPr>
        <p:spPr>
          <a:xfrm>
            <a:off x="1279212" y="3628093"/>
            <a:ext cx="6758477"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Chân âm (-) của LED → GND (qua điện trở 220Ω)</a:t>
            </a:r>
            <a:endParaRPr lang="en-US" dirty="0"/>
          </a:p>
        </p:txBody>
      </p:sp>
      <p:sp>
        <p:nvSpPr>
          <p:cNvPr id="9" name="Shape 6"/>
          <p:cNvSpPr/>
          <p:nvPr/>
        </p:nvSpPr>
        <p:spPr>
          <a:xfrm>
            <a:off x="8896963" y="2179579"/>
            <a:ext cx="5236726" cy="3591758"/>
          </a:xfrm>
          <a:prstGeom prst="roundRect">
            <a:avLst>
              <a:gd name="adj" fmla="val 5051"/>
            </a:avLst>
          </a:prstGeom>
          <a:solidFill>
            <a:srgbClr val="B3FFE7"/>
          </a:solidFill>
          <a:ln/>
        </p:spPr>
      </p:sp>
      <p:pic>
        <p:nvPicPr>
          <p:cNvPr id="10" name="Image 1" descr="preencoded.png"/>
          <p:cNvPicPr>
            <a:picLocks noChangeAspect="1"/>
          </p:cNvPicPr>
          <p:nvPr/>
        </p:nvPicPr>
        <p:blipFill>
          <a:blip r:embed="rId3"/>
          <a:stretch>
            <a:fillRect/>
          </a:stretch>
        </p:blipFill>
        <p:spPr>
          <a:xfrm>
            <a:off x="9095321" y="2474854"/>
            <a:ext cx="367276" cy="198358"/>
          </a:xfrm>
          <a:prstGeom prst="rect">
            <a:avLst/>
          </a:prstGeom>
        </p:spPr>
      </p:pic>
      <p:sp>
        <p:nvSpPr>
          <p:cNvPr id="11" name="Text 7"/>
          <p:cNvSpPr/>
          <p:nvPr/>
        </p:nvSpPr>
        <p:spPr>
          <a:xfrm>
            <a:off x="9541687" y="2427467"/>
            <a:ext cx="3988200" cy="317540"/>
          </a:xfrm>
          <a:prstGeom prst="rect">
            <a:avLst/>
          </a:prstGeom>
          <a:noFill/>
          <a:ln/>
        </p:spPr>
        <p:txBody>
          <a:bodyPr wrap="none" lIns="0" tIns="0" rIns="0" bIns="0" rtlCol="0" anchor="t"/>
          <a:lstStyle/>
          <a:p>
            <a:pPr marL="0" indent="0" algn="l">
              <a:lnSpc>
                <a:spcPts val="2500"/>
              </a:lnSpc>
              <a:buNone/>
            </a:pPr>
            <a:r>
              <a:rPr lang="en-US" b="1" dirty="0">
                <a:solidFill>
                  <a:srgbClr val="000000"/>
                </a:solidFill>
                <a:latin typeface="Geist" pitchFamily="34" charset="0"/>
                <a:ea typeface="Geist" pitchFamily="34" charset="-122"/>
                <a:cs typeface="Geist" pitchFamily="34" charset="-120"/>
              </a:rPr>
              <a:t>Lưu ý an toàn:</a:t>
            </a:r>
            <a:endParaRPr lang="en-US" dirty="0"/>
          </a:p>
        </p:txBody>
      </p:sp>
      <p:sp>
        <p:nvSpPr>
          <p:cNvPr id="12" name="Text 8"/>
          <p:cNvSpPr/>
          <p:nvPr/>
        </p:nvSpPr>
        <p:spPr>
          <a:xfrm>
            <a:off x="9541687" y="2923601"/>
            <a:ext cx="3988200" cy="95261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000000"/>
                </a:solidFill>
                <a:latin typeface="Geist" pitchFamily="34" charset="0"/>
                <a:ea typeface="Geist" pitchFamily="34" charset="-122"/>
                <a:cs typeface="Geist" pitchFamily="34" charset="-120"/>
              </a:rPr>
              <a:t>Luôn dùng điện trở (220Ω - 330Ω) nối tiếp với LED để tránh cháy</a:t>
            </a:r>
            <a:endParaRPr lang="en-US" dirty="0"/>
          </a:p>
        </p:txBody>
      </p:sp>
      <p:sp>
        <p:nvSpPr>
          <p:cNvPr id="13" name="Text 9"/>
          <p:cNvSpPr/>
          <p:nvPr/>
        </p:nvSpPr>
        <p:spPr>
          <a:xfrm>
            <a:off x="9541687" y="3945633"/>
            <a:ext cx="3988200" cy="95261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000000"/>
                </a:solidFill>
                <a:latin typeface="Geist" pitchFamily="34" charset="0"/>
                <a:ea typeface="Geist" pitchFamily="34" charset="-122"/>
                <a:cs typeface="Geist" pitchFamily="34" charset="-120"/>
              </a:rPr>
              <a:t>Kiểm tra cực tính LED (chân dài là dương, chân ngắn là âm)</a:t>
            </a:r>
            <a:endParaRPr lang="en-US" dirty="0"/>
          </a:p>
        </p:txBody>
      </p:sp>
      <p:sp>
        <p:nvSpPr>
          <p:cNvPr id="14" name="Text 10"/>
          <p:cNvSpPr/>
          <p:nvPr/>
        </p:nvSpPr>
        <p:spPr>
          <a:xfrm>
            <a:off x="9541687" y="4967666"/>
            <a:ext cx="3988200"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000000"/>
                </a:solidFill>
                <a:latin typeface="Geist" pitchFamily="34" charset="0"/>
                <a:ea typeface="Geist" pitchFamily="34" charset="-122"/>
                <a:cs typeface="Geist" pitchFamily="34" charset="-120"/>
              </a:rPr>
              <a:t>Không nối trực tiếp LED vào 5V hoặc 3.3V</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37830" y="507206"/>
            <a:ext cx="8547973" cy="576382"/>
          </a:xfrm>
          <a:prstGeom prst="rect">
            <a:avLst/>
          </a:prstGeom>
          <a:noFill/>
          <a:ln/>
        </p:spPr>
        <p:txBody>
          <a:bodyPr wrap="none" lIns="0" tIns="0" rIns="0" bIns="0" rtlCol="0" anchor="t"/>
          <a:lstStyle/>
          <a:p>
            <a:pPr marL="0" indent="0" algn="l">
              <a:lnSpc>
                <a:spcPts val="4500"/>
              </a:lnSpc>
              <a:buNone/>
            </a:pPr>
            <a:r>
              <a:rPr lang="en-US" sz="3600" b="1" dirty="0">
                <a:solidFill>
                  <a:srgbClr val="006747"/>
                </a:solidFill>
                <a:latin typeface="Noto Serif SC Bold" pitchFamily="34" charset="0"/>
                <a:ea typeface="Noto Serif SC Bold" pitchFamily="34" charset="-122"/>
                <a:cs typeface="Noto Serif SC Bold" pitchFamily="34" charset="-120"/>
              </a:rPr>
              <a:t>Các bước thực hiện - Lộ trình chi tiết</a:t>
            </a:r>
            <a:endParaRPr lang="en-US" sz="3600" dirty="0"/>
          </a:p>
        </p:txBody>
      </p:sp>
      <p:sp>
        <p:nvSpPr>
          <p:cNvPr id="3" name="Shape 1"/>
          <p:cNvSpPr/>
          <p:nvPr/>
        </p:nvSpPr>
        <p:spPr>
          <a:xfrm>
            <a:off x="922258" y="1729145"/>
            <a:ext cx="184428" cy="829985"/>
          </a:xfrm>
          <a:prstGeom prst="roundRect">
            <a:avLst>
              <a:gd name="adj" fmla="val 90020"/>
            </a:avLst>
          </a:prstGeom>
          <a:solidFill>
            <a:srgbClr val="D1EFE4"/>
          </a:solidFill>
          <a:ln w="7620">
            <a:solidFill>
              <a:srgbClr val="B7D5CA"/>
            </a:solidFill>
            <a:prstDash val="solid"/>
          </a:ln>
        </p:spPr>
      </p:sp>
      <p:sp>
        <p:nvSpPr>
          <p:cNvPr id="4" name="Shape 2"/>
          <p:cNvSpPr/>
          <p:nvPr/>
        </p:nvSpPr>
        <p:spPr>
          <a:xfrm>
            <a:off x="737830" y="1608058"/>
            <a:ext cx="553403" cy="553403"/>
          </a:xfrm>
          <a:prstGeom prst="roundRect">
            <a:avLst>
              <a:gd name="adj" fmla="val 82616"/>
            </a:avLst>
          </a:prstGeom>
          <a:solidFill>
            <a:srgbClr val="D1EFE4"/>
          </a:solidFill>
          <a:ln w="7620">
            <a:solidFill>
              <a:srgbClr val="B7D5CA"/>
            </a:solidFill>
            <a:prstDash val="solid"/>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6181" y="1746409"/>
            <a:ext cx="276701" cy="276701"/>
          </a:xfrm>
          <a:prstGeom prst="rect">
            <a:avLst/>
          </a:prstGeom>
        </p:spPr>
      </p:pic>
      <p:sp>
        <p:nvSpPr>
          <p:cNvPr id="6" name="Text 3"/>
          <p:cNvSpPr/>
          <p:nvPr/>
        </p:nvSpPr>
        <p:spPr>
          <a:xfrm>
            <a:off x="1475661" y="1636871"/>
            <a:ext cx="2305764" cy="288250"/>
          </a:xfrm>
          <a:prstGeom prst="rect">
            <a:avLst/>
          </a:prstGeom>
          <a:noFill/>
          <a:ln/>
        </p:spPr>
        <p:txBody>
          <a:bodyPr wrap="none" lIns="0" tIns="0" rIns="0" bIns="0" rtlCol="0" anchor="t"/>
          <a:lstStyle/>
          <a:p>
            <a:pPr marL="0" indent="0" algn="l">
              <a:lnSpc>
                <a:spcPts val="2250"/>
              </a:lnSpc>
              <a:buNone/>
            </a:pPr>
            <a:r>
              <a:rPr lang="en-US" sz="1900" b="1" dirty="0">
                <a:solidFill>
                  <a:srgbClr val="4B4A4A"/>
                </a:solidFill>
                <a:latin typeface="Noto Serif SC Bold" pitchFamily="34" charset="0"/>
                <a:ea typeface="Noto Serif SC Bold" pitchFamily="34" charset="-122"/>
                <a:cs typeface="Noto Serif SC Bold" pitchFamily="34" charset="-120"/>
              </a:rPr>
              <a:t>Khai báo thư viện</a:t>
            </a:r>
            <a:endParaRPr lang="en-US" sz="1900" dirty="0"/>
          </a:p>
        </p:txBody>
      </p:sp>
      <p:sp>
        <p:nvSpPr>
          <p:cNvPr id="7" name="Text 4"/>
          <p:cNvSpPr/>
          <p:nvPr/>
        </p:nvSpPr>
        <p:spPr>
          <a:xfrm>
            <a:off x="1475661" y="2035731"/>
            <a:ext cx="12416909" cy="295037"/>
          </a:xfrm>
          <a:prstGeom prst="rect">
            <a:avLst/>
          </a:prstGeom>
          <a:noFill/>
          <a:ln/>
        </p:spPr>
        <p:txBody>
          <a:bodyPr wrap="none" lIns="0" tIns="0" rIns="0" bIns="0" rtlCol="0" anchor="t"/>
          <a:lstStyle/>
          <a:p>
            <a:pPr marL="0" indent="0" algn="l">
              <a:lnSpc>
                <a:spcPts val="2300"/>
              </a:lnSpc>
              <a:buNone/>
            </a:pPr>
            <a:r>
              <a:rPr lang="en-US" sz="1900" dirty="0">
                <a:solidFill>
                  <a:srgbClr val="4B4A4A"/>
                </a:solidFill>
                <a:latin typeface="Geist" pitchFamily="34" charset="0"/>
                <a:ea typeface="Geist" pitchFamily="34" charset="-122"/>
                <a:cs typeface="Geist" pitchFamily="34" charset="-120"/>
              </a:rPr>
              <a:t>Include các thư viện WiFi và WebServer để ESP32 có thể kết nối mạng và tạo server.</a:t>
            </a:r>
            <a:endParaRPr lang="en-US" sz="1900" dirty="0"/>
          </a:p>
        </p:txBody>
      </p:sp>
      <p:sp>
        <p:nvSpPr>
          <p:cNvPr id="8" name="Shape 5"/>
          <p:cNvSpPr/>
          <p:nvPr/>
        </p:nvSpPr>
        <p:spPr>
          <a:xfrm>
            <a:off x="1198959" y="3020378"/>
            <a:ext cx="184428" cy="829985"/>
          </a:xfrm>
          <a:prstGeom prst="roundRect">
            <a:avLst>
              <a:gd name="adj" fmla="val 90020"/>
            </a:avLst>
          </a:prstGeom>
          <a:solidFill>
            <a:srgbClr val="D1EFE4"/>
          </a:solidFill>
          <a:ln w="7620">
            <a:solidFill>
              <a:srgbClr val="B7D5CA"/>
            </a:solidFill>
            <a:prstDash val="solid"/>
          </a:ln>
        </p:spPr>
      </p:sp>
      <p:sp>
        <p:nvSpPr>
          <p:cNvPr id="9" name="Shape 6"/>
          <p:cNvSpPr/>
          <p:nvPr/>
        </p:nvSpPr>
        <p:spPr>
          <a:xfrm>
            <a:off x="1014532" y="2899291"/>
            <a:ext cx="553403" cy="553403"/>
          </a:xfrm>
          <a:prstGeom prst="roundRect">
            <a:avLst>
              <a:gd name="adj" fmla="val 82616"/>
            </a:avLst>
          </a:prstGeom>
          <a:solidFill>
            <a:srgbClr val="D1EFE4"/>
          </a:solidFill>
          <a:ln w="7620">
            <a:solidFill>
              <a:srgbClr val="B7D5CA"/>
            </a:solidFill>
            <a:prstDash val="solid"/>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2882" y="3037642"/>
            <a:ext cx="276701" cy="276701"/>
          </a:xfrm>
          <a:prstGeom prst="rect">
            <a:avLst/>
          </a:prstGeom>
        </p:spPr>
      </p:pic>
      <p:sp>
        <p:nvSpPr>
          <p:cNvPr id="11" name="Text 7"/>
          <p:cNvSpPr/>
          <p:nvPr/>
        </p:nvSpPr>
        <p:spPr>
          <a:xfrm>
            <a:off x="1752362" y="2928104"/>
            <a:ext cx="2305764" cy="288250"/>
          </a:xfrm>
          <a:prstGeom prst="rect">
            <a:avLst/>
          </a:prstGeom>
          <a:noFill/>
          <a:ln/>
        </p:spPr>
        <p:txBody>
          <a:bodyPr wrap="none" lIns="0" tIns="0" rIns="0" bIns="0" rtlCol="0" anchor="t"/>
          <a:lstStyle/>
          <a:p>
            <a:pPr marL="0" indent="0" algn="l">
              <a:lnSpc>
                <a:spcPts val="2250"/>
              </a:lnSpc>
              <a:buNone/>
            </a:pPr>
            <a:r>
              <a:rPr lang="en-US" sz="1900" b="1" dirty="0">
                <a:solidFill>
                  <a:srgbClr val="4B4A4A"/>
                </a:solidFill>
                <a:latin typeface="Noto Serif SC Bold" pitchFamily="34" charset="0"/>
                <a:ea typeface="Noto Serif SC Bold" pitchFamily="34" charset="-122"/>
                <a:cs typeface="Noto Serif SC Bold" pitchFamily="34" charset="-120"/>
              </a:rPr>
              <a:t>Kết nối WiFi</a:t>
            </a:r>
            <a:endParaRPr lang="en-US" sz="1900" dirty="0"/>
          </a:p>
        </p:txBody>
      </p:sp>
      <p:sp>
        <p:nvSpPr>
          <p:cNvPr id="12" name="Text 8"/>
          <p:cNvSpPr/>
          <p:nvPr/>
        </p:nvSpPr>
        <p:spPr>
          <a:xfrm>
            <a:off x="1752362" y="3326963"/>
            <a:ext cx="12140208" cy="295037"/>
          </a:xfrm>
          <a:prstGeom prst="rect">
            <a:avLst/>
          </a:prstGeom>
          <a:noFill/>
          <a:ln/>
        </p:spPr>
        <p:txBody>
          <a:bodyPr wrap="none" lIns="0" tIns="0" rIns="0" bIns="0" rtlCol="0" anchor="t"/>
          <a:lstStyle/>
          <a:p>
            <a:pPr marL="0" indent="0" algn="l">
              <a:lnSpc>
                <a:spcPts val="2300"/>
              </a:lnSpc>
              <a:buNone/>
            </a:pPr>
            <a:r>
              <a:rPr lang="en-US" sz="1900" dirty="0">
                <a:solidFill>
                  <a:srgbClr val="4B4A4A"/>
                </a:solidFill>
                <a:latin typeface="Geist" pitchFamily="34" charset="0"/>
                <a:ea typeface="Geist" pitchFamily="34" charset="-122"/>
                <a:cs typeface="Geist" pitchFamily="34" charset="-120"/>
              </a:rPr>
              <a:t>Cấu hình SSID và password, sau đó cho ESP32 kết nối vào Router nhà bạn (chế độ Station).</a:t>
            </a:r>
            <a:endParaRPr lang="en-US" sz="1900" dirty="0"/>
          </a:p>
        </p:txBody>
      </p:sp>
      <p:sp>
        <p:nvSpPr>
          <p:cNvPr id="13" name="Shape 9"/>
          <p:cNvSpPr/>
          <p:nvPr/>
        </p:nvSpPr>
        <p:spPr>
          <a:xfrm>
            <a:off x="1475661" y="4311610"/>
            <a:ext cx="184428" cy="829985"/>
          </a:xfrm>
          <a:prstGeom prst="roundRect">
            <a:avLst>
              <a:gd name="adj" fmla="val 90020"/>
            </a:avLst>
          </a:prstGeom>
          <a:solidFill>
            <a:srgbClr val="D1EFE4"/>
          </a:solidFill>
          <a:ln w="7620">
            <a:solidFill>
              <a:srgbClr val="B7D5CA"/>
            </a:solidFill>
            <a:prstDash val="solid"/>
          </a:ln>
        </p:spPr>
      </p:sp>
      <p:sp>
        <p:nvSpPr>
          <p:cNvPr id="14" name="Shape 10"/>
          <p:cNvSpPr/>
          <p:nvPr/>
        </p:nvSpPr>
        <p:spPr>
          <a:xfrm>
            <a:off x="1291233" y="4190524"/>
            <a:ext cx="553403" cy="553403"/>
          </a:xfrm>
          <a:prstGeom prst="roundRect">
            <a:avLst>
              <a:gd name="adj" fmla="val 82616"/>
            </a:avLst>
          </a:prstGeom>
          <a:solidFill>
            <a:srgbClr val="D1EFE4"/>
          </a:solidFill>
          <a:ln w="7620">
            <a:solidFill>
              <a:srgbClr val="B7D5CA"/>
            </a:solidFill>
            <a:prstDash val="solid"/>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29583" y="4328874"/>
            <a:ext cx="276701" cy="276701"/>
          </a:xfrm>
          <a:prstGeom prst="rect">
            <a:avLst/>
          </a:prstGeom>
        </p:spPr>
      </p:pic>
      <p:sp>
        <p:nvSpPr>
          <p:cNvPr id="16" name="Text 11"/>
          <p:cNvSpPr/>
          <p:nvPr/>
        </p:nvSpPr>
        <p:spPr>
          <a:xfrm>
            <a:off x="2029063" y="4219337"/>
            <a:ext cx="3006566" cy="288250"/>
          </a:xfrm>
          <a:prstGeom prst="rect">
            <a:avLst/>
          </a:prstGeom>
          <a:noFill/>
          <a:ln/>
        </p:spPr>
        <p:txBody>
          <a:bodyPr wrap="none" lIns="0" tIns="0" rIns="0" bIns="0" rtlCol="0" anchor="t"/>
          <a:lstStyle/>
          <a:p>
            <a:pPr marL="0" indent="0" algn="l">
              <a:lnSpc>
                <a:spcPts val="2250"/>
              </a:lnSpc>
              <a:buNone/>
            </a:pPr>
            <a:r>
              <a:rPr lang="en-US" sz="1900" b="1" dirty="0">
                <a:solidFill>
                  <a:srgbClr val="4B4A4A"/>
                </a:solidFill>
                <a:latin typeface="Noto Serif SC Bold" pitchFamily="34" charset="0"/>
                <a:ea typeface="Noto Serif SC Bold" pitchFamily="34" charset="-122"/>
                <a:cs typeface="Noto Serif SC Bold" pitchFamily="34" charset="-120"/>
              </a:rPr>
              <a:t>Định nghĩa giao diện Web</a:t>
            </a:r>
            <a:endParaRPr lang="en-US" sz="1900" dirty="0"/>
          </a:p>
        </p:txBody>
      </p:sp>
      <p:sp>
        <p:nvSpPr>
          <p:cNvPr id="17" name="Text 12"/>
          <p:cNvSpPr/>
          <p:nvPr/>
        </p:nvSpPr>
        <p:spPr>
          <a:xfrm>
            <a:off x="2029063" y="4618196"/>
            <a:ext cx="11863507" cy="295037"/>
          </a:xfrm>
          <a:prstGeom prst="rect">
            <a:avLst/>
          </a:prstGeom>
          <a:noFill/>
          <a:ln/>
        </p:spPr>
        <p:txBody>
          <a:bodyPr wrap="none" lIns="0" tIns="0" rIns="0" bIns="0" rtlCol="0" anchor="t"/>
          <a:lstStyle/>
          <a:p>
            <a:pPr marL="0" indent="0" algn="l">
              <a:lnSpc>
                <a:spcPts val="2300"/>
              </a:lnSpc>
              <a:buNone/>
            </a:pPr>
            <a:r>
              <a:rPr lang="en-US" sz="1900" dirty="0">
                <a:solidFill>
                  <a:srgbClr val="4B4A4A"/>
                </a:solidFill>
                <a:latin typeface="Geist" pitchFamily="34" charset="0"/>
                <a:ea typeface="Geist" pitchFamily="34" charset="-122"/>
                <a:cs typeface="Geist" pitchFamily="34" charset="-120"/>
              </a:rPr>
              <a:t>Viết mã HTML để tạo trang web với hai nút bấm BẬT/TẮT, có CSS để làm đẹp giao diện.</a:t>
            </a:r>
            <a:endParaRPr lang="en-US" sz="1900" dirty="0"/>
          </a:p>
        </p:txBody>
      </p:sp>
      <p:sp>
        <p:nvSpPr>
          <p:cNvPr id="18" name="Shape 13"/>
          <p:cNvSpPr/>
          <p:nvPr/>
        </p:nvSpPr>
        <p:spPr>
          <a:xfrm>
            <a:off x="1752362" y="5602843"/>
            <a:ext cx="184428" cy="829985"/>
          </a:xfrm>
          <a:prstGeom prst="roundRect">
            <a:avLst>
              <a:gd name="adj" fmla="val 90020"/>
            </a:avLst>
          </a:prstGeom>
          <a:solidFill>
            <a:srgbClr val="D1EFE4"/>
          </a:solidFill>
          <a:ln w="7620">
            <a:solidFill>
              <a:srgbClr val="B7D5CA"/>
            </a:solidFill>
            <a:prstDash val="solid"/>
          </a:ln>
        </p:spPr>
      </p:sp>
      <p:sp>
        <p:nvSpPr>
          <p:cNvPr id="19" name="Shape 14"/>
          <p:cNvSpPr/>
          <p:nvPr/>
        </p:nvSpPr>
        <p:spPr>
          <a:xfrm>
            <a:off x="1567934" y="5481757"/>
            <a:ext cx="553403" cy="553403"/>
          </a:xfrm>
          <a:prstGeom prst="roundRect">
            <a:avLst>
              <a:gd name="adj" fmla="val 82616"/>
            </a:avLst>
          </a:prstGeom>
          <a:solidFill>
            <a:srgbClr val="D1EFE4"/>
          </a:solidFill>
          <a:ln w="7620">
            <a:solidFill>
              <a:srgbClr val="B7D5CA"/>
            </a:solidFill>
            <a:prstDash val="solid"/>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06285" y="5620107"/>
            <a:ext cx="276701" cy="276701"/>
          </a:xfrm>
          <a:prstGeom prst="rect">
            <a:avLst/>
          </a:prstGeom>
        </p:spPr>
      </p:pic>
      <p:sp>
        <p:nvSpPr>
          <p:cNvPr id="21" name="Text 15"/>
          <p:cNvSpPr/>
          <p:nvPr/>
        </p:nvSpPr>
        <p:spPr>
          <a:xfrm>
            <a:off x="2305764" y="5510570"/>
            <a:ext cx="2619732" cy="288250"/>
          </a:xfrm>
          <a:prstGeom prst="rect">
            <a:avLst/>
          </a:prstGeom>
          <a:noFill/>
          <a:ln/>
        </p:spPr>
        <p:txBody>
          <a:bodyPr wrap="none" lIns="0" tIns="0" rIns="0" bIns="0" rtlCol="0" anchor="t"/>
          <a:lstStyle/>
          <a:p>
            <a:pPr marL="0" indent="0" algn="l">
              <a:lnSpc>
                <a:spcPts val="2250"/>
              </a:lnSpc>
              <a:buNone/>
            </a:pPr>
            <a:r>
              <a:rPr lang="en-US" sz="1900" b="1" dirty="0">
                <a:solidFill>
                  <a:srgbClr val="4B4A4A"/>
                </a:solidFill>
                <a:latin typeface="Noto Serif SC Bold" pitchFamily="34" charset="0"/>
                <a:ea typeface="Noto Serif SC Bold" pitchFamily="34" charset="-122"/>
                <a:cs typeface="Noto Serif SC Bold" pitchFamily="34" charset="-120"/>
              </a:rPr>
              <a:t>Lập trình xử lý sự kiện</a:t>
            </a:r>
            <a:endParaRPr lang="en-US" sz="1900" dirty="0"/>
          </a:p>
        </p:txBody>
      </p:sp>
      <p:sp>
        <p:nvSpPr>
          <p:cNvPr id="22" name="Text 16"/>
          <p:cNvSpPr/>
          <p:nvPr/>
        </p:nvSpPr>
        <p:spPr>
          <a:xfrm>
            <a:off x="2305764" y="5909429"/>
            <a:ext cx="11586805" cy="295037"/>
          </a:xfrm>
          <a:prstGeom prst="rect">
            <a:avLst/>
          </a:prstGeom>
          <a:noFill/>
          <a:ln/>
        </p:spPr>
        <p:txBody>
          <a:bodyPr wrap="none" lIns="0" tIns="0" rIns="0" bIns="0" rtlCol="0" anchor="t"/>
          <a:lstStyle/>
          <a:p>
            <a:pPr marL="0" indent="0" algn="l">
              <a:lnSpc>
                <a:spcPts val="2300"/>
              </a:lnSpc>
              <a:buNone/>
            </a:pPr>
            <a:r>
              <a:rPr lang="en-US" sz="1900" dirty="0">
                <a:solidFill>
                  <a:srgbClr val="4B4A4A"/>
                </a:solidFill>
                <a:latin typeface="Geist" pitchFamily="34" charset="0"/>
                <a:ea typeface="Geist" pitchFamily="34" charset="-122"/>
                <a:cs typeface="Geist" pitchFamily="34" charset="-120"/>
              </a:rPr>
              <a:t>Viết các hàm handler để xử lý khi người dùng bấm nút: bật/tắt LED và trả về giao diện mới.</a:t>
            </a:r>
            <a:endParaRPr lang="en-US" sz="1900" dirty="0"/>
          </a:p>
        </p:txBody>
      </p:sp>
      <p:sp>
        <p:nvSpPr>
          <p:cNvPr id="23" name="Shape 17"/>
          <p:cNvSpPr/>
          <p:nvPr/>
        </p:nvSpPr>
        <p:spPr>
          <a:xfrm>
            <a:off x="1475661" y="6894076"/>
            <a:ext cx="184428" cy="829985"/>
          </a:xfrm>
          <a:prstGeom prst="roundRect">
            <a:avLst>
              <a:gd name="adj" fmla="val 90020"/>
            </a:avLst>
          </a:prstGeom>
          <a:solidFill>
            <a:srgbClr val="D1EFE4"/>
          </a:solidFill>
          <a:ln w="7620">
            <a:solidFill>
              <a:srgbClr val="B7D5CA"/>
            </a:solidFill>
            <a:prstDash val="solid"/>
          </a:ln>
        </p:spPr>
      </p:sp>
      <p:sp>
        <p:nvSpPr>
          <p:cNvPr id="24" name="Shape 18"/>
          <p:cNvSpPr/>
          <p:nvPr/>
        </p:nvSpPr>
        <p:spPr>
          <a:xfrm>
            <a:off x="1291233" y="6772989"/>
            <a:ext cx="553403" cy="553403"/>
          </a:xfrm>
          <a:prstGeom prst="roundRect">
            <a:avLst>
              <a:gd name="adj" fmla="val 82616"/>
            </a:avLst>
          </a:prstGeom>
          <a:solidFill>
            <a:srgbClr val="D1EFE4"/>
          </a:solidFill>
          <a:ln w="7620">
            <a:solidFill>
              <a:srgbClr val="B7D5CA"/>
            </a:solidFill>
            <a:prstDash val="solid"/>
          </a:ln>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29583" y="6911340"/>
            <a:ext cx="276701" cy="276701"/>
          </a:xfrm>
          <a:prstGeom prst="rect">
            <a:avLst/>
          </a:prstGeom>
        </p:spPr>
      </p:pic>
      <p:sp>
        <p:nvSpPr>
          <p:cNvPr id="26" name="Text 19"/>
          <p:cNvSpPr/>
          <p:nvPr/>
        </p:nvSpPr>
        <p:spPr>
          <a:xfrm>
            <a:off x="2029063" y="6801803"/>
            <a:ext cx="2305764" cy="288250"/>
          </a:xfrm>
          <a:prstGeom prst="rect">
            <a:avLst/>
          </a:prstGeom>
          <a:noFill/>
          <a:ln/>
        </p:spPr>
        <p:txBody>
          <a:bodyPr wrap="none" lIns="0" tIns="0" rIns="0" bIns="0" rtlCol="0" anchor="t"/>
          <a:lstStyle/>
          <a:p>
            <a:pPr marL="0" indent="0" algn="l">
              <a:lnSpc>
                <a:spcPts val="2250"/>
              </a:lnSpc>
              <a:buNone/>
            </a:pPr>
            <a:r>
              <a:rPr lang="en-US" sz="1900" b="1" dirty="0">
                <a:solidFill>
                  <a:srgbClr val="4B4A4A"/>
                </a:solidFill>
                <a:latin typeface="Noto Serif SC Bold" pitchFamily="34" charset="0"/>
                <a:ea typeface="Noto Serif SC Bold" pitchFamily="34" charset="-122"/>
                <a:cs typeface="Noto Serif SC Bold" pitchFamily="34" charset="-120"/>
              </a:rPr>
              <a:t>Khởi động Server</a:t>
            </a:r>
            <a:endParaRPr lang="en-US" sz="1900" dirty="0"/>
          </a:p>
        </p:txBody>
      </p:sp>
      <p:sp>
        <p:nvSpPr>
          <p:cNvPr id="27" name="Text 20"/>
          <p:cNvSpPr/>
          <p:nvPr/>
        </p:nvSpPr>
        <p:spPr>
          <a:xfrm>
            <a:off x="2029063" y="7200662"/>
            <a:ext cx="11863507" cy="295037"/>
          </a:xfrm>
          <a:prstGeom prst="rect">
            <a:avLst/>
          </a:prstGeom>
          <a:noFill/>
          <a:ln/>
        </p:spPr>
        <p:txBody>
          <a:bodyPr wrap="none" lIns="0" tIns="0" rIns="0" bIns="0" rtlCol="0" anchor="t"/>
          <a:lstStyle/>
          <a:p>
            <a:pPr marL="0" indent="0" algn="l">
              <a:lnSpc>
                <a:spcPts val="2300"/>
              </a:lnSpc>
              <a:buNone/>
            </a:pPr>
            <a:r>
              <a:rPr lang="en-US" sz="1900" dirty="0">
                <a:solidFill>
                  <a:srgbClr val="4B4A4A"/>
                </a:solidFill>
                <a:latin typeface="Geist" pitchFamily="34" charset="0"/>
                <a:ea typeface="Geist" pitchFamily="34" charset="-122"/>
                <a:cs typeface="Geist" pitchFamily="34" charset="-120"/>
              </a:rPr>
              <a:t>Chạy Web Server ở cổng 80, lắng nghe các yêu cầu từ Client và phản hồi tương ứng.</a:t>
            </a:r>
            <a:endParaRPr lang="en-US" sz="1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par>
                                <p:cTn id="59" presetID="10"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par>
                                <p:cTn id="62" presetID="10" presetClass="entr" presetSubtype="0" fill="hold"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par>
                                <p:cTn id="76" presetID="10" presetClass="entr" presetSubtype="0" fill="hold" nodeType="with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500"/>
                                        <p:tgtEl>
                                          <p:spTgt spid="24"/>
                                        </p:tgtEl>
                                      </p:cBhvr>
                                    </p:animEffect>
                                  </p:childTnLst>
                                </p:cTn>
                              </p:par>
                              <p:par>
                                <p:cTn id="79" presetID="10" presetClass="entr" presetSubtype="0" fill="hold"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00"/>
                                        <p:tgtEl>
                                          <p:spTgt spid="2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500"/>
                                        <p:tgtEl>
                                          <p:spTgt spid="2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2" grpId="0" animBg="1"/>
      <p:bldP spid="16" grpId="0" animBg="1"/>
      <p:bldP spid="17" grpId="0" animBg="1"/>
      <p:bldP spid="21" grpId="0" animBg="1"/>
      <p:bldP spid="22" grpId="0" animBg="1"/>
      <p:bldP spid="26" grpId="0" animBg="1"/>
      <p:bldP spid="2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390108" y="2624376"/>
            <a:ext cx="3992166" cy="2980849"/>
          </a:xfrm>
          <a:prstGeom prst="rect">
            <a:avLst/>
          </a:prstGeom>
        </p:spPr>
      </p:pic>
      <p:sp>
        <p:nvSpPr>
          <p:cNvPr id="3" name="Text 0"/>
          <p:cNvSpPr/>
          <p:nvPr/>
        </p:nvSpPr>
        <p:spPr>
          <a:xfrm>
            <a:off x="1148358" y="3379232"/>
            <a:ext cx="6847284" cy="855821"/>
          </a:xfrm>
          <a:prstGeom prst="rect">
            <a:avLst/>
          </a:prstGeom>
          <a:noFill/>
          <a:ln/>
        </p:spPr>
        <p:txBody>
          <a:bodyPr wrap="none" lIns="0" tIns="0" rIns="0" bIns="0" rtlCol="0" anchor="t"/>
          <a:lstStyle/>
          <a:p>
            <a:pPr marL="0" indent="0" algn="ctr">
              <a:lnSpc>
                <a:spcPts val="6700"/>
              </a:lnSpc>
              <a:buNone/>
            </a:pPr>
            <a:r>
              <a:rPr lang="en-US" sz="5350" b="1" dirty="0">
                <a:solidFill>
                  <a:srgbClr val="006747"/>
                </a:solidFill>
                <a:latin typeface="Noto Serif SC Bold" pitchFamily="34" charset="0"/>
                <a:ea typeface="Noto Serif SC Bold" pitchFamily="34" charset="-122"/>
                <a:cs typeface="Noto Serif SC Bold" pitchFamily="34" charset="-120"/>
              </a:rPr>
              <a:t>CODE CHI TIẾT</a:t>
            </a:r>
            <a:endParaRPr lang="en-US" sz="5350" dirty="0"/>
          </a:p>
        </p:txBody>
      </p:sp>
      <p:sp>
        <p:nvSpPr>
          <p:cNvPr id="4" name="Text 1"/>
          <p:cNvSpPr/>
          <p:nvPr/>
        </p:nvSpPr>
        <p:spPr>
          <a:xfrm>
            <a:off x="793790" y="4532709"/>
            <a:ext cx="7556421" cy="317540"/>
          </a:xfrm>
          <a:prstGeom prst="rect">
            <a:avLst/>
          </a:prstGeom>
          <a:noFill/>
          <a:ln/>
        </p:spPr>
        <p:txBody>
          <a:bodyPr wrap="none" lIns="0" tIns="0" rIns="0" bIns="0" rtlCol="0" anchor="t"/>
          <a:lstStyle/>
          <a:p>
            <a:pPr marL="0" indent="0" algn="ctr">
              <a:lnSpc>
                <a:spcPts val="2500"/>
              </a:lnSpc>
              <a:buNone/>
            </a:pPr>
            <a:r>
              <a:rPr lang="en-US" sz="2000" b="1" dirty="0">
                <a:solidFill>
                  <a:srgbClr val="4B4A4A"/>
                </a:solidFill>
                <a:latin typeface="Geist" pitchFamily="34" charset="0"/>
                <a:ea typeface="Geist" pitchFamily="34" charset="-122"/>
                <a:cs typeface="Geist" pitchFamily="34" charset="-120"/>
              </a:rPr>
              <a:t>Phần 3: Giải thích từng dòng lệnh</a:t>
            </a:r>
            <a:endParaRPr lang="en-US" sz="20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571262"/>
            <a:ext cx="10755749"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Bước 1: Khai báo thư viện và cấu hình WiFi</a:t>
            </a:r>
            <a:endParaRPr lang="en-US" sz="3900" dirty="0"/>
          </a:p>
        </p:txBody>
      </p:sp>
      <p:sp>
        <p:nvSpPr>
          <p:cNvPr id="3" name="Shape 1"/>
          <p:cNvSpPr/>
          <p:nvPr/>
        </p:nvSpPr>
        <p:spPr>
          <a:xfrm>
            <a:off x="793790" y="1588175"/>
            <a:ext cx="13042821" cy="2202894"/>
          </a:xfrm>
          <a:prstGeom prst="roundRect">
            <a:avLst>
              <a:gd name="adj" fmla="val 8109"/>
            </a:avLst>
          </a:prstGeom>
          <a:solidFill>
            <a:srgbClr val="D8ECE5"/>
          </a:solidFill>
          <a:ln/>
        </p:spPr>
      </p:sp>
      <p:sp>
        <p:nvSpPr>
          <p:cNvPr id="4" name="Shape 2"/>
          <p:cNvSpPr/>
          <p:nvPr/>
        </p:nvSpPr>
        <p:spPr>
          <a:xfrm>
            <a:off x="783908" y="1588175"/>
            <a:ext cx="13062585" cy="2202894"/>
          </a:xfrm>
          <a:prstGeom prst="roundRect">
            <a:avLst>
              <a:gd name="adj" fmla="val 1351"/>
            </a:avLst>
          </a:prstGeom>
          <a:solidFill>
            <a:srgbClr val="D8ECE5"/>
          </a:solidFill>
          <a:ln/>
        </p:spPr>
      </p:sp>
      <p:sp>
        <p:nvSpPr>
          <p:cNvPr id="5" name="Text 3"/>
          <p:cNvSpPr/>
          <p:nvPr/>
        </p:nvSpPr>
        <p:spPr>
          <a:xfrm>
            <a:off x="1080314" y="1711367"/>
            <a:ext cx="12665869" cy="1905238"/>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#include &lt;WiFi.h&gt;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#include &lt;WebServer.h&gt;</a:t>
            </a:r>
            <a:endParaRPr lang="en-US" dirty="0"/>
          </a:p>
          <a:p>
            <a:pPr marL="0" indent="0" algn="l">
              <a:lnSpc>
                <a:spcPts val="2500"/>
              </a:lnSpc>
              <a:buNone/>
            </a:pP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--- 1. CẤU HÌNH WIFI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const char* ssid = "Ten_WiFi_Nha_Ban";     // Thay tên WiFi vào đây</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const char* password = "Mat_Khau_WiFi";    // Thay mật khẩu vào đây</a:t>
            </a:r>
            <a:endParaRPr lang="en-US" dirty="0"/>
          </a:p>
        </p:txBody>
      </p:sp>
      <p:sp>
        <p:nvSpPr>
          <p:cNvPr id="6" name="Text 4"/>
          <p:cNvSpPr/>
          <p:nvPr/>
        </p:nvSpPr>
        <p:spPr>
          <a:xfrm>
            <a:off x="793790" y="4212669"/>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Giải thích</a:t>
            </a:r>
            <a:endParaRPr lang="en-US" dirty="0"/>
          </a:p>
        </p:txBody>
      </p:sp>
      <p:sp>
        <p:nvSpPr>
          <p:cNvPr id="7" name="Text 5"/>
          <p:cNvSpPr/>
          <p:nvPr/>
        </p:nvSpPr>
        <p:spPr>
          <a:xfrm>
            <a:off x="783908" y="4695549"/>
            <a:ext cx="6279356" cy="635079"/>
          </a:xfrm>
          <a:prstGeom prst="rect">
            <a:avLst/>
          </a:prstGeom>
          <a:noFill/>
          <a:ln/>
        </p:spPr>
        <p:txBody>
          <a:bodyPr wrap="squar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WiFi.h:</a:t>
            </a:r>
            <a:r>
              <a:rPr lang="en-US" dirty="0">
                <a:solidFill>
                  <a:srgbClr val="4B4A4A"/>
                </a:solidFill>
                <a:latin typeface="Geist" pitchFamily="34" charset="0"/>
                <a:ea typeface="Geist" pitchFamily="34" charset="-122"/>
                <a:cs typeface="Geist" pitchFamily="34" charset="-120"/>
              </a:rPr>
              <a:t> Thư viện cung cấp các hàm để ESP32 kết nối WiFi (ở chế độ STA hoặc AP).</a:t>
            </a:r>
            <a:endParaRPr lang="en-US" dirty="0"/>
          </a:p>
        </p:txBody>
      </p:sp>
      <p:sp>
        <p:nvSpPr>
          <p:cNvPr id="8" name="Text 6"/>
          <p:cNvSpPr/>
          <p:nvPr/>
        </p:nvSpPr>
        <p:spPr>
          <a:xfrm>
            <a:off x="793790" y="5534858"/>
            <a:ext cx="6279356" cy="635079"/>
          </a:xfrm>
          <a:prstGeom prst="rect">
            <a:avLst/>
          </a:prstGeom>
          <a:noFill/>
          <a:ln/>
        </p:spPr>
        <p:txBody>
          <a:bodyPr wrap="squar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WebServer.h:</a:t>
            </a:r>
            <a:r>
              <a:rPr lang="en-US" dirty="0">
                <a:solidFill>
                  <a:srgbClr val="4B4A4A"/>
                </a:solidFill>
                <a:latin typeface="Geist" pitchFamily="34" charset="0"/>
                <a:ea typeface="Geist" pitchFamily="34" charset="-122"/>
                <a:cs typeface="Geist" pitchFamily="34" charset="-120"/>
              </a:rPr>
              <a:t> Thư viện giúp ESP32 trở thành một Web Server, có thể nhận HTTP Request và gửi HTTP Response.</a:t>
            </a:r>
            <a:endParaRPr lang="en-US" dirty="0"/>
          </a:p>
        </p:txBody>
      </p:sp>
      <p:sp>
        <p:nvSpPr>
          <p:cNvPr id="9" name="Text 7"/>
          <p:cNvSpPr/>
          <p:nvPr/>
        </p:nvSpPr>
        <p:spPr>
          <a:xfrm>
            <a:off x="793790" y="6348532"/>
            <a:ext cx="6279356" cy="635079"/>
          </a:xfrm>
          <a:prstGeom prst="rect">
            <a:avLst/>
          </a:prstGeom>
          <a:noFill/>
          <a:ln/>
        </p:spPr>
        <p:txBody>
          <a:bodyPr wrap="squar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ssid:</a:t>
            </a:r>
            <a:r>
              <a:rPr lang="en-US" dirty="0">
                <a:solidFill>
                  <a:srgbClr val="4B4A4A"/>
                </a:solidFill>
                <a:latin typeface="Geist" pitchFamily="34" charset="0"/>
                <a:ea typeface="Geist" pitchFamily="34" charset="-122"/>
                <a:cs typeface="Geist" pitchFamily="34" charset="-120"/>
              </a:rPr>
              <a:t> Tên mạng WiFi nhà bạn (phải viết chính xác, phân biệt chữ hoa/thường).</a:t>
            </a:r>
            <a:endParaRPr lang="en-US" dirty="0"/>
          </a:p>
        </p:txBody>
      </p:sp>
      <p:sp>
        <p:nvSpPr>
          <p:cNvPr id="10" name="Text 8"/>
          <p:cNvSpPr/>
          <p:nvPr/>
        </p:nvSpPr>
        <p:spPr>
          <a:xfrm>
            <a:off x="793790" y="7162205"/>
            <a:ext cx="6279356"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password:</a:t>
            </a:r>
            <a:r>
              <a:rPr lang="en-US" dirty="0">
                <a:solidFill>
                  <a:srgbClr val="4B4A4A"/>
                </a:solidFill>
                <a:latin typeface="Geist" pitchFamily="34" charset="0"/>
                <a:ea typeface="Geist" pitchFamily="34" charset="-122"/>
                <a:cs typeface="Geist" pitchFamily="34" charset="-120"/>
              </a:rPr>
              <a:t> Mật khẩu WiFi (nếu WiFi không có mật khẩu, để trống "").</a:t>
            </a:r>
            <a:endParaRPr lang="en-US" dirty="0"/>
          </a:p>
        </p:txBody>
      </p:sp>
      <p:sp>
        <p:nvSpPr>
          <p:cNvPr id="11" name="Shape 9"/>
          <p:cNvSpPr/>
          <p:nvPr/>
        </p:nvSpPr>
        <p:spPr>
          <a:xfrm>
            <a:off x="7564874" y="4237553"/>
            <a:ext cx="6738148" cy="2321600"/>
          </a:xfrm>
          <a:prstGeom prst="roundRect">
            <a:avLst>
              <a:gd name="adj" fmla="val 7694"/>
            </a:avLst>
          </a:prstGeom>
          <a:solidFill>
            <a:srgbClr val="B3FFE7"/>
          </a:solidFill>
          <a:ln/>
        </p:spPr>
      </p:sp>
      <p:pic>
        <p:nvPicPr>
          <p:cNvPr id="12" name="Image 0" descr="preencoded.png"/>
          <p:cNvPicPr>
            <a:picLocks noChangeAspect="1"/>
          </p:cNvPicPr>
          <p:nvPr/>
        </p:nvPicPr>
        <p:blipFill>
          <a:blip r:embed="rId3"/>
          <a:stretch>
            <a:fillRect/>
          </a:stretch>
        </p:blipFill>
        <p:spPr>
          <a:xfrm>
            <a:off x="7763232" y="4532828"/>
            <a:ext cx="248007" cy="198358"/>
          </a:xfrm>
          <a:prstGeom prst="rect">
            <a:avLst/>
          </a:prstGeom>
        </p:spPr>
      </p:pic>
      <p:sp>
        <p:nvSpPr>
          <p:cNvPr id="13" name="Text 10"/>
          <p:cNvSpPr/>
          <p:nvPr/>
        </p:nvSpPr>
        <p:spPr>
          <a:xfrm>
            <a:off x="8209598" y="4485442"/>
            <a:ext cx="5436275" cy="317540"/>
          </a:xfrm>
          <a:prstGeom prst="rect">
            <a:avLst/>
          </a:prstGeom>
          <a:noFill/>
          <a:ln/>
        </p:spPr>
        <p:txBody>
          <a:bodyPr wrap="none" lIns="0" tIns="0" rIns="0" bIns="0" rtlCol="0" anchor="t"/>
          <a:lstStyle/>
          <a:p>
            <a:pPr marL="0" indent="0" algn="l">
              <a:lnSpc>
                <a:spcPts val="2500"/>
              </a:lnSpc>
              <a:buNone/>
            </a:pPr>
            <a:r>
              <a:rPr lang="en-US" b="1" dirty="0">
                <a:solidFill>
                  <a:srgbClr val="000000"/>
                </a:solidFill>
                <a:latin typeface="Geist" pitchFamily="34" charset="0"/>
                <a:ea typeface="Geist" pitchFamily="34" charset="-122"/>
                <a:cs typeface="Geist" pitchFamily="34" charset="-120"/>
              </a:rPr>
              <a:t>Lưu ý quan trọng:</a:t>
            </a:r>
            <a:endParaRPr lang="en-US" dirty="0"/>
          </a:p>
        </p:txBody>
      </p:sp>
      <p:sp>
        <p:nvSpPr>
          <p:cNvPr id="14" name="Text 11"/>
          <p:cNvSpPr/>
          <p:nvPr/>
        </p:nvSpPr>
        <p:spPr>
          <a:xfrm>
            <a:off x="8209598" y="4981575"/>
            <a:ext cx="543627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000000"/>
                </a:solidFill>
                <a:latin typeface="Geist" pitchFamily="34" charset="0"/>
                <a:ea typeface="Geist" pitchFamily="34" charset="-122"/>
                <a:cs typeface="Geist" pitchFamily="34" charset="-120"/>
              </a:rPr>
              <a:t>ESP32 chỉ hỗ trợ </a:t>
            </a:r>
            <a:r>
              <a:rPr lang="en-US" b="1" dirty="0">
                <a:solidFill>
                  <a:srgbClr val="000000"/>
                </a:solidFill>
                <a:latin typeface="Geist" pitchFamily="34" charset="0"/>
                <a:ea typeface="Geist" pitchFamily="34" charset="-122"/>
                <a:cs typeface="Geist" pitchFamily="34" charset="-120"/>
              </a:rPr>
              <a:t>WiFi 2.4GHz</a:t>
            </a:r>
            <a:r>
              <a:rPr lang="en-US" dirty="0">
                <a:solidFill>
                  <a:srgbClr val="000000"/>
                </a:solidFill>
                <a:latin typeface="Geist" pitchFamily="34" charset="0"/>
                <a:ea typeface="Geist" pitchFamily="34" charset="-122"/>
                <a:cs typeface="Geist" pitchFamily="34" charset="-120"/>
              </a:rPr>
              <a:t>, không hỗ trợ 5GHz</a:t>
            </a:r>
            <a:endParaRPr lang="en-US" dirty="0"/>
          </a:p>
        </p:txBody>
      </p:sp>
      <p:sp>
        <p:nvSpPr>
          <p:cNvPr id="15" name="Text 12"/>
          <p:cNvSpPr/>
          <p:nvPr/>
        </p:nvSpPr>
        <p:spPr>
          <a:xfrm>
            <a:off x="8209598" y="5368528"/>
            <a:ext cx="5436275"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000000"/>
                </a:solidFill>
                <a:latin typeface="Geist" pitchFamily="34" charset="0"/>
                <a:ea typeface="Geist" pitchFamily="34" charset="-122"/>
                <a:cs typeface="Geist" pitchFamily="34" charset="-120"/>
              </a:rPr>
              <a:t>Một số Router có tên WiFi riêng cho 2.4GHz (ví dụ: "MyWiFi_2.4G")</a:t>
            </a:r>
            <a:endParaRPr lang="en-US" dirty="0"/>
          </a:p>
        </p:txBody>
      </p:sp>
      <p:sp>
        <p:nvSpPr>
          <p:cNvPr id="16" name="Text 13"/>
          <p:cNvSpPr/>
          <p:nvPr/>
        </p:nvSpPr>
        <p:spPr>
          <a:xfrm>
            <a:off x="8209598" y="6073021"/>
            <a:ext cx="543627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000000"/>
                </a:solidFill>
                <a:latin typeface="Geist" pitchFamily="34" charset="0"/>
                <a:ea typeface="Geist" pitchFamily="34" charset="-122"/>
                <a:cs typeface="Geist" pitchFamily="34" charset="-120"/>
              </a:rPr>
              <a:t>Kiểm tra kỹ tên WiFi và mật khẩu trước khi nạp code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3" grpId="0" animBg="1"/>
      <p:bldP spid="14" grpId="0" animBg="1"/>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651272"/>
            <a:ext cx="135205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Bước 2: Khởi tạo Web Server và định nghĩa chân LED</a:t>
            </a:r>
            <a:endParaRPr lang="en-US" sz="3900" dirty="0"/>
          </a:p>
        </p:txBody>
      </p:sp>
      <p:sp>
        <p:nvSpPr>
          <p:cNvPr id="3" name="Shape 1"/>
          <p:cNvSpPr/>
          <p:nvPr/>
        </p:nvSpPr>
        <p:spPr>
          <a:xfrm>
            <a:off x="793790" y="2288262"/>
            <a:ext cx="13042821" cy="2202894"/>
          </a:xfrm>
          <a:prstGeom prst="roundRect">
            <a:avLst>
              <a:gd name="adj" fmla="val 8109"/>
            </a:avLst>
          </a:prstGeom>
          <a:solidFill>
            <a:srgbClr val="D8ECE5"/>
          </a:solidFill>
          <a:ln/>
        </p:spPr>
      </p:sp>
      <p:sp>
        <p:nvSpPr>
          <p:cNvPr id="4" name="Shape 2"/>
          <p:cNvSpPr/>
          <p:nvPr/>
        </p:nvSpPr>
        <p:spPr>
          <a:xfrm>
            <a:off x="783908" y="2288262"/>
            <a:ext cx="13062585" cy="2202894"/>
          </a:xfrm>
          <a:prstGeom prst="roundRect">
            <a:avLst>
              <a:gd name="adj" fmla="val 1351"/>
            </a:avLst>
          </a:prstGeom>
          <a:solidFill>
            <a:srgbClr val="D8ECE5"/>
          </a:solidFill>
          <a:ln/>
        </p:spPr>
      </p:sp>
      <p:sp>
        <p:nvSpPr>
          <p:cNvPr id="5" name="Text 3"/>
          <p:cNvSpPr/>
          <p:nvPr/>
        </p:nvSpPr>
        <p:spPr>
          <a:xfrm>
            <a:off x="982266" y="2437090"/>
            <a:ext cx="12665869" cy="1905238"/>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--- 2. CẤU HÌNH SERVER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Web Server chạy ở cổng 80 (Cổng mặc định của giao thức HTTP)</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WebServer server(80);</a:t>
            </a:r>
            <a:endParaRPr lang="en-US" dirty="0"/>
          </a:p>
          <a:p>
            <a:pPr marL="0" indent="0" algn="l">
              <a:lnSpc>
                <a:spcPts val="2500"/>
              </a:lnSpc>
              <a:buNone/>
            </a:pP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Chân đèn LED</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#define LED_PIN 2</a:t>
            </a:r>
            <a:endParaRPr lang="en-US" dirty="0"/>
          </a:p>
        </p:txBody>
      </p:sp>
      <p:sp>
        <p:nvSpPr>
          <p:cNvPr id="6" name="Shape 4"/>
          <p:cNvSpPr/>
          <p:nvPr/>
        </p:nvSpPr>
        <p:spPr>
          <a:xfrm>
            <a:off x="793790" y="4714399"/>
            <a:ext cx="6422231" cy="2863810"/>
          </a:xfrm>
          <a:prstGeom prst="roundRect">
            <a:avLst>
              <a:gd name="adj" fmla="val 6237"/>
            </a:avLst>
          </a:prstGeom>
          <a:solidFill>
            <a:srgbClr val="E5F9F2">
              <a:alpha val="95000"/>
            </a:srgbClr>
          </a:solidFill>
          <a:ln w="22860">
            <a:solidFill>
              <a:srgbClr val="B7D5CA"/>
            </a:solidFill>
            <a:prstDash val="solid"/>
          </a:ln>
        </p:spPr>
      </p:sp>
      <p:sp>
        <p:nvSpPr>
          <p:cNvPr id="7" name="Shape 5"/>
          <p:cNvSpPr/>
          <p:nvPr/>
        </p:nvSpPr>
        <p:spPr>
          <a:xfrm>
            <a:off x="816650" y="4737259"/>
            <a:ext cx="6376511" cy="595313"/>
          </a:xfrm>
          <a:prstGeom prst="roundRect">
            <a:avLst>
              <a:gd name="adj" fmla="val 25398"/>
            </a:avLst>
          </a:prstGeom>
          <a:solidFill>
            <a:srgbClr val="D1EFE4"/>
          </a:solidFill>
          <a:ln/>
        </p:spPr>
      </p:sp>
      <p:pic>
        <p:nvPicPr>
          <p:cNvPr id="8"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56077" y="4882158"/>
            <a:ext cx="297656" cy="297656"/>
          </a:xfrm>
          <a:prstGeom prst="rect">
            <a:avLst/>
          </a:prstGeom>
        </p:spPr>
      </p:pic>
      <p:sp>
        <p:nvSpPr>
          <p:cNvPr id="9" name="Text 6"/>
          <p:cNvSpPr/>
          <p:nvPr/>
        </p:nvSpPr>
        <p:spPr>
          <a:xfrm>
            <a:off x="1015008" y="5530929"/>
            <a:ext cx="2721888"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WebServer server(80)</a:t>
            </a:r>
            <a:endParaRPr lang="en-US" dirty="0"/>
          </a:p>
        </p:txBody>
      </p:sp>
      <p:sp>
        <p:nvSpPr>
          <p:cNvPr id="10" name="Text 7"/>
          <p:cNvSpPr/>
          <p:nvPr/>
        </p:nvSpPr>
        <p:spPr>
          <a:xfrm>
            <a:off x="1015008" y="5960150"/>
            <a:ext cx="5979795"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Tạo một đối tượng server lắng nghe ở cổng 80. Đây là cổng chuẩn của HTTP, vì vậy khi gõ IP trên trình duyệt, bạn không cần thêm :80 vào cuối.</a:t>
            </a:r>
            <a:endParaRPr lang="en-US" dirty="0"/>
          </a:p>
        </p:txBody>
      </p:sp>
      <p:sp>
        <p:nvSpPr>
          <p:cNvPr id="11" name="Text 8"/>
          <p:cNvSpPr/>
          <p:nvPr/>
        </p:nvSpPr>
        <p:spPr>
          <a:xfrm>
            <a:off x="1015008" y="7031831"/>
            <a:ext cx="5979795" cy="32516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Ví dụ: Gõ </a:t>
            </a:r>
            <a:r>
              <a:rPr lang="en-US" dirty="0">
                <a:solidFill>
                  <a:srgbClr val="4B4A4A"/>
                </a:solidFill>
                <a:highlight>
                  <a:srgbClr val="D8ECE5"/>
                </a:highlight>
                <a:latin typeface="Consolas" pitchFamily="34" charset="0"/>
                <a:ea typeface="Consolas" pitchFamily="34" charset="-122"/>
                <a:cs typeface="Consolas" pitchFamily="34" charset="-120"/>
              </a:rPr>
              <a:t>192.168.1.105</a:t>
            </a:r>
            <a:r>
              <a:rPr lang="en-US" dirty="0">
                <a:solidFill>
                  <a:srgbClr val="4B4A4A"/>
                </a:solidFill>
                <a:latin typeface="Geist" pitchFamily="34" charset="0"/>
                <a:ea typeface="Geist" pitchFamily="34" charset="-122"/>
                <a:cs typeface="Geist" pitchFamily="34" charset="-120"/>
              </a:rPr>
              <a:t> thay vì </a:t>
            </a:r>
            <a:r>
              <a:rPr lang="en-US" dirty="0">
                <a:solidFill>
                  <a:srgbClr val="4B4A4A"/>
                </a:solidFill>
                <a:highlight>
                  <a:srgbClr val="D8ECE5"/>
                </a:highlight>
                <a:latin typeface="Consolas" pitchFamily="34" charset="0"/>
                <a:ea typeface="Consolas" pitchFamily="34" charset="-122"/>
                <a:cs typeface="Consolas" pitchFamily="34" charset="-120"/>
              </a:rPr>
              <a:t>192.168.1.105:80</a:t>
            </a:r>
            <a:endParaRPr lang="en-US" dirty="0"/>
          </a:p>
        </p:txBody>
      </p:sp>
      <p:sp>
        <p:nvSpPr>
          <p:cNvPr id="12" name="Shape 9"/>
          <p:cNvSpPr/>
          <p:nvPr/>
        </p:nvSpPr>
        <p:spPr>
          <a:xfrm>
            <a:off x="7414379" y="4714399"/>
            <a:ext cx="7103132" cy="2863810"/>
          </a:xfrm>
          <a:prstGeom prst="roundRect">
            <a:avLst>
              <a:gd name="adj" fmla="val 6237"/>
            </a:avLst>
          </a:prstGeom>
          <a:solidFill>
            <a:srgbClr val="E5F9F2">
              <a:alpha val="95000"/>
            </a:srgbClr>
          </a:solidFill>
          <a:ln w="22860">
            <a:solidFill>
              <a:srgbClr val="B7D5CA"/>
            </a:solidFill>
            <a:prstDash val="solid"/>
          </a:ln>
        </p:spPr>
      </p:sp>
      <p:sp>
        <p:nvSpPr>
          <p:cNvPr id="13" name="Shape 10"/>
          <p:cNvSpPr/>
          <p:nvPr/>
        </p:nvSpPr>
        <p:spPr>
          <a:xfrm>
            <a:off x="7437239" y="4737259"/>
            <a:ext cx="7052565" cy="595313"/>
          </a:xfrm>
          <a:prstGeom prst="roundRect">
            <a:avLst>
              <a:gd name="adj" fmla="val 25398"/>
            </a:avLst>
          </a:prstGeom>
          <a:solidFill>
            <a:srgbClr val="D1EFE4"/>
          </a:solidFill>
          <a:ln/>
        </p:spPr>
      </p:sp>
      <p:pic>
        <p:nvPicPr>
          <p:cNvPr id="1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76667" y="4882158"/>
            <a:ext cx="297656" cy="297656"/>
          </a:xfrm>
          <a:prstGeom prst="rect">
            <a:avLst/>
          </a:prstGeom>
        </p:spPr>
      </p:pic>
      <p:sp>
        <p:nvSpPr>
          <p:cNvPr id="15" name="Text 11"/>
          <p:cNvSpPr/>
          <p:nvPr/>
        </p:nvSpPr>
        <p:spPr>
          <a:xfrm>
            <a:off x="7635597" y="5530929"/>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LED_PIN 2</a:t>
            </a:r>
            <a:endParaRPr lang="en-US" dirty="0"/>
          </a:p>
        </p:txBody>
      </p:sp>
      <p:sp>
        <p:nvSpPr>
          <p:cNvPr id="16" name="Text 12"/>
          <p:cNvSpPr/>
          <p:nvPr/>
        </p:nvSpPr>
        <p:spPr>
          <a:xfrm>
            <a:off x="7635597" y="5960150"/>
            <a:ext cx="645293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Định nghĩa chân GPIO 2 là chân điều khiển LED. Hầu hết các mạch ESP32 đều có LED onboard nối sẵn ở chân này.</a:t>
            </a:r>
            <a:endParaRPr lang="en-US" dirty="0"/>
          </a:p>
        </p:txBody>
      </p:sp>
      <p:sp>
        <p:nvSpPr>
          <p:cNvPr id="17" name="Text 13"/>
          <p:cNvSpPr/>
          <p:nvPr/>
        </p:nvSpPr>
        <p:spPr>
          <a:xfrm>
            <a:off x="7635597" y="6714292"/>
            <a:ext cx="5979795" cy="317540"/>
          </a:xfrm>
          <a:prstGeom prst="rect">
            <a:avLst/>
          </a:prstGeom>
          <a:noFill/>
          <a:ln/>
        </p:spPr>
        <p:txBody>
          <a:bodyPr wrap="none" lIns="0" tIns="0" rIns="0" bIns="0" rtlCol="0" anchor="t"/>
          <a:lstStyle/>
          <a:p>
            <a:pPr marL="0" indent="0" algn="l">
              <a:lnSpc>
                <a:spcPts val="2500"/>
              </a:lnSpc>
              <a:buNone/>
            </a:pPr>
            <a:r>
              <a:rPr lang="en-US" dirty="0" err="1">
                <a:solidFill>
                  <a:srgbClr val="4B4A4A"/>
                </a:solidFill>
                <a:latin typeface="Geist" pitchFamily="34" charset="0"/>
                <a:ea typeface="Geist" pitchFamily="34" charset="-122"/>
                <a:cs typeface="Geist" pitchFamily="34" charset="-120"/>
              </a:rPr>
              <a:t>Nếu</a:t>
            </a:r>
            <a:r>
              <a:rPr lang="en-US" dirty="0">
                <a:solidFill>
                  <a:srgbClr val="4B4A4A"/>
                </a:solidFill>
                <a:latin typeface="Geist" pitchFamily="34" charset="0"/>
                <a:ea typeface="Geist" pitchFamily="34" charset="-122"/>
                <a:cs typeface="Geist" pitchFamily="34" charset="-120"/>
              </a:rPr>
              <a:t> nối LED ở chân khác (ví dụ GPIO 5), thay số 2 thành số 5.</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5" grpId="0" animBg="1"/>
      <p:bldP spid="16" grpId="0" animBg="1"/>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56047" y="519708"/>
            <a:ext cx="10980539" cy="590669"/>
          </a:xfrm>
          <a:prstGeom prst="rect">
            <a:avLst/>
          </a:prstGeom>
          <a:noFill/>
          <a:ln/>
        </p:spPr>
        <p:txBody>
          <a:bodyPr wrap="none" lIns="0" tIns="0" rIns="0" bIns="0" rtlCol="0" anchor="t"/>
          <a:lstStyle/>
          <a:p>
            <a:pPr marL="0" indent="0" algn="l">
              <a:lnSpc>
                <a:spcPts val="4650"/>
              </a:lnSpc>
              <a:buNone/>
            </a:pPr>
            <a:r>
              <a:rPr lang="en-US" sz="3700" b="1" dirty="0">
                <a:solidFill>
                  <a:srgbClr val="006747"/>
                </a:solidFill>
                <a:latin typeface="Noto Serif SC Bold" pitchFamily="34" charset="0"/>
                <a:ea typeface="Noto Serif SC Bold" pitchFamily="34" charset="-122"/>
                <a:cs typeface="Noto Serif SC Bold" pitchFamily="34" charset="-120"/>
              </a:rPr>
              <a:t>Bước 3: Viết hàm tạo giao diện HTML (Phần 1)</a:t>
            </a:r>
            <a:endParaRPr lang="en-US" sz="3700" dirty="0"/>
          </a:p>
        </p:txBody>
      </p:sp>
      <p:sp>
        <p:nvSpPr>
          <p:cNvPr id="3" name="Shape 1"/>
          <p:cNvSpPr/>
          <p:nvPr/>
        </p:nvSpPr>
        <p:spPr>
          <a:xfrm>
            <a:off x="756047" y="1488400"/>
            <a:ext cx="13118306" cy="3307556"/>
          </a:xfrm>
          <a:prstGeom prst="roundRect">
            <a:avLst>
              <a:gd name="adj" fmla="val 5143"/>
            </a:avLst>
          </a:prstGeom>
          <a:solidFill>
            <a:srgbClr val="D8ECE5"/>
          </a:solidFill>
          <a:ln/>
        </p:spPr>
      </p:sp>
      <p:sp>
        <p:nvSpPr>
          <p:cNvPr id="4" name="Shape 2"/>
          <p:cNvSpPr/>
          <p:nvPr/>
        </p:nvSpPr>
        <p:spPr>
          <a:xfrm>
            <a:off x="746641" y="1135141"/>
            <a:ext cx="13137118" cy="3619500"/>
          </a:xfrm>
          <a:prstGeom prst="roundRect">
            <a:avLst>
              <a:gd name="adj" fmla="val 857"/>
            </a:avLst>
          </a:prstGeom>
          <a:solidFill>
            <a:srgbClr val="D8ECE5"/>
          </a:solidFill>
          <a:ln/>
        </p:spPr>
      </p:sp>
      <p:sp>
        <p:nvSpPr>
          <p:cNvPr id="5" name="Text 3"/>
          <p:cNvSpPr/>
          <p:nvPr/>
        </p:nvSpPr>
        <p:spPr>
          <a:xfrm>
            <a:off x="935593" y="1303815"/>
            <a:ext cx="12759214" cy="3024188"/>
          </a:xfrm>
          <a:prstGeom prst="rect">
            <a:avLst/>
          </a:prstGeom>
          <a:noFill/>
          <a:ln/>
        </p:spPr>
        <p:txBody>
          <a:bodyPr wrap="square" lIns="0" tIns="0" rIns="0" bIns="0" rtlCol="0" anchor="t"/>
          <a:lstStyle/>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String getHTML()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String html = "&lt;!DOCTYPE html&gt;&lt;html&gt;";</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html += "&lt;head&gt;&lt;meta name=\"viewport\" content=\"width=device-width, initial-scale=1\"&gt;";</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html += "&lt;style&gt;";</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html += "body { font-family: sans-serif; text-align: center; margin-top: 50px;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html += ".button { display: inline-block; padding: 15px 25px; font-size: 24px; cursor: pointer; text-decoration: none; outline: none; color: #fff; background-color: #4CAF50; border: none; border-radius: 15px; box-shadow: 0 9px #999; margin: 10px;}";</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html += ".button:active { background-color: #3e8e41; box-shadow: 0 5px #666; transform: translateY(4px);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html += ".off { background-color: #f44336;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html += "&lt;/style&gt;&lt;/head&gt;";</a:t>
            </a:r>
            <a:endParaRPr lang="en-US" sz="1600" dirty="0"/>
          </a:p>
        </p:txBody>
      </p:sp>
      <p:sp>
        <p:nvSpPr>
          <p:cNvPr id="6" name="Text 4"/>
          <p:cNvSpPr/>
          <p:nvPr/>
        </p:nvSpPr>
        <p:spPr>
          <a:xfrm>
            <a:off x="756047" y="5197554"/>
            <a:ext cx="3007162" cy="295275"/>
          </a:xfrm>
          <a:prstGeom prst="rect">
            <a:avLst/>
          </a:prstGeom>
          <a:noFill/>
          <a:ln/>
        </p:spPr>
        <p:txBody>
          <a:bodyPr wrap="none" lIns="0" tIns="0" rIns="0" bIns="0" rtlCol="0" anchor="t"/>
          <a:lstStyle/>
          <a:p>
            <a:pPr marL="0" indent="0" algn="l">
              <a:lnSpc>
                <a:spcPts val="2300"/>
              </a:lnSpc>
              <a:buNone/>
            </a:pPr>
            <a:r>
              <a:rPr lang="en-US" b="1" dirty="0">
                <a:solidFill>
                  <a:srgbClr val="006747"/>
                </a:solidFill>
                <a:latin typeface="Noto Serif SC Bold" pitchFamily="34" charset="0"/>
                <a:ea typeface="Noto Serif SC Bold" pitchFamily="34" charset="-122"/>
                <a:cs typeface="Noto Serif SC Bold" pitchFamily="34" charset="-120"/>
              </a:rPr>
              <a:t>Phân tích cấu trúc HTML</a:t>
            </a:r>
            <a:endParaRPr lang="en-US" dirty="0"/>
          </a:p>
        </p:txBody>
      </p:sp>
      <p:sp>
        <p:nvSpPr>
          <p:cNvPr id="7" name="Text 5"/>
          <p:cNvSpPr/>
          <p:nvPr/>
        </p:nvSpPr>
        <p:spPr>
          <a:xfrm>
            <a:off x="756047" y="5681782"/>
            <a:ext cx="6328648" cy="612458"/>
          </a:xfrm>
          <a:prstGeom prst="rect">
            <a:avLst/>
          </a:prstGeom>
          <a:noFill/>
          <a:ln/>
        </p:spPr>
        <p:txBody>
          <a:bodyPr wrap="square" lIns="0" tIns="0" rIns="0" bIns="0" rtlCol="0" anchor="t"/>
          <a:lstStyle/>
          <a:p>
            <a:pPr marL="0" indent="0" algn="l">
              <a:lnSpc>
                <a:spcPts val="2350"/>
              </a:lnSpc>
              <a:buNone/>
            </a:pPr>
            <a:r>
              <a:rPr lang="en-US" dirty="0">
                <a:solidFill>
                  <a:srgbClr val="4B4A4A"/>
                </a:solidFill>
                <a:latin typeface="Geist" pitchFamily="34" charset="0"/>
                <a:ea typeface="Geist" pitchFamily="34" charset="-122"/>
                <a:cs typeface="Geist" pitchFamily="34" charset="-120"/>
              </a:rPr>
              <a:t>Hàm </a:t>
            </a:r>
            <a:r>
              <a:rPr lang="en-US" dirty="0">
                <a:solidFill>
                  <a:srgbClr val="4B4A4A"/>
                </a:solidFill>
                <a:highlight>
                  <a:srgbClr val="D8ECE5"/>
                </a:highlight>
                <a:latin typeface="Consolas" pitchFamily="34" charset="0"/>
                <a:ea typeface="Consolas" pitchFamily="34" charset="-122"/>
                <a:cs typeface="Consolas" pitchFamily="34" charset="-120"/>
              </a:rPr>
              <a:t>getHTML()</a:t>
            </a:r>
            <a:r>
              <a:rPr lang="en-US" dirty="0">
                <a:solidFill>
                  <a:srgbClr val="4B4A4A"/>
                </a:solidFill>
                <a:latin typeface="Geist" pitchFamily="34" charset="0"/>
                <a:ea typeface="Geist" pitchFamily="34" charset="-122"/>
                <a:cs typeface="Geist" pitchFamily="34" charset="-120"/>
              </a:rPr>
              <a:t> trả về một chuỗi String chứa toàn bộ mã HTML của trang web.</a:t>
            </a:r>
            <a:endParaRPr lang="en-US" dirty="0"/>
          </a:p>
        </p:txBody>
      </p:sp>
      <p:sp>
        <p:nvSpPr>
          <p:cNvPr id="8" name="Text 6"/>
          <p:cNvSpPr/>
          <p:nvPr/>
        </p:nvSpPr>
        <p:spPr>
          <a:xfrm>
            <a:off x="756047" y="6464260"/>
            <a:ext cx="6328648" cy="302419"/>
          </a:xfrm>
          <a:prstGeom prst="rect">
            <a:avLst/>
          </a:prstGeom>
          <a:noFill/>
          <a:ln/>
        </p:spPr>
        <p:txBody>
          <a:bodyPr wrap="none" lIns="0" tIns="0" rIns="0" bIns="0" rtlCol="0" anchor="t"/>
          <a:lstStyle/>
          <a:p>
            <a:pPr marL="0" indent="0" algn="l">
              <a:lnSpc>
                <a:spcPts val="2350"/>
              </a:lnSpc>
              <a:buNone/>
            </a:pPr>
            <a:r>
              <a:rPr lang="en-US" b="1" dirty="0">
                <a:solidFill>
                  <a:srgbClr val="4B4A4A"/>
                </a:solidFill>
                <a:latin typeface="Geist" pitchFamily="34" charset="0"/>
                <a:ea typeface="Geist" pitchFamily="34" charset="-122"/>
                <a:cs typeface="Geist" pitchFamily="34" charset="-120"/>
              </a:rPr>
              <a:t>DOCTYPE html:</a:t>
            </a:r>
            <a:r>
              <a:rPr lang="en-US" dirty="0">
                <a:solidFill>
                  <a:srgbClr val="4B4A4A"/>
                </a:solidFill>
                <a:latin typeface="Geist" pitchFamily="34" charset="0"/>
                <a:ea typeface="Geist" pitchFamily="34" charset="-122"/>
                <a:cs typeface="Geist" pitchFamily="34" charset="-120"/>
              </a:rPr>
              <a:t> Khai báo đây là văn bản HTML5 chuẩn.</a:t>
            </a:r>
            <a:endParaRPr lang="en-US" dirty="0"/>
          </a:p>
        </p:txBody>
      </p:sp>
      <p:sp>
        <p:nvSpPr>
          <p:cNvPr id="9" name="Text 7"/>
          <p:cNvSpPr/>
          <p:nvPr/>
        </p:nvSpPr>
        <p:spPr>
          <a:xfrm>
            <a:off x="756047" y="6936700"/>
            <a:ext cx="6328648" cy="604838"/>
          </a:xfrm>
          <a:prstGeom prst="rect">
            <a:avLst/>
          </a:prstGeom>
          <a:noFill/>
          <a:ln/>
        </p:spPr>
        <p:txBody>
          <a:bodyPr wrap="square" lIns="0" tIns="0" rIns="0" bIns="0" rtlCol="0" anchor="t"/>
          <a:lstStyle/>
          <a:p>
            <a:pPr marL="0" indent="0" algn="l">
              <a:lnSpc>
                <a:spcPts val="2350"/>
              </a:lnSpc>
              <a:buNone/>
            </a:pPr>
            <a:r>
              <a:rPr lang="en-US" b="1" dirty="0">
                <a:solidFill>
                  <a:srgbClr val="4B4A4A"/>
                </a:solidFill>
                <a:latin typeface="Geist" pitchFamily="34" charset="0"/>
                <a:ea typeface="Geist" pitchFamily="34" charset="-122"/>
                <a:cs typeface="Geist" pitchFamily="34" charset="-120"/>
              </a:rPr>
              <a:t>meta viewport:</a:t>
            </a:r>
            <a:r>
              <a:rPr lang="en-US" dirty="0">
                <a:solidFill>
                  <a:srgbClr val="4B4A4A"/>
                </a:solidFill>
                <a:latin typeface="Geist" pitchFamily="34" charset="0"/>
                <a:ea typeface="Geist" pitchFamily="34" charset="-122"/>
                <a:cs typeface="Geist" pitchFamily="34" charset="-120"/>
              </a:rPr>
              <a:t> Giúp trang web hiển thị đẹp trên điện thoại (responsive design).</a:t>
            </a:r>
            <a:endParaRPr lang="en-US" dirty="0"/>
          </a:p>
        </p:txBody>
      </p:sp>
      <p:sp>
        <p:nvSpPr>
          <p:cNvPr id="10" name="Text 8"/>
          <p:cNvSpPr/>
          <p:nvPr/>
        </p:nvSpPr>
        <p:spPr>
          <a:xfrm>
            <a:off x="7553325" y="5197554"/>
            <a:ext cx="2362676" cy="295275"/>
          </a:xfrm>
          <a:prstGeom prst="rect">
            <a:avLst/>
          </a:prstGeom>
          <a:noFill/>
          <a:ln/>
        </p:spPr>
        <p:txBody>
          <a:bodyPr wrap="none" lIns="0" tIns="0" rIns="0" bIns="0" rtlCol="0" anchor="t"/>
          <a:lstStyle/>
          <a:p>
            <a:pPr marL="0" indent="0" algn="l">
              <a:lnSpc>
                <a:spcPts val="2300"/>
              </a:lnSpc>
              <a:buNone/>
            </a:pPr>
            <a:r>
              <a:rPr lang="en-US" b="1" dirty="0">
                <a:solidFill>
                  <a:srgbClr val="006747"/>
                </a:solidFill>
                <a:latin typeface="Noto Serif SC Bold" pitchFamily="34" charset="0"/>
                <a:ea typeface="Noto Serif SC Bold" pitchFamily="34" charset="-122"/>
                <a:cs typeface="Noto Serif SC Bold" pitchFamily="34" charset="-120"/>
              </a:rPr>
              <a:t>CSS Styling</a:t>
            </a:r>
            <a:endParaRPr lang="en-US" dirty="0"/>
          </a:p>
        </p:txBody>
      </p:sp>
      <p:sp>
        <p:nvSpPr>
          <p:cNvPr id="11" name="Text 9"/>
          <p:cNvSpPr/>
          <p:nvPr/>
        </p:nvSpPr>
        <p:spPr>
          <a:xfrm>
            <a:off x="7553325" y="5681782"/>
            <a:ext cx="6328648" cy="310039"/>
          </a:xfrm>
          <a:prstGeom prst="rect">
            <a:avLst/>
          </a:prstGeom>
          <a:noFill/>
          <a:ln/>
        </p:spPr>
        <p:txBody>
          <a:bodyPr wrap="none" lIns="0" tIns="0" rIns="0" bIns="0" rtlCol="0" anchor="t"/>
          <a:lstStyle/>
          <a:p>
            <a:pPr marL="0" indent="0" algn="l">
              <a:lnSpc>
                <a:spcPts val="2350"/>
              </a:lnSpc>
              <a:buNone/>
            </a:pPr>
            <a:r>
              <a:rPr lang="en-US" dirty="0">
                <a:solidFill>
                  <a:srgbClr val="4B4A4A"/>
                </a:solidFill>
                <a:latin typeface="Geist" pitchFamily="34" charset="0"/>
                <a:ea typeface="Geist" pitchFamily="34" charset="-122"/>
                <a:cs typeface="Geist" pitchFamily="34" charset="-120"/>
              </a:rPr>
              <a:t>Phần </a:t>
            </a:r>
            <a:r>
              <a:rPr lang="en-US" dirty="0">
                <a:solidFill>
                  <a:srgbClr val="4B4A4A"/>
                </a:solidFill>
                <a:highlight>
                  <a:srgbClr val="D8ECE5"/>
                </a:highlight>
                <a:latin typeface="Consolas" pitchFamily="34" charset="0"/>
                <a:ea typeface="Consolas" pitchFamily="34" charset="-122"/>
                <a:cs typeface="Consolas" pitchFamily="34" charset="-120"/>
              </a:rPr>
              <a:t>&lt;style&gt;</a:t>
            </a:r>
            <a:r>
              <a:rPr lang="en-US" dirty="0">
                <a:solidFill>
                  <a:srgbClr val="4B4A4A"/>
                </a:solidFill>
                <a:latin typeface="Geist" pitchFamily="34" charset="0"/>
                <a:ea typeface="Geist" pitchFamily="34" charset="-122"/>
                <a:cs typeface="Geist" pitchFamily="34" charset="-120"/>
              </a:rPr>
              <a:t> định nghĩa cách hiển thị:</a:t>
            </a:r>
            <a:endParaRPr lang="en-US" dirty="0"/>
          </a:p>
        </p:txBody>
      </p:sp>
      <p:sp>
        <p:nvSpPr>
          <p:cNvPr id="12" name="Text 10"/>
          <p:cNvSpPr/>
          <p:nvPr/>
        </p:nvSpPr>
        <p:spPr>
          <a:xfrm>
            <a:off x="7553325" y="6161842"/>
            <a:ext cx="6328648" cy="302419"/>
          </a:xfrm>
          <a:prstGeom prst="rect">
            <a:avLst/>
          </a:prstGeom>
          <a:noFill/>
          <a:ln/>
        </p:spPr>
        <p:txBody>
          <a:bodyPr wrap="none" lIns="0" tIns="0" rIns="0" bIns="0" rtlCol="0" anchor="t"/>
          <a:lstStyle/>
          <a:p>
            <a:pPr marL="342900" indent="-342900" algn="l">
              <a:lnSpc>
                <a:spcPts val="2350"/>
              </a:lnSpc>
              <a:buSzPct val="100000"/>
              <a:buChar char="•"/>
            </a:pPr>
            <a:r>
              <a:rPr lang="en-US" b="1" dirty="0">
                <a:solidFill>
                  <a:srgbClr val="4B4A4A"/>
                </a:solidFill>
                <a:latin typeface="Geist" pitchFamily="34" charset="0"/>
                <a:ea typeface="Geist" pitchFamily="34" charset="-122"/>
                <a:cs typeface="Geist" pitchFamily="34" charset="-120"/>
              </a:rPr>
              <a:t>body:</a:t>
            </a:r>
            <a:r>
              <a:rPr lang="en-US" dirty="0">
                <a:solidFill>
                  <a:srgbClr val="4B4A4A"/>
                </a:solidFill>
                <a:latin typeface="Geist" pitchFamily="34" charset="0"/>
                <a:ea typeface="Geist" pitchFamily="34" charset="-122"/>
                <a:cs typeface="Geist" pitchFamily="34" charset="-120"/>
              </a:rPr>
              <a:t> Font chữ, căn giữa, khoảng cách trên</a:t>
            </a:r>
            <a:endParaRPr lang="en-US" dirty="0"/>
          </a:p>
        </p:txBody>
      </p:sp>
      <p:sp>
        <p:nvSpPr>
          <p:cNvPr id="13" name="Text 11"/>
          <p:cNvSpPr/>
          <p:nvPr/>
        </p:nvSpPr>
        <p:spPr>
          <a:xfrm>
            <a:off x="7553325" y="6530340"/>
            <a:ext cx="6328648" cy="302419"/>
          </a:xfrm>
          <a:prstGeom prst="rect">
            <a:avLst/>
          </a:prstGeom>
          <a:noFill/>
          <a:ln/>
        </p:spPr>
        <p:txBody>
          <a:bodyPr wrap="none" lIns="0" tIns="0" rIns="0" bIns="0" rtlCol="0" anchor="t"/>
          <a:lstStyle/>
          <a:p>
            <a:pPr marL="342900" indent="-342900" algn="l">
              <a:lnSpc>
                <a:spcPts val="2350"/>
              </a:lnSpc>
              <a:buSzPct val="100000"/>
              <a:buChar char="•"/>
            </a:pPr>
            <a:r>
              <a:rPr lang="en-US" b="1" dirty="0">
                <a:solidFill>
                  <a:srgbClr val="4B4A4A"/>
                </a:solidFill>
                <a:latin typeface="Geist" pitchFamily="34" charset="0"/>
                <a:ea typeface="Geist" pitchFamily="34" charset="-122"/>
                <a:cs typeface="Geist" pitchFamily="34" charset="-120"/>
              </a:rPr>
              <a:t>.button:</a:t>
            </a:r>
            <a:r>
              <a:rPr lang="en-US" dirty="0">
                <a:solidFill>
                  <a:srgbClr val="4B4A4A"/>
                </a:solidFill>
                <a:latin typeface="Geist" pitchFamily="34" charset="0"/>
                <a:ea typeface="Geist" pitchFamily="34" charset="-122"/>
                <a:cs typeface="Geist" pitchFamily="34" charset="-120"/>
              </a:rPr>
              <a:t> Nút bấm có bo góc, đổ bóng, màu xanh lá</a:t>
            </a:r>
            <a:endParaRPr lang="en-US" dirty="0"/>
          </a:p>
        </p:txBody>
      </p:sp>
      <p:sp>
        <p:nvSpPr>
          <p:cNvPr id="14" name="Text 12"/>
          <p:cNvSpPr/>
          <p:nvPr/>
        </p:nvSpPr>
        <p:spPr>
          <a:xfrm>
            <a:off x="7553325" y="6898838"/>
            <a:ext cx="6328648" cy="302419"/>
          </a:xfrm>
          <a:prstGeom prst="rect">
            <a:avLst/>
          </a:prstGeom>
          <a:noFill/>
          <a:ln/>
        </p:spPr>
        <p:txBody>
          <a:bodyPr wrap="none" lIns="0" tIns="0" rIns="0" bIns="0" rtlCol="0" anchor="t"/>
          <a:lstStyle/>
          <a:p>
            <a:pPr marL="342900" indent="-342900" algn="l">
              <a:lnSpc>
                <a:spcPts val="2350"/>
              </a:lnSpc>
              <a:buSzPct val="100000"/>
              <a:buChar char="•"/>
            </a:pPr>
            <a:r>
              <a:rPr lang="en-US" b="1" dirty="0">
                <a:solidFill>
                  <a:srgbClr val="4B4A4A"/>
                </a:solidFill>
                <a:latin typeface="Geist" pitchFamily="34" charset="0"/>
                <a:ea typeface="Geist" pitchFamily="34" charset="-122"/>
                <a:cs typeface="Geist" pitchFamily="34" charset="-120"/>
              </a:rPr>
              <a:t>.button:active:</a:t>
            </a:r>
            <a:r>
              <a:rPr lang="en-US" dirty="0">
                <a:solidFill>
                  <a:srgbClr val="4B4A4A"/>
                </a:solidFill>
                <a:latin typeface="Geist" pitchFamily="34" charset="0"/>
                <a:ea typeface="Geist" pitchFamily="34" charset="-122"/>
                <a:cs typeface="Geist" pitchFamily="34" charset="-120"/>
              </a:rPr>
              <a:t> Hiệu ứng khi bấm (nút lõm xuống)</a:t>
            </a:r>
            <a:endParaRPr lang="en-US" dirty="0"/>
          </a:p>
        </p:txBody>
      </p:sp>
      <p:sp>
        <p:nvSpPr>
          <p:cNvPr id="15" name="Text 13"/>
          <p:cNvSpPr/>
          <p:nvPr/>
        </p:nvSpPr>
        <p:spPr>
          <a:xfrm>
            <a:off x="7553325" y="7267337"/>
            <a:ext cx="6328648" cy="302419"/>
          </a:xfrm>
          <a:prstGeom prst="rect">
            <a:avLst/>
          </a:prstGeom>
          <a:noFill/>
          <a:ln/>
        </p:spPr>
        <p:txBody>
          <a:bodyPr wrap="none" lIns="0" tIns="0" rIns="0" bIns="0" rtlCol="0" anchor="t"/>
          <a:lstStyle/>
          <a:p>
            <a:pPr marL="342900" indent="-342900" algn="l">
              <a:lnSpc>
                <a:spcPts val="2350"/>
              </a:lnSpc>
              <a:buSzPct val="100000"/>
              <a:buChar char="•"/>
            </a:pPr>
            <a:r>
              <a:rPr lang="en-US" b="1" dirty="0">
                <a:solidFill>
                  <a:srgbClr val="4B4A4A"/>
                </a:solidFill>
                <a:latin typeface="Geist" pitchFamily="34" charset="0"/>
                <a:ea typeface="Geist" pitchFamily="34" charset="-122"/>
                <a:cs typeface="Geist" pitchFamily="34" charset="-120"/>
              </a:rPr>
              <a:t>.off:</a:t>
            </a:r>
            <a:r>
              <a:rPr lang="en-US" dirty="0">
                <a:solidFill>
                  <a:srgbClr val="4B4A4A"/>
                </a:solidFill>
                <a:latin typeface="Geist" pitchFamily="34" charset="0"/>
                <a:ea typeface="Geist" pitchFamily="34" charset="-122"/>
                <a:cs typeface="Geist" pitchFamily="34" charset="-120"/>
              </a:rPr>
              <a:t> Nút tắt có màu đỏ</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4" grpId="0" animBg="1"/>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64143" y="525304"/>
            <a:ext cx="11096744" cy="596860"/>
          </a:xfrm>
          <a:prstGeom prst="rect">
            <a:avLst/>
          </a:prstGeom>
          <a:noFill/>
          <a:ln/>
        </p:spPr>
        <p:txBody>
          <a:bodyPr wrap="none" lIns="0" tIns="0" rIns="0" bIns="0" rtlCol="0" anchor="t"/>
          <a:lstStyle/>
          <a:p>
            <a:pPr marL="0" indent="0" algn="l">
              <a:lnSpc>
                <a:spcPts val="4700"/>
              </a:lnSpc>
              <a:buNone/>
            </a:pPr>
            <a:r>
              <a:rPr lang="en-US" sz="3750" b="1" dirty="0">
                <a:solidFill>
                  <a:srgbClr val="006747"/>
                </a:solidFill>
                <a:latin typeface="Noto Serif SC Bold" pitchFamily="34" charset="0"/>
                <a:ea typeface="Noto Serif SC Bold" pitchFamily="34" charset="-122"/>
                <a:cs typeface="Noto Serif SC Bold" pitchFamily="34" charset="-120"/>
              </a:rPr>
              <a:t>Bước 3: Viết hàm tạo giao diện HTML (Phần 2)</a:t>
            </a:r>
            <a:endParaRPr lang="en-US" sz="3750" dirty="0"/>
          </a:p>
        </p:txBody>
      </p:sp>
      <p:sp>
        <p:nvSpPr>
          <p:cNvPr id="3" name="Shape 1"/>
          <p:cNvSpPr/>
          <p:nvPr/>
        </p:nvSpPr>
        <p:spPr>
          <a:xfrm>
            <a:off x="764143" y="1504236"/>
            <a:ext cx="13102114" cy="3343989"/>
          </a:xfrm>
          <a:prstGeom prst="roundRect">
            <a:avLst>
              <a:gd name="adj" fmla="val 5142"/>
            </a:avLst>
          </a:prstGeom>
          <a:solidFill>
            <a:srgbClr val="D8ECE5"/>
          </a:solidFill>
          <a:ln/>
        </p:spPr>
      </p:sp>
      <p:sp>
        <p:nvSpPr>
          <p:cNvPr id="4" name="Shape 2"/>
          <p:cNvSpPr/>
          <p:nvPr/>
        </p:nvSpPr>
        <p:spPr>
          <a:xfrm>
            <a:off x="754618" y="1504236"/>
            <a:ext cx="13121164" cy="3343989"/>
          </a:xfrm>
          <a:prstGeom prst="roundRect">
            <a:avLst>
              <a:gd name="adj" fmla="val 857"/>
            </a:avLst>
          </a:prstGeom>
          <a:solidFill>
            <a:srgbClr val="D8ECE5"/>
          </a:solidFill>
          <a:ln/>
        </p:spPr>
      </p:sp>
      <p:sp>
        <p:nvSpPr>
          <p:cNvPr id="5" name="Text 3"/>
          <p:cNvSpPr/>
          <p:nvPr/>
        </p:nvSpPr>
        <p:spPr>
          <a:xfrm>
            <a:off x="945594" y="1647468"/>
            <a:ext cx="12739211" cy="3057525"/>
          </a:xfrm>
          <a:prstGeom prst="rect">
            <a:avLst/>
          </a:prstGeom>
          <a:noFill/>
          <a:ln/>
        </p:spPr>
        <p:txBody>
          <a:bodyPr wrap="square" lIns="0" tIns="0" rIns="0" bIns="0" rtlCol="0" anchor="t"/>
          <a:lstStyle/>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  html += "&lt;body&gt;&lt;h1&gt;ESP32 WEB CONTROL&lt;/h1&gt;";</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  html += "&lt;p&gt;Trang thai LED: &lt;b&gt;Dieu khien qua WiFi&lt;/b&gt;&lt;/p&gt;";</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  // Tạo 2 đường dẫn (link) khác nhau cho 2 nút</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  html += "&lt;a href=\"/on\"&gt;&lt;button class=\"button\"&gt;BAT DEN&lt;/button&gt;&lt;/a&gt;";</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  html += "&lt;a href=\"/off\"&gt;&lt;button class=\"button off\"&gt;TAT DEN&lt;/button&gt;&lt;/a&gt;";</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  html += "&lt;/body&gt;&lt;/html&gt;";</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  return html;</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6" name="Shape 4"/>
          <p:cNvSpPr/>
          <p:nvPr/>
        </p:nvSpPr>
        <p:spPr>
          <a:xfrm>
            <a:off x="764143" y="5063133"/>
            <a:ext cx="4240054" cy="2642473"/>
          </a:xfrm>
          <a:prstGeom prst="roundRect">
            <a:avLst>
              <a:gd name="adj" fmla="val 6507"/>
            </a:avLst>
          </a:prstGeom>
          <a:solidFill>
            <a:srgbClr val="D1EFE4"/>
          </a:solidFill>
          <a:ln w="7620">
            <a:solidFill>
              <a:srgbClr val="B7D5CA"/>
            </a:solidFill>
            <a:prstDash val="solid"/>
          </a:ln>
        </p:spPr>
      </p:sp>
      <p:sp>
        <p:nvSpPr>
          <p:cNvPr id="7" name="Text 5"/>
          <p:cNvSpPr/>
          <p:nvPr/>
        </p:nvSpPr>
        <p:spPr>
          <a:xfrm>
            <a:off x="962739" y="5261729"/>
            <a:ext cx="2388037" cy="298490"/>
          </a:xfrm>
          <a:prstGeom prst="rect">
            <a:avLst/>
          </a:prstGeom>
          <a:noFill/>
          <a:ln/>
        </p:spPr>
        <p:txBody>
          <a:bodyPr wrap="none" lIns="0" tIns="0" rIns="0" bIns="0" rtlCol="0" anchor="t"/>
          <a:lstStyle/>
          <a:p>
            <a:pPr marL="0" indent="0" algn="l">
              <a:lnSpc>
                <a:spcPts val="2350"/>
              </a:lnSpc>
              <a:buNone/>
            </a:pPr>
            <a:r>
              <a:rPr lang="en-US" b="1" dirty="0">
                <a:solidFill>
                  <a:srgbClr val="4B4A4A"/>
                </a:solidFill>
                <a:latin typeface="Noto Serif SC Bold" pitchFamily="34" charset="0"/>
                <a:ea typeface="Noto Serif SC Bold" pitchFamily="34" charset="-122"/>
                <a:cs typeface="Noto Serif SC Bold" pitchFamily="34" charset="-120"/>
              </a:rPr>
              <a:t>Tiêu đề trang</a:t>
            </a:r>
            <a:endParaRPr lang="en-US" dirty="0"/>
          </a:p>
        </p:txBody>
      </p:sp>
      <p:sp>
        <p:nvSpPr>
          <p:cNvPr id="8" name="Text 6"/>
          <p:cNvSpPr/>
          <p:nvPr/>
        </p:nvSpPr>
        <p:spPr>
          <a:xfrm>
            <a:off x="962739" y="5674757"/>
            <a:ext cx="3842861" cy="619125"/>
          </a:xfrm>
          <a:prstGeom prst="rect">
            <a:avLst/>
          </a:prstGeom>
          <a:noFill/>
          <a:ln/>
        </p:spPr>
        <p:txBody>
          <a:bodyPr wrap="square" lIns="0" tIns="0" rIns="0" bIns="0" rtlCol="0" anchor="t"/>
          <a:lstStyle/>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&lt;h1&gt;ESP32 WEB CONTROL&lt;/h1&gt;</a:t>
            </a:r>
            <a:r>
              <a:rPr lang="en-US" dirty="0">
                <a:solidFill>
                  <a:srgbClr val="4B4A4A"/>
                </a:solidFill>
                <a:latin typeface="Geist" pitchFamily="34" charset="0"/>
                <a:ea typeface="Geist" pitchFamily="34" charset="-122"/>
                <a:cs typeface="Geist" pitchFamily="34" charset="-120"/>
              </a:rPr>
              <a:t> - Hiển thị tiêu đề lớn ở đầu trang.</a:t>
            </a:r>
            <a:endParaRPr lang="en-US" dirty="0"/>
          </a:p>
        </p:txBody>
      </p:sp>
      <p:sp>
        <p:nvSpPr>
          <p:cNvPr id="9" name="Shape 7"/>
          <p:cNvSpPr/>
          <p:nvPr/>
        </p:nvSpPr>
        <p:spPr>
          <a:xfrm>
            <a:off x="5195173" y="5063133"/>
            <a:ext cx="4240054" cy="2642473"/>
          </a:xfrm>
          <a:prstGeom prst="roundRect">
            <a:avLst>
              <a:gd name="adj" fmla="val 6507"/>
            </a:avLst>
          </a:prstGeom>
          <a:solidFill>
            <a:srgbClr val="D1EFE4"/>
          </a:solidFill>
          <a:ln w="7620">
            <a:solidFill>
              <a:srgbClr val="B7D5CA"/>
            </a:solidFill>
            <a:prstDash val="solid"/>
          </a:ln>
        </p:spPr>
      </p:sp>
      <p:sp>
        <p:nvSpPr>
          <p:cNvPr id="10" name="Text 8"/>
          <p:cNvSpPr/>
          <p:nvPr/>
        </p:nvSpPr>
        <p:spPr>
          <a:xfrm>
            <a:off x="5393769" y="5261729"/>
            <a:ext cx="2388037" cy="298490"/>
          </a:xfrm>
          <a:prstGeom prst="rect">
            <a:avLst/>
          </a:prstGeom>
          <a:noFill/>
          <a:ln/>
        </p:spPr>
        <p:txBody>
          <a:bodyPr wrap="none" lIns="0" tIns="0" rIns="0" bIns="0" rtlCol="0" anchor="t"/>
          <a:lstStyle/>
          <a:p>
            <a:pPr marL="0" indent="0" algn="l">
              <a:lnSpc>
                <a:spcPts val="2350"/>
              </a:lnSpc>
              <a:buNone/>
            </a:pPr>
            <a:r>
              <a:rPr lang="en-US" b="1" dirty="0">
                <a:solidFill>
                  <a:srgbClr val="4B4A4A"/>
                </a:solidFill>
                <a:latin typeface="Noto Serif SC Bold" pitchFamily="34" charset="0"/>
                <a:ea typeface="Noto Serif SC Bold" pitchFamily="34" charset="-122"/>
                <a:cs typeface="Noto Serif SC Bold" pitchFamily="34" charset="-120"/>
              </a:rPr>
              <a:t>Hai nút điều khiển</a:t>
            </a:r>
            <a:endParaRPr lang="en-US" dirty="0"/>
          </a:p>
        </p:txBody>
      </p:sp>
      <p:sp>
        <p:nvSpPr>
          <p:cNvPr id="11" name="Text 9"/>
          <p:cNvSpPr/>
          <p:nvPr/>
        </p:nvSpPr>
        <p:spPr>
          <a:xfrm>
            <a:off x="5393769" y="5674757"/>
            <a:ext cx="3842861" cy="313373"/>
          </a:xfrm>
          <a:prstGeom prst="rect">
            <a:avLst/>
          </a:prstGeom>
          <a:noFill/>
          <a:ln/>
        </p:spPr>
        <p:txBody>
          <a:bodyPr wrap="none" lIns="0" tIns="0" rIns="0" bIns="0" rtlCol="0" anchor="t"/>
          <a:lstStyle/>
          <a:p>
            <a:pPr marL="0" indent="0" algn="l">
              <a:lnSpc>
                <a:spcPts val="2400"/>
              </a:lnSpc>
              <a:buNone/>
            </a:pPr>
            <a:r>
              <a:rPr lang="en-US" dirty="0">
                <a:solidFill>
                  <a:srgbClr val="4B4A4A"/>
                </a:solidFill>
                <a:latin typeface="Geist" pitchFamily="34" charset="0"/>
                <a:ea typeface="Geist" pitchFamily="34" charset="-122"/>
                <a:cs typeface="Geist" pitchFamily="34" charset="-120"/>
              </a:rPr>
              <a:t>Mỗi nút là một thẻ </a:t>
            </a:r>
            <a:r>
              <a:rPr lang="en-US" dirty="0">
                <a:solidFill>
                  <a:srgbClr val="4B4A4A"/>
                </a:solidFill>
                <a:highlight>
                  <a:srgbClr val="D8ECE5"/>
                </a:highlight>
                <a:latin typeface="Consolas" pitchFamily="34" charset="0"/>
                <a:ea typeface="Consolas" pitchFamily="34" charset="-122"/>
                <a:cs typeface="Consolas" pitchFamily="34" charset="-120"/>
              </a:rPr>
              <a:t>&lt;a&gt;</a:t>
            </a:r>
            <a:r>
              <a:rPr lang="en-US" dirty="0">
                <a:solidFill>
                  <a:srgbClr val="4B4A4A"/>
                </a:solidFill>
                <a:latin typeface="Geist" pitchFamily="34" charset="0"/>
                <a:ea typeface="Geist" pitchFamily="34" charset="-122"/>
                <a:cs typeface="Geist" pitchFamily="34" charset="-120"/>
              </a:rPr>
              <a:t> (link) trỏ đến:</a:t>
            </a:r>
            <a:endParaRPr lang="en-US" dirty="0"/>
          </a:p>
        </p:txBody>
      </p:sp>
      <p:sp>
        <p:nvSpPr>
          <p:cNvPr id="12" name="Text 10"/>
          <p:cNvSpPr/>
          <p:nvPr/>
        </p:nvSpPr>
        <p:spPr>
          <a:xfrm>
            <a:off x="5393769" y="6102668"/>
            <a:ext cx="3842861" cy="305753"/>
          </a:xfrm>
          <a:prstGeom prst="rect">
            <a:avLst/>
          </a:prstGeom>
          <a:noFill/>
          <a:ln/>
        </p:spPr>
        <p:txBody>
          <a:bodyPr wrap="none" lIns="0" tIns="0" rIns="0" bIns="0" rtlCol="0" anchor="t"/>
          <a:lstStyle/>
          <a:p>
            <a:pPr marL="342900" indent="-342900" algn="l">
              <a:lnSpc>
                <a:spcPts val="2400"/>
              </a:lnSpc>
              <a:buSzPct val="100000"/>
              <a:buChar char="•"/>
            </a:pPr>
            <a:r>
              <a:rPr lang="en-US" b="1" dirty="0">
                <a:solidFill>
                  <a:srgbClr val="4B4A4A"/>
                </a:solidFill>
                <a:latin typeface="Geist" pitchFamily="34" charset="0"/>
                <a:ea typeface="Geist" pitchFamily="34" charset="-122"/>
                <a:cs typeface="Geist" pitchFamily="34" charset="-120"/>
              </a:rPr>
              <a:t>/on</a:t>
            </a:r>
            <a:r>
              <a:rPr lang="en-US" dirty="0">
                <a:solidFill>
                  <a:srgbClr val="4B4A4A"/>
                </a:solidFill>
                <a:latin typeface="Geist" pitchFamily="34" charset="0"/>
                <a:ea typeface="Geist" pitchFamily="34" charset="-122"/>
                <a:cs typeface="Geist" pitchFamily="34" charset="-120"/>
              </a:rPr>
              <a:t> → Bật đèn</a:t>
            </a:r>
            <a:endParaRPr lang="en-US" dirty="0"/>
          </a:p>
        </p:txBody>
      </p:sp>
      <p:sp>
        <p:nvSpPr>
          <p:cNvPr id="13" name="Text 11"/>
          <p:cNvSpPr/>
          <p:nvPr/>
        </p:nvSpPr>
        <p:spPr>
          <a:xfrm>
            <a:off x="5393769" y="6475214"/>
            <a:ext cx="3842861" cy="305753"/>
          </a:xfrm>
          <a:prstGeom prst="rect">
            <a:avLst/>
          </a:prstGeom>
          <a:noFill/>
          <a:ln/>
        </p:spPr>
        <p:txBody>
          <a:bodyPr wrap="none" lIns="0" tIns="0" rIns="0" bIns="0" rtlCol="0" anchor="t"/>
          <a:lstStyle/>
          <a:p>
            <a:pPr marL="342900" indent="-342900" algn="l">
              <a:lnSpc>
                <a:spcPts val="2400"/>
              </a:lnSpc>
              <a:buSzPct val="100000"/>
              <a:buChar char="•"/>
            </a:pPr>
            <a:r>
              <a:rPr lang="en-US" b="1" dirty="0">
                <a:solidFill>
                  <a:srgbClr val="4B4A4A"/>
                </a:solidFill>
                <a:latin typeface="Geist" pitchFamily="34" charset="0"/>
                <a:ea typeface="Geist" pitchFamily="34" charset="-122"/>
                <a:cs typeface="Geist" pitchFamily="34" charset="-120"/>
              </a:rPr>
              <a:t>/off</a:t>
            </a:r>
            <a:r>
              <a:rPr lang="en-US" dirty="0">
                <a:solidFill>
                  <a:srgbClr val="4B4A4A"/>
                </a:solidFill>
                <a:latin typeface="Geist" pitchFamily="34" charset="0"/>
                <a:ea typeface="Geist" pitchFamily="34" charset="-122"/>
                <a:cs typeface="Geist" pitchFamily="34" charset="-120"/>
              </a:rPr>
              <a:t> → Tắt đèn</a:t>
            </a:r>
            <a:endParaRPr lang="en-US" dirty="0"/>
          </a:p>
        </p:txBody>
      </p:sp>
      <p:sp>
        <p:nvSpPr>
          <p:cNvPr id="14" name="Text 12"/>
          <p:cNvSpPr/>
          <p:nvPr/>
        </p:nvSpPr>
        <p:spPr>
          <a:xfrm>
            <a:off x="5393769" y="6895505"/>
            <a:ext cx="3842861" cy="611505"/>
          </a:xfrm>
          <a:prstGeom prst="rect">
            <a:avLst/>
          </a:prstGeom>
          <a:noFill/>
          <a:ln/>
        </p:spPr>
        <p:txBody>
          <a:bodyPr wrap="square" lIns="0" tIns="0" rIns="0" bIns="0" rtlCol="0" anchor="t"/>
          <a:lstStyle/>
          <a:p>
            <a:pPr marL="0" indent="0" algn="l">
              <a:lnSpc>
                <a:spcPts val="2400"/>
              </a:lnSpc>
              <a:buNone/>
            </a:pPr>
            <a:r>
              <a:rPr lang="en-US" dirty="0">
                <a:solidFill>
                  <a:srgbClr val="4B4A4A"/>
                </a:solidFill>
                <a:latin typeface="Geist" pitchFamily="34" charset="0"/>
                <a:ea typeface="Geist" pitchFamily="34" charset="-122"/>
                <a:cs typeface="Geist" pitchFamily="34" charset="-120"/>
              </a:rPr>
              <a:t>Khi click, trình duyệt sẽ gửi GET request đến địa chỉ đó.</a:t>
            </a:r>
            <a:endParaRPr lang="en-US" dirty="0"/>
          </a:p>
        </p:txBody>
      </p:sp>
      <p:sp>
        <p:nvSpPr>
          <p:cNvPr id="15" name="Shape 13"/>
          <p:cNvSpPr/>
          <p:nvPr/>
        </p:nvSpPr>
        <p:spPr>
          <a:xfrm>
            <a:off x="9626203" y="5063133"/>
            <a:ext cx="4240054" cy="2642473"/>
          </a:xfrm>
          <a:prstGeom prst="roundRect">
            <a:avLst>
              <a:gd name="adj" fmla="val 6507"/>
            </a:avLst>
          </a:prstGeom>
          <a:solidFill>
            <a:srgbClr val="D1EFE4"/>
          </a:solidFill>
          <a:ln w="7620">
            <a:solidFill>
              <a:srgbClr val="B7D5CA"/>
            </a:solidFill>
            <a:prstDash val="solid"/>
          </a:ln>
        </p:spPr>
      </p:sp>
      <p:sp>
        <p:nvSpPr>
          <p:cNvPr id="16" name="Text 14"/>
          <p:cNvSpPr/>
          <p:nvPr/>
        </p:nvSpPr>
        <p:spPr>
          <a:xfrm>
            <a:off x="9824799" y="5261729"/>
            <a:ext cx="2388037" cy="298490"/>
          </a:xfrm>
          <a:prstGeom prst="rect">
            <a:avLst/>
          </a:prstGeom>
          <a:noFill/>
          <a:ln/>
        </p:spPr>
        <p:txBody>
          <a:bodyPr wrap="none" lIns="0" tIns="0" rIns="0" bIns="0" rtlCol="0" anchor="t"/>
          <a:lstStyle/>
          <a:p>
            <a:pPr marL="0" indent="0" algn="l">
              <a:lnSpc>
                <a:spcPts val="2350"/>
              </a:lnSpc>
              <a:buNone/>
            </a:pPr>
            <a:r>
              <a:rPr lang="en-US" b="1" dirty="0">
                <a:solidFill>
                  <a:srgbClr val="4B4A4A"/>
                </a:solidFill>
                <a:latin typeface="Noto Serif SC Bold" pitchFamily="34" charset="0"/>
                <a:ea typeface="Noto Serif SC Bold" pitchFamily="34" charset="-122"/>
                <a:cs typeface="Noto Serif SC Bold" pitchFamily="34" charset="-120"/>
              </a:rPr>
              <a:t>Return HTML</a:t>
            </a:r>
            <a:endParaRPr lang="en-US" dirty="0"/>
          </a:p>
        </p:txBody>
      </p:sp>
      <p:sp>
        <p:nvSpPr>
          <p:cNvPr id="17" name="Text 15"/>
          <p:cNvSpPr/>
          <p:nvPr/>
        </p:nvSpPr>
        <p:spPr>
          <a:xfrm>
            <a:off x="9824799" y="5674757"/>
            <a:ext cx="3842861" cy="917258"/>
          </a:xfrm>
          <a:prstGeom prst="rect">
            <a:avLst/>
          </a:prstGeom>
          <a:noFill/>
          <a:ln/>
        </p:spPr>
        <p:txBody>
          <a:bodyPr wrap="square" lIns="0" tIns="0" rIns="0" bIns="0" rtlCol="0" anchor="t"/>
          <a:lstStyle/>
          <a:p>
            <a:pPr marL="0" indent="0" algn="l">
              <a:lnSpc>
                <a:spcPts val="2400"/>
              </a:lnSpc>
              <a:buNone/>
            </a:pPr>
            <a:r>
              <a:rPr lang="en-US" dirty="0">
                <a:solidFill>
                  <a:srgbClr val="4B4A4A"/>
                </a:solidFill>
                <a:latin typeface="Geist" pitchFamily="34" charset="0"/>
                <a:ea typeface="Geist" pitchFamily="34" charset="-122"/>
                <a:cs typeface="Geist" pitchFamily="34" charset="-120"/>
              </a:rPr>
              <a:t>Hàm trả về chuỗi HTML hoàn chỉnh. ESP32 sẽ gửi chuỗi này cho Client mỗi khi có yêu cầu.</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4" grpId="0" animBg="1"/>
      <p:bldP spid="16"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11850" y="358021"/>
            <a:ext cx="7589877" cy="399812"/>
          </a:xfrm>
          <a:prstGeom prst="rect">
            <a:avLst/>
          </a:prstGeom>
          <a:noFill/>
          <a:ln/>
        </p:spPr>
        <p:txBody>
          <a:bodyPr wrap="none" lIns="0" tIns="0" rIns="0" bIns="0" rtlCol="0" anchor="t"/>
          <a:lstStyle/>
          <a:p>
            <a:pPr marL="0" indent="0" algn="l">
              <a:lnSpc>
                <a:spcPts val="3100"/>
              </a:lnSpc>
              <a:buNone/>
            </a:pPr>
            <a:r>
              <a:rPr lang="en-US" sz="2500" b="1" dirty="0">
                <a:solidFill>
                  <a:srgbClr val="006747"/>
                </a:solidFill>
                <a:latin typeface="Noto Serif SC Bold" pitchFamily="34" charset="0"/>
                <a:ea typeface="Noto Serif SC Bold" pitchFamily="34" charset="-122"/>
                <a:cs typeface="Noto Serif SC Bold" pitchFamily="34" charset="-120"/>
              </a:rPr>
              <a:t>Bước 4: Viết các hàm xử lý (Handler Functions)</a:t>
            </a:r>
            <a:endParaRPr lang="en-US" sz="2500" dirty="0"/>
          </a:p>
        </p:txBody>
      </p:sp>
      <p:sp>
        <p:nvSpPr>
          <p:cNvPr id="3" name="Shape 1"/>
          <p:cNvSpPr/>
          <p:nvPr/>
        </p:nvSpPr>
        <p:spPr>
          <a:xfrm>
            <a:off x="511850" y="1013698"/>
            <a:ext cx="13606701" cy="3694154"/>
          </a:xfrm>
          <a:prstGeom prst="roundRect">
            <a:avLst>
              <a:gd name="adj" fmla="val 2970"/>
            </a:avLst>
          </a:prstGeom>
          <a:solidFill>
            <a:srgbClr val="D8ECE5"/>
          </a:solidFill>
          <a:ln/>
        </p:spPr>
      </p:sp>
      <p:sp>
        <p:nvSpPr>
          <p:cNvPr id="4" name="Shape 2"/>
          <p:cNvSpPr/>
          <p:nvPr/>
        </p:nvSpPr>
        <p:spPr>
          <a:xfrm>
            <a:off x="505539" y="821186"/>
            <a:ext cx="13619321" cy="3878104"/>
          </a:xfrm>
          <a:prstGeom prst="roundRect">
            <a:avLst>
              <a:gd name="adj" fmla="val 495"/>
            </a:avLst>
          </a:prstGeom>
          <a:solidFill>
            <a:srgbClr val="D8ECE5"/>
          </a:solidFill>
          <a:ln/>
        </p:spPr>
      </p:sp>
      <p:sp>
        <p:nvSpPr>
          <p:cNvPr id="5" name="Text 3"/>
          <p:cNvSpPr/>
          <p:nvPr/>
        </p:nvSpPr>
        <p:spPr>
          <a:xfrm>
            <a:off x="633412" y="953247"/>
            <a:ext cx="13363575" cy="3686175"/>
          </a:xfrm>
          <a:prstGeom prst="rect">
            <a:avLst/>
          </a:prstGeom>
          <a:noFill/>
          <a:ln/>
        </p:spPr>
        <p:txBody>
          <a:bodyPr wrap="square" lIns="0" tIns="0" rIns="0" bIns="0" rtlCol="0" anchor="t"/>
          <a:lstStyle/>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Khi người dùng vào địa chỉ gốc (ví dụ: 192.168.1.5/)</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void handleRoot() {</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server.send(200, "text/html", getHTML());</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a:t>
            </a:r>
            <a:endParaRPr lang="en-US" sz="1600" dirty="0"/>
          </a:p>
          <a:p>
            <a:pPr marL="0" indent="0" algn="l">
              <a:lnSpc>
                <a:spcPts val="1600"/>
              </a:lnSpc>
              <a:buNone/>
            </a:pP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Khi người dùng bấm nút Bật (vào địa chỉ /on)</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void handleOn() {</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digitalWrite(LED_PIN, HIGH);          // Bật đèn thật</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Serial.println("Da Bat Den!");</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server.send(200, "text/html", getHTML());</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a:t>
            </a:r>
            <a:endParaRPr lang="en-US" sz="1600" dirty="0"/>
          </a:p>
          <a:p>
            <a:pPr marL="0" indent="0" algn="l">
              <a:lnSpc>
                <a:spcPts val="1600"/>
              </a:lnSpc>
              <a:buNone/>
            </a:pP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Khi người dùng bấm nút Tắt (vào địa chỉ /off)</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void handleOff() {</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digitalWrite(LED_PIN, LOW);           // Tắt đèn thật</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Serial.println("Da Tat Den!");</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server.send(200, "text/html", getHTML());</a:t>
            </a:r>
            <a:endParaRPr lang="en-US" sz="1600" dirty="0"/>
          </a:p>
          <a:p>
            <a:pPr marL="0" indent="0" algn="l">
              <a:lnSpc>
                <a:spcPts val="16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a:t>
            </a:r>
            <a:endParaRPr lang="en-US" sz="1600" dirty="0"/>
          </a:p>
        </p:txBody>
      </p:sp>
      <p:sp>
        <p:nvSpPr>
          <p:cNvPr id="6" name="Text 4"/>
          <p:cNvSpPr/>
          <p:nvPr/>
        </p:nvSpPr>
        <p:spPr>
          <a:xfrm>
            <a:off x="511850" y="4802676"/>
            <a:ext cx="1599724" cy="200025"/>
          </a:xfrm>
          <a:prstGeom prst="rect">
            <a:avLst/>
          </a:prstGeom>
          <a:noFill/>
          <a:ln/>
        </p:spPr>
        <p:txBody>
          <a:bodyPr wrap="none" lIns="0" tIns="0" rIns="0" bIns="0" rtlCol="0" anchor="t"/>
          <a:lstStyle/>
          <a:p>
            <a:pPr marL="0" indent="0" algn="l">
              <a:lnSpc>
                <a:spcPts val="1550"/>
              </a:lnSpc>
              <a:buNone/>
            </a:pPr>
            <a:r>
              <a:rPr lang="en-US" b="1" dirty="0">
                <a:solidFill>
                  <a:srgbClr val="006747"/>
                </a:solidFill>
                <a:latin typeface="Noto Serif SC Bold" pitchFamily="34" charset="0"/>
                <a:ea typeface="Noto Serif SC Bold" pitchFamily="34" charset="-122"/>
                <a:cs typeface="Noto Serif SC Bold" pitchFamily="34" charset="-120"/>
              </a:rPr>
              <a:t>handleRoot()</a:t>
            </a:r>
            <a:endParaRPr lang="en-US" dirty="0"/>
          </a:p>
        </p:txBody>
      </p:sp>
      <p:sp>
        <p:nvSpPr>
          <p:cNvPr id="7" name="Text 5"/>
          <p:cNvSpPr/>
          <p:nvPr/>
        </p:nvSpPr>
        <p:spPr>
          <a:xfrm>
            <a:off x="511850" y="5154638"/>
            <a:ext cx="6647259" cy="204788"/>
          </a:xfrm>
          <a:prstGeom prst="rect">
            <a:avLst/>
          </a:prstGeom>
          <a:noFill/>
          <a:ln/>
        </p:spPr>
        <p:txBody>
          <a:bodyPr wrap="square" lIns="0" tIns="0" rIns="0" bIns="0" rtlCol="0" anchor="t"/>
          <a:lstStyle/>
          <a:p>
            <a:pPr marL="0" indent="0" algn="l">
              <a:buNone/>
            </a:pPr>
            <a:r>
              <a:rPr lang="en-US" spc="-150" dirty="0">
                <a:solidFill>
                  <a:srgbClr val="4B4A4A"/>
                </a:solidFill>
                <a:latin typeface="Geist" pitchFamily="34" charset="0"/>
                <a:ea typeface="Geist" pitchFamily="34" charset="-122"/>
                <a:cs typeface="Geist" pitchFamily="34" charset="-120"/>
              </a:rPr>
              <a:t>Được gọi khi người dùng truy cập trang chủ (ví dụ: </a:t>
            </a:r>
            <a:r>
              <a:rPr lang="en-US" spc="-150" dirty="0">
                <a:solidFill>
                  <a:srgbClr val="4B4A4A"/>
                </a:solidFill>
                <a:highlight>
                  <a:srgbClr val="D8ECE5"/>
                </a:highlight>
                <a:latin typeface="Consolas" pitchFamily="34" charset="0"/>
                <a:ea typeface="Consolas" pitchFamily="34" charset="-122"/>
                <a:cs typeface="Consolas" pitchFamily="34" charset="-120"/>
              </a:rPr>
              <a:t>http://192.168.1.5/</a:t>
            </a:r>
            <a:r>
              <a:rPr lang="en-US" spc="-150" dirty="0">
                <a:solidFill>
                  <a:srgbClr val="4B4A4A"/>
                </a:solidFill>
                <a:latin typeface="Geist" pitchFamily="34" charset="0"/>
                <a:ea typeface="Geist" pitchFamily="34" charset="-122"/>
                <a:cs typeface="Geist" pitchFamily="34" charset="-120"/>
              </a:rPr>
              <a:t>).</a:t>
            </a:r>
            <a:endParaRPr lang="en-US" spc="-150" dirty="0"/>
          </a:p>
        </p:txBody>
      </p:sp>
      <p:sp>
        <p:nvSpPr>
          <p:cNvPr id="8" name="Text 6"/>
          <p:cNvSpPr/>
          <p:nvPr/>
        </p:nvSpPr>
        <p:spPr>
          <a:xfrm>
            <a:off x="504230" y="5655039"/>
            <a:ext cx="6654879" cy="204788"/>
          </a:xfrm>
          <a:prstGeom prst="rect">
            <a:avLst/>
          </a:prstGeom>
          <a:noFill/>
          <a:ln/>
        </p:spPr>
        <p:txBody>
          <a:bodyPr wrap="square" lIns="0" tIns="0" rIns="0" bIns="0" rtlCol="0" anchor="t"/>
          <a:lstStyle/>
          <a:p>
            <a:pPr marL="0" indent="0" algn="l">
              <a:lnSpc>
                <a:spcPts val="1600"/>
              </a:lnSpc>
              <a:buNone/>
            </a:pPr>
            <a:r>
              <a:rPr lang="en-US" spc="-150" dirty="0">
                <a:solidFill>
                  <a:srgbClr val="4B4A4A"/>
                </a:solidFill>
                <a:latin typeface="Geist" pitchFamily="34" charset="0"/>
                <a:ea typeface="Geist" pitchFamily="34" charset="-122"/>
                <a:cs typeface="Geist" pitchFamily="34" charset="-120"/>
              </a:rPr>
              <a:t>Nhiệm vụ: Gửi trả lại mã HTML (giao diện) với mã trạng thái 200 (OK).</a:t>
            </a:r>
            <a:endParaRPr lang="en-US" spc="-150" dirty="0"/>
          </a:p>
        </p:txBody>
      </p:sp>
      <p:sp>
        <p:nvSpPr>
          <p:cNvPr id="9" name="Text 7"/>
          <p:cNvSpPr/>
          <p:nvPr/>
        </p:nvSpPr>
        <p:spPr>
          <a:xfrm>
            <a:off x="511850" y="6144101"/>
            <a:ext cx="1599724" cy="200025"/>
          </a:xfrm>
          <a:prstGeom prst="rect">
            <a:avLst/>
          </a:prstGeom>
          <a:noFill/>
          <a:ln/>
        </p:spPr>
        <p:txBody>
          <a:bodyPr wrap="none" lIns="0" tIns="0" rIns="0" bIns="0" rtlCol="0" anchor="t"/>
          <a:lstStyle/>
          <a:p>
            <a:pPr marL="0" indent="0" algn="l">
              <a:lnSpc>
                <a:spcPts val="1550"/>
              </a:lnSpc>
              <a:buNone/>
            </a:pPr>
            <a:r>
              <a:rPr lang="en-US" b="1" dirty="0">
                <a:solidFill>
                  <a:srgbClr val="006747"/>
                </a:solidFill>
                <a:latin typeface="Noto Serif SC Bold" pitchFamily="34" charset="0"/>
                <a:ea typeface="Noto Serif SC Bold" pitchFamily="34" charset="-122"/>
                <a:cs typeface="Noto Serif SC Bold" pitchFamily="34" charset="-120"/>
              </a:rPr>
              <a:t>handleOn()</a:t>
            </a:r>
            <a:endParaRPr lang="en-US" dirty="0"/>
          </a:p>
        </p:txBody>
      </p:sp>
      <p:sp>
        <p:nvSpPr>
          <p:cNvPr id="10" name="Text 8"/>
          <p:cNvSpPr/>
          <p:nvPr/>
        </p:nvSpPr>
        <p:spPr>
          <a:xfrm>
            <a:off x="511850" y="6471999"/>
            <a:ext cx="6647259" cy="204788"/>
          </a:xfrm>
          <a:prstGeom prst="rect">
            <a:avLst/>
          </a:prstGeom>
          <a:noFill/>
          <a:ln/>
        </p:spPr>
        <p:txBody>
          <a:bodyPr wrap="none" lIns="0" tIns="0" rIns="0" bIns="0" rtlCol="0" anchor="t"/>
          <a:lstStyle/>
          <a:p>
            <a:pPr marL="0" indent="0" algn="l">
              <a:lnSpc>
                <a:spcPts val="1600"/>
              </a:lnSpc>
              <a:buNone/>
            </a:pPr>
            <a:r>
              <a:rPr lang="en-US" dirty="0">
                <a:solidFill>
                  <a:srgbClr val="4B4A4A"/>
                </a:solidFill>
                <a:latin typeface="Geist" pitchFamily="34" charset="0"/>
                <a:ea typeface="Geist" pitchFamily="34" charset="-122"/>
                <a:cs typeface="Geist" pitchFamily="34" charset="-120"/>
              </a:rPr>
              <a:t>Được gọi khi người dùng bấm nút "BẬT ĐÈN" (truy cập </a:t>
            </a:r>
            <a:r>
              <a:rPr lang="en-US" dirty="0">
                <a:solidFill>
                  <a:srgbClr val="4B4A4A"/>
                </a:solidFill>
                <a:highlight>
                  <a:srgbClr val="D8ECE5"/>
                </a:highlight>
                <a:latin typeface="Consolas" pitchFamily="34" charset="0"/>
                <a:ea typeface="Consolas" pitchFamily="34" charset="-122"/>
                <a:cs typeface="Consolas" pitchFamily="34" charset="-120"/>
              </a:rPr>
              <a:t>/on</a:t>
            </a:r>
            <a:r>
              <a:rPr lang="en-US" dirty="0">
                <a:solidFill>
                  <a:srgbClr val="4B4A4A"/>
                </a:solidFill>
                <a:latin typeface="Geist" pitchFamily="34" charset="0"/>
                <a:ea typeface="Geist" pitchFamily="34" charset="-122"/>
                <a:cs typeface="Geist" pitchFamily="34" charset="-120"/>
              </a:rPr>
              <a:t>).</a:t>
            </a:r>
            <a:endParaRPr lang="en-US" dirty="0"/>
          </a:p>
        </p:txBody>
      </p:sp>
      <p:sp>
        <p:nvSpPr>
          <p:cNvPr id="11" name="Text 9"/>
          <p:cNvSpPr/>
          <p:nvPr/>
        </p:nvSpPr>
        <p:spPr>
          <a:xfrm>
            <a:off x="511850" y="6791920"/>
            <a:ext cx="6647259" cy="204788"/>
          </a:xfrm>
          <a:prstGeom prst="rect">
            <a:avLst/>
          </a:prstGeom>
          <a:noFill/>
          <a:ln/>
        </p:spPr>
        <p:txBody>
          <a:bodyPr wrap="none" lIns="0" tIns="0" rIns="0" bIns="0" rtlCol="0" anchor="t"/>
          <a:lstStyle/>
          <a:p>
            <a:pPr marL="0" indent="0" algn="l">
              <a:lnSpc>
                <a:spcPts val="1600"/>
              </a:lnSpc>
              <a:buNone/>
            </a:pPr>
            <a:r>
              <a:rPr lang="en-US" dirty="0">
                <a:solidFill>
                  <a:srgbClr val="4B4A4A"/>
                </a:solidFill>
                <a:latin typeface="Geist" pitchFamily="34" charset="0"/>
                <a:ea typeface="Geist" pitchFamily="34" charset="-122"/>
                <a:cs typeface="Geist" pitchFamily="34" charset="-120"/>
              </a:rPr>
              <a:t>Nhiệm vụ:</a:t>
            </a:r>
            <a:endParaRPr lang="en-US" dirty="0"/>
          </a:p>
        </p:txBody>
      </p:sp>
      <p:sp>
        <p:nvSpPr>
          <p:cNvPr id="12" name="Text 10"/>
          <p:cNvSpPr/>
          <p:nvPr/>
        </p:nvSpPr>
        <p:spPr>
          <a:xfrm>
            <a:off x="511850" y="7111841"/>
            <a:ext cx="6647259" cy="204788"/>
          </a:xfrm>
          <a:prstGeom prst="rect">
            <a:avLst/>
          </a:prstGeom>
          <a:noFill/>
          <a:ln/>
        </p:spPr>
        <p:txBody>
          <a:bodyPr wrap="none" lIns="0" tIns="0" rIns="0" bIns="0" rtlCol="0" anchor="t"/>
          <a:lstStyle/>
          <a:p>
            <a:pPr marL="342900" indent="-342900" algn="l">
              <a:lnSpc>
                <a:spcPts val="1600"/>
              </a:lnSpc>
              <a:buSzPct val="100000"/>
              <a:buFont typeface="+mj-lt"/>
              <a:buAutoNum type="arabicPeriod"/>
            </a:pPr>
            <a:r>
              <a:rPr lang="en-US" dirty="0">
                <a:solidFill>
                  <a:srgbClr val="4B4A4A"/>
                </a:solidFill>
                <a:latin typeface="Geist" pitchFamily="34" charset="0"/>
                <a:ea typeface="Geist" pitchFamily="34" charset="-122"/>
                <a:cs typeface="Geist" pitchFamily="34" charset="-120"/>
              </a:rPr>
              <a:t>Bật LED bằng </a:t>
            </a:r>
            <a:r>
              <a:rPr lang="en-US" dirty="0">
                <a:solidFill>
                  <a:srgbClr val="4B4A4A"/>
                </a:solidFill>
                <a:highlight>
                  <a:srgbClr val="D8ECE5"/>
                </a:highlight>
                <a:latin typeface="Consolas" pitchFamily="34" charset="0"/>
                <a:ea typeface="Consolas" pitchFamily="34" charset="-122"/>
                <a:cs typeface="Consolas" pitchFamily="34" charset="-120"/>
              </a:rPr>
              <a:t>digitalWrite(LED_PIN, HIGH)</a:t>
            </a:r>
            <a:endParaRPr lang="en-US" dirty="0"/>
          </a:p>
        </p:txBody>
      </p:sp>
      <p:sp>
        <p:nvSpPr>
          <p:cNvPr id="13" name="Text 11"/>
          <p:cNvSpPr/>
          <p:nvPr/>
        </p:nvSpPr>
        <p:spPr>
          <a:xfrm>
            <a:off x="511850" y="7361396"/>
            <a:ext cx="6647259" cy="204788"/>
          </a:xfrm>
          <a:prstGeom prst="rect">
            <a:avLst/>
          </a:prstGeom>
          <a:noFill/>
          <a:ln/>
        </p:spPr>
        <p:txBody>
          <a:bodyPr wrap="none" lIns="0" tIns="0" rIns="0" bIns="0" rtlCol="0" anchor="t"/>
          <a:lstStyle/>
          <a:p>
            <a:pPr marL="342900" indent="-342900" algn="l">
              <a:lnSpc>
                <a:spcPts val="1600"/>
              </a:lnSpc>
              <a:buSzPct val="100000"/>
              <a:buFont typeface="+mj-lt"/>
              <a:buAutoNum type="arabicPeriod" startAt="2"/>
            </a:pPr>
            <a:r>
              <a:rPr lang="en-US" dirty="0">
                <a:solidFill>
                  <a:srgbClr val="4B4A4A"/>
                </a:solidFill>
                <a:latin typeface="Geist" pitchFamily="34" charset="0"/>
                <a:ea typeface="Geist" pitchFamily="34" charset="-122"/>
                <a:cs typeface="Geist" pitchFamily="34" charset="-120"/>
              </a:rPr>
              <a:t>In thông báo ra Serial Monitor</a:t>
            </a:r>
            <a:endParaRPr lang="en-US" dirty="0"/>
          </a:p>
        </p:txBody>
      </p:sp>
      <p:sp>
        <p:nvSpPr>
          <p:cNvPr id="14" name="Text 12"/>
          <p:cNvSpPr/>
          <p:nvPr/>
        </p:nvSpPr>
        <p:spPr>
          <a:xfrm>
            <a:off x="511850" y="7610951"/>
            <a:ext cx="6647259" cy="204788"/>
          </a:xfrm>
          <a:prstGeom prst="rect">
            <a:avLst/>
          </a:prstGeom>
          <a:noFill/>
          <a:ln/>
        </p:spPr>
        <p:txBody>
          <a:bodyPr wrap="none" lIns="0" tIns="0" rIns="0" bIns="0" rtlCol="0" anchor="t"/>
          <a:lstStyle/>
          <a:p>
            <a:pPr marL="342900" indent="-342900" algn="l">
              <a:lnSpc>
                <a:spcPts val="1600"/>
              </a:lnSpc>
              <a:buSzPct val="100000"/>
              <a:buFont typeface="+mj-lt"/>
              <a:buAutoNum type="arabicPeriod" startAt="3"/>
            </a:pPr>
            <a:r>
              <a:rPr lang="en-US" dirty="0">
                <a:solidFill>
                  <a:srgbClr val="4B4A4A"/>
                </a:solidFill>
                <a:latin typeface="Geist" pitchFamily="34" charset="0"/>
                <a:ea typeface="Geist" pitchFamily="34" charset="-122"/>
                <a:cs typeface="Geist" pitchFamily="34" charset="-120"/>
              </a:rPr>
              <a:t>Gửi lại giao diện HTML để trang không bị trắng</a:t>
            </a:r>
            <a:endParaRPr lang="en-US" dirty="0"/>
          </a:p>
        </p:txBody>
      </p:sp>
      <p:sp>
        <p:nvSpPr>
          <p:cNvPr id="15" name="Text 13"/>
          <p:cNvSpPr/>
          <p:nvPr/>
        </p:nvSpPr>
        <p:spPr>
          <a:xfrm>
            <a:off x="7478911" y="5163622"/>
            <a:ext cx="1599724" cy="200025"/>
          </a:xfrm>
          <a:prstGeom prst="rect">
            <a:avLst/>
          </a:prstGeom>
          <a:noFill/>
          <a:ln/>
        </p:spPr>
        <p:txBody>
          <a:bodyPr wrap="none" lIns="0" tIns="0" rIns="0" bIns="0" rtlCol="0" anchor="t"/>
          <a:lstStyle/>
          <a:p>
            <a:pPr marL="0" indent="0" algn="l">
              <a:lnSpc>
                <a:spcPts val="1550"/>
              </a:lnSpc>
              <a:buNone/>
            </a:pPr>
            <a:r>
              <a:rPr lang="en-US" b="1" dirty="0">
                <a:solidFill>
                  <a:srgbClr val="006747"/>
                </a:solidFill>
                <a:latin typeface="Noto Serif SC Bold" pitchFamily="34" charset="0"/>
                <a:ea typeface="Noto Serif SC Bold" pitchFamily="34" charset="-122"/>
                <a:cs typeface="Noto Serif SC Bold" pitchFamily="34" charset="-120"/>
              </a:rPr>
              <a:t>handleOff()</a:t>
            </a:r>
            <a:endParaRPr lang="en-US" dirty="0"/>
          </a:p>
        </p:txBody>
      </p:sp>
      <p:sp>
        <p:nvSpPr>
          <p:cNvPr id="16" name="Text 14"/>
          <p:cNvSpPr/>
          <p:nvPr/>
        </p:nvSpPr>
        <p:spPr>
          <a:xfrm>
            <a:off x="7478911" y="5491520"/>
            <a:ext cx="6647259" cy="204788"/>
          </a:xfrm>
          <a:prstGeom prst="rect">
            <a:avLst/>
          </a:prstGeom>
          <a:noFill/>
          <a:ln/>
        </p:spPr>
        <p:txBody>
          <a:bodyPr wrap="none" lIns="0" tIns="0" rIns="0" bIns="0" rtlCol="0" anchor="t"/>
          <a:lstStyle/>
          <a:p>
            <a:pPr marL="0" indent="0" algn="l">
              <a:lnSpc>
                <a:spcPts val="1600"/>
              </a:lnSpc>
              <a:buNone/>
            </a:pPr>
            <a:r>
              <a:rPr lang="en-US" dirty="0">
                <a:solidFill>
                  <a:srgbClr val="4B4A4A"/>
                </a:solidFill>
                <a:latin typeface="Geist" pitchFamily="34" charset="0"/>
                <a:ea typeface="Geist" pitchFamily="34" charset="-122"/>
                <a:cs typeface="Geist" pitchFamily="34" charset="-120"/>
              </a:rPr>
              <a:t>Được gọi khi người dùng bấm nút "TẮT ĐÈN" (truy cập </a:t>
            </a:r>
            <a:r>
              <a:rPr lang="en-US" dirty="0">
                <a:solidFill>
                  <a:srgbClr val="4B4A4A"/>
                </a:solidFill>
                <a:highlight>
                  <a:srgbClr val="D8ECE5"/>
                </a:highlight>
                <a:latin typeface="Consolas" pitchFamily="34" charset="0"/>
                <a:ea typeface="Consolas" pitchFamily="34" charset="-122"/>
                <a:cs typeface="Consolas" pitchFamily="34" charset="-120"/>
              </a:rPr>
              <a:t>/off</a:t>
            </a:r>
            <a:r>
              <a:rPr lang="en-US" dirty="0">
                <a:solidFill>
                  <a:srgbClr val="4B4A4A"/>
                </a:solidFill>
                <a:latin typeface="Geist" pitchFamily="34" charset="0"/>
                <a:ea typeface="Geist" pitchFamily="34" charset="-122"/>
                <a:cs typeface="Geist" pitchFamily="34" charset="-120"/>
              </a:rPr>
              <a:t>).</a:t>
            </a:r>
            <a:endParaRPr lang="en-US" dirty="0"/>
          </a:p>
        </p:txBody>
      </p:sp>
      <p:sp>
        <p:nvSpPr>
          <p:cNvPr id="17" name="Text 15"/>
          <p:cNvSpPr/>
          <p:nvPr/>
        </p:nvSpPr>
        <p:spPr>
          <a:xfrm>
            <a:off x="7478911" y="5811441"/>
            <a:ext cx="6647259" cy="204788"/>
          </a:xfrm>
          <a:prstGeom prst="rect">
            <a:avLst/>
          </a:prstGeom>
          <a:noFill/>
          <a:ln/>
        </p:spPr>
        <p:txBody>
          <a:bodyPr wrap="none" lIns="0" tIns="0" rIns="0" bIns="0" rtlCol="0" anchor="t"/>
          <a:lstStyle/>
          <a:p>
            <a:pPr marL="0" indent="0" algn="l">
              <a:lnSpc>
                <a:spcPts val="1600"/>
              </a:lnSpc>
              <a:buNone/>
            </a:pPr>
            <a:r>
              <a:rPr lang="en-US" dirty="0">
                <a:solidFill>
                  <a:srgbClr val="4B4A4A"/>
                </a:solidFill>
                <a:latin typeface="Geist" pitchFamily="34" charset="0"/>
                <a:ea typeface="Geist" pitchFamily="34" charset="-122"/>
                <a:cs typeface="Geist" pitchFamily="34" charset="-120"/>
              </a:rPr>
              <a:t>Nhiệm vụ:</a:t>
            </a:r>
            <a:endParaRPr lang="en-US" dirty="0"/>
          </a:p>
        </p:txBody>
      </p:sp>
      <p:sp>
        <p:nvSpPr>
          <p:cNvPr id="18" name="Text 16"/>
          <p:cNvSpPr/>
          <p:nvPr/>
        </p:nvSpPr>
        <p:spPr>
          <a:xfrm>
            <a:off x="7478911" y="6131362"/>
            <a:ext cx="6647259" cy="204788"/>
          </a:xfrm>
          <a:prstGeom prst="rect">
            <a:avLst/>
          </a:prstGeom>
          <a:noFill/>
          <a:ln/>
        </p:spPr>
        <p:txBody>
          <a:bodyPr wrap="none" lIns="0" tIns="0" rIns="0" bIns="0" rtlCol="0" anchor="t"/>
          <a:lstStyle/>
          <a:p>
            <a:pPr marL="342900" indent="-342900" algn="l">
              <a:lnSpc>
                <a:spcPts val="1600"/>
              </a:lnSpc>
              <a:buSzPct val="100000"/>
              <a:buFont typeface="+mj-lt"/>
              <a:buAutoNum type="arabicPeriod"/>
            </a:pPr>
            <a:r>
              <a:rPr lang="en-US" dirty="0">
                <a:solidFill>
                  <a:srgbClr val="4B4A4A"/>
                </a:solidFill>
                <a:latin typeface="Geist" pitchFamily="34" charset="0"/>
                <a:ea typeface="Geist" pitchFamily="34" charset="-122"/>
                <a:cs typeface="Geist" pitchFamily="34" charset="-120"/>
              </a:rPr>
              <a:t>Tắt LED bằng </a:t>
            </a:r>
            <a:r>
              <a:rPr lang="en-US" dirty="0">
                <a:solidFill>
                  <a:srgbClr val="4B4A4A"/>
                </a:solidFill>
                <a:highlight>
                  <a:srgbClr val="D8ECE5"/>
                </a:highlight>
                <a:latin typeface="Consolas" pitchFamily="34" charset="0"/>
                <a:ea typeface="Consolas" pitchFamily="34" charset="-122"/>
                <a:cs typeface="Consolas" pitchFamily="34" charset="-120"/>
              </a:rPr>
              <a:t>digitalWrite(LED_PIN, LOW)</a:t>
            </a:r>
            <a:endParaRPr lang="en-US" dirty="0"/>
          </a:p>
        </p:txBody>
      </p:sp>
      <p:sp>
        <p:nvSpPr>
          <p:cNvPr id="19" name="Text 17"/>
          <p:cNvSpPr/>
          <p:nvPr/>
        </p:nvSpPr>
        <p:spPr>
          <a:xfrm>
            <a:off x="7478911" y="6380917"/>
            <a:ext cx="6647259" cy="204788"/>
          </a:xfrm>
          <a:prstGeom prst="rect">
            <a:avLst/>
          </a:prstGeom>
          <a:noFill/>
          <a:ln/>
        </p:spPr>
        <p:txBody>
          <a:bodyPr wrap="none" lIns="0" tIns="0" rIns="0" bIns="0" rtlCol="0" anchor="t"/>
          <a:lstStyle/>
          <a:p>
            <a:pPr marL="342900" indent="-342900" algn="l">
              <a:lnSpc>
                <a:spcPts val="1600"/>
              </a:lnSpc>
              <a:buSzPct val="100000"/>
              <a:buFont typeface="+mj-lt"/>
              <a:buAutoNum type="arabicPeriod" startAt="2"/>
            </a:pPr>
            <a:r>
              <a:rPr lang="en-US" dirty="0">
                <a:solidFill>
                  <a:srgbClr val="4B4A4A"/>
                </a:solidFill>
                <a:latin typeface="Geist" pitchFamily="34" charset="0"/>
                <a:ea typeface="Geist" pitchFamily="34" charset="-122"/>
                <a:cs typeface="Geist" pitchFamily="34" charset="-120"/>
              </a:rPr>
              <a:t>In thông báo ra Serial Monitor</a:t>
            </a:r>
            <a:endParaRPr lang="en-US" dirty="0"/>
          </a:p>
        </p:txBody>
      </p:sp>
      <p:sp>
        <p:nvSpPr>
          <p:cNvPr id="20" name="Text 18"/>
          <p:cNvSpPr/>
          <p:nvPr/>
        </p:nvSpPr>
        <p:spPr>
          <a:xfrm>
            <a:off x="7478911" y="6630472"/>
            <a:ext cx="6647259" cy="204788"/>
          </a:xfrm>
          <a:prstGeom prst="rect">
            <a:avLst/>
          </a:prstGeom>
          <a:noFill/>
          <a:ln/>
        </p:spPr>
        <p:txBody>
          <a:bodyPr wrap="none" lIns="0" tIns="0" rIns="0" bIns="0" rtlCol="0" anchor="t"/>
          <a:lstStyle/>
          <a:p>
            <a:pPr marL="342900" indent="-342900" algn="l">
              <a:lnSpc>
                <a:spcPts val="1600"/>
              </a:lnSpc>
              <a:buSzPct val="100000"/>
              <a:buFont typeface="+mj-lt"/>
              <a:buAutoNum type="arabicPeriod" startAt="3"/>
            </a:pPr>
            <a:r>
              <a:rPr lang="en-US" dirty="0">
                <a:solidFill>
                  <a:srgbClr val="4B4A4A"/>
                </a:solidFill>
                <a:latin typeface="Geist" pitchFamily="34" charset="0"/>
                <a:ea typeface="Geist" pitchFamily="34" charset="-122"/>
                <a:cs typeface="Geist" pitchFamily="34" charset="-120"/>
              </a:rPr>
              <a:t>Gửi lại giao diện HTML</a:t>
            </a:r>
            <a:endParaRPr lang="en-US" dirty="0"/>
          </a:p>
        </p:txBody>
      </p:sp>
      <p:sp>
        <p:nvSpPr>
          <p:cNvPr id="21" name="Shape 19"/>
          <p:cNvSpPr/>
          <p:nvPr/>
        </p:nvSpPr>
        <p:spPr>
          <a:xfrm>
            <a:off x="7478911" y="6979206"/>
            <a:ext cx="6647259" cy="892373"/>
          </a:xfrm>
          <a:prstGeom prst="roundRect">
            <a:avLst>
              <a:gd name="adj" fmla="val 15390"/>
            </a:avLst>
          </a:prstGeom>
          <a:solidFill>
            <a:srgbClr val="B3FFE7"/>
          </a:solidFill>
          <a:ln/>
        </p:spPr>
      </p:sp>
      <p:pic>
        <p:nvPicPr>
          <p:cNvPr id="22" name="Image 0" descr="preencoded.png"/>
          <p:cNvPicPr>
            <a:picLocks noChangeAspect="1"/>
          </p:cNvPicPr>
          <p:nvPr/>
        </p:nvPicPr>
        <p:blipFill>
          <a:blip r:embed="rId3"/>
          <a:stretch>
            <a:fillRect/>
          </a:stretch>
        </p:blipFill>
        <p:spPr>
          <a:xfrm>
            <a:off x="7606784" y="7171849"/>
            <a:ext cx="159901" cy="127873"/>
          </a:xfrm>
          <a:prstGeom prst="rect">
            <a:avLst/>
          </a:prstGeom>
        </p:spPr>
      </p:pic>
      <p:sp>
        <p:nvSpPr>
          <p:cNvPr id="23" name="Text 20"/>
          <p:cNvSpPr/>
          <p:nvPr/>
        </p:nvSpPr>
        <p:spPr>
          <a:xfrm>
            <a:off x="7894558" y="7138988"/>
            <a:ext cx="6103739" cy="409575"/>
          </a:xfrm>
          <a:prstGeom prst="rect">
            <a:avLst/>
          </a:prstGeom>
          <a:noFill/>
          <a:ln/>
        </p:spPr>
        <p:txBody>
          <a:bodyPr wrap="square" lIns="0" tIns="0" rIns="0" bIns="0" rtlCol="0" anchor="t"/>
          <a:lstStyle/>
          <a:p>
            <a:pPr marL="0" indent="0" algn="l">
              <a:lnSpc>
                <a:spcPts val="1600"/>
              </a:lnSpc>
              <a:buNone/>
            </a:pPr>
            <a:r>
              <a:rPr lang="en-US" sz="1600" b="1" dirty="0">
                <a:solidFill>
                  <a:srgbClr val="000000"/>
                </a:solidFill>
                <a:latin typeface="Geist" pitchFamily="34" charset="0"/>
                <a:ea typeface="Geist" pitchFamily="34" charset="-122"/>
                <a:cs typeface="Geist" pitchFamily="34" charset="-120"/>
              </a:rPr>
              <a:t>Tại sao phải send HTML lại?</a:t>
            </a:r>
            <a:r>
              <a:rPr lang="en-US" sz="1600" dirty="0">
                <a:solidFill>
                  <a:srgbClr val="000000"/>
                </a:solidFill>
                <a:latin typeface="Geist" pitchFamily="34" charset="0"/>
                <a:ea typeface="Geist" pitchFamily="34" charset="-122"/>
                <a:cs typeface="Geist" pitchFamily="34" charset="-120"/>
              </a:rPr>
              <a:t> Nếu không, sau khi bấm nút, trình duyệt sẽ hiển thị trang trắng hoặc chữ OK. Gửi lại HTML giúp giao diện luôn hiển thị.</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67226" y="458748"/>
            <a:ext cx="9431179" cy="521256"/>
          </a:xfrm>
          <a:prstGeom prst="rect">
            <a:avLst/>
          </a:prstGeom>
          <a:noFill/>
          <a:ln/>
        </p:spPr>
        <p:txBody>
          <a:bodyPr wrap="none" lIns="0" tIns="0" rIns="0" bIns="0" rtlCol="0" anchor="t"/>
          <a:lstStyle/>
          <a:p>
            <a:pPr marL="0" indent="0" algn="l">
              <a:lnSpc>
                <a:spcPts val="4100"/>
              </a:lnSpc>
              <a:buNone/>
            </a:pPr>
            <a:r>
              <a:rPr lang="en-US" sz="3250" b="1" dirty="0">
                <a:solidFill>
                  <a:srgbClr val="006747"/>
                </a:solidFill>
                <a:latin typeface="Noto Serif SC Bold" pitchFamily="34" charset="0"/>
                <a:ea typeface="Noto Serif SC Bold" pitchFamily="34" charset="-122"/>
                <a:cs typeface="Noto Serif SC Bold" pitchFamily="34" charset="-120"/>
              </a:rPr>
              <a:t>Bước 4b: Xử lý lỗi 404 - Trang không tìm thấy</a:t>
            </a:r>
            <a:endParaRPr lang="en-US" sz="3250" dirty="0"/>
          </a:p>
        </p:txBody>
      </p:sp>
      <p:sp>
        <p:nvSpPr>
          <p:cNvPr id="3" name="Shape 1"/>
          <p:cNvSpPr/>
          <p:nvPr/>
        </p:nvSpPr>
        <p:spPr>
          <a:xfrm>
            <a:off x="667226" y="1313617"/>
            <a:ext cx="13295948" cy="1317308"/>
          </a:xfrm>
          <a:prstGeom prst="roundRect">
            <a:avLst>
              <a:gd name="adj" fmla="val 11398"/>
            </a:avLst>
          </a:prstGeom>
          <a:solidFill>
            <a:srgbClr val="D8ECE5"/>
          </a:solidFill>
          <a:ln/>
        </p:spPr>
      </p:sp>
      <p:sp>
        <p:nvSpPr>
          <p:cNvPr id="4" name="Shape 2"/>
          <p:cNvSpPr/>
          <p:nvPr/>
        </p:nvSpPr>
        <p:spPr>
          <a:xfrm>
            <a:off x="658892" y="1313617"/>
            <a:ext cx="13312616" cy="1317308"/>
          </a:xfrm>
          <a:prstGeom prst="roundRect">
            <a:avLst>
              <a:gd name="adj" fmla="val 1900"/>
            </a:avLst>
          </a:prstGeom>
          <a:solidFill>
            <a:srgbClr val="D8ECE5"/>
          </a:solidFill>
          <a:ln/>
        </p:spPr>
      </p:sp>
      <p:sp>
        <p:nvSpPr>
          <p:cNvPr id="5" name="Text 3"/>
          <p:cNvSpPr/>
          <p:nvPr/>
        </p:nvSpPr>
        <p:spPr>
          <a:xfrm>
            <a:off x="825698" y="1438632"/>
            <a:ext cx="12979003" cy="1067276"/>
          </a:xfrm>
          <a:prstGeom prst="rect">
            <a:avLst/>
          </a:prstGeom>
          <a:noFill/>
          <a:ln/>
        </p:spPr>
        <p:txBody>
          <a:bodyPr wrap="square" lIns="0" tIns="0" rIns="0" bIns="0" rtlCol="0" anchor="t"/>
          <a:lstStyle/>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 Khi người dùng gõ linh tinh (ví dụ /abcxyz)</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void handleNotFound() {</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  server.send(404, "text/plain", "404: Not Found - Lon dia chi roi ban oi!");</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6" name="Text 4"/>
          <p:cNvSpPr/>
          <p:nvPr/>
        </p:nvSpPr>
        <p:spPr>
          <a:xfrm>
            <a:off x="667226" y="2985373"/>
            <a:ext cx="2152769" cy="260747"/>
          </a:xfrm>
          <a:prstGeom prst="rect">
            <a:avLst/>
          </a:prstGeom>
          <a:noFill/>
          <a:ln/>
        </p:spPr>
        <p:txBody>
          <a:bodyPr wrap="none" lIns="0" tIns="0" rIns="0" bIns="0" rtlCol="0" anchor="t"/>
          <a:lstStyle/>
          <a:p>
            <a:pPr marL="0" indent="0" algn="l">
              <a:lnSpc>
                <a:spcPts val="2050"/>
              </a:lnSpc>
              <a:buNone/>
            </a:pPr>
            <a:r>
              <a:rPr lang="en-US" b="1" dirty="0">
                <a:solidFill>
                  <a:srgbClr val="006747"/>
                </a:solidFill>
                <a:latin typeface="Noto Serif SC Bold" pitchFamily="34" charset="0"/>
                <a:ea typeface="Noto Serif SC Bold" pitchFamily="34" charset="-122"/>
                <a:cs typeface="Noto Serif SC Bold" pitchFamily="34" charset="-120"/>
              </a:rPr>
              <a:t>Xử lý lỗi thông minh</a:t>
            </a:r>
            <a:endParaRPr lang="en-US" dirty="0"/>
          </a:p>
        </p:txBody>
      </p:sp>
      <p:sp>
        <p:nvSpPr>
          <p:cNvPr id="7" name="Text 5"/>
          <p:cNvSpPr/>
          <p:nvPr/>
        </p:nvSpPr>
        <p:spPr>
          <a:xfrm>
            <a:off x="667226" y="3412927"/>
            <a:ext cx="6444496" cy="541258"/>
          </a:xfrm>
          <a:prstGeom prst="rect">
            <a:avLst/>
          </a:prstGeom>
          <a:noFill/>
          <a:ln/>
        </p:spPr>
        <p:txBody>
          <a:bodyPr wrap="square" lIns="0" tIns="0" rIns="0" bIns="0" rtlCol="0" anchor="t"/>
          <a:lstStyle/>
          <a:p>
            <a:pPr marL="0" indent="0" algn="l">
              <a:lnSpc>
                <a:spcPts val="2100"/>
              </a:lnSpc>
              <a:buNone/>
            </a:pPr>
            <a:r>
              <a:rPr lang="en-US" dirty="0">
                <a:solidFill>
                  <a:srgbClr val="4B4A4A"/>
                </a:solidFill>
                <a:latin typeface="Geist" pitchFamily="34" charset="0"/>
                <a:ea typeface="Geist" pitchFamily="34" charset="-122"/>
                <a:cs typeface="Geist" pitchFamily="34" charset="-120"/>
              </a:rPr>
              <a:t>Hàm </a:t>
            </a:r>
            <a:r>
              <a:rPr lang="en-US" dirty="0">
                <a:solidFill>
                  <a:srgbClr val="4B4A4A"/>
                </a:solidFill>
                <a:highlight>
                  <a:srgbClr val="D8ECE5"/>
                </a:highlight>
                <a:latin typeface="Consolas" pitchFamily="34" charset="0"/>
                <a:ea typeface="Consolas" pitchFamily="34" charset="-122"/>
                <a:cs typeface="Consolas" pitchFamily="34" charset="-120"/>
              </a:rPr>
              <a:t>handleNotFound()</a:t>
            </a:r>
            <a:r>
              <a:rPr lang="en-US" dirty="0">
                <a:solidFill>
                  <a:srgbClr val="4B4A4A"/>
                </a:solidFill>
                <a:latin typeface="Geist" pitchFamily="34" charset="0"/>
                <a:ea typeface="Geist" pitchFamily="34" charset="-122"/>
                <a:cs typeface="Geist" pitchFamily="34" charset="-120"/>
              </a:rPr>
              <a:t> được gọi khi người dùng truy cập một địa chỉ không tồn tại trên server.</a:t>
            </a:r>
            <a:endParaRPr lang="en-US" dirty="0"/>
          </a:p>
        </p:txBody>
      </p:sp>
      <p:sp>
        <p:nvSpPr>
          <p:cNvPr id="8" name="Text 6"/>
          <p:cNvSpPr/>
          <p:nvPr/>
        </p:nvSpPr>
        <p:spPr>
          <a:xfrm>
            <a:off x="667226" y="4104323"/>
            <a:ext cx="6444496" cy="541258"/>
          </a:xfrm>
          <a:prstGeom prst="rect">
            <a:avLst/>
          </a:prstGeom>
          <a:noFill/>
          <a:ln/>
        </p:spPr>
        <p:txBody>
          <a:bodyPr wrap="square" lIns="0" tIns="0" rIns="0" bIns="0" rtlCol="0" anchor="t"/>
          <a:lstStyle/>
          <a:p>
            <a:pPr marL="0" indent="0" algn="l">
              <a:lnSpc>
                <a:spcPts val="2100"/>
              </a:lnSpc>
              <a:buNone/>
            </a:pPr>
            <a:r>
              <a:rPr lang="en-US" dirty="0">
                <a:solidFill>
                  <a:srgbClr val="4B4A4A"/>
                </a:solidFill>
                <a:latin typeface="Geist" pitchFamily="34" charset="0"/>
                <a:ea typeface="Geist" pitchFamily="34" charset="-122"/>
                <a:cs typeface="Geist" pitchFamily="34" charset="-120"/>
              </a:rPr>
              <a:t>Ví dụ: Nếu gõ </a:t>
            </a:r>
            <a:r>
              <a:rPr lang="en-US" dirty="0">
                <a:solidFill>
                  <a:srgbClr val="4B4A4A"/>
                </a:solidFill>
                <a:highlight>
                  <a:srgbClr val="D8ECE5"/>
                </a:highlight>
                <a:latin typeface="Consolas" pitchFamily="34" charset="0"/>
                <a:ea typeface="Consolas" pitchFamily="34" charset="-122"/>
                <a:cs typeface="Consolas" pitchFamily="34" charset="-120"/>
              </a:rPr>
              <a:t>http://192.168.1.5/abc123</a:t>
            </a:r>
            <a:r>
              <a:rPr lang="en-US" dirty="0">
                <a:solidFill>
                  <a:srgbClr val="4B4A4A"/>
                </a:solidFill>
                <a:latin typeface="Geist" pitchFamily="34" charset="0"/>
                <a:ea typeface="Geist" pitchFamily="34" charset="-122"/>
                <a:cs typeface="Geist" pitchFamily="34" charset="-120"/>
              </a:rPr>
              <a:t> (không có xử lý cho /abc123), server sẽ trả về mã lỗi 404.</a:t>
            </a:r>
            <a:endParaRPr lang="en-US" dirty="0"/>
          </a:p>
        </p:txBody>
      </p:sp>
      <p:sp>
        <p:nvSpPr>
          <p:cNvPr id="9" name="Text 7"/>
          <p:cNvSpPr/>
          <p:nvPr/>
        </p:nvSpPr>
        <p:spPr>
          <a:xfrm>
            <a:off x="667226" y="4795718"/>
            <a:ext cx="6768290" cy="533638"/>
          </a:xfrm>
          <a:prstGeom prst="rect">
            <a:avLst/>
          </a:prstGeom>
          <a:noFill/>
          <a:ln/>
        </p:spPr>
        <p:txBody>
          <a:bodyPr wrap="square" lIns="0" tIns="0" rIns="0" bIns="0" rtlCol="0" anchor="t"/>
          <a:lstStyle/>
          <a:p>
            <a:pPr marL="0" indent="0" algn="l">
              <a:lnSpc>
                <a:spcPts val="2100"/>
              </a:lnSpc>
              <a:buNone/>
            </a:pPr>
            <a:r>
              <a:rPr lang="en-US" dirty="0">
                <a:solidFill>
                  <a:srgbClr val="4B4A4A"/>
                </a:solidFill>
                <a:latin typeface="Geist" pitchFamily="34" charset="0"/>
                <a:ea typeface="Geist" pitchFamily="34" charset="-122"/>
                <a:cs typeface="Geist" pitchFamily="34" charset="-120"/>
              </a:rPr>
              <a:t>Thay vì để trình duyệt hiển thị trang lỗi mặc định khó hiểu, chúng ta tự định nghĩa thông báo lỗi thân thiện bằng tiếng Việt!</a:t>
            </a:r>
            <a:endParaRPr lang="en-US" dirty="0"/>
          </a:p>
        </p:txBody>
      </p:sp>
      <p:pic>
        <p:nvPicPr>
          <p:cNvPr id="10" name="Image 0" descr="preencoded.png"/>
          <p:cNvPicPr>
            <a:picLocks noChangeAspect="1"/>
          </p:cNvPicPr>
          <p:nvPr/>
        </p:nvPicPr>
        <p:blipFill>
          <a:blip r:embed="rId3"/>
          <a:stretch>
            <a:fillRect/>
          </a:stretch>
        </p:blipFill>
        <p:spPr>
          <a:xfrm>
            <a:off x="8783053" y="2968102"/>
            <a:ext cx="4080836" cy="2731590"/>
          </a:xfrm>
          <a:prstGeom prst="rect">
            <a:avLst/>
          </a:prstGeom>
        </p:spPr>
      </p:pic>
      <p:sp>
        <p:nvSpPr>
          <p:cNvPr id="11" name="Text 8"/>
          <p:cNvSpPr/>
          <p:nvPr/>
        </p:nvSpPr>
        <p:spPr>
          <a:xfrm>
            <a:off x="8142644" y="5990813"/>
            <a:ext cx="6444496" cy="533638"/>
          </a:xfrm>
          <a:prstGeom prst="rect">
            <a:avLst/>
          </a:prstGeom>
          <a:noFill/>
          <a:ln/>
        </p:spPr>
        <p:txBody>
          <a:bodyPr wrap="square" lIns="0" tIns="0" rIns="0" bIns="0" rtlCol="0" anchor="t"/>
          <a:lstStyle/>
          <a:p>
            <a:pPr marL="0" indent="0" algn="l">
              <a:lnSpc>
                <a:spcPts val="2100"/>
              </a:lnSpc>
              <a:buNone/>
            </a:pPr>
            <a:r>
              <a:rPr lang="en-US" dirty="0">
                <a:solidFill>
                  <a:srgbClr val="4B4A4A"/>
                </a:solidFill>
                <a:latin typeface="Geist" pitchFamily="34" charset="0"/>
                <a:ea typeface="Geist" pitchFamily="34" charset="-122"/>
                <a:cs typeface="Geist" pitchFamily="34" charset="-120"/>
              </a:rPr>
              <a:t>Việc xử lý lỗi 404 giúp người dùng biết rõ họ đã nhập sai địa chỉ, thay vì bối rối không biết chuyện gì đang xảy ra.</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60177" y="317540"/>
            <a:ext cx="5917525" cy="359569"/>
          </a:xfrm>
          <a:prstGeom prst="rect">
            <a:avLst/>
          </a:prstGeom>
          <a:noFill/>
          <a:ln/>
        </p:spPr>
        <p:txBody>
          <a:bodyPr wrap="none" lIns="0" tIns="0" rIns="0" bIns="0" rtlCol="0" anchor="t"/>
          <a:lstStyle/>
          <a:p>
            <a:pPr marL="0" indent="0" algn="l">
              <a:lnSpc>
                <a:spcPts val="2800"/>
              </a:lnSpc>
              <a:buNone/>
            </a:pPr>
            <a:r>
              <a:rPr lang="en-US" sz="2250" b="1" dirty="0">
                <a:solidFill>
                  <a:srgbClr val="006747"/>
                </a:solidFill>
                <a:latin typeface="Noto Serif SC Bold" pitchFamily="34" charset="0"/>
                <a:ea typeface="Noto Serif SC Bold" pitchFamily="34" charset="-122"/>
                <a:cs typeface="Noto Serif SC Bold" pitchFamily="34" charset="-120"/>
              </a:rPr>
              <a:t>Bước 5: Hàm setup() - Khởi tạo và kết nối</a:t>
            </a:r>
            <a:endParaRPr lang="en-US" sz="2250" dirty="0"/>
          </a:p>
        </p:txBody>
      </p:sp>
      <p:sp>
        <p:nvSpPr>
          <p:cNvPr id="3" name="Shape 1"/>
          <p:cNvSpPr/>
          <p:nvPr/>
        </p:nvSpPr>
        <p:spPr>
          <a:xfrm>
            <a:off x="460177" y="907137"/>
            <a:ext cx="13710047" cy="4035385"/>
          </a:xfrm>
          <a:prstGeom prst="roundRect">
            <a:avLst>
              <a:gd name="adj" fmla="val 2566"/>
            </a:avLst>
          </a:prstGeom>
          <a:solidFill>
            <a:srgbClr val="D8ECE5"/>
          </a:solidFill>
          <a:ln/>
        </p:spPr>
      </p:sp>
      <p:sp>
        <p:nvSpPr>
          <p:cNvPr id="4" name="Shape 2"/>
          <p:cNvSpPr/>
          <p:nvPr/>
        </p:nvSpPr>
        <p:spPr>
          <a:xfrm>
            <a:off x="454462" y="907137"/>
            <a:ext cx="13721477" cy="4035385"/>
          </a:xfrm>
          <a:prstGeom prst="roundRect">
            <a:avLst>
              <a:gd name="adj" fmla="val 428"/>
            </a:avLst>
          </a:prstGeom>
          <a:solidFill>
            <a:srgbClr val="D8ECE5"/>
          </a:solidFill>
          <a:ln/>
        </p:spPr>
      </p:sp>
      <p:sp>
        <p:nvSpPr>
          <p:cNvPr id="5" name="Text 3"/>
          <p:cNvSpPr/>
          <p:nvPr/>
        </p:nvSpPr>
        <p:spPr>
          <a:xfrm>
            <a:off x="569476" y="993338"/>
            <a:ext cx="13491448" cy="3862983"/>
          </a:xfrm>
          <a:prstGeom prst="rect">
            <a:avLst/>
          </a:prstGeom>
          <a:noFill/>
          <a:ln/>
        </p:spPr>
        <p:txBody>
          <a:bodyPr wrap="square" lIns="0" tIns="0" rIns="0" bIns="0" rtlCol="0" anchor="t"/>
          <a:lstStyle/>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void setup() {</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Serial.begin(115200);</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pinMode(LED_PIN, OUTPUT);</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digitalWrite(LED_PIN, LOW);  // Mặc định tắt</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 --- BƯỚC KẾT NỐI WIFI ---</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Serial.print("Dang ket noi WiFi: ");</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Serial.println(ssid);</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WiFi.begin(ssid, password);</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 Chờ đến khi kết nối thành công</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while (WiFi.status() != WL_CONNECTED) {</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delay(500);</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Serial.print(".");</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 Kết nối thành công! In địa chỉ IP</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Serial.println("");</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Serial.println("WiFi da ket noi!");</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Serial.print("Dia chi IP cua ESP32 la: ");</a:t>
            </a:r>
            <a:endParaRPr lang="en-US" sz="1500" dirty="0"/>
          </a:p>
          <a:p>
            <a:pPr marL="0" indent="0" algn="l">
              <a:lnSpc>
                <a:spcPts val="1400"/>
              </a:lnSpc>
              <a:buNone/>
            </a:pPr>
            <a:r>
              <a:rPr lang="en-US" sz="1500" dirty="0">
                <a:solidFill>
                  <a:srgbClr val="4B4A4A"/>
                </a:solidFill>
                <a:highlight>
                  <a:srgbClr val="D8ECE5"/>
                </a:highlight>
                <a:latin typeface="Consolas" pitchFamily="34" charset="0"/>
                <a:ea typeface="Consolas" pitchFamily="34" charset="-122"/>
                <a:cs typeface="Consolas" pitchFamily="34" charset="-120"/>
              </a:rPr>
              <a:t>  Serial.println(WiFi.localIP());  // &lt;--- QUAN TRỌNG</a:t>
            </a:r>
            <a:endParaRPr lang="en-US" sz="1500" dirty="0"/>
          </a:p>
        </p:txBody>
      </p:sp>
      <p:sp>
        <p:nvSpPr>
          <p:cNvPr id="6" name="Shape 4"/>
          <p:cNvSpPr/>
          <p:nvPr/>
        </p:nvSpPr>
        <p:spPr>
          <a:xfrm>
            <a:off x="7307580" y="5071943"/>
            <a:ext cx="15240" cy="2839998"/>
          </a:xfrm>
          <a:prstGeom prst="roundRect">
            <a:avLst>
              <a:gd name="adj" fmla="val 679476"/>
            </a:avLst>
          </a:prstGeom>
          <a:solidFill>
            <a:srgbClr val="B7D5CA"/>
          </a:solidFill>
          <a:ln/>
        </p:spPr>
      </p:sp>
      <p:sp>
        <p:nvSpPr>
          <p:cNvPr id="7" name="Shape 5"/>
          <p:cNvSpPr/>
          <p:nvPr/>
        </p:nvSpPr>
        <p:spPr>
          <a:xfrm>
            <a:off x="6855857" y="5193744"/>
            <a:ext cx="345162" cy="15240"/>
          </a:xfrm>
          <a:prstGeom prst="roundRect">
            <a:avLst>
              <a:gd name="adj" fmla="val 679476"/>
            </a:avLst>
          </a:prstGeom>
          <a:solidFill>
            <a:srgbClr val="B7D5CA"/>
          </a:solidFill>
          <a:ln/>
        </p:spPr>
      </p:sp>
      <p:sp>
        <p:nvSpPr>
          <p:cNvPr id="8" name="Shape 6"/>
          <p:cNvSpPr/>
          <p:nvPr/>
        </p:nvSpPr>
        <p:spPr>
          <a:xfrm>
            <a:off x="7185779" y="5071943"/>
            <a:ext cx="258842" cy="258842"/>
          </a:xfrm>
          <a:prstGeom prst="roundRect">
            <a:avLst>
              <a:gd name="adj" fmla="val 40006"/>
            </a:avLst>
          </a:prstGeom>
          <a:solidFill>
            <a:srgbClr val="D1EFE4"/>
          </a:solidFill>
          <a:ln w="7620">
            <a:solidFill>
              <a:srgbClr val="B7D5CA"/>
            </a:solidFill>
            <a:prstDash val="solid"/>
          </a:ln>
        </p:spPr>
      </p:sp>
      <p:sp>
        <p:nvSpPr>
          <p:cNvPr id="9" name="Text 7"/>
          <p:cNvSpPr/>
          <p:nvPr/>
        </p:nvSpPr>
        <p:spPr>
          <a:xfrm>
            <a:off x="7228939" y="5093553"/>
            <a:ext cx="172522" cy="215622"/>
          </a:xfrm>
          <a:prstGeom prst="rect">
            <a:avLst/>
          </a:prstGeom>
          <a:noFill/>
          <a:ln/>
        </p:spPr>
        <p:txBody>
          <a:bodyPr wrap="none" lIns="0" tIns="0" rIns="0" bIns="0" rtlCol="0" anchor="t"/>
          <a:lstStyle/>
          <a:p>
            <a:pPr marL="0" indent="0" algn="ctr">
              <a:lnSpc>
                <a:spcPts val="1350"/>
              </a:lnSpc>
              <a:buNone/>
            </a:pPr>
            <a:r>
              <a:rPr lang="en-US" b="1" dirty="0">
                <a:solidFill>
                  <a:srgbClr val="4B4A4A"/>
                </a:solidFill>
                <a:latin typeface="Noto Serif SC Bold" pitchFamily="34" charset="0"/>
                <a:ea typeface="Noto Serif SC Bold" pitchFamily="34" charset="-122"/>
                <a:cs typeface="Noto Serif SC Bold" pitchFamily="34" charset="-120"/>
              </a:rPr>
              <a:t>1</a:t>
            </a:r>
            <a:endParaRPr lang="en-US" dirty="0"/>
          </a:p>
        </p:txBody>
      </p:sp>
      <p:sp>
        <p:nvSpPr>
          <p:cNvPr id="10" name="Text 8"/>
          <p:cNvSpPr/>
          <p:nvPr/>
        </p:nvSpPr>
        <p:spPr>
          <a:xfrm>
            <a:off x="5301853" y="5111472"/>
            <a:ext cx="1438156" cy="179784"/>
          </a:xfrm>
          <a:prstGeom prst="rect">
            <a:avLst/>
          </a:prstGeom>
          <a:noFill/>
          <a:ln/>
        </p:spPr>
        <p:txBody>
          <a:bodyPr wrap="none" lIns="0" tIns="0" rIns="0" bIns="0" rtlCol="0" anchor="t"/>
          <a:lstStyle/>
          <a:p>
            <a:pPr marL="0" indent="0" algn="r">
              <a:lnSpc>
                <a:spcPts val="1400"/>
              </a:lnSpc>
              <a:buNone/>
            </a:pPr>
            <a:r>
              <a:rPr lang="en-US" b="1" dirty="0">
                <a:solidFill>
                  <a:srgbClr val="4B4A4A"/>
                </a:solidFill>
                <a:latin typeface="Noto Serif SC Bold" pitchFamily="34" charset="0"/>
                <a:ea typeface="Noto Serif SC Bold" pitchFamily="34" charset="-122"/>
                <a:cs typeface="Noto Serif SC Bold" pitchFamily="34" charset="-120"/>
              </a:rPr>
              <a:t>Khởi tạo Serial</a:t>
            </a:r>
            <a:endParaRPr lang="en-US" dirty="0"/>
          </a:p>
        </p:txBody>
      </p:sp>
      <p:sp>
        <p:nvSpPr>
          <p:cNvPr id="11" name="Text 9"/>
          <p:cNvSpPr/>
          <p:nvPr/>
        </p:nvSpPr>
        <p:spPr>
          <a:xfrm>
            <a:off x="460177" y="5360194"/>
            <a:ext cx="6279833" cy="191572"/>
          </a:xfrm>
          <a:prstGeom prst="rect">
            <a:avLst/>
          </a:prstGeom>
          <a:noFill/>
          <a:ln/>
        </p:spPr>
        <p:txBody>
          <a:bodyPr wrap="square" lIns="0" tIns="0" rIns="0" bIns="0" rtlCol="0" anchor="t"/>
          <a:lstStyle/>
          <a:p>
            <a:pPr marL="0" indent="0" algn="r">
              <a:buNone/>
            </a:pPr>
            <a:r>
              <a:rPr lang="en-US" dirty="0">
                <a:solidFill>
                  <a:srgbClr val="4B4A4A"/>
                </a:solidFill>
                <a:highlight>
                  <a:srgbClr val="D8ECE5"/>
                </a:highlight>
                <a:latin typeface="Consolas" pitchFamily="34" charset="0"/>
                <a:ea typeface="Consolas" pitchFamily="34" charset="-122"/>
                <a:cs typeface="Consolas" pitchFamily="34" charset="-120"/>
              </a:rPr>
              <a:t>Serial.begin(115200)</a:t>
            </a:r>
            <a:r>
              <a:rPr lang="en-US" dirty="0">
                <a:solidFill>
                  <a:srgbClr val="4B4A4A"/>
                </a:solidFill>
                <a:latin typeface="Geist" pitchFamily="34" charset="0"/>
                <a:ea typeface="Geist" pitchFamily="34" charset="-122"/>
                <a:cs typeface="Geist" pitchFamily="34" charset="-120"/>
              </a:rPr>
              <a:t> – </a:t>
            </a:r>
          </a:p>
          <a:p>
            <a:pPr marL="0" indent="0" algn="r">
              <a:buNone/>
            </a:pPr>
            <a:r>
              <a:rPr lang="en-US" dirty="0" err="1">
                <a:solidFill>
                  <a:srgbClr val="4B4A4A"/>
                </a:solidFill>
                <a:latin typeface="Geist" pitchFamily="34" charset="0"/>
                <a:ea typeface="Geist" pitchFamily="34" charset="-122"/>
                <a:cs typeface="Geist" pitchFamily="34" charset="-120"/>
              </a:rPr>
              <a:t>Mở</a:t>
            </a:r>
            <a:r>
              <a:rPr lang="en-US" dirty="0">
                <a:solidFill>
                  <a:srgbClr val="4B4A4A"/>
                </a:solidFill>
                <a:latin typeface="Geist" pitchFamily="34" charset="0"/>
                <a:ea typeface="Geist" pitchFamily="34" charset="-122"/>
                <a:cs typeface="Geist" pitchFamily="34" charset="-120"/>
              </a:rPr>
              <a:t> cổng Serial với tốc độ 115200 baud để in log.</a:t>
            </a:r>
            <a:endParaRPr lang="en-US" dirty="0"/>
          </a:p>
        </p:txBody>
      </p:sp>
      <p:sp>
        <p:nvSpPr>
          <p:cNvPr id="12" name="Shape 10"/>
          <p:cNvSpPr/>
          <p:nvPr/>
        </p:nvSpPr>
        <p:spPr>
          <a:xfrm>
            <a:off x="7429381" y="5883950"/>
            <a:ext cx="345162" cy="15240"/>
          </a:xfrm>
          <a:prstGeom prst="roundRect">
            <a:avLst>
              <a:gd name="adj" fmla="val 679476"/>
            </a:avLst>
          </a:prstGeom>
          <a:solidFill>
            <a:srgbClr val="B7D5CA"/>
          </a:solidFill>
          <a:ln/>
        </p:spPr>
      </p:sp>
      <p:sp>
        <p:nvSpPr>
          <p:cNvPr id="13" name="Shape 11"/>
          <p:cNvSpPr/>
          <p:nvPr/>
        </p:nvSpPr>
        <p:spPr>
          <a:xfrm>
            <a:off x="7185779" y="5762149"/>
            <a:ext cx="258842" cy="258842"/>
          </a:xfrm>
          <a:prstGeom prst="roundRect">
            <a:avLst>
              <a:gd name="adj" fmla="val 40006"/>
            </a:avLst>
          </a:prstGeom>
          <a:solidFill>
            <a:srgbClr val="D1EFE4"/>
          </a:solidFill>
          <a:ln w="7620">
            <a:solidFill>
              <a:srgbClr val="B7D5CA"/>
            </a:solidFill>
            <a:prstDash val="solid"/>
          </a:ln>
        </p:spPr>
      </p:sp>
      <p:sp>
        <p:nvSpPr>
          <p:cNvPr id="14" name="Text 12"/>
          <p:cNvSpPr/>
          <p:nvPr/>
        </p:nvSpPr>
        <p:spPr>
          <a:xfrm>
            <a:off x="7228939" y="5783759"/>
            <a:ext cx="172522" cy="215622"/>
          </a:xfrm>
          <a:prstGeom prst="rect">
            <a:avLst/>
          </a:prstGeom>
          <a:noFill/>
          <a:ln/>
        </p:spPr>
        <p:txBody>
          <a:bodyPr wrap="none" lIns="0" tIns="0" rIns="0" bIns="0" rtlCol="0" anchor="t"/>
          <a:lstStyle/>
          <a:p>
            <a:pPr marL="0" indent="0" algn="ctr">
              <a:lnSpc>
                <a:spcPts val="1350"/>
              </a:lnSpc>
              <a:buNone/>
            </a:pPr>
            <a:r>
              <a:rPr lang="en-US" b="1" dirty="0">
                <a:solidFill>
                  <a:srgbClr val="4B4A4A"/>
                </a:solidFill>
                <a:latin typeface="Noto Serif SC Bold" pitchFamily="34" charset="0"/>
                <a:ea typeface="Noto Serif SC Bold" pitchFamily="34" charset="-122"/>
                <a:cs typeface="Noto Serif SC Bold" pitchFamily="34" charset="-120"/>
              </a:rPr>
              <a:t>2</a:t>
            </a:r>
            <a:endParaRPr lang="en-US" dirty="0"/>
          </a:p>
        </p:txBody>
      </p:sp>
      <p:sp>
        <p:nvSpPr>
          <p:cNvPr id="15" name="Text 13"/>
          <p:cNvSpPr/>
          <p:nvPr/>
        </p:nvSpPr>
        <p:spPr>
          <a:xfrm>
            <a:off x="7890391" y="5801678"/>
            <a:ext cx="1438156" cy="179784"/>
          </a:xfrm>
          <a:prstGeom prst="rect">
            <a:avLst/>
          </a:prstGeom>
          <a:noFill/>
          <a:ln/>
        </p:spPr>
        <p:txBody>
          <a:bodyPr wrap="none" lIns="0" tIns="0" rIns="0" bIns="0" rtlCol="0" anchor="t"/>
          <a:lstStyle/>
          <a:p>
            <a:pPr marL="0" indent="0" algn="l">
              <a:lnSpc>
                <a:spcPts val="1400"/>
              </a:lnSpc>
              <a:buNone/>
            </a:pPr>
            <a:r>
              <a:rPr lang="en-US" b="1" dirty="0">
                <a:solidFill>
                  <a:srgbClr val="4B4A4A"/>
                </a:solidFill>
                <a:latin typeface="Noto Serif SC Bold" pitchFamily="34" charset="0"/>
                <a:ea typeface="Noto Serif SC Bold" pitchFamily="34" charset="-122"/>
                <a:cs typeface="Noto Serif SC Bold" pitchFamily="34" charset="-120"/>
              </a:rPr>
              <a:t>Cấu hình chân LED</a:t>
            </a:r>
            <a:endParaRPr lang="en-US" dirty="0"/>
          </a:p>
        </p:txBody>
      </p:sp>
      <p:sp>
        <p:nvSpPr>
          <p:cNvPr id="16" name="Text 14"/>
          <p:cNvSpPr/>
          <p:nvPr/>
        </p:nvSpPr>
        <p:spPr>
          <a:xfrm>
            <a:off x="7890391" y="6050399"/>
            <a:ext cx="6279833" cy="191572"/>
          </a:xfrm>
          <a:prstGeom prst="rect">
            <a:avLst/>
          </a:prstGeom>
          <a:noFill/>
          <a:ln/>
        </p:spPr>
        <p:txBody>
          <a:bodyPr wrap="square" lIns="0" tIns="0" rIns="0" bIns="0" rtlCol="0" anchor="t"/>
          <a:lstStyle/>
          <a:p>
            <a:pPr marL="0" indent="0" algn="l">
              <a:buNone/>
            </a:pPr>
            <a:r>
              <a:rPr lang="en-US" dirty="0">
                <a:solidFill>
                  <a:srgbClr val="4B4A4A"/>
                </a:solidFill>
                <a:highlight>
                  <a:srgbClr val="D8ECE5"/>
                </a:highlight>
                <a:latin typeface="Consolas" pitchFamily="34" charset="0"/>
                <a:ea typeface="Consolas" pitchFamily="34" charset="-122"/>
                <a:cs typeface="Consolas" pitchFamily="34" charset="-120"/>
              </a:rPr>
              <a:t>pinMode(LED_PIN, OUTPUT)</a:t>
            </a:r>
            <a:r>
              <a:rPr lang="en-US" dirty="0">
                <a:solidFill>
                  <a:srgbClr val="4B4A4A"/>
                </a:solidFill>
                <a:latin typeface="Geist" pitchFamily="34" charset="0"/>
                <a:ea typeface="Geist" pitchFamily="34" charset="-122"/>
                <a:cs typeface="Geist" pitchFamily="34" charset="-120"/>
              </a:rPr>
              <a:t> - Đặt GPIO 2 là chân xuất tín hiệu. </a:t>
            </a:r>
            <a:r>
              <a:rPr lang="en-US" dirty="0">
                <a:solidFill>
                  <a:srgbClr val="4B4A4A"/>
                </a:solidFill>
                <a:highlight>
                  <a:srgbClr val="D8ECE5"/>
                </a:highlight>
                <a:latin typeface="Consolas" pitchFamily="34" charset="0"/>
                <a:ea typeface="Consolas" pitchFamily="34" charset="-122"/>
                <a:cs typeface="Consolas" pitchFamily="34" charset="-120"/>
              </a:rPr>
              <a:t>digitalWrite(LED_PIN, LOW)</a:t>
            </a:r>
            <a:r>
              <a:rPr lang="en-US" dirty="0">
                <a:solidFill>
                  <a:srgbClr val="4B4A4A"/>
                </a:solidFill>
                <a:latin typeface="Geist" pitchFamily="34" charset="0"/>
                <a:ea typeface="Geist" pitchFamily="34" charset="-122"/>
                <a:cs typeface="Geist" pitchFamily="34" charset="-120"/>
              </a:rPr>
              <a:t> - Tắt LED ban đầu.</a:t>
            </a:r>
            <a:endParaRPr lang="en-US" dirty="0"/>
          </a:p>
        </p:txBody>
      </p:sp>
      <p:sp>
        <p:nvSpPr>
          <p:cNvPr id="17" name="Shape 15"/>
          <p:cNvSpPr/>
          <p:nvPr/>
        </p:nvSpPr>
        <p:spPr>
          <a:xfrm>
            <a:off x="6855857" y="6478905"/>
            <a:ext cx="345162" cy="15240"/>
          </a:xfrm>
          <a:prstGeom prst="roundRect">
            <a:avLst>
              <a:gd name="adj" fmla="val 679476"/>
            </a:avLst>
          </a:prstGeom>
          <a:solidFill>
            <a:srgbClr val="B7D5CA"/>
          </a:solidFill>
          <a:ln/>
        </p:spPr>
      </p:sp>
      <p:sp>
        <p:nvSpPr>
          <p:cNvPr id="18" name="Shape 16"/>
          <p:cNvSpPr/>
          <p:nvPr/>
        </p:nvSpPr>
        <p:spPr>
          <a:xfrm>
            <a:off x="7185779" y="6357104"/>
            <a:ext cx="258842" cy="258842"/>
          </a:xfrm>
          <a:prstGeom prst="roundRect">
            <a:avLst>
              <a:gd name="adj" fmla="val 40006"/>
            </a:avLst>
          </a:prstGeom>
          <a:solidFill>
            <a:srgbClr val="D1EFE4"/>
          </a:solidFill>
          <a:ln w="7620">
            <a:solidFill>
              <a:srgbClr val="B7D5CA"/>
            </a:solidFill>
            <a:prstDash val="solid"/>
          </a:ln>
        </p:spPr>
      </p:sp>
      <p:sp>
        <p:nvSpPr>
          <p:cNvPr id="19" name="Text 17"/>
          <p:cNvSpPr/>
          <p:nvPr/>
        </p:nvSpPr>
        <p:spPr>
          <a:xfrm>
            <a:off x="7228939" y="6378714"/>
            <a:ext cx="172522" cy="215622"/>
          </a:xfrm>
          <a:prstGeom prst="rect">
            <a:avLst/>
          </a:prstGeom>
          <a:noFill/>
          <a:ln/>
        </p:spPr>
        <p:txBody>
          <a:bodyPr wrap="none" lIns="0" tIns="0" rIns="0" bIns="0" rtlCol="0" anchor="t"/>
          <a:lstStyle/>
          <a:p>
            <a:pPr marL="0" indent="0" algn="ctr">
              <a:lnSpc>
                <a:spcPts val="1350"/>
              </a:lnSpc>
              <a:buNone/>
            </a:pPr>
            <a:r>
              <a:rPr lang="en-US" b="1" dirty="0">
                <a:solidFill>
                  <a:srgbClr val="4B4A4A"/>
                </a:solidFill>
                <a:latin typeface="Noto Serif SC Bold" pitchFamily="34" charset="0"/>
                <a:ea typeface="Noto Serif SC Bold" pitchFamily="34" charset="-122"/>
                <a:cs typeface="Noto Serif SC Bold" pitchFamily="34" charset="-120"/>
              </a:rPr>
              <a:t>3</a:t>
            </a:r>
            <a:endParaRPr lang="en-US" dirty="0"/>
          </a:p>
        </p:txBody>
      </p:sp>
      <p:sp>
        <p:nvSpPr>
          <p:cNvPr id="20" name="Text 18"/>
          <p:cNvSpPr/>
          <p:nvPr/>
        </p:nvSpPr>
        <p:spPr>
          <a:xfrm>
            <a:off x="5301853" y="6396633"/>
            <a:ext cx="1438156" cy="179784"/>
          </a:xfrm>
          <a:prstGeom prst="rect">
            <a:avLst/>
          </a:prstGeom>
          <a:noFill/>
          <a:ln/>
        </p:spPr>
        <p:txBody>
          <a:bodyPr wrap="none" lIns="0" tIns="0" rIns="0" bIns="0" rtlCol="0" anchor="t"/>
          <a:lstStyle/>
          <a:p>
            <a:pPr marL="0" indent="0" algn="r">
              <a:lnSpc>
                <a:spcPts val="1400"/>
              </a:lnSpc>
              <a:buNone/>
            </a:pPr>
            <a:r>
              <a:rPr lang="en-US" b="1" dirty="0">
                <a:solidFill>
                  <a:srgbClr val="4B4A4A"/>
                </a:solidFill>
                <a:latin typeface="Noto Serif SC Bold" pitchFamily="34" charset="0"/>
                <a:ea typeface="Noto Serif SC Bold" pitchFamily="34" charset="-122"/>
                <a:cs typeface="Noto Serif SC Bold" pitchFamily="34" charset="-120"/>
              </a:rPr>
              <a:t>Kết nối WiFi</a:t>
            </a:r>
            <a:endParaRPr lang="en-US" dirty="0"/>
          </a:p>
        </p:txBody>
      </p:sp>
      <p:sp>
        <p:nvSpPr>
          <p:cNvPr id="21" name="Text 19"/>
          <p:cNvSpPr/>
          <p:nvPr/>
        </p:nvSpPr>
        <p:spPr>
          <a:xfrm>
            <a:off x="460177" y="6645354"/>
            <a:ext cx="6279833" cy="191572"/>
          </a:xfrm>
          <a:prstGeom prst="rect">
            <a:avLst/>
          </a:prstGeom>
          <a:noFill/>
          <a:ln/>
        </p:spPr>
        <p:txBody>
          <a:bodyPr wrap="square" lIns="0" tIns="0" rIns="0" bIns="0" rtlCol="0" anchor="t"/>
          <a:lstStyle/>
          <a:p>
            <a:pPr marL="0" indent="0" algn="r">
              <a:buNone/>
            </a:pPr>
            <a:r>
              <a:rPr lang="en-US" dirty="0">
                <a:solidFill>
                  <a:srgbClr val="4B4A4A"/>
                </a:solidFill>
                <a:highlight>
                  <a:srgbClr val="D8ECE5"/>
                </a:highlight>
                <a:latin typeface="Consolas" pitchFamily="34" charset="0"/>
                <a:ea typeface="Consolas" pitchFamily="34" charset="-122"/>
                <a:cs typeface="Consolas" pitchFamily="34" charset="-120"/>
              </a:rPr>
              <a:t>WiFi.begin(ssid, password)</a:t>
            </a:r>
            <a:r>
              <a:rPr lang="en-US" dirty="0">
                <a:solidFill>
                  <a:srgbClr val="4B4A4A"/>
                </a:solidFill>
                <a:latin typeface="Geist" pitchFamily="34" charset="0"/>
                <a:ea typeface="Geist" pitchFamily="34" charset="-122"/>
                <a:cs typeface="Geist" pitchFamily="34" charset="-120"/>
              </a:rPr>
              <a:t> - Bắt đầu kết nối. </a:t>
            </a:r>
          </a:p>
          <a:p>
            <a:pPr marL="0" indent="0" algn="r">
              <a:buNone/>
            </a:pPr>
            <a:r>
              <a:rPr lang="en-US" dirty="0" err="1">
                <a:solidFill>
                  <a:srgbClr val="4B4A4A"/>
                </a:solidFill>
                <a:latin typeface="Geist" pitchFamily="34" charset="0"/>
                <a:ea typeface="Geist" pitchFamily="34" charset="-122"/>
                <a:cs typeface="Geist" pitchFamily="34" charset="-120"/>
              </a:rPr>
              <a:t>Vòng</a:t>
            </a:r>
            <a:r>
              <a:rPr lang="en-US" dirty="0">
                <a:solidFill>
                  <a:srgbClr val="4B4A4A"/>
                </a:solidFill>
                <a:latin typeface="Geist" pitchFamily="34" charset="0"/>
                <a:ea typeface="Geist" pitchFamily="34" charset="-122"/>
                <a:cs typeface="Geist" pitchFamily="34" charset="-120"/>
              </a:rPr>
              <a:t> while chờ đến khi </a:t>
            </a:r>
            <a:r>
              <a:rPr lang="en-US" dirty="0">
                <a:solidFill>
                  <a:srgbClr val="4B4A4A"/>
                </a:solidFill>
                <a:highlight>
                  <a:srgbClr val="D8ECE5"/>
                </a:highlight>
                <a:latin typeface="Consolas" pitchFamily="34" charset="0"/>
                <a:ea typeface="Consolas" pitchFamily="34" charset="-122"/>
                <a:cs typeface="Consolas" pitchFamily="34" charset="-120"/>
              </a:rPr>
              <a:t>WiFi.status() == WL_CONNECTED</a:t>
            </a:r>
            <a:r>
              <a:rPr lang="en-US" dirty="0">
                <a:solidFill>
                  <a:srgbClr val="4B4A4A"/>
                </a:solidFill>
                <a:latin typeface="Geist" pitchFamily="34" charset="0"/>
                <a:ea typeface="Geist" pitchFamily="34" charset="-122"/>
                <a:cs typeface="Geist" pitchFamily="34" charset="-120"/>
              </a:rPr>
              <a:t>.</a:t>
            </a:r>
            <a:endParaRPr lang="en-US" dirty="0"/>
          </a:p>
        </p:txBody>
      </p:sp>
      <p:sp>
        <p:nvSpPr>
          <p:cNvPr id="22" name="Shape 20"/>
          <p:cNvSpPr/>
          <p:nvPr/>
        </p:nvSpPr>
        <p:spPr>
          <a:xfrm>
            <a:off x="7429381" y="7073860"/>
            <a:ext cx="345162" cy="15240"/>
          </a:xfrm>
          <a:prstGeom prst="roundRect">
            <a:avLst>
              <a:gd name="adj" fmla="val 679476"/>
            </a:avLst>
          </a:prstGeom>
          <a:solidFill>
            <a:srgbClr val="B7D5CA"/>
          </a:solidFill>
          <a:ln/>
        </p:spPr>
      </p:sp>
      <p:sp>
        <p:nvSpPr>
          <p:cNvPr id="23" name="Shape 21"/>
          <p:cNvSpPr/>
          <p:nvPr/>
        </p:nvSpPr>
        <p:spPr>
          <a:xfrm>
            <a:off x="7185779" y="6952059"/>
            <a:ext cx="258842" cy="258842"/>
          </a:xfrm>
          <a:prstGeom prst="roundRect">
            <a:avLst>
              <a:gd name="adj" fmla="val 40006"/>
            </a:avLst>
          </a:prstGeom>
          <a:solidFill>
            <a:srgbClr val="D1EFE4"/>
          </a:solidFill>
          <a:ln w="7620">
            <a:solidFill>
              <a:srgbClr val="B7D5CA"/>
            </a:solidFill>
            <a:prstDash val="solid"/>
          </a:ln>
        </p:spPr>
      </p:sp>
      <p:sp>
        <p:nvSpPr>
          <p:cNvPr id="24" name="Text 22"/>
          <p:cNvSpPr/>
          <p:nvPr/>
        </p:nvSpPr>
        <p:spPr>
          <a:xfrm>
            <a:off x="7228939" y="6973669"/>
            <a:ext cx="172522" cy="215622"/>
          </a:xfrm>
          <a:prstGeom prst="rect">
            <a:avLst/>
          </a:prstGeom>
          <a:noFill/>
          <a:ln/>
        </p:spPr>
        <p:txBody>
          <a:bodyPr wrap="none" lIns="0" tIns="0" rIns="0" bIns="0" rtlCol="0" anchor="t"/>
          <a:lstStyle/>
          <a:p>
            <a:pPr marL="0" indent="0" algn="ctr">
              <a:lnSpc>
                <a:spcPts val="1350"/>
              </a:lnSpc>
              <a:buNone/>
            </a:pPr>
            <a:r>
              <a:rPr lang="en-US" b="1" dirty="0">
                <a:solidFill>
                  <a:srgbClr val="4B4A4A"/>
                </a:solidFill>
                <a:latin typeface="Noto Serif SC Bold" pitchFamily="34" charset="0"/>
                <a:ea typeface="Noto Serif SC Bold" pitchFamily="34" charset="-122"/>
                <a:cs typeface="Noto Serif SC Bold" pitchFamily="34" charset="-120"/>
              </a:rPr>
              <a:t>4</a:t>
            </a:r>
            <a:endParaRPr lang="en-US" dirty="0"/>
          </a:p>
        </p:txBody>
      </p:sp>
      <p:sp>
        <p:nvSpPr>
          <p:cNvPr id="25" name="Text 23"/>
          <p:cNvSpPr/>
          <p:nvPr/>
        </p:nvSpPr>
        <p:spPr>
          <a:xfrm>
            <a:off x="7890391" y="6991588"/>
            <a:ext cx="1438156" cy="179784"/>
          </a:xfrm>
          <a:prstGeom prst="rect">
            <a:avLst/>
          </a:prstGeom>
          <a:noFill/>
          <a:ln/>
        </p:spPr>
        <p:txBody>
          <a:bodyPr wrap="none" lIns="0" tIns="0" rIns="0" bIns="0" rtlCol="0" anchor="t"/>
          <a:lstStyle/>
          <a:p>
            <a:pPr marL="0" indent="0" algn="l">
              <a:lnSpc>
                <a:spcPts val="1400"/>
              </a:lnSpc>
              <a:buNone/>
            </a:pPr>
            <a:r>
              <a:rPr lang="en-US" b="1" dirty="0">
                <a:solidFill>
                  <a:srgbClr val="4B4A4A"/>
                </a:solidFill>
                <a:latin typeface="Noto Serif SC Bold" pitchFamily="34" charset="0"/>
                <a:ea typeface="Noto Serif SC Bold" pitchFamily="34" charset="-122"/>
                <a:cs typeface="Noto Serif SC Bold" pitchFamily="34" charset="-120"/>
              </a:rPr>
              <a:t>Lấy địa chỉ IP</a:t>
            </a:r>
            <a:endParaRPr lang="en-US" dirty="0"/>
          </a:p>
        </p:txBody>
      </p:sp>
      <p:sp>
        <p:nvSpPr>
          <p:cNvPr id="26" name="Text 24"/>
          <p:cNvSpPr/>
          <p:nvPr/>
        </p:nvSpPr>
        <p:spPr>
          <a:xfrm>
            <a:off x="7890391" y="7240310"/>
            <a:ext cx="6279833" cy="191572"/>
          </a:xfrm>
          <a:prstGeom prst="rect">
            <a:avLst/>
          </a:prstGeom>
          <a:noFill/>
          <a:ln/>
        </p:spPr>
        <p:txBody>
          <a:bodyPr wrap="square" lIns="0" tIns="0" rIns="0" bIns="0" rtlCol="0" anchor="t"/>
          <a:lstStyle/>
          <a:p>
            <a:pPr marL="0" indent="0" algn="l">
              <a:buNone/>
            </a:pPr>
            <a:r>
              <a:rPr lang="en-US" dirty="0">
                <a:solidFill>
                  <a:srgbClr val="4B4A4A"/>
                </a:solidFill>
                <a:highlight>
                  <a:srgbClr val="D8ECE5"/>
                </a:highlight>
                <a:latin typeface="Consolas" pitchFamily="34" charset="0"/>
                <a:ea typeface="Consolas" pitchFamily="34" charset="-122"/>
                <a:cs typeface="Consolas" pitchFamily="34" charset="-120"/>
              </a:rPr>
              <a:t>WiFi.localIP()</a:t>
            </a:r>
            <a:r>
              <a:rPr lang="en-US" dirty="0">
                <a:solidFill>
                  <a:srgbClr val="4B4A4A"/>
                </a:solidFill>
                <a:latin typeface="Geist" pitchFamily="34" charset="0"/>
                <a:ea typeface="Geist" pitchFamily="34" charset="-122"/>
                <a:cs typeface="Geist" pitchFamily="34" charset="-120"/>
              </a:rPr>
              <a:t> - Trả về địa chỉ IP mà Router cấp cho ESP32. </a:t>
            </a:r>
          </a:p>
          <a:p>
            <a:pPr marL="0" indent="0" algn="l">
              <a:buNone/>
            </a:pPr>
            <a:r>
              <a:rPr lang="en-US" dirty="0" err="1">
                <a:solidFill>
                  <a:srgbClr val="4B4A4A"/>
                </a:solidFill>
                <a:latin typeface="Geist" pitchFamily="34" charset="0"/>
                <a:ea typeface="Geist" pitchFamily="34" charset="-122"/>
                <a:cs typeface="Geist" pitchFamily="34" charset="-120"/>
              </a:rPr>
              <a:t>Đây</a:t>
            </a:r>
            <a:r>
              <a:rPr lang="en-US" dirty="0">
                <a:solidFill>
                  <a:srgbClr val="4B4A4A"/>
                </a:solidFill>
                <a:latin typeface="Geist" pitchFamily="34" charset="0"/>
                <a:ea typeface="Geist" pitchFamily="34" charset="-122"/>
                <a:cs typeface="Geist" pitchFamily="34" charset="-120"/>
              </a:rPr>
              <a:t> là thông tin quan trọng nhất!</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81990" y="470059"/>
            <a:ext cx="10955774" cy="532805"/>
          </a:xfrm>
          <a:prstGeom prst="rect">
            <a:avLst/>
          </a:prstGeom>
          <a:noFill/>
          <a:ln/>
        </p:spPr>
        <p:txBody>
          <a:bodyPr wrap="none" lIns="0" tIns="0" rIns="0" bIns="0" rtlCol="0" anchor="t"/>
          <a:lstStyle/>
          <a:p>
            <a:pPr marL="0" indent="0" algn="l">
              <a:lnSpc>
                <a:spcPts val="4150"/>
              </a:lnSpc>
              <a:buNone/>
            </a:pPr>
            <a:r>
              <a:rPr lang="en-US" sz="3350" b="1" dirty="0">
                <a:solidFill>
                  <a:srgbClr val="006747"/>
                </a:solidFill>
                <a:latin typeface="Noto Serif SC Bold" pitchFamily="34" charset="0"/>
                <a:ea typeface="Noto Serif SC Bold" pitchFamily="34" charset="-122"/>
                <a:cs typeface="Noto Serif SC Bold" pitchFamily="34" charset="-120"/>
              </a:rPr>
              <a:t>Bước 5b: Định tuyến (Routing) và khởi động Server</a:t>
            </a:r>
            <a:endParaRPr lang="en-US" sz="3350" dirty="0"/>
          </a:p>
        </p:txBody>
      </p:sp>
      <p:sp>
        <p:nvSpPr>
          <p:cNvPr id="3" name="Shape 1"/>
          <p:cNvSpPr/>
          <p:nvPr/>
        </p:nvSpPr>
        <p:spPr>
          <a:xfrm>
            <a:off x="681990" y="1343858"/>
            <a:ext cx="13266420" cy="2983468"/>
          </a:xfrm>
          <a:prstGeom prst="roundRect">
            <a:avLst>
              <a:gd name="adj" fmla="val 5144"/>
            </a:avLst>
          </a:prstGeom>
          <a:solidFill>
            <a:srgbClr val="D8ECE5"/>
          </a:solidFill>
          <a:ln/>
        </p:spPr>
      </p:sp>
      <p:sp>
        <p:nvSpPr>
          <p:cNvPr id="4" name="Shape 2"/>
          <p:cNvSpPr/>
          <p:nvPr/>
        </p:nvSpPr>
        <p:spPr>
          <a:xfrm>
            <a:off x="673537" y="1343858"/>
            <a:ext cx="13283327" cy="2983468"/>
          </a:xfrm>
          <a:prstGeom prst="roundRect">
            <a:avLst>
              <a:gd name="adj" fmla="val 857"/>
            </a:avLst>
          </a:prstGeom>
          <a:solidFill>
            <a:srgbClr val="D8ECE5"/>
          </a:solidFill>
          <a:ln/>
        </p:spPr>
      </p:sp>
      <p:sp>
        <p:nvSpPr>
          <p:cNvPr id="5" name="Text 3"/>
          <p:cNvSpPr/>
          <p:nvPr/>
        </p:nvSpPr>
        <p:spPr>
          <a:xfrm>
            <a:off x="844034" y="1471732"/>
            <a:ext cx="12942332" cy="2727722"/>
          </a:xfrm>
          <a:prstGeom prst="rect">
            <a:avLst/>
          </a:prstGeom>
          <a:noFill/>
          <a:ln/>
        </p:spPr>
        <p:txBody>
          <a:bodyPr wrap="square" lIns="0" tIns="0" rIns="0" bIns="0" rtlCol="0" anchor="t"/>
          <a:lstStyle/>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  // --- BƯỚC ĐỊNH TUYẾN (ROUTING) ---</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  server.on("/", handleRoot);</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  server.on("/on", handleOn);</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  server.on("/off", handleOff);</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  server.onNotFound(handleNotFound);</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  // Bắt đầu chạy Server</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  server.begin();</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  Serial.println("HTTP Server da khoi dong!");</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6" name="Text 4"/>
          <p:cNvSpPr/>
          <p:nvPr/>
        </p:nvSpPr>
        <p:spPr>
          <a:xfrm>
            <a:off x="681990" y="4689634"/>
            <a:ext cx="2131219" cy="266343"/>
          </a:xfrm>
          <a:prstGeom prst="rect">
            <a:avLst/>
          </a:prstGeom>
          <a:noFill/>
          <a:ln/>
        </p:spPr>
        <p:txBody>
          <a:bodyPr wrap="none" lIns="0" tIns="0" rIns="0" bIns="0" rtlCol="0" anchor="t"/>
          <a:lstStyle/>
          <a:p>
            <a:pPr marL="0" indent="0" algn="l">
              <a:lnSpc>
                <a:spcPts val="2050"/>
              </a:lnSpc>
              <a:buNone/>
            </a:pPr>
            <a:r>
              <a:rPr lang="en-US" b="1" dirty="0">
                <a:solidFill>
                  <a:srgbClr val="006747"/>
                </a:solidFill>
                <a:latin typeface="Noto Serif SC Bold" pitchFamily="34" charset="0"/>
                <a:ea typeface="Noto Serif SC Bold" pitchFamily="34" charset="-122"/>
                <a:cs typeface="Noto Serif SC Bold" pitchFamily="34" charset="-120"/>
              </a:rPr>
              <a:t>Định tuyến là gì?</a:t>
            </a:r>
            <a:endParaRPr lang="en-US" dirty="0"/>
          </a:p>
        </p:txBody>
      </p:sp>
      <p:sp>
        <p:nvSpPr>
          <p:cNvPr id="7" name="Text 5"/>
          <p:cNvSpPr/>
          <p:nvPr/>
        </p:nvSpPr>
        <p:spPr>
          <a:xfrm>
            <a:off x="681990" y="5126474"/>
            <a:ext cx="6425208" cy="545544"/>
          </a:xfrm>
          <a:prstGeom prst="rect">
            <a:avLst/>
          </a:prstGeom>
          <a:noFill/>
          <a:ln/>
        </p:spPr>
        <p:txBody>
          <a:bodyPr wrap="square" lIns="0" tIns="0" rIns="0" bIns="0" rtlCol="0" anchor="t"/>
          <a:lstStyle/>
          <a:p>
            <a:pPr marL="0" indent="0" algn="l">
              <a:lnSpc>
                <a:spcPts val="2100"/>
              </a:lnSpc>
              <a:buNone/>
            </a:pPr>
            <a:r>
              <a:rPr lang="en-US" b="1" dirty="0">
                <a:solidFill>
                  <a:srgbClr val="4B4A4A"/>
                </a:solidFill>
                <a:latin typeface="Geist" pitchFamily="34" charset="0"/>
                <a:ea typeface="Geist" pitchFamily="34" charset="-122"/>
                <a:cs typeface="Geist" pitchFamily="34" charset="-120"/>
              </a:rPr>
              <a:t>Routing</a:t>
            </a:r>
            <a:r>
              <a:rPr lang="en-US" dirty="0">
                <a:solidFill>
                  <a:srgbClr val="4B4A4A"/>
                </a:solidFill>
                <a:latin typeface="Geist" pitchFamily="34" charset="0"/>
                <a:ea typeface="Geist" pitchFamily="34" charset="-122"/>
                <a:cs typeface="Geist" pitchFamily="34" charset="-120"/>
              </a:rPr>
              <a:t> là việc "chỉ đường" cho Server: Khi Client truy cập địa chỉ nào, thì gọi hàm xử lý nào.</a:t>
            </a:r>
            <a:endParaRPr lang="en-US" dirty="0"/>
          </a:p>
        </p:txBody>
      </p:sp>
      <p:sp>
        <p:nvSpPr>
          <p:cNvPr id="8" name="Text 6"/>
          <p:cNvSpPr/>
          <p:nvPr/>
        </p:nvSpPr>
        <p:spPr>
          <a:xfrm>
            <a:off x="681990" y="5825371"/>
            <a:ext cx="6425208" cy="272772"/>
          </a:xfrm>
          <a:prstGeom prst="rect">
            <a:avLst/>
          </a:prstGeom>
          <a:noFill/>
          <a:ln/>
        </p:spPr>
        <p:txBody>
          <a:bodyPr wrap="none" lIns="0" tIns="0" rIns="0" bIns="0" rtlCol="0" anchor="t"/>
          <a:lstStyle/>
          <a:p>
            <a:pPr marL="0" indent="0" algn="l">
              <a:lnSpc>
                <a:spcPts val="2100"/>
              </a:lnSpc>
              <a:buNone/>
            </a:pPr>
            <a:r>
              <a:rPr lang="en-US" dirty="0">
                <a:solidFill>
                  <a:srgbClr val="4B4A4A"/>
                </a:solidFill>
                <a:latin typeface="Geist" pitchFamily="34" charset="0"/>
                <a:ea typeface="Geist" pitchFamily="34" charset="-122"/>
                <a:cs typeface="Geist" pitchFamily="34" charset="-120"/>
              </a:rPr>
              <a:t>Ví dụ:</a:t>
            </a:r>
            <a:endParaRPr lang="en-US" dirty="0"/>
          </a:p>
        </p:txBody>
      </p:sp>
      <p:sp>
        <p:nvSpPr>
          <p:cNvPr id="9" name="Text 7"/>
          <p:cNvSpPr/>
          <p:nvPr/>
        </p:nvSpPr>
        <p:spPr>
          <a:xfrm>
            <a:off x="681990" y="6251496"/>
            <a:ext cx="6425208" cy="280392"/>
          </a:xfrm>
          <a:prstGeom prst="rect">
            <a:avLst/>
          </a:prstGeom>
          <a:noFill/>
          <a:ln/>
        </p:spPr>
        <p:txBody>
          <a:bodyPr wrap="square" lIns="0" tIns="0" rIns="0" bIns="0" rtlCol="0" anchor="t"/>
          <a:lstStyle/>
          <a:p>
            <a:pPr marL="342900" indent="-342900" algn="l">
              <a:lnSpc>
                <a:spcPts val="2100"/>
              </a:lnSpc>
              <a:buSzPct val="100000"/>
              <a:buChar char="•"/>
            </a:pPr>
            <a:r>
              <a:rPr lang="en-US" dirty="0">
                <a:solidFill>
                  <a:srgbClr val="4B4A4A"/>
                </a:solidFill>
                <a:highlight>
                  <a:srgbClr val="D8ECE5"/>
                </a:highlight>
                <a:latin typeface="Consolas" pitchFamily="34" charset="0"/>
                <a:ea typeface="Consolas" pitchFamily="34" charset="-122"/>
                <a:cs typeface="Consolas" pitchFamily="34" charset="-120"/>
              </a:rPr>
              <a:t>server.on("/", handleRoot)</a:t>
            </a:r>
            <a:r>
              <a:rPr lang="en-US" dirty="0">
                <a:solidFill>
                  <a:srgbClr val="4B4A4A"/>
                </a:solidFill>
                <a:latin typeface="Geist" pitchFamily="34" charset="0"/>
                <a:ea typeface="Geist" pitchFamily="34" charset="-122"/>
                <a:cs typeface="Geist" pitchFamily="34" charset="-120"/>
              </a:rPr>
              <a:t> → Nếu truy cập </a:t>
            </a:r>
            <a:r>
              <a:rPr lang="en-US" dirty="0">
                <a:solidFill>
                  <a:srgbClr val="4B4A4A"/>
                </a:solidFill>
                <a:highlight>
                  <a:srgbClr val="D8ECE5"/>
                </a:highlight>
                <a:latin typeface="Consolas" pitchFamily="34" charset="0"/>
                <a:ea typeface="Consolas" pitchFamily="34" charset="-122"/>
                <a:cs typeface="Consolas" pitchFamily="34" charset="-120"/>
              </a:rPr>
              <a:t>/</a:t>
            </a:r>
            <a:r>
              <a:rPr lang="en-US" dirty="0">
                <a:solidFill>
                  <a:srgbClr val="4B4A4A"/>
                </a:solidFill>
                <a:latin typeface="Geist" pitchFamily="34" charset="0"/>
                <a:ea typeface="Geist" pitchFamily="34" charset="-122"/>
                <a:cs typeface="Geist" pitchFamily="34" charset="-120"/>
              </a:rPr>
              <a:t> (trang chủ), gọi hàm </a:t>
            </a:r>
            <a:r>
              <a:rPr lang="en-US" dirty="0">
                <a:solidFill>
                  <a:srgbClr val="4B4A4A"/>
                </a:solidFill>
                <a:highlight>
                  <a:srgbClr val="D8ECE5"/>
                </a:highlight>
                <a:latin typeface="Consolas" pitchFamily="34" charset="0"/>
                <a:ea typeface="Consolas" pitchFamily="34" charset="-122"/>
                <a:cs typeface="Consolas" pitchFamily="34" charset="-120"/>
              </a:rPr>
              <a:t>handleRoot()</a:t>
            </a:r>
            <a:endParaRPr lang="en-US" dirty="0"/>
          </a:p>
        </p:txBody>
      </p:sp>
      <p:sp>
        <p:nvSpPr>
          <p:cNvPr id="10" name="Text 8"/>
          <p:cNvSpPr/>
          <p:nvPr/>
        </p:nvSpPr>
        <p:spPr>
          <a:xfrm>
            <a:off x="681990" y="6868270"/>
            <a:ext cx="6425208" cy="280392"/>
          </a:xfrm>
          <a:prstGeom prst="rect">
            <a:avLst/>
          </a:prstGeom>
          <a:noFill/>
          <a:ln/>
        </p:spPr>
        <p:txBody>
          <a:bodyPr wrap="square" lIns="0" tIns="0" rIns="0" bIns="0" rtlCol="0" anchor="t"/>
          <a:lstStyle/>
          <a:p>
            <a:pPr marL="342900" indent="-342900" algn="l">
              <a:lnSpc>
                <a:spcPts val="2100"/>
              </a:lnSpc>
              <a:buSzPct val="100000"/>
              <a:buChar char="•"/>
            </a:pPr>
            <a:r>
              <a:rPr lang="en-US" dirty="0">
                <a:solidFill>
                  <a:srgbClr val="4B4A4A"/>
                </a:solidFill>
                <a:highlight>
                  <a:srgbClr val="D8ECE5"/>
                </a:highlight>
                <a:latin typeface="Consolas" pitchFamily="34" charset="0"/>
                <a:ea typeface="Consolas" pitchFamily="34" charset="-122"/>
                <a:cs typeface="Consolas" pitchFamily="34" charset="-120"/>
              </a:rPr>
              <a:t>server.on("/on", handleOn)</a:t>
            </a:r>
            <a:r>
              <a:rPr lang="en-US" dirty="0">
                <a:solidFill>
                  <a:srgbClr val="4B4A4A"/>
                </a:solidFill>
                <a:latin typeface="Geist" pitchFamily="34" charset="0"/>
                <a:ea typeface="Geist" pitchFamily="34" charset="-122"/>
                <a:cs typeface="Geist" pitchFamily="34" charset="-120"/>
              </a:rPr>
              <a:t> → Nếu truy cập </a:t>
            </a:r>
            <a:r>
              <a:rPr lang="en-US" dirty="0">
                <a:solidFill>
                  <a:srgbClr val="4B4A4A"/>
                </a:solidFill>
                <a:highlight>
                  <a:srgbClr val="D8ECE5"/>
                </a:highlight>
                <a:latin typeface="Consolas" pitchFamily="34" charset="0"/>
                <a:ea typeface="Consolas" pitchFamily="34" charset="-122"/>
                <a:cs typeface="Consolas" pitchFamily="34" charset="-120"/>
              </a:rPr>
              <a:t>/on</a:t>
            </a:r>
            <a:r>
              <a:rPr lang="en-US" dirty="0">
                <a:solidFill>
                  <a:srgbClr val="4B4A4A"/>
                </a:solidFill>
                <a:latin typeface="Geist" pitchFamily="34" charset="0"/>
                <a:ea typeface="Geist" pitchFamily="34" charset="-122"/>
                <a:cs typeface="Geist" pitchFamily="34" charset="-120"/>
              </a:rPr>
              <a:t>, gọi hàm </a:t>
            </a:r>
            <a:r>
              <a:rPr lang="en-US" dirty="0">
                <a:solidFill>
                  <a:srgbClr val="4B4A4A"/>
                </a:solidFill>
                <a:highlight>
                  <a:srgbClr val="D8ECE5"/>
                </a:highlight>
                <a:latin typeface="Consolas" pitchFamily="34" charset="0"/>
                <a:ea typeface="Consolas" pitchFamily="34" charset="-122"/>
                <a:cs typeface="Consolas" pitchFamily="34" charset="-120"/>
              </a:rPr>
              <a:t>handleOn()</a:t>
            </a:r>
            <a:endParaRPr lang="en-US" dirty="0"/>
          </a:p>
        </p:txBody>
      </p:sp>
      <p:sp>
        <p:nvSpPr>
          <p:cNvPr id="11" name="Text 9"/>
          <p:cNvSpPr/>
          <p:nvPr/>
        </p:nvSpPr>
        <p:spPr>
          <a:xfrm>
            <a:off x="681990" y="7412857"/>
            <a:ext cx="6425208" cy="280392"/>
          </a:xfrm>
          <a:prstGeom prst="rect">
            <a:avLst/>
          </a:prstGeom>
          <a:noFill/>
          <a:ln/>
        </p:spPr>
        <p:txBody>
          <a:bodyPr wrap="square" lIns="0" tIns="0" rIns="0" bIns="0" rtlCol="0" anchor="t"/>
          <a:lstStyle/>
          <a:p>
            <a:pPr marL="342900" indent="-342900" algn="l">
              <a:lnSpc>
                <a:spcPts val="2100"/>
              </a:lnSpc>
              <a:buSzPct val="100000"/>
              <a:buChar char="•"/>
            </a:pPr>
            <a:r>
              <a:rPr lang="en-US" dirty="0">
                <a:solidFill>
                  <a:srgbClr val="4B4A4A"/>
                </a:solidFill>
                <a:highlight>
                  <a:srgbClr val="D8ECE5"/>
                </a:highlight>
                <a:latin typeface="Consolas" pitchFamily="34" charset="0"/>
                <a:ea typeface="Consolas" pitchFamily="34" charset="-122"/>
                <a:cs typeface="Consolas" pitchFamily="34" charset="-120"/>
              </a:rPr>
              <a:t>server.on("/off", handleOff)</a:t>
            </a:r>
            <a:r>
              <a:rPr lang="en-US" dirty="0">
                <a:solidFill>
                  <a:srgbClr val="4B4A4A"/>
                </a:solidFill>
                <a:latin typeface="Geist" pitchFamily="34" charset="0"/>
                <a:ea typeface="Geist" pitchFamily="34" charset="-122"/>
                <a:cs typeface="Geist" pitchFamily="34" charset="-120"/>
              </a:rPr>
              <a:t> → Nếu truy cập </a:t>
            </a:r>
            <a:r>
              <a:rPr lang="en-US" dirty="0">
                <a:solidFill>
                  <a:srgbClr val="4B4A4A"/>
                </a:solidFill>
                <a:highlight>
                  <a:srgbClr val="D8ECE5"/>
                </a:highlight>
                <a:latin typeface="Consolas" pitchFamily="34" charset="0"/>
                <a:ea typeface="Consolas" pitchFamily="34" charset="-122"/>
                <a:cs typeface="Consolas" pitchFamily="34" charset="-120"/>
              </a:rPr>
              <a:t>/off</a:t>
            </a:r>
            <a:r>
              <a:rPr lang="en-US" dirty="0">
                <a:solidFill>
                  <a:srgbClr val="4B4A4A"/>
                </a:solidFill>
                <a:latin typeface="Geist" pitchFamily="34" charset="0"/>
                <a:ea typeface="Geist" pitchFamily="34" charset="-122"/>
                <a:cs typeface="Geist" pitchFamily="34" charset="-120"/>
              </a:rPr>
              <a:t>, gọi hàm </a:t>
            </a:r>
            <a:r>
              <a:rPr lang="en-US" dirty="0">
                <a:solidFill>
                  <a:srgbClr val="4B4A4A"/>
                </a:solidFill>
                <a:highlight>
                  <a:srgbClr val="D8ECE5"/>
                </a:highlight>
                <a:latin typeface="Consolas" pitchFamily="34" charset="0"/>
                <a:ea typeface="Consolas" pitchFamily="34" charset="-122"/>
                <a:cs typeface="Consolas" pitchFamily="34" charset="-120"/>
              </a:rPr>
              <a:t>handleOff()</a:t>
            </a:r>
            <a:endParaRPr lang="en-US" dirty="0"/>
          </a:p>
        </p:txBody>
      </p:sp>
      <p:sp>
        <p:nvSpPr>
          <p:cNvPr id="12" name="Text 10"/>
          <p:cNvSpPr/>
          <p:nvPr/>
        </p:nvSpPr>
        <p:spPr>
          <a:xfrm>
            <a:off x="7530822" y="4689634"/>
            <a:ext cx="2131219" cy="266343"/>
          </a:xfrm>
          <a:prstGeom prst="rect">
            <a:avLst/>
          </a:prstGeom>
          <a:noFill/>
          <a:ln/>
        </p:spPr>
        <p:txBody>
          <a:bodyPr wrap="none" lIns="0" tIns="0" rIns="0" bIns="0" rtlCol="0" anchor="t"/>
          <a:lstStyle/>
          <a:p>
            <a:pPr marL="0" indent="0" algn="l">
              <a:lnSpc>
                <a:spcPts val="2050"/>
              </a:lnSpc>
              <a:buNone/>
            </a:pPr>
            <a:r>
              <a:rPr lang="en-US" b="1" dirty="0">
                <a:solidFill>
                  <a:srgbClr val="006747"/>
                </a:solidFill>
                <a:latin typeface="Noto Serif SC Bold" pitchFamily="34" charset="0"/>
                <a:ea typeface="Noto Serif SC Bold" pitchFamily="34" charset="-122"/>
                <a:cs typeface="Noto Serif SC Bold" pitchFamily="34" charset="-120"/>
              </a:rPr>
              <a:t>Khởi động Server</a:t>
            </a:r>
            <a:endParaRPr lang="en-US" dirty="0"/>
          </a:p>
        </p:txBody>
      </p:sp>
      <p:sp>
        <p:nvSpPr>
          <p:cNvPr id="13" name="Text 11"/>
          <p:cNvSpPr/>
          <p:nvPr/>
        </p:nvSpPr>
        <p:spPr>
          <a:xfrm>
            <a:off x="7530822" y="5126474"/>
            <a:ext cx="6425208" cy="553164"/>
          </a:xfrm>
          <a:prstGeom prst="rect">
            <a:avLst/>
          </a:prstGeom>
          <a:noFill/>
          <a:ln/>
        </p:spPr>
        <p:txBody>
          <a:bodyPr wrap="square" lIns="0" tIns="0" rIns="0" bIns="0" rtlCol="0" anchor="t"/>
          <a:lstStyle/>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server.begin()</a:t>
            </a:r>
            <a:r>
              <a:rPr lang="en-US" dirty="0">
                <a:solidFill>
                  <a:srgbClr val="4B4A4A"/>
                </a:solidFill>
                <a:latin typeface="Geist" pitchFamily="34" charset="0"/>
                <a:ea typeface="Geist" pitchFamily="34" charset="-122"/>
                <a:cs typeface="Geist" pitchFamily="34" charset="-120"/>
              </a:rPr>
              <a:t> là lệnh cuối cùng, báo cho Server: </a:t>
            </a:r>
            <a:r>
              <a:rPr lang="en-US" i="1" dirty="0">
                <a:solidFill>
                  <a:srgbClr val="4B4A4A"/>
                </a:solidFill>
                <a:latin typeface="Geist" pitchFamily="34" charset="0"/>
                <a:ea typeface="Geist" pitchFamily="34" charset="-122"/>
                <a:cs typeface="Geist" pitchFamily="34" charset="-120"/>
              </a:rPr>
              <a:t>"Được rồi, bắt đầu lắng nghe yêu cầu từ Client đi!"</a:t>
            </a:r>
            <a:endParaRPr lang="en-US" dirty="0"/>
          </a:p>
        </p:txBody>
      </p:sp>
      <p:sp>
        <p:nvSpPr>
          <p:cNvPr id="14" name="Text 12"/>
          <p:cNvSpPr/>
          <p:nvPr/>
        </p:nvSpPr>
        <p:spPr>
          <a:xfrm>
            <a:off x="7530822" y="5832991"/>
            <a:ext cx="6425208" cy="545544"/>
          </a:xfrm>
          <a:prstGeom prst="rect">
            <a:avLst/>
          </a:prstGeom>
          <a:noFill/>
          <a:ln/>
        </p:spPr>
        <p:txBody>
          <a:bodyPr wrap="square" lIns="0" tIns="0" rIns="0" bIns="0" rtlCol="0" anchor="t"/>
          <a:lstStyle/>
          <a:p>
            <a:pPr marL="0" indent="0" algn="l">
              <a:lnSpc>
                <a:spcPts val="2100"/>
              </a:lnSpc>
              <a:buNone/>
            </a:pPr>
            <a:r>
              <a:rPr lang="en-US" dirty="0">
                <a:solidFill>
                  <a:srgbClr val="4B4A4A"/>
                </a:solidFill>
                <a:latin typeface="Geist" pitchFamily="34" charset="0"/>
                <a:ea typeface="Geist" pitchFamily="34" charset="-122"/>
                <a:cs typeface="Geist" pitchFamily="34" charset="-120"/>
              </a:rPr>
              <a:t>Sau lệnh này, ESP32 chính thức trở thành một Web Server, sẵn sàng tiếp đón khách.</a:t>
            </a:r>
            <a:endParaRPr lang="en-US" dirty="0"/>
          </a:p>
        </p:txBody>
      </p:sp>
      <p:sp>
        <p:nvSpPr>
          <p:cNvPr id="15" name="Shape 13"/>
          <p:cNvSpPr/>
          <p:nvPr/>
        </p:nvSpPr>
        <p:spPr>
          <a:xfrm>
            <a:off x="7530822" y="6570345"/>
            <a:ext cx="6425208" cy="997268"/>
          </a:xfrm>
          <a:prstGeom prst="roundRect">
            <a:avLst>
              <a:gd name="adj" fmla="val 15388"/>
            </a:avLst>
          </a:prstGeom>
          <a:solidFill>
            <a:srgbClr val="B3FFE7"/>
          </a:solidFill>
          <a:ln/>
        </p:spPr>
      </p:sp>
      <p:pic>
        <p:nvPicPr>
          <p:cNvPr id="16" name="Image 0" descr="preencoded.png"/>
          <p:cNvPicPr>
            <a:picLocks noChangeAspect="1"/>
          </p:cNvPicPr>
          <p:nvPr/>
        </p:nvPicPr>
        <p:blipFill>
          <a:blip r:embed="rId3"/>
          <a:stretch>
            <a:fillRect/>
          </a:stretch>
        </p:blipFill>
        <p:spPr>
          <a:xfrm>
            <a:off x="7701320" y="6824782"/>
            <a:ext cx="213122" cy="170497"/>
          </a:xfrm>
          <a:prstGeom prst="rect">
            <a:avLst/>
          </a:prstGeom>
        </p:spPr>
      </p:pic>
      <p:sp>
        <p:nvSpPr>
          <p:cNvPr id="17" name="Text 14"/>
          <p:cNvSpPr/>
          <p:nvPr/>
        </p:nvSpPr>
        <p:spPr>
          <a:xfrm>
            <a:off x="8084939" y="6783467"/>
            <a:ext cx="5700593" cy="545544"/>
          </a:xfrm>
          <a:prstGeom prst="rect">
            <a:avLst/>
          </a:prstGeom>
          <a:noFill/>
          <a:ln/>
        </p:spPr>
        <p:txBody>
          <a:bodyPr wrap="square" lIns="0" tIns="0" rIns="0" bIns="0" rtlCol="0" anchor="t"/>
          <a:lstStyle/>
          <a:p>
            <a:pPr marL="0" indent="0" algn="l">
              <a:lnSpc>
                <a:spcPts val="2100"/>
              </a:lnSpc>
              <a:buNone/>
            </a:pPr>
            <a:r>
              <a:rPr lang="en-US" b="1" dirty="0">
                <a:solidFill>
                  <a:srgbClr val="000000"/>
                </a:solidFill>
                <a:latin typeface="Geist" pitchFamily="34" charset="0"/>
                <a:ea typeface="Geist" pitchFamily="34" charset="-122"/>
                <a:cs typeface="Geist" pitchFamily="34" charset="-120"/>
              </a:rPr>
              <a:t>Quan trọng:</a:t>
            </a:r>
            <a:r>
              <a:rPr lang="en-US" dirty="0">
                <a:solidFill>
                  <a:srgbClr val="000000"/>
                </a:solidFill>
                <a:latin typeface="Geist" pitchFamily="34" charset="0"/>
                <a:ea typeface="Geist" pitchFamily="34" charset="-122"/>
                <a:cs typeface="Geist" pitchFamily="34" charset="-120"/>
              </a:rPr>
              <a:t> Thứ tự phải đúng! Phải định tuyến trước (server.on...), rồi mới khởi động server (server.begin).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90801" y="372082"/>
            <a:ext cx="8639294" cy="539710"/>
          </a:xfrm>
          <a:prstGeom prst="rect">
            <a:avLst/>
          </a:prstGeom>
          <a:noFill/>
          <a:ln/>
        </p:spPr>
        <p:txBody>
          <a:bodyPr wrap="none" lIns="0" tIns="0" rIns="0" bIns="0" rtlCol="0" anchor="t"/>
          <a:lstStyle/>
          <a:p>
            <a:pPr marL="0" indent="0" algn="l">
              <a:lnSpc>
                <a:spcPts val="4250"/>
              </a:lnSpc>
              <a:buNone/>
            </a:pPr>
            <a:r>
              <a:rPr lang="en-US" sz="3400" b="1" dirty="0">
                <a:solidFill>
                  <a:srgbClr val="006747"/>
                </a:solidFill>
                <a:latin typeface="Noto Serif SC Bold" pitchFamily="34" charset="0"/>
                <a:ea typeface="Noto Serif SC Bold" pitchFamily="34" charset="-122"/>
                <a:cs typeface="Noto Serif SC Bold" pitchFamily="34" charset="-120"/>
              </a:rPr>
              <a:t>Bước 6: Hàm loop() - Lắng nghe liên tục</a:t>
            </a:r>
            <a:endParaRPr lang="en-US" sz="3400" dirty="0"/>
          </a:p>
        </p:txBody>
      </p:sp>
      <p:sp>
        <p:nvSpPr>
          <p:cNvPr id="3" name="Shape 1"/>
          <p:cNvSpPr/>
          <p:nvPr/>
        </p:nvSpPr>
        <p:spPr>
          <a:xfrm>
            <a:off x="690801" y="1028593"/>
            <a:ext cx="13248799" cy="1364456"/>
          </a:xfrm>
          <a:prstGeom prst="roundRect">
            <a:avLst>
              <a:gd name="adj" fmla="val 11393"/>
            </a:avLst>
          </a:prstGeom>
          <a:solidFill>
            <a:srgbClr val="D8ECE5"/>
          </a:solidFill>
          <a:ln/>
        </p:spPr>
      </p:sp>
      <p:sp>
        <p:nvSpPr>
          <p:cNvPr id="4" name="Shape 2"/>
          <p:cNvSpPr/>
          <p:nvPr/>
        </p:nvSpPr>
        <p:spPr>
          <a:xfrm>
            <a:off x="682228" y="1028593"/>
            <a:ext cx="13265944" cy="1364456"/>
          </a:xfrm>
          <a:prstGeom prst="roundRect">
            <a:avLst>
              <a:gd name="adj" fmla="val 1899"/>
            </a:avLst>
          </a:prstGeom>
          <a:solidFill>
            <a:srgbClr val="D8ECE5"/>
          </a:solidFill>
          <a:ln/>
        </p:spPr>
      </p:sp>
      <p:sp>
        <p:nvSpPr>
          <p:cNvPr id="5" name="Text 3"/>
          <p:cNvSpPr/>
          <p:nvPr/>
        </p:nvSpPr>
        <p:spPr>
          <a:xfrm>
            <a:off x="854869" y="1158133"/>
            <a:ext cx="12920662" cy="1105376"/>
          </a:xfrm>
          <a:prstGeom prst="rect">
            <a:avLst/>
          </a:prstGeom>
          <a:noFill/>
          <a:ln/>
        </p:spPr>
        <p:txBody>
          <a:bodyPr wrap="square" lIns="0" tIns="0" rIns="0" bIns="0" rtlCol="0" anchor="t"/>
          <a:lstStyle/>
          <a:p>
            <a:pPr marL="0" indent="0" algn="l">
              <a:lnSpc>
                <a:spcPts val="2150"/>
              </a:lnSpc>
              <a:buNone/>
            </a:pPr>
            <a:r>
              <a:rPr lang="en-US" dirty="0">
                <a:solidFill>
                  <a:srgbClr val="4B4A4A"/>
                </a:solidFill>
                <a:highlight>
                  <a:srgbClr val="D8ECE5"/>
                </a:highlight>
                <a:latin typeface="Consolas" pitchFamily="34" charset="0"/>
                <a:ea typeface="Consolas" pitchFamily="34" charset="-122"/>
                <a:cs typeface="Consolas" pitchFamily="34" charset="-120"/>
              </a:rPr>
              <a:t>void loop() {</a:t>
            </a:r>
            <a:endParaRPr lang="en-US" dirty="0"/>
          </a:p>
          <a:p>
            <a:pPr marL="0" indent="0" algn="l">
              <a:lnSpc>
                <a:spcPts val="2150"/>
              </a:lnSpc>
              <a:buNone/>
            </a:pPr>
            <a:r>
              <a:rPr lang="en-US" dirty="0">
                <a:solidFill>
                  <a:srgbClr val="4B4A4A"/>
                </a:solidFill>
                <a:highlight>
                  <a:srgbClr val="D8ECE5"/>
                </a:highlight>
                <a:latin typeface="Consolas" pitchFamily="34" charset="0"/>
                <a:ea typeface="Consolas" pitchFamily="34" charset="-122"/>
                <a:cs typeface="Consolas" pitchFamily="34" charset="-120"/>
              </a:rPr>
              <a:t>  // </a:t>
            </a:r>
            <a:r>
              <a:rPr lang="en-US" dirty="0" err="1">
                <a:solidFill>
                  <a:srgbClr val="4B4A4A"/>
                </a:solidFill>
                <a:highlight>
                  <a:srgbClr val="D8ECE5"/>
                </a:highlight>
                <a:latin typeface="Consolas" pitchFamily="34" charset="0"/>
                <a:ea typeface="Consolas" pitchFamily="34" charset="-122"/>
                <a:cs typeface="Consolas" pitchFamily="34" charset="-120"/>
              </a:rPr>
              <a:t>Luôn</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luôn</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lắng</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nghe</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xem</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có</a:t>
            </a:r>
            <a:r>
              <a:rPr lang="en-US" dirty="0">
                <a:solidFill>
                  <a:srgbClr val="4B4A4A"/>
                </a:solidFill>
                <a:highlight>
                  <a:srgbClr val="D8ECE5"/>
                </a:highlight>
                <a:latin typeface="Consolas" pitchFamily="34" charset="0"/>
                <a:ea typeface="Consolas" pitchFamily="34" charset="-122"/>
                <a:cs typeface="Consolas" pitchFamily="34" charset="-120"/>
              </a:rPr>
              <a:t> ai </a:t>
            </a:r>
            <a:r>
              <a:rPr lang="en-US" dirty="0" err="1">
                <a:solidFill>
                  <a:srgbClr val="4B4A4A"/>
                </a:solidFill>
                <a:highlight>
                  <a:srgbClr val="D8ECE5"/>
                </a:highlight>
                <a:latin typeface="Consolas" pitchFamily="34" charset="0"/>
                <a:ea typeface="Consolas" pitchFamily="34" charset="-122"/>
                <a:cs typeface="Consolas" pitchFamily="34" charset="-120"/>
              </a:rPr>
              <a:t>gọi</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cửa</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không</a:t>
            </a:r>
            <a:endParaRPr lang="en-US" dirty="0"/>
          </a:p>
          <a:p>
            <a:pPr marL="0" indent="0" algn="l">
              <a:lnSpc>
                <a:spcPts val="21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server.handleClient</a:t>
            </a: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a:p>
            <a:pPr marL="0" indent="0" algn="l">
              <a:lnSpc>
                <a:spcPts val="215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6" name="Shape 4"/>
          <p:cNvSpPr/>
          <p:nvPr/>
        </p:nvSpPr>
        <p:spPr>
          <a:xfrm>
            <a:off x="690801" y="2457820"/>
            <a:ext cx="4301133" cy="4995406"/>
          </a:xfrm>
          <a:prstGeom prst="roundRect">
            <a:avLst>
              <a:gd name="adj" fmla="val 2621"/>
            </a:avLst>
          </a:prstGeom>
          <a:solidFill>
            <a:srgbClr val="E5F9F2">
              <a:alpha val="95000"/>
            </a:srgbClr>
          </a:solidFill>
          <a:ln w="22860">
            <a:solidFill>
              <a:srgbClr val="B7D5CA"/>
            </a:solidFill>
            <a:prstDash val="solid"/>
          </a:ln>
        </p:spPr>
      </p:sp>
      <p:sp>
        <p:nvSpPr>
          <p:cNvPr id="7" name="Shape 5"/>
          <p:cNvSpPr/>
          <p:nvPr/>
        </p:nvSpPr>
        <p:spPr>
          <a:xfrm>
            <a:off x="667941" y="2457820"/>
            <a:ext cx="91440" cy="4712467"/>
          </a:xfrm>
          <a:prstGeom prst="roundRect">
            <a:avLst>
              <a:gd name="adj" fmla="val 170002"/>
            </a:avLst>
          </a:prstGeom>
          <a:solidFill>
            <a:srgbClr val="006747"/>
          </a:solidFill>
          <a:ln/>
        </p:spPr>
      </p:sp>
      <p:sp>
        <p:nvSpPr>
          <p:cNvPr id="8" name="Text 6"/>
          <p:cNvSpPr/>
          <p:nvPr/>
        </p:nvSpPr>
        <p:spPr>
          <a:xfrm>
            <a:off x="954881" y="2602393"/>
            <a:ext cx="3841552" cy="539591"/>
          </a:xfrm>
          <a:prstGeom prst="rect">
            <a:avLst/>
          </a:prstGeom>
          <a:noFill/>
          <a:ln/>
        </p:spPr>
        <p:txBody>
          <a:bodyPr wrap="square" lIns="0" tIns="0" rIns="0" bIns="0" rtlCol="0" anchor="t"/>
          <a:lstStyle/>
          <a:p>
            <a:pPr marL="0" indent="0" algn="l">
              <a:lnSpc>
                <a:spcPts val="2100"/>
              </a:lnSpc>
              <a:buNone/>
            </a:pPr>
            <a:r>
              <a:rPr lang="en-US" b="1" dirty="0">
                <a:solidFill>
                  <a:srgbClr val="4B4A4A"/>
                </a:solidFill>
                <a:latin typeface="Noto Serif SC Bold" pitchFamily="34" charset="0"/>
                <a:ea typeface="Noto Serif SC Bold" pitchFamily="34" charset="-122"/>
                <a:cs typeface="Noto Serif SC Bold" pitchFamily="34" charset="-120"/>
              </a:rPr>
              <a:t>handleClient() - Tim đập của Server</a:t>
            </a:r>
            <a:endParaRPr lang="en-US" dirty="0"/>
          </a:p>
        </p:txBody>
      </p:sp>
      <p:sp>
        <p:nvSpPr>
          <p:cNvPr id="9" name="Text 7"/>
          <p:cNvSpPr/>
          <p:nvPr/>
        </p:nvSpPr>
        <p:spPr>
          <a:xfrm>
            <a:off x="954881" y="3257595"/>
            <a:ext cx="3841552" cy="829032"/>
          </a:xfrm>
          <a:prstGeom prst="rect">
            <a:avLst/>
          </a:prstGeom>
          <a:noFill/>
          <a:ln/>
        </p:spPr>
        <p:txBody>
          <a:bodyPr wrap="square" lIns="0" tIns="0" rIns="0" bIns="0" rtlCol="0" anchor="t"/>
          <a:lstStyle/>
          <a:p>
            <a:pPr marL="0" indent="0" algn="l">
              <a:lnSpc>
                <a:spcPts val="2150"/>
              </a:lnSpc>
              <a:buNone/>
            </a:pPr>
            <a:r>
              <a:rPr lang="en-US" dirty="0">
                <a:solidFill>
                  <a:srgbClr val="4B4A4A"/>
                </a:solidFill>
                <a:latin typeface="Geist" pitchFamily="34" charset="0"/>
                <a:ea typeface="Geist" pitchFamily="34" charset="-122"/>
                <a:cs typeface="Geist" pitchFamily="34" charset="-120"/>
              </a:rPr>
              <a:t>Hàm </a:t>
            </a:r>
            <a:r>
              <a:rPr lang="en-US" dirty="0">
                <a:solidFill>
                  <a:srgbClr val="4B4A4A"/>
                </a:solidFill>
                <a:highlight>
                  <a:srgbClr val="D8ECE5"/>
                </a:highlight>
                <a:latin typeface="Consolas" pitchFamily="34" charset="0"/>
                <a:ea typeface="Consolas" pitchFamily="34" charset="-122"/>
                <a:cs typeface="Consolas" pitchFamily="34" charset="-120"/>
              </a:rPr>
              <a:t>server.handleClient()</a:t>
            </a:r>
            <a:r>
              <a:rPr lang="en-US" dirty="0">
                <a:solidFill>
                  <a:srgbClr val="4B4A4A"/>
                </a:solidFill>
                <a:latin typeface="Geist" pitchFamily="34" charset="0"/>
                <a:ea typeface="Geist" pitchFamily="34" charset="-122"/>
                <a:cs typeface="Geist" pitchFamily="34" charset="-120"/>
              </a:rPr>
              <a:t> là </a:t>
            </a:r>
            <a:r>
              <a:rPr lang="en-US" b="1" dirty="0">
                <a:solidFill>
                  <a:srgbClr val="4B4A4A"/>
                </a:solidFill>
                <a:latin typeface="Geist" pitchFamily="34" charset="0"/>
                <a:ea typeface="Geist" pitchFamily="34" charset="-122"/>
                <a:cs typeface="Geist" pitchFamily="34" charset="-120"/>
              </a:rPr>
              <a:t>trái tim</a:t>
            </a:r>
            <a:r>
              <a:rPr lang="en-US" dirty="0">
                <a:solidFill>
                  <a:srgbClr val="4B4A4A"/>
                </a:solidFill>
                <a:latin typeface="Geist" pitchFamily="34" charset="0"/>
                <a:ea typeface="Geist" pitchFamily="34" charset="-122"/>
                <a:cs typeface="Geist" pitchFamily="34" charset="-120"/>
              </a:rPr>
              <a:t> của Web Server. Nó phải được gọi liên tục trong vòng lặp </a:t>
            </a:r>
            <a:r>
              <a:rPr lang="en-US" dirty="0">
                <a:solidFill>
                  <a:srgbClr val="4B4A4A"/>
                </a:solidFill>
                <a:highlight>
                  <a:srgbClr val="D8ECE5"/>
                </a:highlight>
                <a:latin typeface="Consolas" pitchFamily="34" charset="0"/>
                <a:ea typeface="Consolas" pitchFamily="34" charset="-122"/>
                <a:cs typeface="Consolas" pitchFamily="34" charset="-120"/>
              </a:rPr>
              <a:t>loop()</a:t>
            </a:r>
            <a:r>
              <a:rPr lang="en-US" dirty="0">
                <a:solidFill>
                  <a:srgbClr val="4B4A4A"/>
                </a:solidFill>
                <a:latin typeface="Geist" pitchFamily="34" charset="0"/>
                <a:ea typeface="Geist" pitchFamily="34" charset="-122"/>
                <a:cs typeface="Geist" pitchFamily="34" charset="-120"/>
              </a:rPr>
              <a:t>.</a:t>
            </a:r>
            <a:endParaRPr lang="en-US" dirty="0"/>
          </a:p>
        </p:txBody>
      </p:sp>
      <p:sp>
        <p:nvSpPr>
          <p:cNvPr id="10" name="Text 8"/>
          <p:cNvSpPr/>
          <p:nvPr/>
        </p:nvSpPr>
        <p:spPr>
          <a:xfrm>
            <a:off x="954881" y="4503036"/>
            <a:ext cx="3841552" cy="276344"/>
          </a:xfrm>
          <a:prstGeom prst="rect">
            <a:avLst/>
          </a:prstGeom>
          <a:noFill/>
          <a:ln/>
        </p:spPr>
        <p:txBody>
          <a:bodyPr wrap="none" lIns="0" tIns="0" rIns="0" bIns="0" rtlCol="0" anchor="t"/>
          <a:lstStyle/>
          <a:p>
            <a:pPr marL="0" indent="0" algn="l">
              <a:lnSpc>
                <a:spcPts val="2150"/>
              </a:lnSpc>
              <a:buNone/>
            </a:pPr>
            <a:r>
              <a:rPr lang="en-US" dirty="0">
                <a:solidFill>
                  <a:srgbClr val="4B4A4A"/>
                </a:solidFill>
                <a:latin typeface="Geist" pitchFamily="34" charset="0"/>
                <a:ea typeface="Geist" pitchFamily="34" charset="-122"/>
                <a:cs typeface="Geist" pitchFamily="34" charset="-120"/>
              </a:rPr>
              <a:t>Nhiệm vụ của nó:</a:t>
            </a:r>
            <a:endParaRPr lang="en-US" dirty="0"/>
          </a:p>
        </p:txBody>
      </p:sp>
      <p:sp>
        <p:nvSpPr>
          <p:cNvPr id="11" name="Text 9"/>
          <p:cNvSpPr/>
          <p:nvPr/>
        </p:nvSpPr>
        <p:spPr>
          <a:xfrm>
            <a:off x="954881" y="4882965"/>
            <a:ext cx="3841552" cy="552688"/>
          </a:xfrm>
          <a:prstGeom prst="rect">
            <a:avLst/>
          </a:prstGeom>
          <a:noFill/>
          <a:ln/>
        </p:spPr>
        <p:txBody>
          <a:bodyPr wrap="square" lIns="0" tIns="0" rIns="0" bIns="0" rtlCol="0" anchor="t"/>
          <a:lstStyle/>
          <a:p>
            <a:pPr marL="342900" indent="-342900" algn="l">
              <a:lnSpc>
                <a:spcPts val="2150"/>
              </a:lnSpc>
              <a:buSzPct val="100000"/>
              <a:buChar char="•"/>
            </a:pPr>
            <a:r>
              <a:rPr lang="en-US" dirty="0">
                <a:solidFill>
                  <a:srgbClr val="4B4A4A"/>
                </a:solidFill>
                <a:latin typeface="Geist" pitchFamily="34" charset="0"/>
                <a:ea typeface="Geist" pitchFamily="34" charset="-122"/>
                <a:cs typeface="Geist" pitchFamily="34" charset="-120"/>
              </a:rPr>
              <a:t>Kiểm tra xem có Client nào đang gửi yêu cầu đến không</a:t>
            </a:r>
            <a:endParaRPr lang="en-US" dirty="0"/>
          </a:p>
        </p:txBody>
      </p:sp>
      <p:sp>
        <p:nvSpPr>
          <p:cNvPr id="12" name="Text 10"/>
          <p:cNvSpPr/>
          <p:nvPr/>
        </p:nvSpPr>
        <p:spPr>
          <a:xfrm>
            <a:off x="954881" y="5520081"/>
            <a:ext cx="3841552" cy="276344"/>
          </a:xfrm>
          <a:prstGeom prst="rect">
            <a:avLst/>
          </a:prstGeom>
          <a:noFill/>
          <a:ln/>
        </p:spPr>
        <p:txBody>
          <a:bodyPr wrap="square" lIns="0" tIns="0" rIns="0" bIns="0" rtlCol="0" anchor="t"/>
          <a:lstStyle/>
          <a:p>
            <a:pPr marL="342900" indent="-342900" algn="l">
              <a:lnSpc>
                <a:spcPts val="2150"/>
              </a:lnSpc>
              <a:buSzPct val="100000"/>
              <a:buChar char="•"/>
            </a:pPr>
            <a:r>
              <a:rPr lang="en-US" dirty="0">
                <a:solidFill>
                  <a:srgbClr val="4B4A4A"/>
                </a:solidFill>
                <a:latin typeface="Geist" pitchFamily="34" charset="0"/>
                <a:ea typeface="Geist" pitchFamily="34" charset="-122"/>
                <a:cs typeface="Geist" pitchFamily="34" charset="-120"/>
              </a:rPr>
              <a:t>Nếu có, đọc yêu cầu đó (GET /on, GET /off, ...)</a:t>
            </a:r>
            <a:endParaRPr lang="en-US" dirty="0"/>
          </a:p>
        </p:txBody>
      </p:sp>
      <p:sp>
        <p:nvSpPr>
          <p:cNvPr id="13" name="Text 11"/>
          <p:cNvSpPr/>
          <p:nvPr/>
        </p:nvSpPr>
        <p:spPr>
          <a:xfrm>
            <a:off x="954881" y="6109454"/>
            <a:ext cx="3841552" cy="552688"/>
          </a:xfrm>
          <a:prstGeom prst="rect">
            <a:avLst/>
          </a:prstGeom>
          <a:noFill/>
          <a:ln/>
        </p:spPr>
        <p:txBody>
          <a:bodyPr wrap="square" lIns="0" tIns="0" rIns="0" bIns="0" rtlCol="0" anchor="t"/>
          <a:lstStyle/>
          <a:p>
            <a:pPr marL="342900" indent="-342900" algn="l">
              <a:lnSpc>
                <a:spcPts val="2150"/>
              </a:lnSpc>
              <a:buSzPct val="100000"/>
              <a:buChar char="•"/>
            </a:pPr>
            <a:r>
              <a:rPr lang="en-US" dirty="0">
                <a:solidFill>
                  <a:srgbClr val="4B4A4A"/>
                </a:solidFill>
                <a:latin typeface="Geist" pitchFamily="34" charset="0"/>
                <a:ea typeface="Geist" pitchFamily="34" charset="-122"/>
                <a:cs typeface="Geist" pitchFamily="34" charset="-120"/>
              </a:rPr>
              <a:t>So khớp với bảng routing, gọi hàm xử lý tương ứng</a:t>
            </a:r>
            <a:endParaRPr lang="en-US" dirty="0"/>
          </a:p>
        </p:txBody>
      </p:sp>
      <p:sp>
        <p:nvSpPr>
          <p:cNvPr id="14" name="Text 12"/>
          <p:cNvSpPr/>
          <p:nvPr/>
        </p:nvSpPr>
        <p:spPr>
          <a:xfrm>
            <a:off x="954881" y="6722507"/>
            <a:ext cx="3841552" cy="276344"/>
          </a:xfrm>
          <a:prstGeom prst="rect">
            <a:avLst/>
          </a:prstGeom>
          <a:noFill/>
          <a:ln/>
        </p:spPr>
        <p:txBody>
          <a:bodyPr wrap="square" lIns="0" tIns="0" rIns="0" bIns="0" rtlCol="0" anchor="t"/>
          <a:lstStyle/>
          <a:p>
            <a:pPr marL="342900" indent="-342900" algn="l">
              <a:lnSpc>
                <a:spcPts val="2150"/>
              </a:lnSpc>
              <a:buSzPct val="100000"/>
              <a:buChar char="•"/>
            </a:pPr>
            <a:r>
              <a:rPr lang="en-US" dirty="0">
                <a:solidFill>
                  <a:srgbClr val="4B4A4A"/>
                </a:solidFill>
                <a:latin typeface="Geist" pitchFamily="34" charset="0"/>
                <a:ea typeface="Geist" pitchFamily="34" charset="-122"/>
                <a:cs typeface="Geist" pitchFamily="34" charset="-120"/>
              </a:rPr>
              <a:t>Gửi phản hồi (Response) trả về cho Client</a:t>
            </a:r>
            <a:endParaRPr lang="en-US" dirty="0"/>
          </a:p>
        </p:txBody>
      </p:sp>
      <p:sp>
        <p:nvSpPr>
          <p:cNvPr id="15" name="Shape 13"/>
          <p:cNvSpPr/>
          <p:nvPr/>
        </p:nvSpPr>
        <p:spPr>
          <a:xfrm>
            <a:off x="5164574" y="2457820"/>
            <a:ext cx="4301133" cy="4995406"/>
          </a:xfrm>
          <a:prstGeom prst="roundRect">
            <a:avLst>
              <a:gd name="adj" fmla="val 2621"/>
            </a:avLst>
          </a:prstGeom>
          <a:solidFill>
            <a:srgbClr val="E5F9F2">
              <a:alpha val="95000"/>
            </a:srgbClr>
          </a:solidFill>
          <a:ln w="22860">
            <a:solidFill>
              <a:srgbClr val="B7D5CA"/>
            </a:solidFill>
            <a:prstDash val="solid"/>
          </a:ln>
        </p:spPr>
      </p:sp>
      <p:sp>
        <p:nvSpPr>
          <p:cNvPr id="16" name="Shape 14"/>
          <p:cNvSpPr/>
          <p:nvPr/>
        </p:nvSpPr>
        <p:spPr>
          <a:xfrm>
            <a:off x="5141714" y="2457820"/>
            <a:ext cx="91440" cy="4712467"/>
          </a:xfrm>
          <a:prstGeom prst="roundRect">
            <a:avLst>
              <a:gd name="adj" fmla="val 170002"/>
            </a:avLst>
          </a:prstGeom>
          <a:solidFill>
            <a:srgbClr val="006747"/>
          </a:solidFill>
          <a:ln/>
        </p:spPr>
      </p:sp>
      <p:sp>
        <p:nvSpPr>
          <p:cNvPr id="17" name="Text 15"/>
          <p:cNvSpPr/>
          <p:nvPr/>
        </p:nvSpPr>
        <p:spPr>
          <a:xfrm>
            <a:off x="5428655" y="2602393"/>
            <a:ext cx="3743682" cy="269796"/>
          </a:xfrm>
          <a:prstGeom prst="rect">
            <a:avLst/>
          </a:prstGeom>
          <a:noFill/>
          <a:ln/>
        </p:spPr>
        <p:txBody>
          <a:bodyPr wrap="none" lIns="0" tIns="0" rIns="0" bIns="0" rtlCol="0" anchor="t"/>
          <a:lstStyle/>
          <a:p>
            <a:pPr marL="0" indent="0" algn="l">
              <a:lnSpc>
                <a:spcPts val="2100"/>
              </a:lnSpc>
              <a:buNone/>
            </a:pPr>
            <a:r>
              <a:rPr lang="en-US" b="1" dirty="0">
                <a:solidFill>
                  <a:srgbClr val="4B4A4A"/>
                </a:solidFill>
                <a:latin typeface="Noto Serif SC Bold" pitchFamily="34" charset="0"/>
                <a:ea typeface="Noto Serif SC Bold" pitchFamily="34" charset="-122"/>
                <a:cs typeface="Noto Serif SC Bold" pitchFamily="34" charset="-120"/>
              </a:rPr>
              <a:t>Điều gì xảy ra nếu thiếu dòng này?</a:t>
            </a:r>
            <a:endParaRPr lang="en-US" dirty="0"/>
          </a:p>
        </p:txBody>
      </p:sp>
      <p:sp>
        <p:nvSpPr>
          <p:cNvPr id="18" name="Text 16"/>
          <p:cNvSpPr/>
          <p:nvPr/>
        </p:nvSpPr>
        <p:spPr>
          <a:xfrm>
            <a:off x="5428655" y="2987799"/>
            <a:ext cx="3841552" cy="1105376"/>
          </a:xfrm>
          <a:prstGeom prst="rect">
            <a:avLst/>
          </a:prstGeom>
          <a:noFill/>
          <a:ln/>
        </p:spPr>
        <p:txBody>
          <a:bodyPr wrap="square" lIns="0" tIns="0" rIns="0" bIns="0" rtlCol="0" anchor="t"/>
          <a:lstStyle/>
          <a:p>
            <a:pPr marL="0" indent="0" algn="l">
              <a:lnSpc>
                <a:spcPts val="2150"/>
              </a:lnSpc>
              <a:buNone/>
            </a:pPr>
            <a:r>
              <a:rPr lang="en-US" dirty="0">
                <a:solidFill>
                  <a:srgbClr val="4B4A4A"/>
                </a:solidFill>
                <a:latin typeface="Geist" pitchFamily="34" charset="0"/>
                <a:ea typeface="Geist" pitchFamily="34" charset="-122"/>
                <a:cs typeface="Geist" pitchFamily="34" charset="-120"/>
              </a:rPr>
              <a:t>Nếu bạn quên hoặc xóa dòng </a:t>
            </a:r>
            <a:r>
              <a:rPr lang="en-US" dirty="0">
                <a:solidFill>
                  <a:srgbClr val="4B4A4A"/>
                </a:solidFill>
                <a:highlight>
                  <a:srgbClr val="D8ECE5"/>
                </a:highlight>
                <a:latin typeface="Consolas" pitchFamily="34" charset="0"/>
                <a:ea typeface="Consolas" pitchFamily="34" charset="-122"/>
                <a:cs typeface="Consolas" pitchFamily="34" charset="-120"/>
              </a:rPr>
              <a:t>server.handleClient()</a:t>
            </a:r>
            <a:r>
              <a:rPr lang="en-US" dirty="0">
                <a:solidFill>
                  <a:srgbClr val="4B4A4A"/>
                </a:solidFill>
                <a:latin typeface="Geist" pitchFamily="34" charset="0"/>
                <a:ea typeface="Geist" pitchFamily="34" charset="-122"/>
                <a:cs typeface="Geist" pitchFamily="34" charset="-120"/>
              </a:rPr>
              <a:t>, Server sẽ "đóng băng" - nó không thể nhận và xử lý bất kỳ yêu cầu nào từ Client.</a:t>
            </a:r>
            <a:endParaRPr lang="en-US" dirty="0"/>
          </a:p>
        </p:txBody>
      </p:sp>
      <p:sp>
        <p:nvSpPr>
          <p:cNvPr id="19" name="Text 17"/>
          <p:cNvSpPr/>
          <p:nvPr/>
        </p:nvSpPr>
        <p:spPr>
          <a:xfrm>
            <a:off x="5428655" y="4786313"/>
            <a:ext cx="3841552" cy="829032"/>
          </a:xfrm>
          <a:prstGeom prst="rect">
            <a:avLst/>
          </a:prstGeom>
          <a:noFill/>
          <a:ln/>
        </p:spPr>
        <p:txBody>
          <a:bodyPr wrap="square" lIns="0" tIns="0" rIns="0" bIns="0" rtlCol="0" anchor="t"/>
          <a:lstStyle/>
          <a:p>
            <a:pPr marL="0" indent="0" algn="l">
              <a:lnSpc>
                <a:spcPts val="2150"/>
              </a:lnSpc>
              <a:buNone/>
            </a:pPr>
            <a:r>
              <a:rPr lang="en-US" b="1" dirty="0">
                <a:solidFill>
                  <a:srgbClr val="4B4A4A"/>
                </a:solidFill>
                <a:latin typeface="Geist" pitchFamily="34" charset="0"/>
                <a:ea typeface="Geist" pitchFamily="34" charset="-122"/>
                <a:cs typeface="Geist" pitchFamily="34" charset="-120"/>
              </a:rPr>
              <a:t>Kết quả</a:t>
            </a:r>
            <a:r>
              <a:rPr lang="en-US" dirty="0">
                <a:solidFill>
                  <a:srgbClr val="4B4A4A"/>
                </a:solidFill>
                <a:latin typeface="Geist" pitchFamily="34" charset="0"/>
                <a:ea typeface="Geist" pitchFamily="34" charset="-122"/>
                <a:cs typeface="Geist" pitchFamily="34" charset="-120"/>
              </a:rPr>
              <a:t>: Bạn bấm nút trên trang web, nhưng LED không phản ứng. Trang web sẽ hiển thị lỗi timeout hoặc "không thể kết nối".</a:t>
            </a:r>
            <a:endParaRPr lang="en-US" dirty="0"/>
          </a:p>
        </p:txBody>
      </p:sp>
      <p:sp>
        <p:nvSpPr>
          <p:cNvPr id="20" name="Shape 18"/>
          <p:cNvSpPr/>
          <p:nvPr/>
        </p:nvSpPr>
        <p:spPr>
          <a:xfrm>
            <a:off x="9638348" y="2457820"/>
            <a:ext cx="4301252" cy="4995406"/>
          </a:xfrm>
          <a:prstGeom prst="roundRect">
            <a:avLst>
              <a:gd name="adj" fmla="val 2621"/>
            </a:avLst>
          </a:prstGeom>
          <a:solidFill>
            <a:srgbClr val="E5F9F2">
              <a:alpha val="95000"/>
            </a:srgbClr>
          </a:solidFill>
          <a:ln w="22860">
            <a:solidFill>
              <a:srgbClr val="B7D5CA"/>
            </a:solidFill>
            <a:prstDash val="solid"/>
          </a:ln>
        </p:spPr>
      </p:sp>
      <p:sp>
        <p:nvSpPr>
          <p:cNvPr id="21" name="Shape 19"/>
          <p:cNvSpPr/>
          <p:nvPr/>
        </p:nvSpPr>
        <p:spPr>
          <a:xfrm>
            <a:off x="9615488" y="2457820"/>
            <a:ext cx="91440" cy="4712467"/>
          </a:xfrm>
          <a:prstGeom prst="roundRect">
            <a:avLst>
              <a:gd name="adj" fmla="val 170002"/>
            </a:avLst>
          </a:prstGeom>
          <a:solidFill>
            <a:srgbClr val="006747"/>
          </a:solidFill>
          <a:ln/>
        </p:spPr>
      </p:sp>
      <p:sp>
        <p:nvSpPr>
          <p:cNvPr id="22" name="Text 20"/>
          <p:cNvSpPr/>
          <p:nvPr/>
        </p:nvSpPr>
        <p:spPr>
          <a:xfrm>
            <a:off x="9902428" y="2602393"/>
            <a:ext cx="2158960" cy="269796"/>
          </a:xfrm>
          <a:prstGeom prst="rect">
            <a:avLst/>
          </a:prstGeom>
          <a:noFill/>
          <a:ln/>
        </p:spPr>
        <p:txBody>
          <a:bodyPr wrap="none" lIns="0" tIns="0" rIns="0" bIns="0" rtlCol="0" anchor="t"/>
          <a:lstStyle/>
          <a:p>
            <a:pPr marL="0" indent="0" algn="l">
              <a:lnSpc>
                <a:spcPts val="2100"/>
              </a:lnSpc>
              <a:buNone/>
            </a:pPr>
            <a:r>
              <a:rPr lang="en-US" b="1" dirty="0">
                <a:solidFill>
                  <a:srgbClr val="4B4A4A"/>
                </a:solidFill>
                <a:latin typeface="Noto Serif SC Bold" pitchFamily="34" charset="0"/>
                <a:ea typeface="Noto Serif SC Bold" pitchFamily="34" charset="-122"/>
                <a:cs typeface="Noto Serif SC Bold" pitchFamily="34" charset="-120"/>
              </a:rPr>
              <a:t>Tương tự như...</a:t>
            </a:r>
            <a:endParaRPr lang="en-US" dirty="0"/>
          </a:p>
        </p:txBody>
      </p:sp>
      <p:sp>
        <p:nvSpPr>
          <p:cNvPr id="23" name="Text 21"/>
          <p:cNvSpPr/>
          <p:nvPr/>
        </p:nvSpPr>
        <p:spPr>
          <a:xfrm>
            <a:off x="9902428" y="2987799"/>
            <a:ext cx="3841671" cy="829032"/>
          </a:xfrm>
          <a:prstGeom prst="rect">
            <a:avLst/>
          </a:prstGeom>
          <a:noFill/>
          <a:ln/>
        </p:spPr>
        <p:txBody>
          <a:bodyPr wrap="square" lIns="0" tIns="0" rIns="0" bIns="0" rtlCol="0" anchor="t"/>
          <a:lstStyle/>
          <a:p>
            <a:pPr marL="0" indent="0" algn="l">
              <a:lnSpc>
                <a:spcPts val="2150"/>
              </a:lnSpc>
              <a:buNone/>
            </a:pPr>
            <a:r>
              <a:rPr lang="en-US" dirty="0">
                <a:solidFill>
                  <a:srgbClr val="4B4A4A"/>
                </a:solidFill>
                <a:latin typeface="Geist" pitchFamily="34" charset="0"/>
                <a:ea typeface="Geist" pitchFamily="34" charset="-122"/>
                <a:cs typeface="Geist" pitchFamily="34" charset="-120"/>
              </a:rPr>
              <a:t>Hãy tưởng tượng </a:t>
            </a:r>
            <a:r>
              <a:rPr lang="en-US" dirty="0">
                <a:solidFill>
                  <a:srgbClr val="4B4A4A"/>
                </a:solidFill>
                <a:highlight>
                  <a:srgbClr val="D8ECE5"/>
                </a:highlight>
                <a:latin typeface="Consolas" pitchFamily="34" charset="0"/>
                <a:ea typeface="Consolas" pitchFamily="34" charset="-122"/>
                <a:cs typeface="Consolas" pitchFamily="34" charset="-120"/>
              </a:rPr>
              <a:t>handleClient()</a:t>
            </a:r>
            <a:r>
              <a:rPr lang="en-US" dirty="0">
                <a:solidFill>
                  <a:srgbClr val="4B4A4A"/>
                </a:solidFill>
                <a:latin typeface="Geist" pitchFamily="34" charset="0"/>
                <a:ea typeface="Geist" pitchFamily="34" charset="-122"/>
                <a:cs typeface="Geist" pitchFamily="34" charset="-120"/>
              </a:rPr>
              <a:t> như một nhân viên lễ tán ngồi ở quầy. Họ liên tục ngẩng đầu lên hỏi: </a:t>
            </a:r>
            <a:r>
              <a:rPr lang="en-US" i="1" dirty="0">
                <a:solidFill>
                  <a:srgbClr val="4B4A4A"/>
                </a:solidFill>
                <a:latin typeface="Geist" pitchFamily="34" charset="0"/>
                <a:ea typeface="Geist" pitchFamily="34" charset="-122"/>
                <a:cs typeface="Geist" pitchFamily="34" charset="-120"/>
              </a:rPr>
              <a:t>"Có ai cần hỗ trợ không?"</a:t>
            </a:r>
            <a:endParaRPr lang="en-US" dirty="0"/>
          </a:p>
        </p:txBody>
      </p:sp>
      <p:sp>
        <p:nvSpPr>
          <p:cNvPr id="24" name="Text 22"/>
          <p:cNvSpPr/>
          <p:nvPr/>
        </p:nvSpPr>
        <p:spPr>
          <a:xfrm>
            <a:off x="9902428" y="4509968"/>
            <a:ext cx="3841671" cy="829032"/>
          </a:xfrm>
          <a:prstGeom prst="rect">
            <a:avLst/>
          </a:prstGeom>
          <a:noFill/>
          <a:ln/>
        </p:spPr>
        <p:txBody>
          <a:bodyPr wrap="square" lIns="0" tIns="0" rIns="0" bIns="0" rtlCol="0" anchor="t"/>
          <a:lstStyle/>
          <a:p>
            <a:pPr marL="0" indent="0" algn="l">
              <a:lnSpc>
                <a:spcPts val="2150"/>
              </a:lnSpc>
              <a:buNone/>
            </a:pPr>
            <a:r>
              <a:rPr lang="en-US" dirty="0">
                <a:solidFill>
                  <a:srgbClr val="4B4A4A"/>
                </a:solidFill>
                <a:latin typeface="Geist" pitchFamily="34" charset="0"/>
                <a:ea typeface="Geist" pitchFamily="34" charset="-122"/>
                <a:cs typeface="Geist" pitchFamily="34" charset="-120"/>
              </a:rPr>
              <a:t>Nếu nhân viên đó đi ngủ (không gọi handleClient), khách hàng sẽ đứng chờ mãi mà không ai tiếp.</a:t>
            </a:r>
            <a:endParaRPr lang="en-US" dirty="0"/>
          </a:p>
        </p:txBody>
      </p:sp>
      <p:sp>
        <p:nvSpPr>
          <p:cNvPr id="25" name="Text 23"/>
          <p:cNvSpPr/>
          <p:nvPr/>
        </p:nvSpPr>
        <p:spPr>
          <a:xfrm>
            <a:off x="676096" y="7582766"/>
            <a:ext cx="13248799" cy="276344"/>
          </a:xfrm>
          <a:prstGeom prst="rect">
            <a:avLst/>
          </a:prstGeom>
          <a:noFill/>
          <a:ln/>
        </p:spPr>
        <p:txBody>
          <a:bodyPr wrap="square" lIns="0" tIns="0" rIns="0" bIns="0" rtlCol="0" anchor="t"/>
          <a:lstStyle/>
          <a:p>
            <a:pPr marL="0" indent="0" algn="l">
              <a:lnSpc>
                <a:spcPts val="2150"/>
              </a:lnSpc>
              <a:buNone/>
            </a:pPr>
            <a:r>
              <a:rPr lang="en-US" b="1" dirty="0">
                <a:solidFill>
                  <a:srgbClr val="4B4A4A"/>
                </a:solidFill>
                <a:latin typeface="Geist" pitchFamily="34" charset="0"/>
                <a:ea typeface="Geist" pitchFamily="34" charset="-122"/>
                <a:cs typeface="Geist" pitchFamily="34" charset="-120"/>
              </a:rPr>
              <a:t>Lưu ý:</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Có</a:t>
            </a:r>
            <a:r>
              <a:rPr lang="en-US" dirty="0">
                <a:solidFill>
                  <a:srgbClr val="4B4A4A"/>
                </a:solidFill>
                <a:latin typeface="Geist" pitchFamily="34" charset="0"/>
                <a:ea typeface="Geist" pitchFamily="34" charset="-122"/>
                <a:cs typeface="Geist" pitchFamily="34" charset="-120"/>
              </a:rPr>
              <a:t> thể thêm code khác vào </a:t>
            </a:r>
            <a:r>
              <a:rPr lang="en-US" dirty="0">
                <a:solidFill>
                  <a:srgbClr val="4B4A4A"/>
                </a:solidFill>
                <a:highlight>
                  <a:srgbClr val="D8ECE5"/>
                </a:highlight>
                <a:latin typeface="Consolas" pitchFamily="34" charset="0"/>
                <a:ea typeface="Consolas" pitchFamily="34" charset="-122"/>
                <a:cs typeface="Consolas" pitchFamily="34" charset="-120"/>
              </a:rPr>
              <a:t>loop()</a:t>
            </a:r>
            <a:r>
              <a:rPr lang="en-US" dirty="0">
                <a:solidFill>
                  <a:srgbClr val="4B4A4A"/>
                </a:solidFill>
                <a:latin typeface="Geist" pitchFamily="34" charset="0"/>
                <a:ea typeface="Geist" pitchFamily="34" charset="-122"/>
                <a:cs typeface="Geist" pitchFamily="34" charset="-120"/>
              </a:rPr>
              <a:t> (ví dụ: đọc cảm biến, xử lý logic), nhưng </a:t>
            </a:r>
            <a:r>
              <a:rPr lang="en-US" b="1" dirty="0">
                <a:solidFill>
                  <a:srgbClr val="4B4A4A"/>
                </a:solidFill>
                <a:latin typeface="Geist" pitchFamily="34" charset="0"/>
                <a:ea typeface="Geist" pitchFamily="34" charset="-122"/>
                <a:cs typeface="Geist" pitchFamily="34" charset="-120"/>
              </a:rPr>
              <a:t>tuyệt đối không được</a:t>
            </a:r>
            <a:r>
              <a:rPr lang="en-US" dirty="0">
                <a:solidFill>
                  <a:srgbClr val="4B4A4A"/>
                </a:solidFill>
                <a:latin typeface="Geist" pitchFamily="34" charset="0"/>
                <a:ea typeface="Geist" pitchFamily="34" charset="-122"/>
                <a:cs typeface="Geist" pitchFamily="34" charset="-120"/>
              </a:rPr>
              <a:t> dùng </a:t>
            </a:r>
            <a:r>
              <a:rPr lang="en-US" dirty="0">
                <a:solidFill>
                  <a:srgbClr val="4B4A4A"/>
                </a:solidFill>
                <a:highlight>
                  <a:srgbClr val="D8ECE5"/>
                </a:highlight>
                <a:latin typeface="Consolas" pitchFamily="34" charset="0"/>
                <a:ea typeface="Consolas" pitchFamily="34" charset="-122"/>
                <a:cs typeface="Consolas" pitchFamily="34" charset="-120"/>
              </a:rPr>
              <a:t>delay()</a:t>
            </a:r>
            <a:r>
              <a:rPr lang="en-US" dirty="0">
                <a:solidFill>
                  <a:srgbClr val="4B4A4A"/>
                </a:solidFill>
                <a:latin typeface="Geist" pitchFamily="34" charset="0"/>
                <a:ea typeface="Geist" pitchFamily="34" charset="-122"/>
                <a:cs typeface="Geist" pitchFamily="34" charset="-120"/>
              </a:rPr>
              <a:t> quá lâu, vì nó sẽ làm Server "tắc nghẽn".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7" grpId="0" animBg="1"/>
      <p:bldP spid="18" grpId="0" animBg="1"/>
      <p:bldP spid="19" grpId="0" animBg="1"/>
      <p:bldP spid="22" grpId="0" animBg="1"/>
      <p:bldP spid="23" grpId="0" animBg="1"/>
      <p:bldP spid="24" grpId="0" animBg="1"/>
      <p:bldP spid="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p:nvPr/>
        </p:nvSpPr>
        <p:spPr>
          <a:xfrm>
            <a:off x="792361" y="544711"/>
            <a:ext cx="6888956" cy="619125"/>
          </a:xfrm>
          <a:prstGeom prst="rect">
            <a:avLst/>
          </a:prstGeom>
          <a:noFill/>
          <a:ln/>
        </p:spPr>
        <p:txBody>
          <a:bodyPr wrap="none" lIns="0" tIns="0" rIns="0" bIns="0" rtlCol="0" anchor="t"/>
          <a:lstStyle/>
          <a:p>
            <a:pPr marL="0" indent="0" algn="l">
              <a:lnSpc>
                <a:spcPts val="4850"/>
              </a:lnSpc>
              <a:buNone/>
            </a:pPr>
            <a:r>
              <a:rPr lang="en-US" sz="3850" b="1" dirty="0">
                <a:solidFill>
                  <a:srgbClr val="006747"/>
                </a:solidFill>
                <a:latin typeface="Noto Serif SC Bold" pitchFamily="34" charset="0"/>
                <a:ea typeface="Noto Serif SC Bold" pitchFamily="34" charset="-122"/>
                <a:cs typeface="Noto Serif SC Bold" pitchFamily="34" charset="-120"/>
              </a:rPr>
              <a:t>Tổng hợp: Code hoàn chỉnh</a:t>
            </a:r>
            <a:endParaRPr lang="en-US" sz="3850" dirty="0"/>
          </a:p>
        </p:txBody>
      </p:sp>
      <p:sp>
        <p:nvSpPr>
          <p:cNvPr id="5" name="Shape 2"/>
          <p:cNvSpPr/>
          <p:nvPr/>
        </p:nvSpPr>
        <p:spPr>
          <a:xfrm>
            <a:off x="792360" y="2000607"/>
            <a:ext cx="12573683" cy="2673548"/>
          </a:xfrm>
          <a:prstGeom prst="roundRect">
            <a:avLst>
              <a:gd name="adj" fmla="val 6669"/>
            </a:avLst>
          </a:prstGeom>
          <a:solidFill>
            <a:srgbClr val="B3FFE7"/>
          </a:solidFill>
          <a:ln/>
        </p:spPr>
      </p:sp>
      <p:pic>
        <p:nvPicPr>
          <p:cNvPr id="6" name="Image 1" descr="preencoded.png"/>
          <p:cNvPicPr>
            <a:picLocks noChangeAspect="1"/>
          </p:cNvPicPr>
          <p:nvPr/>
        </p:nvPicPr>
        <p:blipFill>
          <a:blip r:embed="rId3"/>
          <a:stretch>
            <a:fillRect/>
          </a:stretch>
        </p:blipFill>
        <p:spPr>
          <a:xfrm>
            <a:off x="990362" y="2295644"/>
            <a:ext cx="411729" cy="198001"/>
          </a:xfrm>
          <a:prstGeom prst="rect">
            <a:avLst/>
          </a:prstGeom>
        </p:spPr>
      </p:pic>
      <p:sp>
        <p:nvSpPr>
          <p:cNvPr id="7" name="Text 3"/>
          <p:cNvSpPr/>
          <p:nvPr/>
        </p:nvSpPr>
        <p:spPr>
          <a:xfrm>
            <a:off x="1435894" y="2248019"/>
            <a:ext cx="11173922" cy="316944"/>
          </a:xfrm>
          <a:prstGeom prst="rect">
            <a:avLst/>
          </a:prstGeom>
          <a:noFill/>
          <a:ln/>
        </p:spPr>
        <p:txBody>
          <a:bodyPr wrap="none" lIns="0" tIns="0" rIns="0" bIns="0" rtlCol="0" anchor="t"/>
          <a:lstStyle/>
          <a:p>
            <a:pPr marL="0" indent="0" algn="l">
              <a:lnSpc>
                <a:spcPts val="2450"/>
              </a:lnSpc>
              <a:buNone/>
            </a:pPr>
            <a:r>
              <a:rPr lang="en-US" b="1" dirty="0">
                <a:solidFill>
                  <a:srgbClr val="000000"/>
                </a:solidFill>
                <a:latin typeface="Geist" pitchFamily="34" charset="0"/>
                <a:ea typeface="Geist" pitchFamily="34" charset="-122"/>
                <a:cs typeface="Geist" pitchFamily="34" charset="-120"/>
              </a:rPr>
              <a:t>Nhớ sửa 2 dòng này trước khi nạp:</a:t>
            </a:r>
            <a:endParaRPr lang="en-US" dirty="0"/>
          </a:p>
        </p:txBody>
      </p:sp>
      <p:sp>
        <p:nvSpPr>
          <p:cNvPr id="8" name="Shape 4"/>
          <p:cNvSpPr/>
          <p:nvPr/>
        </p:nvSpPr>
        <p:spPr>
          <a:xfrm>
            <a:off x="1435894" y="2787729"/>
            <a:ext cx="11173922" cy="1564719"/>
          </a:xfrm>
          <a:prstGeom prst="roundRect">
            <a:avLst>
              <a:gd name="adj" fmla="val 11395"/>
            </a:avLst>
          </a:prstGeom>
          <a:solidFill>
            <a:srgbClr val="D8ECE5"/>
          </a:solidFill>
          <a:ln/>
        </p:spPr>
      </p:sp>
      <p:sp>
        <p:nvSpPr>
          <p:cNvPr id="9" name="Shape 5"/>
          <p:cNvSpPr/>
          <p:nvPr/>
        </p:nvSpPr>
        <p:spPr>
          <a:xfrm>
            <a:off x="1426012" y="2787729"/>
            <a:ext cx="11206798" cy="1564719"/>
          </a:xfrm>
          <a:prstGeom prst="roundRect">
            <a:avLst>
              <a:gd name="adj" fmla="val 1899"/>
            </a:avLst>
          </a:prstGeom>
          <a:solidFill>
            <a:srgbClr val="D8ECE5"/>
          </a:solidFill>
          <a:ln/>
        </p:spPr>
      </p:sp>
      <p:sp>
        <p:nvSpPr>
          <p:cNvPr id="10" name="Text 6"/>
          <p:cNvSpPr/>
          <p:nvPr/>
        </p:nvSpPr>
        <p:spPr>
          <a:xfrm>
            <a:off x="1624012" y="2936200"/>
            <a:ext cx="10548110" cy="1267778"/>
          </a:xfrm>
          <a:prstGeom prst="rect">
            <a:avLst/>
          </a:prstGeom>
          <a:noFill/>
          <a:ln/>
        </p:spPr>
        <p:txBody>
          <a:bodyPr wrap="square" lIns="0" tIns="0" rIns="0" bIns="0" rtlCol="0" anchor="t"/>
          <a:lstStyle/>
          <a:p>
            <a:pPr marL="0" indent="0" algn="l">
              <a:lnSpc>
                <a:spcPts val="2450"/>
              </a:lnSpc>
              <a:buNone/>
            </a:pPr>
            <a:r>
              <a:rPr lang="en-US" dirty="0">
                <a:solidFill>
                  <a:srgbClr val="000000"/>
                </a:solidFill>
                <a:highlight>
                  <a:srgbClr val="D8ECE5"/>
                </a:highlight>
                <a:latin typeface="Consolas" pitchFamily="34" charset="0"/>
                <a:ea typeface="Consolas" pitchFamily="34" charset="-122"/>
                <a:cs typeface="Consolas" pitchFamily="34" charset="-120"/>
              </a:rPr>
              <a:t>const char* ssid = "Ten_WiFi_Nha_Ban";      // &lt;-- Thay bằng tên WiFi nhà bạn</a:t>
            </a:r>
            <a:endParaRPr lang="en-US" dirty="0"/>
          </a:p>
          <a:p>
            <a:pPr marL="0" indent="0" algn="l">
              <a:lnSpc>
                <a:spcPts val="2450"/>
              </a:lnSpc>
              <a:buNone/>
            </a:pPr>
            <a:r>
              <a:rPr lang="en-US" dirty="0">
                <a:solidFill>
                  <a:srgbClr val="000000"/>
                </a:solidFill>
                <a:highlight>
                  <a:srgbClr val="D8ECE5"/>
                </a:highlight>
                <a:latin typeface="Consolas" pitchFamily="34" charset="0"/>
                <a:ea typeface="Consolas" pitchFamily="34" charset="-122"/>
                <a:cs typeface="Consolas" pitchFamily="34" charset="-120"/>
              </a:rPr>
              <a:t>const char* password = "Mat_Khau_WiFi";     // &lt;-- Thay bằng mật khẩu</a:t>
            </a:r>
            <a:endParaRPr lang="en-US" dirty="0"/>
          </a:p>
        </p:txBody>
      </p:sp>
      <p:sp>
        <p:nvSpPr>
          <p:cNvPr id="11" name="Text 7"/>
          <p:cNvSpPr/>
          <p:nvPr/>
        </p:nvSpPr>
        <p:spPr>
          <a:xfrm>
            <a:off x="792360" y="4896922"/>
            <a:ext cx="12573683" cy="316944"/>
          </a:xfrm>
          <a:prstGeom prst="rect">
            <a:avLst/>
          </a:prstGeom>
          <a:noFill/>
          <a:ln/>
        </p:spPr>
        <p:txBody>
          <a:bodyPr wrap="none" lIns="0" tIns="0" rIns="0" bIns="0" rtlCol="0" anchor="t"/>
          <a:lstStyle/>
          <a:p>
            <a:pPr marL="0" indent="0" algn="l">
              <a:lnSpc>
                <a:spcPts val="2450"/>
              </a:lnSpc>
              <a:buNone/>
            </a:pPr>
            <a:r>
              <a:rPr lang="en-US" dirty="0">
                <a:solidFill>
                  <a:srgbClr val="4B4A4A"/>
                </a:solidFill>
                <a:latin typeface="Geist" pitchFamily="34" charset="0"/>
                <a:ea typeface="Geist" pitchFamily="34" charset="-122"/>
                <a:cs typeface="Geist" pitchFamily="34" charset="-120"/>
              </a:rPr>
              <a:t>Code đầy đủ gồm </a:t>
            </a:r>
            <a:r>
              <a:rPr lang="en-US" b="1" dirty="0">
                <a:solidFill>
                  <a:srgbClr val="4B4A4A"/>
                </a:solidFill>
                <a:latin typeface="Geist" pitchFamily="34" charset="0"/>
                <a:ea typeface="Geist" pitchFamily="34" charset="-122"/>
                <a:cs typeface="Geist" pitchFamily="34" charset="-120"/>
              </a:rPr>
              <a:t>6 phần chính</a:t>
            </a:r>
            <a:r>
              <a:rPr lang="en-US" dirty="0">
                <a:solidFill>
                  <a:srgbClr val="4B4A4A"/>
                </a:solidFill>
                <a:latin typeface="Geist" pitchFamily="34" charset="0"/>
                <a:ea typeface="Geist" pitchFamily="34" charset="-122"/>
                <a:cs typeface="Geist" pitchFamily="34" charset="-120"/>
              </a:rPr>
              <a:t>:</a:t>
            </a:r>
            <a:endParaRPr lang="en-US" dirty="0"/>
          </a:p>
        </p:txBody>
      </p:sp>
      <p:sp>
        <p:nvSpPr>
          <p:cNvPr id="12" name="Text 8"/>
          <p:cNvSpPr/>
          <p:nvPr/>
        </p:nvSpPr>
        <p:spPr>
          <a:xfrm>
            <a:off x="792360" y="5436632"/>
            <a:ext cx="12573683" cy="316944"/>
          </a:xfrm>
          <a:prstGeom prst="rect">
            <a:avLst/>
          </a:prstGeom>
          <a:noFill/>
          <a:ln/>
        </p:spPr>
        <p:txBody>
          <a:bodyPr wrap="none" lIns="0" tIns="0" rIns="0" bIns="0" rtlCol="0" anchor="t"/>
          <a:lstStyle/>
          <a:p>
            <a:pPr marL="342900" indent="-342900" algn="l">
              <a:lnSpc>
                <a:spcPts val="2450"/>
              </a:lnSpc>
              <a:buSzPct val="100000"/>
              <a:buFont typeface="+mj-lt"/>
              <a:buAutoNum type="arabicPeriod"/>
            </a:pPr>
            <a:r>
              <a:rPr lang="en-US" dirty="0">
                <a:solidFill>
                  <a:srgbClr val="4B4A4A"/>
                </a:solidFill>
                <a:latin typeface="Geist" pitchFamily="34" charset="0"/>
                <a:ea typeface="Geist" pitchFamily="34" charset="-122"/>
                <a:cs typeface="Geist" pitchFamily="34" charset="-120"/>
              </a:rPr>
              <a:t>Khai báo thư viện và cấu hình WiFi</a:t>
            </a:r>
            <a:endParaRPr lang="en-US" dirty="0"/>
          </a:p>
        </p:txBody>
      </p:sp>
      <p:sp>
        <p:nvSpPr>
          <p:cNvPr id="13" name="Text 9"/>
          <p:cNvSpPr/>
          <p:nvPr/>
        </p:nvSpPr>
        <p:spPr>
          <a:xfrm>
            <a:off x="792360" y="5822871"/>
            <a:ext cx="12573683" cy="316944"/>
          </a:xfrm>
          <a:prstGeom prst="rect">
            <a:avLst/>
          </a:prstGeom>
          <a:noFill/>
          <a:ln/>
        </p:spPr>
        <p:txBody>
          <a:bodyPr wrap="none" lIns="0" tIns="0" rIns="0" bIns="0" rtlCol="0" anchor="t"/>
          <a:lstStyle/>
          <a:p>
            <a:pPr marL="342900" indent="-342900" algn="l">
              <a:lnSpc>
                <a:spcPts val="2450"/>
              </a:lnSpc>
              <a:buSzPct val="100000"/>
              <a:buFont typeface="+mj-lt"/>
              <a:buAutoNum type="arabicPeriod" startAt="2"/>
            </a:pPr>
            <a:r>
              <a:rPr lang="en-US" dirty="0">
                <a:solidFill>
                  <a:srgbClr val="4B4A4A"/>
                </a:solidFill>
                <a:latin typeface="Geist" pitchFamily="34" charset="0"/>
                <a:ea typeface="Geist" pitchFamily="34" charset="-122"/>
                <a:cs typeface="Geist" pitchFamily="34" charset="-120"/>
              </a:rPr>
              <a:t>Khởi tạo Server và định nghĩa chân LED</a:t>
            </a:r>
            <a:endParaRPr lang="en-US" dirty="0"/>
          </a:p>
        </p:txBody>
      </p:sp>
      <p:sp>
        <p:nvSpPr>
          <p:cNvPr id="14" name="Text 10"/>
          <p:cNvSpPr/>
          <p:nvPr/>
        </p:nvSpPr>
        <p:spPr>
          <a:xfrm>
            <a:off x="792360" y="6209109"/>
            <a:ext cx="12573683" cy="316944"/>
          </a:xfrm>
          <a:prstGeom prst="rect">
            <a:avLst/>
          </a:prstGeom>
          <a:noFill/>
          <a:ln/>
        </p:spPr>
        <p:txBody>
          <a:bodyPr wrap="none" lIns="0" tIns="0" rIns="0" bIns="0" rtlCol="0" anchor="t"/>
          <a:lstStyle/>
          <a:p>
            <a:pPr marL="342900" indent="-342900" algn="l">
              <a:lnSpc>
                <a:spcPts val="2450"/>
              </a:lnSpc>
              <a:buSzPct val="100000"/>
              <a:buFont typeface="+mj-lt"/>
              <a:buAutoNum type="arabicPeriod" startAt="3"/>
            </a:pPr>
            <a:r>
              <a:rPr lang="en-US" dirty="0">
                <a:solidFill>
                  <a:srgbClr val="4B4A4A"/>
                </a:solidFill>
                <a:latin typeface="Geist" pitchFamily="34" charset="0"/>
                <a:ea typeface="Geist" pitchFamily="34" charset="-122"/>
                <a:cs typeface="Geist" pitchFamily="34" charset="-120"/>
              </a:rPr>
              <a:t>Viết hàm tạo giao diện HTML</a:t>
            </a:r>
            <a:endParaRPr lang="en-US" dirty="0"/>
          </a:p>
        </p:txBody>
      </p:sp>
      <p:sp>
        <p:nvSpPr>
          <p:cNvPr id="15" name="Text 11"/>
          <p:cNvSpPr/>
          <p:nvPr/>
        </p:nvSpPr>
        <p:spPr>
          <a:xfrm>
            <a:off x="792360" y="6595348"/>
            <a:ext cx="12573683" cy="316944"/>
          </a:xfrm>
          <a:prstGeom prst="rect">
            <a:avLst/>
          </a:prstGeom>
          <a:noFill/>
          <a:ln/>
        </p:spPr>
        <p:txBody>
          <a:bodyPr wrap="none" lIns="0" tIns="0" rIns="0" bIns="0" rtlCol="0" anchor="t"/>
          <a:lstStyle/>
          <a:p>
            <a:pPr marL="342900" indent="-342900" algn="l">
              <a:lnSpc>
                <a:spcPts val="2450"/>
              </a:lnSpc>
              <a:buSzPct val="100000"/>
              <a:buFont typeface="+mj-lt"/>
              <a:buAutoNum type="arabicPeriod" startAt="4"/>
            </a:pPr>
            <a:r>
              <a:rPr lang="en-US" dirty="0">
                <a:solidFill>
                  <a:srgbClr val="4B4A4A"/>
                </a:solidFill>
                <a:latin typeface="Geist" pitchFamily="34" charset="0"/>
                <a:ea typeface="Geist" pitchFamily="34" charset="-122"/>
                <a:cs typeface="Geist" pitchFamily="34" charset="-120"/>
              </a:rPr>
              <a:t>Viết các hàm xử lý sự kiện</a:t>
            </a:r>
            <a:endParaRPr lang="en-US" dirty="0"/>
          </a:p>
        </p:txBody>
      </p:sp>
      <p:sp>
        <p:nvSpPr>
          <p:cNvPr id="16" name="Text 12"/>
          <p:cNvSpPr/>
          <p:nvPr/>
        </p:nvSpPr>
        <p:spPr>
          <a:xfrm>
            <a:off x="792360" y="6981587"/>
            <a:ext cx="12573683" cy="316944"/>
          </a:xfrm>
          <a:prstGeom prst="rect">
            <a:avLst/>
          </a:prstGeom>
          <a:noFill/>
          <a:ln/>
        </p:spPr>
        <p:txBody>
          <a:bodyPr wrap="none" lIns="0" tIns="0" rIns="0" bIns="0" rtlCol="0" anchor="t"/>
          <a:lstStyle/>
          <a:p>
            <a:pPr marL="342900" indent="-342900" algn="l">
              <a:lnSpc>
                <a:spcPts val="2450"/>
              </a:lnSpc>
              <a:buSzPct val="100000"/>
              <a:buFont typeface="+mj-lt"/>
              <a:buAutoNum type="arabicPeriod" startAt="5"/>
            </a:pPr>
            <a:r>
              <a:rPr lang="en-US" dirty="0">
                <a:solidFill>
                  <a:srgbClr val="4B4A4A"/>
                </a:solidFill>
                <a:latin typeface="Geist" pitchFamily="34" charset="0"/>
                <a:ea typeface="Geist" pitchFamily="34" charset="-122"/>
                <a:cs typeface="Geist" pitchFamily="34" charset="-120"/>
              </a:rPr>
              <a:t>Hàm setup(): Kết nối WiFi, định tuyến, khởi động Server</a:t>
            </a:r>
            <a:endParaRPr lang="en-US" dirty="0"/>
          </a:p>
        </p:txBody>
      </p:sp>
      <p:sp>
        <p:nvSpPr>
          <p:cNvPr id="17" name="Text 13"/>
          <p:cNvSpPr/>
          <p:nvPr/>
        </p:nvSpPr>
        <p:spPr>
          <a:xfrm>
            <a:off x="792360" y="7367826"/>
            <a:ext cx="12573683" cy="316944"/>
          </a:xfrm>
          <a:prstGeom prst="rect">
            <a:avLst/>
          </a:prstGeom>
          <a:noFill/>
          <a:ln/>
        </p:spPr>
        <p:txBody>
          <a:bodyPr wrap="none" lIns="0" tIns="0" rIns="0" bIns="0" rtlCol="0" anchor="t"/>
          <a:lstStyle/>
          <a:p>
            <a:pPr marL="342900" indent="-342900" algn="l">
              <a:lnSpc>
                <a:spcPts val="2450"/>
              </a:lnSpc>
              <a:buSzPct val="100000"/>
              <a:buFont typeface="+mj-lt"/>
              <a:buAutoNum type="arabicPeriod" startAt="6"/>
            </a:pPr>
            <a:r>
              <a:rPr lang="en-US" dirty="0">
                <a:solidFill>
                  <a:srgbClr val="4B4A4A"/>
                </a:solidFill>
                <a:latin typeface="Geist" pitchFamily="34" charset="0"/>
                <a:ea typeface="Geist" pitchFamily="34" charset="-122"/>
                <a:cs typeface="Geist" pitchFamily="34" charset="-120"/>
              </a:rPr>
              <a:t>Hàm loop(): Lắng nghe và xử lý yêu cầu</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2566749"/>
            <a:ext cx="7556421" cy="2480786"/>
          </a:xfrm>
          <a:prstGeom prst="rect">
            <a:avLst/>
          </a:prstGeom>
          <a:noFill/>
          <a:ln/>
        </p:spPr>
        <p:txBody>
          <a:bodyPr wrap="square" lIns="0" tIns="0" rIns="0" bIns="0" rtlCol="0" anchor="t"/>
          <a:lstStyle/>
          <a:p>
            <a:pPr marL="0" indent="0" algn="ctr">
              <a:lnSpc>
                <a:spcPts val="9750"/>
              </a:lnSpc>
              <a:buNone/>
            </a:pPr>
            <a:r>
              <a:rPr lang="en-US" sz="7800" b="1" dirty="0">
                <a:solidFill>
                  <a:srgbClr val="006747"/>
                </a:solidFill>
                <a:latin typeface="Noto Serif SC Bold" pitchFamily="34" charset="0"/>
                <a:ea typeface="Noto Serif SC Bold" pitchFamily="34" charset="-122"/>
                <a:cs typeface="Noto Serif SC Bold" pitchFamily="34" charset="-120"/>
              </a:rPr>
              <a:t>DEMO THỰC TẾ</a:t>
            </a:r>
            <a:endParaRPr lang="en-US" sz="7800" dirty="0"/>
          </a:p>
        </p:txBody>
      </p:sp>
      <p:sp>
        <p:nvSpPr>
          <p:cNvPr id="4" name="Text 1"/>
          <p:cNvSpPr/>
          <p:nvPr/>
        </p:nvSpPr>
        <p:spPr>
          <a:xfrm>
            <a:off x="6280190" y="5345192"/>
            <a:ext cx="7556421" cy="317540"/>
          </a:xfrm>
          <a:prstGeom prst="rect">
            <a:avLst/>
          </a:prstGeom>
          <a:noFill/>
          <a:ln/>
        </p:spPr>
        <p:txBody>
          <a:bodyPr wrap="none" lIns="0" tIns="0" rIns="0" bIns="0" rtlCol="0" anchor="t"/>
          <a:lstStyle/>
          <a:p>
            <a:pPr marL="0" indent="0" algn="ctr">
              <a:lnSpc>
                <a:spcPts val="2500"/>
              </a:lnSpc>
              <a:buNone/>
            </a:pPr>
            <a:r>
              <a:rPr lang="en-US" sz="2000" b="1" dirty="0">
                <a:solidFill>
                  <a:srgbClr val="4B4A4A"/>
                </a:solidFill>
                <a:latin typeface="Geist" pitchFamily="34" charset="0"/>
                <a:ea typeface="Geist" pitchFamily="34" charset="-122"/>
                <a:cs typeface="Geist" pitchFamily="34" charset="-120"/>
              </a:rPr>
              <a:t>Phần 4: Hướng dẫn chạy thử từng bước</a:t>
            </a:r>
            <a:endParaRPr lang="en-US" sz="2000"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78525" y="397669"/>
            <a:ext cx="5078016" cy="451961"/>
          </a:xfrm>
          <a:prstGeom prst="rect">
            <a:avLst/>
          </a:prstGeom>
          <a:noFill/>
          <a:ln/>
        </p:spPr>
        <p:txBody>
          <a:bodyPr wrap="none" lIns="0" tIns="0" rIns="0" bIns="0" rtlCol="0" anchor="t"/>
          <a:lstStyle/>
          <a:p>
            <a:pPr marL="0" indent="0" algn="l">
              <a:lnSpc>
                <a:spcPts val="3550"/>
              </a:lnSpc>
              <a:buNone/>
            </a:pPr>
            <a:r>
              <a:rPr lang="en-US" sz="2800" b="1" dirty="0">
                <a:solidFill>
                  <a:srgbClr val="006747"/>
                </a:solidFill>
                <a:latin typeface="Noto Serif SC Bold" pitchFamily="34" charset="0"/>
                <a:ea typeface="Noto Serif SC Bold" pitchFamily="34" charset="-122"/>
                <a:cs typeface="Noto Serif SC Bold" pitchFamily="34" charset="-120"/>
              </a:rPr>
              <a:t>Bước 1: Nạp code vào ESP32</a:t>
            </a:r>
            <a:endParaRPr lang="en-US" sz="2800" dirty="0"/>
          </a:p>
        </p:txBody>
      </p:sp>
      <p:sp>
        <p:nvSpPr>
          <p:cNvPr id="3" name="Text 1"/>
          <p:cNvSpPr/>
          <p:nvPr/>
        </p:nvSpPr>
        <p:spPr>
          <a:xfrm>
            <a:off x="578523" y="1480012"/>
            <a:ext cx="437475" cy="142875"/>
          </a:xfrm>
          <a:prstGeom prst="rect">
            <a:avLst/>
          </a:prstGeom>
          <a:noFill/>
          <a:ln/>
        </p:spPr>
        <p:txBody>
          <a:bodyPr wrap="square" lIns="0" tIns="0" rIns="0" bIns="0" rtlCol="0" anchor="t"/>
          <a:lstStyle/>
          <a:p>
            <a:pPr marL="0" indent="0" algn="l">
              <a:lnSpc>
                <a:spcPts val="1800"/>
              </a:lnSpc>
              <a:buNone/>
            </a:pPr>
            <a:r>
              <a:rPr lang="en-US" dirty="0">
                <a:solidFill>
                  <a:srgbClr val="4B4A4A"/>
                </a:solidFill>
                <a:latin typeface="Noto Serif SC Light" pitchFamily="34" charset="0"/>
                <a:ea typeface="Noto Serif SC Light" pitchFamily="34" charset="-122"/>
                <a:cs typeface="Noto Serif SC Light" pitchFamily="34" charset="-120"/>
              </a:rPr>
              <a:t>01</a:t>
            </a:r>
            <a:endParaRPr lang="en-US" dirty="0"/>
          </a:p>
        </p:txBody>
      </p:sp>
      <p:sp>
        <p:nvSpPr>
          <p:cNvPr id="4" name="Shape 2"/>
          <p:cNvSpPr/>
          <p:nvPr/>
        </p:nvSpPr>
        <p:spPr>
          <a:xfrm>
            <a:off x="578524" y="1710398"/>
            <a:ext cx="6664404" cy="15240"/>
          </a:xfrm>
          <a:prstGeom prst="rect">
            <a:avLst/>
          </a:prstGeom>
          <a:solidFill>
            <a:srgbClr val="006747"/>
          </a:solidFill>
          <a:ln/>
        </p:spPr>
        <p:txBody>
          <a:bodyPr wrap="square"/>
          <a:lstStyle/>
          <a:p>
            <a:endParaRPr lang="en-US"/>
          </a:p>
        </p:txBody>
      </p:sp>
      <p:sp>
        <p:nvSpPr>
          <p:cNvPr id="5" name="Text 3"/>
          <p:cNvSpPr/>
          <p:nvPr/>
        </p:nvSpPr>
        <p:spPr>
          <a:xfrm>
            <a:off x="578524" y="1813149"/>
            <a:ext cx="2808142" cy="209907"/>
          </a:xfrm>
          <a:prstGeom prst="rect">
            <a:avLst/>
          </a:prstGeom>
          <a:noFill/>
          <a:ln/>
        </p:spPr>
        <p:txBody>
          <a:bodyPr wrap="square" lIns="0" tIns="0" rIns="0" bIns="0" rtlCol="0" anchor="t"/>
          <a:lstStyle/>
          <a:p>
            <a:pPr marL="0" indent="0" algn="l">
              <a:lnSpc>
                <a:spcPts val="1750"/>
              </a:lnSpc>
              <a:buNone/>
            </a:pPr>
            <a:r>
              <a:rPr lang="en-US" b="1" dirty="0">
                <a:solidFill>
                  <a:srgbClr val="4B4A4A"/>
                </a:solidFill>
                <a:latin typeface="Noto Serif SC Bold" pitchFamily="34" charset="0"/>
                <a:ea typeface="Noto Serif SC Bold" pitchFamily="34" charset="-122"/>
                <a:cs typeface="Noto Serif SC Bold" pitchFamily="34" charset="-120"/>
              </a:rPr>
              <a:t>Mở Arduino IDE</a:t>
            </a:r>
            <a:endParaRPr lang="en-US" dirty="0"/>
          </a:p>
        </p:txBody>
      </p:sp>
      <p:sp>
        <p:nvSpPr>
          <p:cNvPr id="6" name="Text 4"/>
          <p:cNvSpPr/>
          <p:nvPr/>
        </p:nvSpPr>
        <p:spPr>
          <a:xfrm>
            <a:off x="578524" y="2125807"/>
            <a:ext cx="6664404" cy="231458"/>
          </a:xfrm>
          <a:prstGeom prst="rect">
            <a:avLst/>
          </a:prstGeom>
          <a:noFill/>
          <a:ln/>
        </p:spPr>
        <p:txBody>
          <a:bodyPr wrap="square" lIns="0" tIns="0" rIns="0" bIns="0" rtlCol="0" anchor="t"/>
          <a:lstStyle/>
          <a:p>
            <a:pPr marL="0" indent="0" algn="l">
              <a:lnSpc>
                <a:spcPts val="1800"/>
              </a:lnSpc>
              <a:buNone/>
            </a:pPr>
            <a:r>
              <a:rPr lang="en-US" dirty="0">
                <a:solidFill>
                  <a:srgbClr val="4B4A4A"/>
                </a:solidFill>
                <a:latin typeface="Geist" pitchFamily="34" charset="0"/>
                <a:ea typeface="Geist" pitchFamily="34" charset="-122"/>
                <a:cs typeface="Geist" pitchFamily="34" charset="-120"/>
              </a:rPr>
              <a:t>Khởi động Arduino IDE, tạo một sketch mới (File → New).</a:t>
            </a:r>
            <a:endParaRPr lang="en-US" dirty="0"/>
          </a:p>
        </p:txBody>
      </p:sp>
      <p:sp>
        <p:nvSpPr>
          <p:cNvPr id="7" name="Text 5"/>
          <p:cNvSpPr/>
          <p:nvPr/>
        </p:nvSpPr>
        <p:spPr>
          <a:xfrm>
            <a:off x="7387469" y="1480012"/>
            <a:ext cx="537329" cy="180737"/>
          </a:xfrm>
          <a:prstGeom prst="rect">
            <a:avLst/>
          </a:prstGeom>
          <a:noFill/>
          <a:ln/>
        </p:spPr>
        <p:txBody>
          <a:bodyPr wrap="square" lIns="0" tIns="0" rIns="0" bIns="0" rtlCol="0" anchor="t"/>
          <a:lstStyle/>
          <a:p>
            <a:pPr marL="0" indent="0" algn="l">
              <a:lnSpc>
                <a:spcPts val="1800"/>
              </a:lnSpc>
              <a:buNone/>
            </a:pPr>
            <a:r>
              <a:rPr lang="en-US" dirty="0">
                <a:solidFill>
                  <a:srgbClr val="4B4A4A"/>
                </a:solidFill>
                <a:latin typeface="Noto Serif SC Light" pitchFamily="34" charset="0"/>
                <a:ea typeface="Noto Serif SC Light" pitchFamily="34" charset="-122"/>
                <a:cs typeface="Noto Serif SC Light" pitchFamily="34" charset="-120"/>
              </a:rPr>
              <a:t>02</a:t>
            </a:r>
            <a:endParaRPr lang="en-US" dirty="0"/>
          </a:p>
        </p:txBody>
      </p:sp>
      <p:sp>
        <p:nvSpPr>
          <p:cNvPr id="8" name="Shape 6"/>
          <p:cNvSpPr/>
          <p:nvPr/>
        </p:nvSpPr>
        <p:spPr>
          <a:xfrm>
            <a:off x="7387470" y="1710398"/>
            <a:ext cx="6664404" cy="15240"/>
          </a:xfrm>
          <a:prstGeom prst="rect">
            <a:avLst/>
          </a:prstGeom>
          <a:solidFill>
            <a:srgbClr val="006747"/>
          </a:solidFill>
          <a:ln/>
        </p:spPr>
        <p:txBody>
          <a:bodyPr wrap="square"/>
          <a:lstStyle/>
          <a:p>
            <a:endParaRPr lang="en-US"/>
          </a:p>
        </p:txBody>
      </p:sp>
      <p:sp>
        <p:nvSpPr>
          <p:cNvPr id="9" name="Text 7"/>
          <p:cNvSpPr/>
          <p:nvPr/>
        </p:nvSpPr>
        <p:spPr>
          <a:xfrm>
            <a:off x="7387470" y="1813149"/>
            <a:ext cx="1807964" cy="225981"/>
          </a:xfrm>
          <a:prstGeom prst="rect">
            <a:avLst/>
          </a:prstGeom>
          <a:noFill/>
          <a:ln/>
        </p:spPr>
        <p:txBody>
          <a:bodyPr wrap="square" lIns="0" tIns="0" rIns="0" bIns="0" rtlCol="0" anchor="t"/>
          <a:lstStyle/>
          <a:p>
            <a:pPr marL="0" indent="0" algn="l">
              <a:lnSpc>
                <a:spcPts val="1750"/>
              </a:lnSpc>
              <a:buNone/>
            </a:pPr>
            <a:r>
              <a:rPr lang="en-US" b="1" dirty="0">
                <a:solidFill>
                  <a:srgbClr val="4B4A4A"/>
                </a:solidFill>
                <a:latin typeface="Noto Serif SC Bold" pitchFamily="34" charset="0"/>
                <a:ea typeface="Noto Serif SC Bold" pitchFamily="34" charset="-122"/>
                <a:cs typeface="Noto Serif SC Bold" pitchFamily="34" charset="-120"/>
              </a:rPr>
              <a:t>Copy code</a:t>
            </a:r>
            <a:endParaRPr lang="en-US" dirty="0"/>
          </a:p>
        </p:txBody>
      </p:sp>
      <p:sp>
        <p:nvSpPr>
          <p:cNvPr id="10" name="Text 8"/>
          <p:cNvSpPr/>
          <p:nvPr/>
        </p:nvSpPr>
        <p:spPr>
          <a:xfrm>
            <a:off x="7387470" y="2125807"/>
            <a:ext cx="6664404" cy="231458"/>
          </a:xfrm>
          <a:prstGeom prst="rect">
            <a:avLst/>
          </a:prstGeom>
          <a:noFill/>
          <a:ln/>
        </p:spPr>
        <p:txBody>
          <a:bodyPr wrap="square" lIns="0" tIns="0" rIns="0" bIns="0" rtlCol="0" anchor="t"/>
          <a:lstStyle/>
          <a:p>
            <a:pPr marL="0" indent="0" algn="l">
              <a:buNone/>
            </a:pPr>
            <a:r>
              <a:rPr lang="en-US" dirty="0">
                <a:solidFill>
                  <a:srgbClr val="4B4A4A"/>
                </a:solidFill>
                <a:latin typeface="Geist" pitchFamily="34" charset="0"/>
                <a:ea typeface="Geist" pitchFamily="34" charset="-122"/>
                <a:cs typeface="Geist" pitchFamily="34" charset="-120"/>
              </a:rPr>
              <a:t>Copy toàn bộ code đã chuẩn bị ở trên và paste vào sketch. </a:t>
            </a:r>
            <a:r>
              <a:rPr lang="en-US" b="1" dirty="0">
                <a:solidFill>
                  <a:srgbClr val="4B4A4A"/>
                </a:solidFill>
                <a:latin typeface="Geist" pitchFamily="34" charset="0"/>
                <a:ea typeface="Geist" pitchFamily="34" charset="-122"/>
                <a:cs typeface="Geist" pitchFamily="34" charset="-120"/>
              </a:rPr>
              <a:t>Nhớ sửa SSID và password!</a:t>
            </a:r>
            <a:endParaRPr lang="en-US" dirty="0"/>
          </a:p>
        </p:txBody>
      </p:sp>
      <p:sp>
        <p:nvSpPr>
          <p:cNvPr id="11" name="Text 9"/>
          <p:cNvSpPr/>
          <p:nvPr/>
        </p:nvSpPr>
        <p:spPr>
          <a:xfrm>
            <a:off x="650795" y="3289916"/>
            <a:ext cx="455515" cy="245626"/>
          </a:xfrm>
          <a:prstGeom prst="rect">
            <a:avLst/>
          </a:prstGeom>
          <a:noFill/>
          <a:ln/>
        </p:spPr>
        <p:txBody>
          <a:bodyPr wrap="square" lIns="0" tIns="0" rIns="0" bIns="0" rtlCol="0" anchor="t"/>
          <a:lstStyle/>
          <a:p>
            <a:pPr marL="0" indent="0" algn="l">
              <a:lnSpc>
                <a:spcPts val="1800"/>
              </a:lnSpc>
              <a:buNone/>
            </a:pPr>
            <a:r>
              <a:rPr lang="en-US" dirty="0">
                <a:solidFill>
                  <a:srgbClr val="4B4A4A"/>
                </a:solidFill>
                <a:latin typeface="Noto Serif SC Light" pitchFamily="34" charset="0"/>
                <a:ea typeface="Noto Serif SC Light" pitchFamily="34" charset="-122"/>
                <a:cs typeface="Noto Serif SC Light" pitchFamily="34" charset="-120"/>
              </a:rPr>
              <a:t>03</a:t>
            </a:r>
            <a:endParaRPr lang="en-US" dirty="0"/>
          </a:p>
        </p:txBody>
      </p:sp>
      <p:sp>
        <p:nvSpPr>
          <p:cNvPr id="12" name="Shape 10"/>
          <p:cNvSpPr/>
          <p:nvPr/>
        </p:nvSpPr>
        <p:spPr>
          <a:xfrm>
            <a:off x="650796" y="3520302"/>
            <a:ext cx="6664404" cy="15240"/>
          </a:xfrm>
          <a:prstGeom prst="rect">
            <a:avLst/>
          </a:prstGeom>
          <a:solidFill>
            <a:srgbClr val="006747"/>
          </a:solidFill>
          <a:ln/>
        </p:spPr>
        <p:txBody>
          <a:bodyPr wrap="square"/>
          <a:lstStyle/>
          <a:p>
            <a:endParaRPr lang="en-US"/>
          </a:p>
        </p:txBody>
      </p:sp>
      <p:sp>
        <p:nvSpPr>
          <p:cNvPr id="13" name="Text 11"/>
          <p:cNvSpPr/>
          <p:nvPr/>
        </p:nvSpPr>
        <p:spPr>
          <a:xfrm>
            <a:off x="650796" y="3594533"/>
            <a:ext cx="3672848" cy="254502"/>
          </a:xfrm>
          <a:prstGeom prst="rect">
            <a:avLst/>
          </a:prstGeom>
          <a:noFill/>
          <a:ln/>
        </p:spPr>
        <p:txBody>
          <a:bodyPr wrap="square" lIns="0" tIns="0" rIns="0" bIns="0" rtlCol="0" anchor="t"/>
          <a:lstStyle/>
          <a:p>
            <a:pPr marL="0" indent="0" algn="l">
              <a:lnSpc>
                <a:spcPts val="1750"/>
              </a:lnSpc>
              <a:buNone/>
            </a:pPr>
            <a:r>
              <a:rPr lang="en-US" b="1" dirty="0">
                <a:solidFill>
                  <a:srgbClr val="4B4A4A"/>
                </a:solidFill>
                <a:latin typeface="Noto Serif SC Bold" pitchFamily="34" charset="0"/>
                <a:ea typeface="Noto Serif SC Bold" pitchFamily="34" charset="-122"/>
                <a:cs typeface="Noto Serif SC Bold" pitchFamily="34" charset="-120"/>
              </a:rPr>
              <a:t>Chọn Board và Port</a:t>
            </a:r>
            <a:endParaRPr lang="en-US" dirty="0"/>
          </a:p>
        </p:txBody>
      </p:sp>
      <p:sp>
        <p:nvSpPr>
          <p:cNvPr id="14" name="Text 12"/>
          <p:cNvSpPr/>
          <p:nvPr/>
        </p:nvSpPr>
        <p:spPr>
          <a:xfrm>
            <a:off x="650796" y="4026023"/>
            <a:ext cx="6664404" cy="462915"/>
          </a:xfrm>
          <a:prstGeom prst="rect">
            <a:avLst/>
          </a:prstGeom>
          <a:noFill/>
          <a:ln/>
        </p:spPr>
        <p:txBody>
          <a:bodyPr wrap="square" lIns="0" tIns="0" rIns="0" bIns="0" rtlCol="0" anchor="t"/>
          <a:lstStyle/>
          <a:p>
            <a:pPr marL="0" indent="0" algn="l">
              <a:buNone/>
            </a:pPr>
            <a:r>
              <a:rPr lang="en-US" dirty="0">
                <a:solidFill>
                  <a:srgbClr val="4B4A4A"/>
                </a:solidFill>
                <a:latin typeface="Geist" pitchFamily="34" charset="0"/>
                <a:ea typeface="Geist" pitchFamily="34" charset="-122"/>
                <a:cs typeface="Geist" pitchFamily="34" charset="-120"/>
              </a:rPr>
              <a:t>Vào </a:t>
            </a:r>
            <a:r>
              <a:rPr lang="en-US" b="1" dirty="0">
                <a:solidFill>
                  <a:srgbClr val="4B4A4A"/>
                </a:solidFill>
                <a:latin typeface="Geist" pitchFamily="34" charset="0"/>
                <a:ea typeface="Geist" pitchFamily="34" charset="-122"/>
                <a:cs typeface="Geist" pitchFamily="34" charset="-120"/>
              </a:rPr>
              <a:t>Tools → Board</a:t>
            </a:r>
            <a:r>
              <a:rPr lang="en-US" dirty="0">
                <a:solidFill>
                  <a:srgbClr val="4B4A4A"/>
                </a:solidFill>
                <a:latin typeface="Geist" pitchFamily="34" charset="0"/>
                <a:ea typeface="Geist" pitchFamily="34" charset="-122"/>
                <a:cs typeface="Geist" pitchFamily="34" charset="-120"/>
              </a:rPr>
              <a:t>, chọn mạch ESP32 của bạn (ESP32 Dev Module). Vào </a:t>
            </a:r>
            <a:r>
              <a:rPr lang="en-US" b="1" dirty="0">
                <a:solidFill>
                  <a:srgbClr val="4B4A4A"/>
                </a:solidFill>
                <a:latin typeface="Geist" pitchFamily="34" charset="0"/>
                <a:ea typeface="Geist" pitchFamily="34" charset="-122"/>
                <a:cs typeface="Geist" pitchFamily="34" charset="-120"/>
              </a:rPr>
              <a:t>Tools → Port</a:t>
            </a:r>
            <a:r>
              <a:rPr lang="en-US" dirty="0">
                <a:solidFill>
                  <a:srgbClr val="4B4A4A"/>
                </a:solidFill>
                <a:latin typeface="Geist" pitchFamily="34" charset="0"/>
                <a:ea typeface="Geist" pitchFamily="34" charset="-122"/>
                <a:cs typeface="Geist" pitchFamily="34" charset="-120"/>
              </a:rPr>
              <a:t>, chọn cổng COM mà ESP32 đang cắm vào.</a:t>
            </a:r>
            <a:endParaRPr lang="en-US" dirty="0"/>
          </a:p>
        </p:txBody>
      </p:sp>
      <p:sp>
        <p:nvSpPr>
          <p:cNvPr id="15" name="Text 13"/>
          <p:cNvSpPr/>
          <p:nvPr/>
        </p:nvSpPr>
        <p:spPr>
          <a:xfrm>
            <a:off x="7459741" y="3289916"/>
            <a:ext cx="600525" cy="210265"/>
          </a:xfrm>
          <a:prstGeom prst="rect">
            <a:avLst/>
          </a:prstGeom>
          <a:noFill/>
          <a:ln/>
        </p:spPr>
        <p:txBody>
          <a:bodyPr wrap="square" lIns="0" tIns="0" rIns="0" bIns="0" rtlCol="0" anchor="t"/>
          <a:lstStyle/>
          <a:p>
            <a:pPr marL="0" indent="0" algn="l">
              <a:lnSpc>
                <a:spcPts val="1800"/>
              </a:lnSpc>
              <a:buNone/>
            </a:pPr>
            <a:r>
              <a:rPr lang="en-US" dirty="0">
                <a:solidFill>
                  <a:srgbClr val="4B4A4A"/>
                </a:solidFill>
                <a:latin typeface="Noto Serif SC Light" pitchFamily="34" charset="0"/>
                <a:ea typeface="Noto Serif SC Light" pitchFamily="34" charset="-122"/>
                <a:cs typeface="Noto Serif SC Light" pitchFamily="34" charset="-120"/>
              </a:rPr>
              <a:t>04</a:t>
            </a:r>
            <a:endParaRPr lang="en-US" dirty="0"/>
          </a:p>
        </p:txBody>
      </p:sp>
      <p:sp>
        <p:nvSpPr>
          <p:cNvPr id="16" name="Shape 14"/>
          <p:cNvSpPr/>
          <p:nvPr/>
        </p:nvSpPr>
        <p:spPr>
          <a:xfrm>
            <a:off x="7459742" y="3520302"/>
            <a:ext cx="6664404" cy="15240"/>
          </a:xfrm>
          <a:prstGeom prst="rect">
            <a:avLst/>
          </a:prstGeom>
          <a:solidFill>
            <a:srgbClr val="006747"/>
          </a:solidFill>
          <a:ln/>
        </p:spPr>
        <p:txBody>
          <a:bodyPr wrap="square"/>
          <a:lstStyle/>
          <a:p>
            <a:endParaRPr lang="en-US"/>
          </a:p>
        </p:txBody>
      </p:sp>
      <p:sp>
        <p:nvSpPr>
          <p:cNvPr id="17" name="Text 15"/>
          <p:cNvSpPr/>
          <p:nvPr/>
        </p:nvSpPr>
        <p:spPr>
          <a:xfrm>
            <a:off x="7459742" y="3623053"/>
            <a:ext cx="1807964" cy="225981"/>
          </a:xfrm>
          <a:prstGeom prst="rect">
            <a:avLst/>
          </a:prstGeom>
          <a:noFill/>
          <a:ln/>
        </p:spPr>
        <p:txBody>
          <a:bodyPr wrap="square" lIns="0" tIns="0" rIns="0" bIns="0" rtlCol="0" anchor="t"/>
          <a:lstStyle/>
          <a:p>
            <a:pPr marL="0" indent="0" algn="l">
              <a:lnSpc>
                <a:spcPts val="1750"/>
              </a:lnSpc>
              <a:buNone/>
            </a:pPr>
            <a:r>
              <a:rPr lang="en-US" b="1" dirty="0">
                <a:solidFill>
                  <a:srgbClr val="4B4A4A"/>
                </a:solidFill>
                <a:latin typeface="Noto Serif SC Bold" pitchFamily="34" charset="0"/>
                <a:ea typeface="Noto Serif SC Bold" pitchFamily="34" charset="-122"/>
                <a:cs typeface="Noto Serif SC Bold" pitchFamily="34" charset="-120"/>
              </a:rPr>
              <a:t>Upload</a:t>
            </a:r>
            <a:endParaRPr lang="en-US" dirty="0"/>
          </a:p>
        </p:txBody>
      </p:sp>
      <p:sp>
        <p:nvSpPr>
          <p:cNvPr id="18" name="Text 16"/>
          <p:cNvSpPr/>
          <p:nvPr/>
        </p:nvSpPr>
        <p:spPr>
          <a:xfrm>
            <a:off x="7459742" y="4026023"/>
            <a:ext cx="6664404" cy="239078"/>
          </a:xfrm>
          <a:prstGeom prst="rect">
            <a:avLst/>
          </a:prstGeom>
          <a:noFill/>
          <a:ln/>
        </p:spPr>
        <p:txBody>
          <a:bodyPr wrap="square" lIns="0" tIns="0" rIns="0" bIns="0" rtlCol="0" anchor="t"/>
          <a:lstStyle/>
          <a:p>
            <a:pPr marL="0" indent="0" algn="l">
              <a:lnSpc>
                <a:spcPts val="1800"/>
              </a:lnSpc>
              <a:buNone/>
            </a:pPr>
            <a:r>
              <a:rPr lang="en-US" dirty="0">
                <a:solidFill>
                  <a:srgbClr val="4B4A4A"/>
                </a:solidFill>
                <a:latin typeface="Geist" pitchFamily="34" charset="0"/>
                <a:ea typeface="Geist" pitchFamily="34" charset="-122"/>
                <a:cs typeface="Geist" pitchFamily="34" charset="-120"/>
              </a:rPr>
              <a:t>Nhấn nút Upload (mũi tên qua phải) hoặc </a:t>
            </a:r>
            <a:r>
              <a:rPr lang="en-US" dirty="0">
                <a:solidFill>
                  <a:srgbClr val="4B4A4A"/>
                </a:solidFill>
                <a:highlight>
                  <a:srgbClr val="D8ECE5"/>
                </a:highlight>
                <a:latin typeface="Consolas" pitchFamily="34" charset="0"/>
                <a:ea typeface="Consolas" pitchFamily="34" charset="-122"/>
                <a:cs typeface="Consolas" pitchFamily="34" charset="-120"/>
              </a:rPr>
              <a:t>Ctrl+U</a:t>
            </a:r>
            <a:r>
              <a:rPr lang="en-US" dirty="0">
                <a:solidFill>
                  <a:srgbClr val="4B4A4A"/>
                </a:solidFill>
                <a:latin typeface="Geist" pitchFamily="34" charset="0"/>
                <a:ea typeface="Geist" pitchFamily="34" charset="-122"/>
                <a:cs typeface="Geist" pitchFamily="34" charset="-120"/>
              </a:rPr>
              <a:t>. Chờ code được biên dịch và nạp vào mạch.</a:t>
            </a:r>
            <a:endParaRPr lang="en-US" dirty="0"/>
          </a:p>
        </p:txBody>
      </p:sp>
      <p:sp>
        <p:nvSpPr>
          <p:cNvPr id="19" name="Shape 17"/>
          <p:cNvSpPr/>
          <p:nvPr/>
        </p:nvSpPr>
        <p:spPr>
          <a:xfrm>
            <a:off x="1187836" y="5933859"/>
            <a:ext cx="12110186" cy="1460659"/>
          </a:xfrm>
          <a:prstGeom prst="roundRect">
            <a:avLst>
              <a:gd name="adj" fmla="val 8912"/>
            </a:avLst>
          </a:prstGeom>
          <a:solidFill>
            <a:srgbClr val="B3FFE7"/>
          </a:solidFill>
          <a:ln/>
        </p:spPr>
        <p:txBody>
          <a:bodyPr wrap="square"/>
          <a:lstStyle/>
          <a:p>
            <a:endParaRPr lang="en-US"/>
          </a:p>
        </p:txBody>
      </p:sp>
      <p:pic>
        <p:nvPicPr>
          <p:cNvPr id="20" name="Image 0" descr="preencoded.png"/>
          <p:cNvPicPr>
            <a:picLocks noChangeAspect="1"/>
          </p:cNvPicPr>
          <p:nvPr/>
        </p:nvPicPr>
        <p:blipFill>
          <a:blip r:embed="rId3"/>
          <a:stretch>
            <a:fillRect/>
          </a:stretch>
        </p:blipFill>
        <p:spPr>
          <a:xfrm>
            <a:off x="1332378" y="6147933"/>
            <a:ext cx="180737" cy="144542"/>
          </a:xfrm>
          <a:prstGeom prst="rect">
            <a:avLst/>
          </a:prstGeom>
        </p:spPr>
      </p:pic>
      <p:sp>
        <p:nvSpPr>
          <p:cNvPr id="21" name="Text 18"/>
          <p:cNvSpPr/>
          <p:nvPr/>
        </p:nvSpPr>
        <p:spPr>
          <a:xfrm>
            <a:off x="1657656" y="6114477"/>
            <a:ext cx="5945862" cy="231458"/>
          </a:xfrm>
          <a:prstGeom prst="rect">
            <a:avLst/>
          </a:prstGeom>
          <a:noFill/>
          <a:ln/>
        </p:spPr>
        <p:txBody>
          <a:bodyPr wrap="square" lIns="0" tIns="0" rIns="0" bIns="0" rtlCol="0" anchor="t"/>
          <a:lstStyle/>
          <a:p>
            <a:pPr marL="0" indent="0" algn="l">
              <a:lnSpc>
                <a:spcPts val="1800"/>
              </a:lnSpc>
              <a:buNone/>
            </a:pPr>
            <a:r>
              <a:rPr lang="en-US" b="1" dirty="0">
                <a:solidFill>
                  <a:srgbClr val="000000"/>
                </a:solidFill>
                <a:latin typeface="Geist" pitchFamily="34" charset="0"/>
                <a:ea typeface="Geist" pitchFamily="34" charset="-122"/>
                <a:cs typeface="Geist" pitchFamily="34" charset="-120"/>
              </a:rPr>
              <a:t>Lỗi thường gặp khi Upload:</a:t>
            </a:r>
            <a:endParaRPr lang="en-US" dirty="0"/>
          </a:p>
        </p:txBody>
      </p:sp>
      <p:sp>
        <p:nvSpPr>
          <p:cNvPr id="22" name="Text 19"/>
          <p:cNvSpPr/>
          <p:nvPr/>
        </p:nvSpPr>
        <p:spPr>
          <a:xfrm>
            <a:off x="1657655" y="6432492"/>
            <a:ext cx="9518055" cy="275035"/>
          </a:xfrm>
          <a:prstGeom prst="rect">
            <a:avLst/>
          </a:prstGeom>
          <a:noFill/>
          <a:ln/>
        </p:spPr>
        <p:txBody>
          <a:bodyPr wrap="square" lIns="0" tIns="0" rIns="0" bIns="0" rtlCol="0" anchor="t"/>
          <a:lstStyle/>
          <a:p>
            <a:pPr marL="342900" indent="-342900" algn="l">
              <a:lnSpc>
                <a:spcPts val="1800"/>
              </a:lnSpc>
              <a:buSzPct val="100000"/>
              <a:buChar char="•"/>
            </a:pPr>
            <a:r>
              <a:rPr lang="en-US" b="1" dirty="0">
                <a:solidFill>
                  <a:srgbClr val="000000"/>
                </a:solidFill>
                <a:latin typeface="Geist" pitchFamily="34" charset="0"/>
                <a:ea typeface="Geist" pitchFamily="34" charset="-122"/>
                <a:cs typeface="Geist" pitchFamily="34" charset="-120"/>
              </a:rPr>
              <a:t>Không nhận diện Port:</a:t>
            </a:r>
            <a:r>
              <a:rPr lang="en-US" dirty="0">
                <a:solidFill>
                  <a:srgbClr val="000000"/>
                </a:solidFill>
                <a:latin typeface="Geist" pitchFamily="34" charset="0"/>
                <a:ea typeface="Geist" pitchFamily="34" charset="-122"/>
                <a:cs typeface="Geist" pitchFamily="34" charset="-120"/>
              </a:rPr>
              <a:t> Cài driver CH340/CP2102</a:t>
            </a:r>
            <a:endParaRPr lang="en-US" dirty="0"/>
          </a:p>
        </p:txBody>
      </p:sp>
      <p:sp>
        <p:nvSpPr>
          <p:cNvPr id="23" name="Text 20"/>
          <p:cNvSpPr/>
          <p:nvPr/>
        </p:nvSpPr>
        <p:spPr>
          <a:xfrm>
            <a:off x="1657655" y="6714552"/>
            <a:ext cx="9518055" cy="275035"/>
          </a:xfrm>
          <a:prstGeom prst="rect">
            <a:avLst/>
          </a:prstGeom>
          <a:noFill/>
          <a:ln/>
        </p:spPr>
        <p:txBody>
          <a:bodyPr wrap="square" lIns="0" tIns="0" rIns="0" bIns="0" rtlCol="0" anchor="t"/>
          <a:lstStyle/>
          <a:p>
            <a:pPr marL="342900" indent="-342900" algn="l">
              <a:lnSpc>
                <a:spcPts val="1800"/>
              </a:lnSpc>
              <a:buSzPct val="100000"/>
              <a:buChar char="•"/>
            </a:pPr>
            <a:r>
              <a:rPr lang="en-US" b="1" dirty="0">
                <a:solidFill>
                  <a:srgbClr val="000000"/>
                </a:solidFill>
                <a:latin typeface="Geist" pitchFamily="34" charset="0"/>
                <a:ea typeface="Geist" pitchFamily="34" charset="-122"/>
                <a:cs typeface="Geist" pitchFamily="34" charset="-120"/>
              </a:rPr>
              <a:t>"Connecting..." mãi:</a:t>
            </a:r>
            <a:r>
              <a:rPr lang="en-US" dirty="0">
                <a:solidFill>
                  <a:srgbClr val="000000"/>
                </a:solidFill>
                <a:latin typeface="Geist" pitchFamily="34" charset="0"/>
                <a:ea typeface="Geist" pitchFamily="34" charset="-122"/>
                <a:cs typeface="Geist" pitchFamily="34" charset="-120"/>
              </a:rPr>
              <a:t> Giữ nút BOOT trên mạch khi bắt đầu upload</a:t>
            </a:r>
            <a:endParaRPr lang="en-US" dirty="0"/>
          </a:p>
        </p:txBody>
      </p:sp>
      <p:sp>
        <p:nvSpPr>
          <p:cNvPr id="24" name="Text 21"/>
          <p:cNvSpPr/>
          <p:nvPr/>
        </p:nvSpPr>
        <p:spPr>
          <a:xfrm>
            <a:off x="1657655" y="6996611"/>
            <a:ext cx="9518055" cy="275035"/>
          </a:xfrm>
          <a:prstGeom prst="rect">
            <a:avLst/>
          </a:prstGeom>
          <a:noFill/>
          <a:ln/>
        </p:spPr>
        <p:txBody>
          <a:bodyPr wrap="square" lIns="0" tIns="0" rIns="0" bIns="0" rtlCol="0" anchor="t"/>
          <a:lstStyle/>
          <a:p>
            <a:pPr marL="342900" indent="-342900" algn="l">
              <a:lnSpc>
                <a:spcPts val="1800"/>
              </a:lnSpc>
              <a:buSzPct val="100000"/>
              <a:buChar char="•"/>
            </a:pPr>
            <a:r>
              <a:rPr lang="en-US" b="1" dirty="0">
                <a:solidFill>
                  <a:srgbClr val="000000"/>
                </a:solidFill>
                <a:latin typeface="Geist" pitchFamily="34" charset="0"/>
                <a:ea typeface="Geist" pitchFamily="34" charset="-122"/>
                <a:cs typeface="Geist" pitchFamily="34" charset="-120"/>
              </a:rPr>
              <a:t>Lỗi biên dịch:</a:t>
            </a:r>
            <a:r>
              <a:rPr lang="en-US" dirty="0">
                <a:solidFill>
                  <a:srgbClr val="000000"/>
                </a:solidFill>
                <a:latin typeface="Geist" pitchFamily="34" charset="0"/>
                <a:ea typeface="Geist" pitchFamily="34" charset="-122"/>
                <a:cs typeface="Geist" pitchFamily="34" charset="-120"/>
              </a:rPr>
              <a:t> Kiểm tra đã cài ESP32 Board Manager chưa</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793790" y="1412200"/>
            <a:ext cx="10915531"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Bước 2: Mở Serial Monitor và xem địa chỉ IP</a:t>
            </a:r>
            <a:endParaRPr lang="en-US" sz="3900" dirty="0"/>
          </a:p>
        </p:txBody>
      </p:sp>
      <p:sp>
        <p:nvSpPr>
          <p:cNvPr id="3" name="Text 1"/>
          <p:cNvSpPr/>
          <p:nvPr/>
        </p:nvSpPr>
        <p:spPr>
          <a:xfrm>
            <a:off x="793790" y="2528292"/>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Mở Serial Monitor</a:t>
            </a:r>
            <a:endParaRPr lang="en-US" dirty="0"/>
          </a:p>
        </p:txBody>
      </p:sp>
      <p:sp>
        <p:nvSpPr>
          <p:cNvPr id="4" name="Text 2"/>
          <p:cNvSpPr/>
          <p:nvPr/>
        </p:nvSpPr>
        <p:spPr>
          <a:xfrm>
            <a:off x="793790" y="3036808"/>
            <a:ext cx="6279356" cy="64269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Ngay sau khi nạp code xong, nhấn vào biểu tượng </a:t>
            </a:r>
            <a:r>
              <a:rPr lang="en-US" b="1" dirty="0">
                <a:solidFill>
                  <a:srgbClr val="4B4A4A"/>
                </a:solidFill>
                <a:latin typeface="Geist" pitchFamily="34" charset="0"/>
                <a:ea typeface="Geist" pitchFamily="34" charset="-122"/>
                <a:cs typeface="Geist" pitchFamily="34" charset="-120"/>
              </a:rPr>
              <a:t>kính lúp</a:t>
            </a:r>
            <a:r>
              <a:rPr lang="en-US" dirty="0">
                <a:solidFill>
                  <a:srgbClr val="4B4A4A"/>
                </a:solidFill>
                <a:latin typeface="Geist" pitchFamily="34" charset="0"/>
                <a:ea typeface="Geist" pitchFamily="34" charset="-122"/>
                <a:cs typeface="Geist" pitchFamily="34" charset="-120"/>
              </a:rPr>
              <a:t> ở góc trên bên phải IDE (hoặc </a:t>
            </a:r>
            <a:r>
              <a:rPr lang="en-US" dirty="0">
                <a:solidFill>
                  <a:srgbClr val="4B4A4A"/>
                </a:solidFill>
                <a:highlight>
                  <a:srgbClr val="D8ECE5"/>
                </a:highlight>
                <a:latin typeface="Consolas" pitchFamily="34" charset="0"/>
                <a:ea typeface="Consolas" pitchFamily="34" charset="-122"/>
                <a:cs typeface="Consolas" pitchFamily="34" charset="-120"/>
              </a:rPr>
              <a:t>Ctrl+Shift+M</a:t>
            </a:r>
            <a:r>
              <a:rPr lang="en-US" dirty="0">
                <a:solidFill>
                  <a:srgbClr val="4B4A4A"/>
                </a:solidFill>
                <a:latin typeface="Geist" pitchFamily="34" charset="0"/>
                <a:ea typeface="Geist" pitchFamily="34" charset="-122"/>
                <a:cs typeface="Geist" pitchFamily="34" charset="-120"/>
              </a:rPr>
              <a:t>) để mở Serial Monitor.</a:t>
            </a:r>
            <a:endParaRPr lang="en-US" dirty="0"/>
          </a:p>
        </p:txBody>
      </p:sp>
      <p:sp>
        <p:nvSpPr>
          <p:cNvPr id="5" name="Text 3"/>
          <p:cNvSpPr/>
          <p:nvPr/>
        </p:nvSpPr>
        <p:spPr>
          <a:xfrm>
            <a:off x="793790" y="4261692"/>
            <a:ext cx="2925008"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Chọn đúng tốc độ Baud</a:t>
            </a:r>
            <a:endParaRPr lang="en-US" dirty="0"/>
          </a:p>
        </p:txBody>
      </p:sp>
      <p:sp>
        <p:nvSpPr>
          <p:cNvPr id="6" name="Text 4"/>
          <p:cNvSpPr/>
          <p:nvPr/>
        </p:nvSpPr>
        <p:spPr>
          <a:xfrm>
            <a:off x="793790" y="4770208"/>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Ở góc dưới bên phải của Serial Monitor, chọn tốc độ </a:t>
            </a:r>
            <a:r>
              <a:rPr lang="en-US" b="1" dirty="0">
                <a:solidFill>
                  <a:srgbClr val="4B4A4A"/>
                </a:solidFill>
                <a:latin typeface="Geist" pitchFamily="34" charset="0"/>
                <a:ea typeface="Geist" pitchFamily="34" charset="-122"/>
                <a:cs typeface="Geist" pitchFamily="34" charset="-120"/>
              </a:rPr>
              <a:t>115200 baud</a:t>
            </a:r>
            <a:r>
              <a:rPr lang="en-US" dirty="0">
                <a:solidFill>
                  <a:srgbClr val="4B4A4A"/>
                </a:solidFill>
                <a:latin typeface="Geist" pitchFamily="34" charset="0"/>
                <a:ea typeface="Geist" pitchFamily="34" charset="-122"/>
                <a:cs typeface="Geist" pitchFamily="34" charset="-120"/>
              </a:rPr>
              <a:t>. Nếu chọn sai, bạn sẽ thấy ký tự lạ thay vì chữ rõ ràng.</a:t>
            </a:r>
            <a:endParaRPr lang="en-US" dirty="0"/>
          </a:p>
        </p:txBody>
      </p:sp>
      <p:sp>
        <p:nvSpPr>
          <p:cNvPr id="7" name="Text 5"/>
          <p:cNvSpPr/>
          <p:nvPr/>
        </p:nvSpPr>
        <p:spPr>
          <a:xfrm>
            <a:off x="7564874" y="2528292"/>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Nhấn nút RST</a:t>
            </a:r>
            <a:endParaRPr lang="en-US" dirty="0"/>
          </a:p>
        </p:txBody>
      </p:sp>
      <p:sp>
        <p:nvSpPr>
          <p:cNvPr id="8" name="Text 6"/>
          <p:cNvSpPr/>
          <p:nvPr/>
        </p:nvSpPr>
        <p:spPr>
          <a:xfrm>
            <a:off x="7564874" y="3036808"/>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Nhấn nút </a:t>
            </a:r>
            <a:r>
              <a:rPr lang="en-US" b="1" dirty="0">
                <a:solidFill>
                  <a:srgbClr val="4B4A4A"/>
                </a:solidFill>
                <a:latin typeface="Geist" pitchFamily="34" charset="0"/>
                <a:ea typeface="Geist" pitchFamily="34" charset="-122"/>
                <a:cs typeface="Geist" pitchFamily="34" charset="-120"/>
              </a:rPr>
              <a:t>RST</a:t>
            </a:r>
            <a:r>
              <a:rPr lang="en-US" dirty="0">
                <a:solidFill>
                  <a:srgbClr val="4B4A4A"/>
                </a:solidFill>
                <a:latin typeface="Geist" pitchFamily="34" charset="0"/>
                <a:ea typeface="Geist" pitchFamily="34" charset="-122"/>
                <a:cs typeface="Geist" pitchFamily="34" charset="-120"/>
              </a:rPr>
              <a:t> (hoặc EN) trên mạch ESP32 để khởi động lại. Bạn sẽ thấy các dòng log xuất hiện:</a:t>
            </a:r>
            <a:endParaRPr lang="en-US" dirty="0"/>
          </a:p>
        </p:txBody>
      </p:sp>
      <p:sp>
        <p:nvSpPr>
          <p:cNvPr id="9" name="Shape 7"/>
          <p:cNvSpPr/>
          <p:nvPr/>
        </p:nvSpPr>
        <p:spPr>
          <a:xfrm>
            <a:off x="7564874" y="3895130"/>
            <a:ext cx="6279356" cy="1885355"/>
          </a:xfrm>
          <a:prstGeom prst="roundRect">
            <a:avLst>
              <a:gd name="adj" fmla="val 9474"/>
            </a:avLst>
          </a:prstGeom>
          <a:solidFill>
            <a:srgbClr val="D8ECE5"/>
          </a:solidFill>
          <a:ln/>
        </p:spPr>
      </p:sp>
      <p:sp>
        <p:nvSpPr>
          <p:cNvPr id="10" name="Shape 8"/>
          <p:cNvSpPr/>
          <p:nvPr/>
        </p:nvSpPr>
        <p:spPr>
          <a:xfrm>
            <a:off x="7554992" y="3895130"/>
            <a:ext cx="6299121" cy="1885355"/>
          </a:xfrm>
          <a:prstGeom prst="roundRect">
            <a:avLst>
              <a:gd name="adj" fmla="val 1579"/>
            </a:avLst>
          </a:prstGeom>
          <a:solidFill>
            <a:srgbClr val="D8ECE5"/>
          </a:solidFill>
          <a:ln/>
        </p:spPr>
      </p:sp>
      <p:sp>
        <p:nvSpPr>
          <p:cNvPr id="11" name="Text 9"/>
          <p:cNvSpPr/>
          <p:nvPr/>
        </p:nvSpPr>
        <p:spPr>
          <a:xfrm>
            <a:off x="7753350" y="4043958"/>
            <a:ext cx="5902404" cy="1587698"/>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Dang ket noi WiFi: GiaDinh_2.4G</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WiFi da ket noi!</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Dia chi IP cua ESP32 la: 192.168.1.105</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HTTP Server da khoi dong!</a:t>
            </a:r>
            <a:endParaRPr lang="en-US" dirty="0"/>
          </a:p>
        </p:txBody>
      </p:sp>
      <p:sp>
        <p:nvSpPr>
          <p:cNvPr id="12" name="Text 10"/>
          <p:cNvSpPr/>
          <p:nvPr/>
        </p:nvSpPr>
        <p:spPr>
          <a:xfrm>
            <a:off x="7564874" y="6003727"/>
            <a:ext cx="6279356" cy="635079"/>
          </a:xfrm>
          <a:prstGeom prst="rect">
            <a:avLst/>
          </a:prstGeom>
          <a:noFill/>
          <a:ln/>
        </p:spPr>
        <p:txBody>
          <a:bodyPr wrap="squar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Ghi chú lại địa chỉ IP!</a:t>
            </a:r>
            <a:r>
              <a:rPr lang="en-US" dirty="0">
                <a:solidFill>
                  <a:srgbClr val="4B4A4A"/>
                </a:solidFill>
                <a:latin typeface="Geist" pitchFamily="34" charset="0"/>
                <a:ea typeface="Geist" pitchFamily="34" charset="-122"/>
                <a:cs typeface="Geist" pitchFamily="34" charset="-120"/>
              </a:rPr>
              <a:t> " để truy cập Web Server.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1" grpId="0" animBg="1"/>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0"/>
          <p:cNvSpPr/>
          <p:nvPr/>
        </p:nvSpPr>
        <p:spPr>
          <a:xfrm>
            <a:off x="1019077" y="487164"/>
            <a:ext cx="12685633" cy="1133713"/>
          </a:xfrm>
          <a:prstGeom prst="rect">
            <a:avLst/>
          </a:prstGeom>
          <a:noFill/>
          <a:ln/>
        </p:spPr>
        <p:txBody>
          <a:bodyPr wrap="square" lIns="0" tIns="0" rIns="0" bIns="0" rtlCol="0" anchor="t"/>
          <a:lstStyle/>
          <a:p>
            <a:pPr marL="0" indent="0" algn="l">
              <a:lnSpc>
                <a:spcPts val="4450"/>
              </a:lnSpc>
              <a:buNone/>
            </a:pPr>
            <a:r>
              <a:rPr lang="en-US" sz="3550" b="1" dirty="0">
                <a:solidFill>
                  <a:srgbClr val="006747"/>
                </a:solidFill>
                <a:latin typeface="Noto Serif SC Bold" pitchFamily="34" charset="0"/>
                <a:ea typeface="Noto Serif SC Bold" pitchFamily="34" charset="-122"/>
                <a:cs typeface="Noto Serif SC Bold" pitchFamily="34" charset="-120"/>
              </a:rPr>
              <a:t>Bước 3: Truy cập Web Server từ điện thoại</a:t>
            </a:r>
            <a:endParaRPr lang="en-US" sz="3550" dirty="0"/>
          </a:p>
        </p:txBody>
      </p:sp>
      <p:sp>
        <p:nvSpPr>
          <p:cNvPr id="5" name="Text 1"/>
          <p:cNvSpPr/>
          <p:nvPr/>
        </p:nvSpPr>
        <p:spPr>
          <a:xfrm>
            <a:off x="1744526" y="2074267"/>
            <a:ext cx="4865392" cy="283369"/>
          </a:xfrm>
          <a:prstGeom prst="rect">
            <a:avLst/>
          </a:prstGeom>
          <a:noFill/>
          <a:ln/>
        </p:spPr>
        <p:txBody>
          <a:bodyPr wrap="none" lIns="0" tIns="0" rIns="0" bIns="0" rtlCol="0" anchor="t"/>
          <a:lstStyle/>
          <a:p>
            <a:pPr marL="0" indent="0" algn="l">
              <a:lnSpc>
                <a:spcPts val="2200"/>
              </a:lnSpc>
              <a:buNone/>
            </a:pPr>
            <a:r>
              <a:rPr lang="en-US" sz="1750" b="1" dirty="0">
                <a:solidFill>
                  <a:srgbClr val="4B4A4A"/>
                </a:solidFill>
                <a:latin typeface="Noto Serif SC Bold" pitchFamily="34" charset="0"/>
                <a:ea typeface="Noto Serif SC Bold" pitchFamily="34" charset="-122"/>
                <a:cs typeface="Noto Serif SC Bold" pitchFamily="34" charset="-120"/>
              </a:rPr>
              <a:t>Đảm bảo cùng mạng WiFi</a:t>
            </a:r>
            <a:endParaRPr lang="en-US" sz="1750" dirty="0"/>
          </a:p>
        </p:txBody>
      </p:sp>
      <p:sp>
        <p:nvSpPr>
          <p:cNvPr id="6" name="Text 2"/>
          <p:cNvSpPr/>
          <p:nvPr/>
        </p:nvSpPr>
        <p:spPr>
          <a:xfrm>
            <a:off x="1744526" y="2466459"/>
            <a:ext cx="11489360" cy="580549"/>
          </a:xfrm>
          <a:prstGeom prst="rect">
            <a:avLst/>
          </a:prstGeom>
          <a:noFill/>
          <a:ln/>
        </p:spPr>
        <p:txBody>
          <a:bodyPr wrap="square" lIns="0" tIns="0" rIns="0" bIns="0" rtlCol="0" anchor="t"/>
          <a:lstStyle/>
          <a:p>
            <a:pPr marL="0" indent="0" algn="l">
              <a:lnSpc>
                <a:spcPts val="2250"/>
              </a:lnSpc>
              <a:buNone/>
            </a:pPr>
            <a:r>
              <a:rPr lang="en-US" dirty="0">
                <a:solidFill>
                  <a:srgbClr val="4B4A4A"/>
                </a:solidFill>
                <a:latin typeface="Geist" pitchFamily="34" charset="0"/>
                <a:ea typeface="Geist" pitchFamily="34" charset="-122"/>
                <a:cs typeface="Geist" pitchFamily="34" charset="-120"/>
              </a:rPr>
              <a:t>Điện thoại của bạn </a:t>
            </a:r>
            <a:r>
              <a:rPr lang="en-US" b="1" dirty="0">
                <a:solidFill>
                  <a:srgbClr val="4B4A4A"/>
                </a:solidFill>
                <a:latin typeface="Geist" pitchFamily="34" charset="0"/>
                <a:ea typeface="Geist" pitchFamily="34" charset="-122"/>
                <a:cs typeface="Geist" pitchFamily="34" charset="-120"/>
              </a:rPr>
              <a:t>phải kết nối vào cùng WiFi</a:t>
            </a:r>
            <a:r>
              <a:rPr lang="en-US" dirty="0">
                <a:solidFill>
                  <a:srgbClr val="4B4A4A"/>
                </a:solidFill>
                <a:latin typeface="Geist" pitchFamily="34" charset="0"/>
                <a:ea typeface="Geist" pitchFamily="34" charset="-122"/>
                <a:cs typeface="Geist" pitchFamily="34" charset="-120"/>
              </a:rPr>
              <a:t> với ESP32 (ví dụ: "GiaDinh_2.4G"). Nếu không cùng mạng, điện thoại sẽ không "thấy" được ESP32.</a:t>
            </a:r>
            <a:endParaRPr lang="en-US" dirty="0"/>
          </a:p>
        </p:txBody>
      </p:sp>
      <p:pic>
        <p:nvPicPr>
          <p:cNvPr id="7" name="Image 2" descr="preencoded.png"/>
          <p:cNvPicPr>
            <a:picLocks noChangeAspect="1"/>
          </p:cNvPicPr>
          <p:nvPr/>
        </p:nvPicPr>
        <p:blipFill>
          <a:blip r:embed="rId3"/>
          <a:stretch>
            <a:fillRect/>
          </a:stretch>
        </p:blipFill>
        <p:spPr>
          <a:xfrm>
            <a:off x="1291137" y="3409672"/>
            <a:ext cx="387658" cy="1133713"/>
          </a:xfrm>
          <a:prstGeom prst="rect">
            <a:avLst/>
          </a:prstGeom>
        </p:spPr>
      </p:pic>
      <p:sp>
        <p:nvSpPr>
          <p:cNvPr id="8" name="Text 3"/>
          <p:cNvSpPr/>
          <p:nvPr/>
        </p:nvSpPr>
        <p:spPr>
          <a:xfrm>
            <a:off x="2016584" y="3591004"/>
            <a:ext cx="3744708" cy="283369"/>
          </a:xfrm>
          <a:prstGeom prst="rect">
            <a:avLst/>
          </a:prstGeom>
          <a:noFill/>
          <a:ln/>
        </p:spPr>
        <p:txBody>
          <a:bodyPr wrap="none" lIns="0" tIns="0" rIns="0" bIns="0" rtlCol="0" anchor="t"/>
          <a:lstStyle/>
          <a:p>
            <a:pPr marL="0" indent="0" algn="l">
              <a:lnSpc>
                <a:spcPts val="2200"/>
              </a:lnSpc>
              <a:buNone/>
            </a:pPr>
            <a:r>
              <a:rPr lang="en-US" sz="1750" b="1" dirty="0">
                <a:solidFill>
                  <a:srgbClr val="4B4A4A"/>
                </a:solidFill>
                <a:latin typeface="Noto Serif SC Bold" pitchFamily="34" charset="0"/>
                <a:ea typeface="Noto Serif SC Bold" pitchFamily="34" charset="-122"/>
                <a:cs typeface="Noto Serif SC Bold" pitchFamily="34" charset="-120"/>
              </a:rPr>
              <a:t>Mở trình duyệt Web</a:t>
            </a:r>
            <a:endParaRPr lang="en-US" sz="1750" dirty="0"/>
          </a:p>
        </p:txBody>
      </p:sp>
      <p:sp>
        <p:nvSpPr>
          <p:cNvPr id="9" name="Text 4"/>
          <p:cNvSpPr/>
          <p:nvPr/>
        </p:nvSpPr>
        <p:spPr>
          <a:xfrm>
            <a:off x="2016584" y="3983196"/>
            <a:ext cx="11040735" cy="290274"/>
          </a:xfrm>
          <a:prstGeom prst="rect">
            <a:avLst/>
          </a:prstGeom>
          <a:noFill/>
          <a:ln/>
        </p:spPr>
        <p:txBody>
          <a:bodyPr wrap="none" lIns="0" tIns="0" rIns="0" bIns="0" rtlCol="0" anchor="t"/>
          <a:lstStyle/>
          <a:p>
            <a:pPr marL="0" indent="0" algn="l">
              <a:lnSpc>
                <a:spcPts val="2250"/>
              </a:lnSpc>
              <a:buNone/>
            </a:pPr>
            <a:r>
              <a:rPr lang="en-US" dirty="0">
                <a:solidFill>
                  <a:srgbClr val="4B4A4A"/>
                </a:solidFill>
                <a:latin typeface="Geist" pitchFamily="34" charset="0"/>
                <a:ea typeface="Geist" pitchFamily="34" charset="-122"/>
                <a:cs typeface="Geist" pitchFamily="34" charset="-120"/>
              </a:rPr>
              <a:t>Mở Chrome, Safari, hoặc bất kỳ trình duyệt nào trên điện thoại.</a:t>
            </a:r>
            <a:endParaRPr lang="en-US" dirty="0"/>
          </a:p>
        </p:txBody>
      </p:sp>
      <p:sp>
        <p:nvSpPr>
          <p:cNvPr id="11" name="Text 5"/>
          <p:cNvSpPr/>
          <p:nvPr/>
        </p:nvSpPr>
        <p:spPr>
          <a:xfrm>
            <a:off x="2288641" y="4860687"/>
            <a:ext cx="3739014" cy="283369"/>
          </a:xfrm>
          <a:prstGeom prst="rect">
            <a:avLst/>
          </a:prstGeom>
          <a:noFill/>
          <a:ln/>
        </p:spPr>
        <p:txBody>
          <a:bodyPr wrap="none" lIns="0" tIns="0" rIns="0" bIns="0" rtlCol="0" anchor="t"/>
          <a:lstStyle/>
          <a:p>
            <a:pPr marL="0" indent="0" algn="l">
              <a:lnSpc>
                <a:spcPts val="2200"/>
              </a:lnSpc>
              <a:buNone/>
            </a:pPr>
            <a:r>
              <a:rPr lang="en-US" sz="1750" b="1" dirty="0">
                <a:solidFill>
                  <a:srgbClr val="4B4A4A"/>
                </a:solidFill>
                <a:latin typeface="Noto Serif SC Bold" pitchFamily="34" charset="0"/>
                <a:ea typeface="Noto Serif SC Bold" pitchFamily="34" charset="-122"/>
                <a:cs typeface="Noto Serif SC Bold" pitchFamily="34" charset="-120"/>
              </a:rPr>
              <a:t>Gõ địa chỉ IP</a:t>
            </a:r>
            <a:endParaRPr lang="en-US" sz="1750" dirty="0"/>
          </a:p>
        </p:txBody>
      </p:sp>
      <p:sp>
        <p:nvSpPr>
          <p:cNvPr id="12" name="Text 6"/>
          <p:cNvSpPr/>
          <p:nvPr/>
        </p:nvSpPr>
        <p:spPr>
          <a:xfrm>
            <a:off x="2288641" y="5252879"/>
            <a:ext cx="10592108" cy="588169"/>
          </a:xfrm>
          <a:prstGeom prst="rect">
            <a:avLst/>
          </a:prstGeom>
          <a:noFill/>
          <a:ln/>
        </p:spPr>
        <p:txBody>
          <a:bodyPr wrap="square" lIns="0" tIns="0" rIns="0" bIns="0" rtlCol="0" anchor="t"/>
          <a:lstStyle/>
          <a:p>
            <a:pPr marL="0" indent="0" algn="l">
              <a:lnSpc>
                <a:spcPts val="2250"/>
              </a:lnSpc>
              <a:buNone/>
            </a:pPr>
            <a:r>
              <a:rPr lang="en-US" dirty="0">
                <a:solidFill>
                  <a:srgbClr val="4B4A4A"/>
                </a:solidFill>
                <a:latin typeface="Geist" pitchFamily="34" charset="0"/>
                <a:ea typeface="Geist" pitchFamily="34" charset="-122"/>
                <a:cs typeface="Geist" pitchFamily="34" charset="-120"/>
              </a:rPr>
              <a:t>Vào thanh địa chỉ (URL bar) ở trên cùng, gõ địa chỉ IP bạn vừa xem ở Serial Monitor. Ví dụ: </a:t>
            </a:r>
            <a:r>
              <a:rPr lang="en-US" dirty="0">
                <a:solidFill>
                  <a:srgbClr val="4B4A4A"/>
                </a:solidFill>
                <a:highlight>
                  <a:srgbClr val="D8ECE5"/>
                </a:highlight>
                <a:latin typeface="Consolas" pitchFamily="34" charset="0"/>
                <a:ea typeface="Consolas" pitchFamily="34" charset="-122"/>
                <a:cs typeface="Consolas" pitchFamily="34" charset="-120"/>
              </a:rPr>
              <a:t>http://192.168.1.105</a:t>
            </a:r>
            <a:r>
              <a:rPr lang="en-US" dirty="0">
                <a:solidFill>
                  <a:srgbClr val="4B4A4A"/>
                </a:solidFill>
                <a:latin typeface="Geist" pitchFamily="34" charset="0"/>
                <a:ea typeface="Geist" pitchFamily="34" charset="-122"/>
                <a:cs typeface="Geist" pitchFamily="34" charset="-120"/>
              </a:rPr>
              <a:t> hoặc đơn giản </a:t>
            </a:r>
            <a:r>
              <a:rPr lang="en-US" dirty="0">
                <a:solidFill>
                  <a:srgbClr val="4B4A4A"/>
                </a:solidFill>
                <a:highlight>
                  <a:srgbClr val="D8ECE5"/>
                </a:highlight>
                <a:latin typeface="Consolas" pitchFamily="34" charset="0"/>
                <a:ea typeface="Consolas" pitchFamily="34" charset="-122"/>
                <a:cs typeface="Consolas" pitchFamily="34" charset="-120"/>
              </a:rPr>
              <a:t>192.168.1.105</a:t>
            </a:r>
            <a:endParaRPr lang="en-US" dirty="0"/>
          </a:p>
        </p:txBody>
      </p:sp>
      <p:sp>
        <p:nvSpPr>
          <p:cNvPr id="14" name="Text 7"/>
          <p:cNvSpPr/>
          <p:nvPr/>
        </p:nvSpPr>
        <p:spPr>
          <a:xfrm>
            <a:off x="2560818" y="6385044"/>
            <a:ext cx="5641114" cy="283369"/>
          </a:xfrm>
          <a:prstGeom prst="rect">
            <a:avLst/>
          </a:prstGeom>
          <a:noFill/>
          <a:ln/>
        </p:spPr>
        <p:txBody>
          <a:bodyPr wrap="none" lIns="0" tIns="0" rIns="0" bIns="0" rtlCol="0" anchor="t"/>
          <a:lstStyle/>
          <a:p>
            <a:pPr marL="0" indent="0" algn="l">
              <a:lnSpc>
                <a:spcPts val="2200"/>
              </a:lnSpc>
              <a:buNone/>
            </a:pPr>
            <a:r>
              <a:rPr lang="en-US" sz="1750" b="1" dirty="0">
                <a:solidFill>
                  <a:srgbClr val="4B4A4A"/>
                </a:solidFill>
                <a:latin typeface="Noto Serif SC Bold" pitchFamily="34" charset="0"/>
                <a:ea typeface="Noto Serif SC Bold" pitchFamily="34" charset="-122"/>
                <a:cs typeface="Noto Serif SC Bold" pitchFamily="34" charset="-120"/>
              </a:rPr>
              <a:t>Nhấn Enter và chiêm ngưỡng!</a:t>
            </a:r>
            <a:endParaRPr lang="en-US" sz="1750" dirty="0"/>
          </a:p>
        </p:txBody>
      </p:sp>
      <p:sp>
        <p:nvSpPr>
          <p:cNvPr id="15" name="Text 8"/>
          <p:cNvSpPr/>
          <p:nvPr/>
        </p:nvSpPr>
        <p:spPr>
          <a:xfrm>
            <a:off x="2560818" y="6777236"/>
            <a:ext cx="10143284" cy="580549"/>
          </a:xfrm>
          <a:prstGeom prst="rect">
            <a:avLst/>
          </a:prstGeom>
          <a:noFill/>
          <a:ln/>
        </p:spPr>
        <p:txBody>
          <a:bodyPr wrap="square" lIns="0" tIns="0" rIns="0" bIns="0" rtlCol="0" anchor="t"/>
          <a:lstStyle/>
          <a:p>
            <a:pPr marL="0" indent="0" algn="l">
              <a:lnSpc>
                <a:spcPts val="2250"/>
              </a:lnSpc>
              <a:buNone/>
            </a:pPr>
            <a:r>
              <a:rPr lang="en-US" dirty="0">
                <a:solidFill>
                  <a:srgbClr val="4B4A4A"/>
                </a:solidFill>
                <a:latin typeface="Geist" pitchFamily="34" charset="0"/>
                <a:ea typeface="Geist" pitchFamily="34" charset="-122"/>
                <a:cs typeface="Geist" pitchFamily="34" charset="-120"/>
              </a:rPr>
              <a:t>Một trang web với tiêu đề </a:t>
            </a:r>
            <a:r>
              <a:rPr lang="en-US" b="1" dirty="0">
                <a:solidFill>
                  <a:srgbClr val="4B4A4A"/>
                </a:solidFill>
                <a:latin typeface="Geist" pitchFamily="34" charset="0"/>
                <a:ea typeface="Geist" pitchFamily="34" charset="-122"/>
                <a:cs typeface="Geist" pitchFamily="34" charset="-120"/>
              </a:rPr>
              <a:t>"ESP32 WEB CONTROL"</a:t>
            </a:r>
            <a:r>
              <a:rPr lang="en-US" dirty="0">
                <a:solidFill>
                  <a:srgbClr val="4B4A4A"/>
                </a:solidFill>
                <a:latin typeface="Geist" pitchFamily="34" charset="0"/>
                <a:ea typeface="Geist" pitchFamily="34" charset="-122"/>
                <a:cs typeface="Geist" pitchFamily="34" charset="-120"/>
              </a:rPr>
              <a:t> và hai nút [BẬT ĐÈN] [TẮT ĐÈN] sẽ hiện ra. Chúc mừng, bạn đã thành công!</a:t>
            </a:r>
            <a:endParaRPr lang="en-US" dirty="0"/>
          </a:p>
        </p:txBody>
      </p:sp>
      <p:pic>
        <p:nvPicPr>
          <p:cNvPr id="16" name="Image 2" descr="preencoded.png">
            <a:extLst>
              <a:ext uri="{FF2B5EF4-FFF2-40B4-BE49-F238E27FC236}">
                <a16:creationId xmlns:a16="http://schemas.microsoft.com/office/drawing/2014/main" id="{C230789A-6CED-3DEF-A788-C05C5B7B892F}"/>
              </a:ext>
            </a:extLst>
          </p:cNvPr>
          <p:cNvPicPr>
            <a:picLocks noChangeAspect="1"/>
          </p:cNvPicPr>
          <p:nvPr/>
        </p:nvPicPr>
        <p:blipFill>
          <a:blip r:embed="rId3"/>
          <a:stretch>
            <a:fillRect/>
          </a:stretch>
        </p:blipFill>
        <p:spPr>
          <a:xfrm>
            <a:off x="1175536" y="2026642"/>
            <a:ext cx="387658" cy="1133713"/>
          </a:xfrm>
          <a:prstGeom prst="rect">
            <a:avLst/>
          </a:prstGeom>
        </p:spPr>
      </p:pic>
      <p:pic>
        <p:nvPicPr>
          <p:cNvPr id="17" name="Image 2" descr="preencoded.png">
            <a:extLst>
              <a:ext uri="{FF2B5EF4-FFF2-40B4-BE49-F238E27FC236}">
                <a16:creationId xmlns:a16="http://schemas.microsoft.com/office/drawing/2014/main" id="{5AD17E05-E231-39A0-AF58-6E7256BD1C33}"/>
              </a:ext>
            </a:extLst>
          </p:cNvPr>
          <p:cNvPicPr>
            <a:picLocks noChangeAspect="1"/>
          </p:cNvPicPr>
          <p:nvPr/>
        </p:nvPicPr>
        <p:blipFill>
          <a:blip r:embed="rId3"/>
          <a:stretch>
            <a:fillRect/>
          </a:stretch>
        </p:blipFill>
        <p:spPr>
          <a:xfrm>
            <a:off x="1612470" y="4792702"/>
            <a:ext cx="387658" cy="1133713"/>
          </a:xfrm>
          <a:prstGeom prst="rect">
            <a:avLst/>
          </a:prstGeom>
        </p:spPr>
      </p:pic>
      <p:pic>
        <p:nvPicPr>
          <p:cNvPr id="18" name="Image 2" descr="preencoded.png">
            <a:extLst>
              <a:ext uri="{FF2B5EF4-FFF2-40B4-BE49-F238E27FC236}">
                <a16:creationId xmlns:a16="http://schemas.microsoft.com/office/drawing/2014/main" id="{68C1CA39-AEA1-A2DE-BCC6-C9FDCD284390}"/>
              </a:ext>
            </a:extLst>
          </p:cNvPr>
          <p:cNvPicPr>
            <a:picLocks noChangeAspect="1"/>
          </p:cNvPicPr>
          <p:nvPr/>
        </p:nvPicPr>
        <p:blipFill>
          <a:blip r:embed="rId3"/>
          <a:stretch>
            <a:fillRect/>
          </a:stretch>
        </p:blipFill>
        <p:spPr>
          <a:xfrm>
            <a:off x="2016584" y="6253600"/>
            <a:ext cx="387658" cy="11337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26519" y="645200"/>
            <a:ext cx="8274368" cy="567571"/>
          </a:xfrm>
          <a:prstGeom prst="rect">
            <a:avLst/>
          </a:prstGeom>
          <a:noFill/>
          <a:ln/>
        </p:spPr>
        <p:txBody>
          <a:bodyPr wrap="none" lIns="0" tIns="0" rIns="0" bIns="0" rtlCol="0" anchor="t"/>
          <a:lstStyle/>
          <a:p>
            <a:pPr marL="0" indent="0" algn="l">
              <a:lnSpc>
                <a:spcPts val="4450"/>
              </a:lnSpc>
              <a:buNone/>
            </a:pPr>
            <a:r>
              <a:rPr lang="en-US" sz="3550" b="1" dirty="0">
                <a:solidFill>
                  <a:srgbClr val="006747"/>
                </a:solidFill>
                <a:latin typeface="Noto Serif SC Bold" pitchFamily="34" charset="0"/>
                <a:ea typeface="Noto Serif SC Bold" pitchFamily="34" charset="-122"/>
                <a:cs typeface="Noto Serif SC Bold" pitchFamily="34" charset="-120"/>
              </a:rPr>
              <a:t>Bước 4: Thử nghiệm điều khiển LED</a:t>
            </a:r>
            <a:endParaRPr lang="en-US" sz="3550" dirty="0"/>
          </a:p>
        </p:txBody>
      </p:sp>
      <p:sp>
        <p:nvSpPr>
          <p:cNvPr id="4" name="Text 1"/>
          <p:cNvSpPr/>
          <p:nvPr/>
        </p:nvSpPr>
        <p:spPr>
          <a:xfrm>
            <a:off x="948095" y="1471634"/>
            <a:ext cx="4029938" cy="345677"/>
          </a:xfrm>
          <a:prstGeom prst="rect">
            <a:avLst/>
          </a:prstGeom>
          <a:noFill/>
          <a:ln/>
        </p:spPr>
        <p:txBody>
          <a:bodyPr wrap="none" lIns="0" tIns="0" rIns="0" bIns="0" rtlCol="0" anchor="t"/>
          <a:lstStyle/>
          <a:p>
            <a:pPr marL="0" indent="0" algn="l">
              <a:lnSpc>
                <a:spcPts val="2200"/>
              </a:lnSpc>
              <a:buNone/>
            </a:pPr>
            <a:r>
              <a:rPr lang="en-US" b="1" dirty="0">
                <a:solidFill>
                  <a:srgbClr val="006747"/>
                </a:solidFill>
                <a:latin typeface="Noto Serif SC Bold" pitchFamily="34" charset="0"/>
                <a:ea typeface="Noto Serif SC Bold" pitchFamily="34" charset="-122"/>
                <a:cs typeface="Noto Serif SC Bold" pitchFamily="34" charset="-120"/>
              </a:rPr>
              <a:t>Bấm nút "BẬT ĐÈN"</a:t>
            </a:r>
            <a:endParaRPr lang="en-US" dirty="0"/>
          </a:p>
        </p:txBody>
      </p:sp>
      <p:sp>
        <p:nvSpPr>
          <p:cNvPr id="5" name="Text 2"/>
          <p:cNvSpPr/>
          <p:nvPr/>
        </p:nvSpPr>
        <p:spPr>
          <a:xfrm>
            <a:off x="948095" y="1935422"/>
            <a:ext cx="11300349" cy="354091"/>
          </a:xfrm>
          <a:prstGeom prst="rect">
            <a:avLst/>
          </a:prstGeom>
          <a:noFill/>
          <a:ln/>
        </p:spPr>
        <p:txBody>
          <a:bodyPr wrap="none" lIns="0" tIns="0" rIns="0" bIns="0" rtlCol="0" anchor="t"/>
          <a:lstStyle/>
          <a:p>
            <a:pPr marL="0" indent="0" algn="l">
              <a:lnSpc>
                <a:spcPts val="2250"/>
              </a:lnSpc>
              <a:buNone/>
            </a:pPr>
            <a:r>
              <a:rPr lang="en-US" dirty="0">
                <a:solidFill>
                  <a:srgbClr val="4B4A4A"/>
                </a:solidFill>
                <a:latin typeface="Geist" pitchFamily="34" charset="0"/>
                <a:ea typeface="Geist" pitchFamily="34" charset="-122"/>
                <a:cs typeface="Geist" pitchFamily="34" charset="-120"/>
              </a:rPr>
              <a:t>Click vào nút màu xanh lá. Bạn sẽ thấy:</a:t>
            </a:r>
            <a:endParaRPr lang="en-US" dirty="0"/>
          </a:p>
        </p:txBody>
      </p:sp>
      <p:sp>
        <p:nvSpPr>
          <p:cNvPr id="6" name="Text 3"/>
          <p:cNvSpPr/>
          <p:nvPr/>
        </p:nvSpPr>
        <p:spPr>
          <a:xfrm>
            <a:off x="948095" y="2389527"/>
            <a:ext cx="11300349" cy="354091"/>
          </a:xfrm>
          <a:prstGeom prst="rect">
            <a:avLst/>
          </a:prstGeom>
          <a:noFill/>
          <a:ln/>
        </p:spPr>
        <p:txBody>
          <a:bodyPr wrap="none" lIns="0" tIns="0" rIns="0" bIns="0" rtlCol="0" anchor="t"/>
          <a:lstStyle/>
          <a:p>
            <a:pPr marL="342900" indent="-342900" algn="l">
              <a:lnSpc>
                <a:spcPts val="2250"/>
              </a:lnSpc>
              <a:buSzPct val="100000"/>
              <a:buChar char="•"/>
            </a:pPr>
            <a:r>
              <a:rPr lang="en-US" dirty="0">
                <a:solidFill>
                  <a:srgbClr val="4B4A4A"/>
                </a:solidFill>
                <a:latin typeface="Geist" pitchFamily="34" charset="0"/>
                <a:ea typeface="Geist" pitchFamily="34" charset="-122"/>
                <a:cs typeface="Geist" pitchFamily="34" charset="-120"/>
              </a:rPr>
              <a:t>LED trên mạch ESP32 </a:t>
            </a:r>
            <a:r>
              <a:rPr lang="en-US" b="1" dirty="0">
                <a:solidFill>
                  <a:srgbClr val="4B4A4A"/>
                </a:solidFill>
                <a:latin typeface="Geist" pitchFamily="34" charset="0"/>
                <a:ea typeface="Geist" pitchFamily="34" charset="-122"/>
                <a:cs typeface="Geist" pitchFamily="34" charset="-120"/>
              </a:rPr>
              <a:t>sáng lên</a:t>
            </a:r>
            <a:r>
              <a:rPr lang="en-US" dirty="0">
                <a:solidFill>
                  <a:srgbClr val="4B4A4A"/>
                </a:solidFill>
                <a:latin typeface="Geist" pitchFamily="34" charset="0"/>
                <a:ea typeface="Geist" pitchFamily="34" charset="-122"/>
                <a:cs typeface="Geist" pitchFamily="34" charset="-120"/>
              </a:rPr>
              <a:t> ngay lập tức</a:t>
            </a:r>
            <a:endParaRPr lang="en-US" dirty="0"/>
          </a:p>
        </p:txBody>
      </p:sp>
      <p:sp>
        <p:nvSpPr>
          <p:cNvPr id="7" name="Text 4"/>
          <p:cNvSpPr/>
          <p:nvPr/>
        </p:nvSpPr>
        <p:spPr>
          <a:xfrm>
            <a:off x="948095" y="2743618"/>
            <a:ext cx="11300349" cy="354091"/>
          </a:xfrm>
          <a:prstGeom prst="rect">
            <a:avLst/>
          </a:prstGeom>
          <a:noFill/>
          <a:ln/>
        </p:spPr>
        <p:txBody>
          <a:bodyPr wrap="none" lIns="0" tIns="0" rIns="0" bIns="0" rtlCol="0" anchor="t"/>
          <a:lstStyle/>
          <a:p>
            <a:pPr marL="342900" indent="-342900" algn="l">
              <a:lnSpc>
                <a:spcPts val="2250"/>
              </a:lnSpc>
              <a:buSzPct val="100000"/>
              <a:buChar char="•"/>
            </a:pPr>
            <a:r>
              <a:rPr lang="en-US" dirty="0">
                <a:solidFill>
                  <a:srgbClr val="4B4A4A"/>
                </a:solidFill>
                <a:latin typeface="Geist" pitchFamily="34" charset="0"/>
                <a:ea typeface="Geist" pitchFamily="34" charset="-122"/>
                <a:cs typeface="Geist" pitchFamily="34" charset="-120"/>
              </a:rPr>
              <a:t>Trang web tự động tải lại (giữ nguyên giao diện)</a:t>
            </a:r>
            <a:endParaRPr lang="en-US" dirty="0"/>
          </a:p>
        </p:txBody>
      </p:sp>
      <p:sp>
        <p:nvSpPr>
          <p:cNvPr id="8" name="Text 5"/>
          <p:cNvSpPr/>
          <p:nvPr/>
        </p:nvSpPr>
        <p:spPr>
          <a:xfrm>
            <a:off x="948095" y="3096046"/>
            <a:ext cx="11300349" cy="363375"/>
          </a:xfrm>
          <a:prstGeom prst="rect">
            <a:avLst/>
          </a:prstGeom>
          <a:noFill/>
          <a:ln/>
        </p:spPr>
        <p:txBody>
          <a:bodyPr wrap="none" lIns="0" tIns="0" rIns="0" bIns="0" rtlCol="0" anchor="t"/>
          <a:lstStyle/>
          <a:p>
            <a:pPr marL="342900" indent="-342900" algn="l">
              <a:lnSpc>
                <a:spcPts val="2250"/>
              </a:lnSpc>
              <a:buSzPct val="100000"/>
              <a:buChar char="•"/>
            </a:pPr>
            <a:r>
              <a:rPr lang="en-US" dirty="0">
                <a:solidFill>
                  <a:srgbClr val="4B4A4A"/>
                </a:solidFill>
                <a:latin typeface="Geist" pitchFamily="34" charset="0"/>
                <a:ea typeface="Geist" pitchFamily="34" charset="-122"/>
                <a:cs typeface="Geist" pitchFamily="34" charset="-120"/>
              </a:rPr>
              <a:t>Trên Serial Monitor, xuất hiện dòng: </a:t>
            </a:r>
            <a:r>
              <a:rPr lang="en-US" dirty="0">
                <a:solidFill>
                  <a:srgbClr val="4B4A4A"/>
                </a:solidFill>
                <a:highlight>
                  <a:srgbClr val="D8ECE5"/>
                </a:highlight>
                <a:latin typeface="Consolas" pitchFamily="34" charset="0"/>
                <a:ea typeface="Consolas" pitchFamily="34" charset="-122"/>
                <a:cs typeface="Consolas" pitchFamily="34" charset="-120"/>
              </a:rPr>
              <a:t>Da Bat Den!</a:t>
            </a:r>
            <a:endParaRPr lang="en-US" dirty="0"/>
          </a:p>
        </p:txBody>
      </p:sp>
      <p:sp>
        <p:nvSpPr>
          <p:cNvPr id="9" name="Text 6"/>
          <p:cNvSpPr/>
          <p:nvPr/>
        </p:nvSpPr>
        <p:spPr>
          <a:xfrm>
            <a:off x="948095" y="3579040"/>
            <a:ext cx="4029938" cy="345677"/>
          </a:xfrm>
          <a:prstGeom prst="rect">
            <a:avLst/>
          </a:prstGeom>
          <a:noFill/>
          <a:ln/>
        </p:spPr>
        <p:txBody>
          <a:bodyPr wrap="none" lIns="0" tIns="0" rIns="0" bIns="0" rtlCol="0" anchor="t"/>
          <a:lstStyle/>
          <a:p>
            <a:pPr marL="0" indent="0" algn="l">
              <a:lnSpc>
                <a:spcPts val="2200"/>
              </a:lnSpc>
              <a:buNone/>
            </a:pPr>
            <a:r>
              <a:rPr lang="en-US" b="1" dirty="0">
                <a:solidFill>
                  <a:srgbClr val="006747"/>
                </a:solidFill>
                <a:latin typeface="Noto Serif SC Bold" pitchFamily="34" charset="0"/>
                <a:ea typeface="Noto Serif SC Bold" pitchFamily="34" charset="-122"/>
                <a:cs typeface="Noto Serif SC Bold" pitchFamily="34" charset="-120"/>
              </a:rPr>
              <a:t>Bấm nút "TẮT ĐÈN"</a:t>
            </a:r>
            <a:endParaRPr lang="en-US" dirty="0"/>
          </a:p>
        </p:txBody>
      </p:sp>
      <p:sp>
        <p:nvSpPr>
          <p:cNvPr id="10" name="Text 7"/>
          <p:cNvSpPr/>
          <p:nvPr/>
        </p:nvSpPr>
        <p:spPr>
          <a:xfrm>
            <a:off x="948095" y="4042828"/>
            <a:ext cx="11300349" cy="354091"/>
          </a:xfrm>
          <a:prstGeom prst="rect">
            <a:avLst/>
          </a:prstGeom>
          <a:noFill/>
          <a:ln/>
        </p:spPr>
        <p:txBody>
          <a:bodyPr wrap="none" lIns="0" tIns="0" rIns="0" bIns="0" rtlCol="0" anchor="t"/>
          <a:lstStyle/>
          <a:p>
            <a:pPr marL="0" indent="0" algn="l">
              <a:lnSpc>
                <a:spcPts val="2250"/>
              </a:lnSpc>
              <a:buNone/>
            </a:pPr>
            <a:r>
              <a:rPr lang="en-US" dirty="0">
                <a:solidFill>
                  <a:srgbClr val="4B4A4A"/>
                </a:solidFill>
                <a:latin typeface="Geist" pitchFamily="34" charset="0"/>
                <a:ea typeface="Geist" pitchFamily="34" charset="-122"/>
                <a:cs typeface="Geist" pitchFamily="34" charset="-120"/>
              </a:rPr>
              <a:t>Click vào nút màu đỏ. Bạn sẽ thấy:</a:t>
            </a:r>
            <a:endParaRPr lang="en-US" dirty="0"/>
          </a:p>
        </p:txBody>
      </p:sp>
      <p:sp>
        <p:nvSpPr>
          <p:cNvPr id="11" name="Text 8"/>
          <p:cNvSpPr/>
          <p:nvPr/>
        </p:nvSpPr>
        <p:spPr>
          <a:xfrm>
            <a:off x="948095" y="4496933"/>
            <a:ext cx="11300349" cy="354091"/>
          </a:xfrm>
          <a:prstGeom prst="rect">
            <a:avLst/>
          </a:prstGeom>
          <a:noFill/>
          <a:ln/>
        </p:spPr>
        <p:txBody>
          <a:bodyPr wrap="none" lIns="0" tIns="0" rIns="0" bIns="0" rtlCol="0" anchor="t"/>
          <a:lstStyle/>
          <a:p>
            <a:pPr marL="342900" indent="-342900" algn="l">
              <a:lnSpc>
                <a:spcPts val="2250"/>
              </a:lnSpc>
              <a:buSzPct val="100000"/>
              <a:buChar char="•"/>
            </a:pPr>
            <a:r>
              <a:rPr lang="en-US" dirty="0">
                <a:solidFill>
                  <a:srgbClr val="4B4A4A"/>
                </a:solidFill>
                <a:latin typeface="Geist" pitchFamily="34" charset="0"/>
                <a:ea typeface="Geist" pitchFamily="34" charset="-122"/>
                <a:cs typeface="Geist" pitchFamily="34" charset="-120"/>
              </a:rPr>
              <a:t>LED trên mạch ESP32 </a:t>
            </a:r>
            <a:r>
              <a:rPr lang="en-US" b="1" dirty="0">
                <a:solidFill>
                  <a:srgbClr val="4B4A4A"/>
                </a:solidFill>
                <a:latin typeface="Geist" pitchFamily="34" charset="0"/>
                <a:ea typeface="Geist" pitchFamily="34" charset="-122"/>
                <a:cs typeface="Geist" pitchFamily="34" charset="-120"/>
              </a:rPr>
              <a:t>tắt đi</a:t>
            </a:r>
            <a:endParaRPr lang="en-US" dirty="0"/>
          </a:p>
        </p:txBody>
      </p:sp>
      <p:sp>
        <p:nvSpPr>
          <p:cNvPr id="12" name="Text 9"/>
          <p:cNvSpPr/>
          <p:nvPr/>
        </p:nvSpPr>
        <p:spPr>
          <a:xfrm>
            <a:off x="948095" y="4851025"/>
            <a:ext cx="11300349" cy="354091"/>
          </a:xfrm>
          <a:prstGeom prst="rect">
            <a:avLst/>
          </a:prstGeom>
          <a:noFill/>
          <a:ln/>
        </p:spPr>
        <p:txBody>
          <a:bodyPr wrap="none" lIns="0" tIns="0" rIns="0" bIns="0" rtlCol="0" anchor="t"/>
          <a:lstStyle/>
          <a:p>
            <a:pPr marL="342900" indent="-342900" algn="l">
              <a:lnSpc>
                <a:spcPts val="2250"/>
              </a:lnSpc>
              <a:buSzPct val="100000"/>
              <a:buChar char="•"/>
            </a:pPr>
            <a:r>
              <a:rPr lang="en-US" dirty="0">
                <a:solidFill>
                  <a:srgbClr val="4B4A4A"/>
                </a:solidFill>
                <a:latin typeface="Geist" pitchFamily="34" charset="0"/>
                <a:ea typeface="Geist" pitchFamily="34" charset="-122"/>
                <a:cs typeface="Geist" pitchFamily="34" charset="-120"/>
              </a:rPr>
              <a:t>Trang web tự động tải lại</a:t>
            </a:r>
            <a:endParaRPr lang="en-US" dirty="0"/>
          </a:p>
        </p:txBody>
      </p:sp>
      <p:sp>
        <p:nvSpPr>
          <p:cNvPr id="13" name="Text 10"/>
          <p:cNvSpPr/>
          <p:nvPr/>
        </p:nvSpPr>
        <p:spPr>
          <a:xfrm>
            <a:off x="948095" y="5203453"/>
            <a:ext cx="11300349" cy="363375"/>
          </a:xfrm>
          <a:prstGeom prst="rect">
            <a:avLst/>
          </a:prstGeom>
          <a:noFill/>
          <a:ln/>
        </p:spPr>
        <p:txBody>
          <a:bodyPr wrap="none" lIns="0" tIns="0" rIns="0" bIns="0" rtlCol="0" anchor="t"/>
          <a:lstStyle/>
          <a:p>
            <a:pPr marL="342900" indent="-342900" algn="l">
              <a:lnSpc>
                <a:spcPts val="2250"/>
              </a:lnSpc>
              <a:buSzPct val="100000"/>
              <a:buChar char="•"/>
            </a:pPr>
            <a:r>
              <a:rPr lang="en-US" dirty="0">
                <a:solidFill>
                  <a:srgbClr val="4B4A4A"/>
                </a:solidFill>
                <a:latin typeface="Geist" pitchFamily="34" charset="0"/>
                <a:ea typeface="Geist" pitchFamily="34" charset="-122"/>
                <a:cs typeface="Geist" pitchFamily="34" charset="-120"/>
              </a:rPr>
              <a:t>Trên Serial Monitor, xuất hiện dòng: </a:t>
            </a:r>
            <a:r>
              <a:rPr lang="en-US" dirty="0">
                <a:solidFill>
                  <a:srgbClr val="4B4A4A"/>
                </a:solidFill>
                <a:highlight>
                  <a:srgbClr val="D8ECE5"/>
                </a:highlight>
                <a:latin typeface="Consolas" pitchFamily="34" charset="0"/>
                <a:ea typeface="Consolas" pitchFamily="34" charset="-122"/>
                <a:cs typeface="Consolas" pitchFamily="34" charset="-120"/>
              </a:rPr>
              <a:t>Da Tat Den!</a:t>
            </a:r>
            <a:endParaRPr lang="en-US" dirty="0"/>
          </a:p>
        </p:txBody>
      </p:sp>
      <p:sp>
        <p:nvSpPr>
          <p:cNvPr id="14" name="Text 11"/>
          <p:cNvSpPr/>
          <p:nvPr/>
        </p:nvSpPr>
        <p:spPr>
          <a:xfrm>
            <a:off x="948095" y="5603382"/>
            <a:ext cx="11300349" cy="708181"/>
          </a:xfrm>
          <a:prstGeom prst="rect">
            <a:avLst/>
          </a:prstGeom>
          <a:noFill/>
          <a:ln/>
        </p:spPr>
        <p:txBody>
          <a:bodyPr wrap="square" lIns="0" tIns="0" rIns="0" bIns="0" rtlCol="0" anchor="t"/>
          <a:lstStyle/>
          <a:p>
            <a:pPr marL="0" indent="0" algn="l">
              <a:lnSpc>
                <a:spcPts val="2250"/>
              </a:lnSpc>
              <a:buNone/>
            </a:pPr>
            <a:r>
              <a:rPr lang="en-US" b="1" dirty="0">
                <a:solidFill>
                  <a:srgbClr val="4B4A4A"/>
                </a:solidFill>
                <a:latin typeface="Geist" pitchFamily="34" charset="0"/>
                <a:ea typeface="Geist" pitchFamily="34" charset="-122"/>
                <a:cs typeface="Geist" pitchFamily="34" charset="-120"/>
              </a:rPr>
              <a:t>Thử lặp lại nhiều lần</a:t>
            </a:r>
            <a:r>
              <a:rPr lang="en-US" dirty="0">
                <a:solidFill>
                  <a:srgbClr val="4B4A4A"/>
                </a:solidFill>
                <a:latin typeface="Geist" pitchFamily="34" charset="0"/>
                <a:ea typeface="Geist" pitchFamily="34" charset="-122"/>
                <a:cs typeface="Geist" pitchFamily="34" charset="-120"/>
              </a:rPr>
              <a:t> để cảm nhận độ phản hồi. Mạng WiFi tốt sẽ cho độ trễ rất thấp (dưới 100ms).</a:t>
            </a:r>
            <a:endParaRPr lang="en-US" dirty="0"/>
          </a:p>
        </p:txBody>
      </p:sp>
      <p:sp>
        <p:nvSpPr>
          <p:cNvPr id="15" name="Shape 12"/>
          <p:cNvSpPr/>
          <p:nvPr/>
        </p:nvSpPr>
        <p:spPr>
          <a:xfrm>
            <a:off x="544949" y="6360049"/>
            <a:ext cx="13177361" cy="1020040"/>
          </a:xfrm>
          <a:prstGeom prst="roundRect">
            <a:avLst>
              <a:gd name="adj" fmla="val 21184"/>
            </a:avLst>
          </a:prstGeom>
          <a:solidFill>
            <a:srgbClr val="B3FFE7"/>
          </a:solidFill>
          <a:ln/>
        </p:spPr>
      </p:sp>
      <p:pic>
        <p:nvPicPr>
          <p:cNvPr id="16" name="Image 1" descr="preencoded.png"/>
          <p:cNvPicPr>
            <a:picLocks noChangeAspect="1"/>
          </p:cNvPicPr>
          <p:nvPr/>
        </p:nvPicPr>
        <p:blipFill>
          <a:blip r:embed="rId3"/>
          <a:stretch>
            <a:fillRect/>
          </a:stretch>
        </p:blipFill>
        <p:spPr>
          <a:xfrm>
            <a:off x="726520" y="6633774"/>
            <a:ext cx="227052" cy="181570"/>
          </a:xfrm>
          <a:prstGeom prst="rect">
            <a:avLst/>
          </a:prstGeom>
        </p:spPr>
      </p:pic>
      <p:sp>
        <p:nvSpPr>
          <p:cNvPr id="17" name="Text 13"/>
          <p:cNvSpPr/>
          <p:nvPr/>
        </p:nvSpPr>
        <p:spPr>
          <a:xfrm>
            <a:off x="1135142" y="6586982"/>
            <a:ext cx="12405598" cy="290632"/>
          </a:xfrm>
          <a:prstGeom prst="rect">
            <a:avLst/>
          </a:prstGeom>
          <a:noFill/>
          <a:ln/>
        </p:spPr>
        <p:txBody>
          <a:bodyPr wrap="square" lIns="0" tIns="0" rIns="0" bIns="0" rtlCol="0" anchor="t"/>
          <a:lstStyle/>
          <a:p>
            <a:pPr marL="0" indent="0" algn="l">
              <a:lnSpc>
                <a:spcPts val="2250"/>
              </a:lnSpc>
              <a:buNone/>
            </a:pPr>
            <a:r>
              <a:rPr lang="en-US" b="1" dirty="0">
                <a:solidFill>
                  <a:srgbClr val="000000"/>
                </a:solidFill>
                <a:latin typeface="Geist" pitchFamily="34" charset="0"/>
                <a:ea typeface="Geist" pitchFamily="34" charset="-122"/>
                <a:cs typeface="Geist" pitchFamily="34" charset="-120"/>
              </a:rPr>
              <a:t>Tips nâng cao:</a:t>
            </a:r>
            <a:r>
              <a:rPr lang="en-US" dirty="0">
                <a:solidFill>
                  <a:srgbClr val="000000"/>
                </a:solidFill>
                <a:latin typeface="Geist" pitchFamily="34" charset="0"/>
                <a:ea typeface="Geist" pitchFamily="34" charset="-122"/>
                <a:cs typeface="Geist" pitchFamily="34" charset="-120"/>
              </a:rPr>
              <a:t> Bạn có thể mở nhiều tab trình duyệt cùng lúc, hoặc nhiều điện thoại cùng điều khiển. ESP32 đủ mạnh để xử lý đồng thời!</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763429" y="525423"/>
            <a:ext cx="5423059" cy="596503"/>
          </a:xfrm>
          <a:prstGeom prst="rect">
            <a:avLst/>
          </a:prstGeom>
          <a:noFill/>
          <a:ln/>
        </p:spPr>
        <p:txBody>
          <a:bodyPr wrap="none" lIns="0" tIns="0" rIns="0" bIns="0" rtlCol="0" anchor="t"/>
          <a:lstStyle/>
          <a:p>
            <a:pPr marL="0" indent="0" algn="l">
              <a:lnSpc>
                <a:spcPts val="4650"/>
              </a:lnSpc>
              <a:buNone/>
            </a:pPr>
            <a:r>
              <a:rPr lang="en-US" sz="3750" b="1" dirty="0">
                <a:solidFill>
                  <a:srgbClr val="006747"/>
                </a:solidFill>
                <a:latin typeface="Noto Serif SC Bold" pitchFamily="34" charset="0"/>
                <a:ea typeface="Noto Serif SC Bold" pitchFamily="34" charset="-122"/>
                <a:cs typeface="Noto Serif SC Bold" pitchFamily="34" charset="-120"/>
              </a:rPr>
              <a:t>Xử lý sự cố thường gặp</a:t>
            </a:r>
            <a:endParaRPr lang="en-US" sz="3750" dirty="0"/>
          </a:p>
        </p:txBody>
      </p:sp>
      <p:sp>
        <p:nvSpPr>
          <p:cNvPr id="3" name="Shape 1"/>
          <p:cNvSpPr/>
          <p:nvPr/>
        </p:nvSpPr>
        <p:spPr>
          <a:xfrm>
            <a:off x="522789" y="1789867"/>
            <a:ext cx="6715972" cy="2904649"/>
          </a:xfrm>
          <a:prstGeom prst="roundRect">
            <a:avLst>
              <a:gd name="adj" fmla="val 3778"/>
            </a:avLst>
          </a:prstGeom>
          <a:solidFill>
            <a:srgbClr val="E5F9F2">
              <a:alpha val="95000"/>
            </a:srgbClr>
          </a:solidFill>
          <a:ln/>
        </p:spPr>
      </p:sp>
      <p:sp>
        <p:nvSpPr>
          <p:cNvPr id="4" name="Shape 2"/>
          <p:cNvSpPr/>
          <p:nvPr/>
        </p:nvSpPr>
        <p:spPr>
          <a:xfrm>
            <a:off x="522789" y="1767007"/>
            <a:ext cx="6456283" cy="91440"/>
          </a:xfrm>
          <a:prstGeom prst="roundRect">
            <a:avLst>
              <a:gd name="adj" fmla="val 187869"/>
            </a:avLst>
          </a:prstGeom>
          <a:solidFill>
            <a:srgbClr val="006747"/>
          </a:solidFill>
          <a:ln/>
        </p:spPr>
      </p:sp>
      <p:sp>
        <p:nvSpPr>
          <p:cNvPr id="5" name="Shape 3"/>
          <p:cNvSpPr/>
          <p:nvPr/>
        </p:nvSpPr>
        <p:spPr>
          <a:xfrm>
            <a:off x="3464645" y="1503640"/>
            <a:ext cx="572572" cy="572572"/>
          </a:xfrm>
          <a:prstGeom prst="roundRect">
            <a:avLst>
              <a:gd name="adj" fmla="val 159700"/>
            </a:avLst>
          </a:prstGeom>
          <a:solidFill>
            <a:srgbClr val="006747"/>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36452" y="1675328"/>
            <a:ext cx="228957" cy="228957"/>
          </a:xfrm>
          <a:prstGeom prst="rect">
            <a:avLst/>
          </a:prstGeom>
        </p:spPr>
      </p:pic>
      <p:sp>
        <p:nvSpPr>
          <p:cNvPr id="7" name="Text 4"/>
          <p:cNvSpPr/>
          <p:nvPr/>
        </p:nvSpPr>
        <p:spPr>
          <a:xfrm>
            <a:off x="736506" y="2266950"/>
            <a:ext cx="2983706" cy="298252"/>
          </a:xfrm>
          <a:prstGeom prst="rect">
            <a:avLst/>
          </a:prstGeom>
          <a:noFill/>
          <a:ln/>
        </p:spPr>
        <p:txBody>
          <a:bodyPr wrap="none" lIns="0" tIns="0" rIns="0" bIns="0" rtlCol="0" anchor="t"/>
          <a:lstStyle/>
          <a:p>
            <a:pPr marL="0" indent="0" algn="l">
              <a:lnSpc>
                <a:spcPts val="2300"/>
              </a:lnSpc>
              <a:buNone/>
            </a:pPr>
            <a:r>
              <a:rPr lang="en-US" b="1" dirty="0">
                <a:solidFill>
                  <a:srgbClr val="4B4A4A"/>
                </a:solidFill>
                <a:latin typeface="Noto Serif SC Bold" pitchFamily="34" charset="0"/>
                <a:ea typeface="Noto Serif SC Bold" pitchFamily="34" charset="-122"/>
                <a:cs typeface="Noto Serif SC Bold" pitchFamily="34" charset="-120"/>
              </a:rPr>
              <a:t>Không kết nối được WiFi</a:t>
            </a:r>
            <a:endParaRPr lang="en-US" dirty="0"/>
          </a:p>
        </p:txBody>
      </p:sp>
      <p:sp>
        <p:nvSpPr>
          <p:cNvPr id="8" name="Text 5"/>
          <p:cNvSpPr/>
          <p:nvPr/>
        </p:nvSpPr>
        <p:spPr>
          <a:xfrm>
            <a:off x="736506" y="2679621"/>
            <a:ext cx="6028849" cy="30527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Kiểm tra lại SSID và password (phân biệt hoa thường)</a:t>
            </a:r>
            <a:endParaRPr lang="en-US" dirty="0"/>
          </a:p>
        </p:txBody>
      </p:sp>
      <p:sp>
        <p:nvSpPr>
          <p:cNvPr id="9" name="Text 6"/>
          <p:cNvSpPr/>
          <p:nvPr/>
        </p:nvSpPr>
        <p:spPr>
          <a:xfrm>
            <a:off x="736506" y="3051691"/>
            <a:ext cx="6028849" cy="305276"/>
          </a:xfrm>
          <a:prstGeom prst="rect">
            <a:avLst/>
          </a:prstGeom>
          <a:noFill/>
          <a:ln/>
        </p:spPr>
        <p:txBody>
          <a:bodyPr wrap="squar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Đảm bảo Router phát sóng 2.4GHz (ESP32 không hỗ trợ 5GHz)</a:t>
            </a:r>
            <a:endParaRPr lang="en-US" dirty="0"/>
          </a:p>
        </p:txBody>
      </p:sp>
      <p:sp>
        <p:nvSpPr>
          <p:cNvPr id="10" name="Text 7"/>
          <p:cNvSpPr/>
          <p:nvPr/>
        </p:nvSpPr>
        <p:spPr>
          <a:xfrm>
            <a:off x="736506" y="3724561"/>
            <a:ext cx="6028849" cy="30527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Thử khởi động lại Router</a:t>
            </a:r>
            <a:endParaRPr lang="en-US" dirty="0"/>
          </a:p>
        </p:txBody>
      </p:sp>
      <p:sp>
        <p:nvSpPr>
          <p:cNvPr id="11" name="Text 8"/>
          <p:cNvSpPr/>
          <p:nvPr/>
        </p:nvSpPr>
        <p:spPr>
          <a:xfrm>
            <a:off x="736506" y="4096632"/>
            <a:ext cx="6028849" cy="30527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Đưa ESP32 gần Router hơn để tín hiệu mạnh</a:t>
            </a:r>
            <a:endParaRPr lang="en-US" dirty="0"/>
          </a:p>
        </p:txBody>
      </p:sp>
      <p:sp>
        <p:nvSpPr>
          <p:cNvPr id="12" name="Shape 9"/>
          <p:cNvSpPr/>
          <p:nvPr/>
        </p:nvSpPr>
        <p:spPr>
          <a:xfrm>
            <a:off x="7410569" y="1789867"/>
            <a:ext cx="6456402" cy="2904649"/>
          </a:xfrm>
          <a:prstGeom prst="roundRect">
            <a:avLst>
              <a:gd name="adj" fmla="val 3778"/>
            </a:avLst>
          </a:prstGeom>
          <a:solidFill>
            <a:srgbClr val="E5F9F2">
              <a:alpha val="95000"/>
            </a:srgbClr>
          </a:solidFill>
          <a:ln/>
        </p:spPr>
      </p:sp>
      <p:sp>
        <p:nvSpPr>
          <p:cNvPr id="13" name="Shape 10"/>
          <p:cNvSpPr/>
          <p:nvPr/>
        </p:nvSpPr>
        <p:spPr>
          <a:xfrm>
            <a:off x="7410569" y="1767007"/>
            <a:ext cx="6456402" cy="91440"/>
          </a:xfrm>
          <a:prstGeom prst="roundRect">
            <a:avLst>
              <a:gd name="adj" fmla="val 187869"/>
            </a:avLst>
          </a:prstGeom>
          <a:solidFill>
            <a:srgbClr val="006747"/>
          </a:solidFill>
          <a:ln/>
        </p:spPr>
      </p:sp>
      <p:sp>
        <p:nvSpPr>
          <p:cNvPr id="14" name="Shape 11"/>
          <p:cNvSpPr/>
          <p:nvPr/>
        </p:nvSpPr>
        <p:spPr>
          <a:xfrm>
            <a:off x="10352425" y="1503640"/>
            <a:ext cx="572572" cy="572572"/>
          </a:xfrm>
          <a:prstGeom prst="roundRect">
            <a:avLst>
              <a:gd name="adj" fmla="val 159700"/>
            </a:avLst>
          </a:prstGeom>
          <a:solidFill>
            <a:srgbClr val="006747"/>
          </a:solidFill>
          <a:ln/>
        </p:spPr>
      </p:sp>
      <p:pic>
        <p:nvPicPr>
          <p:cNvPr id="1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24232" y="1675328"/>
            <a:ext cx="228957" cy="228957"/>
          </a:xfrm>
          <a:prstGeom prst="rect">
            <a:avLst/>
          </a:prstGeom>
        </p:spPr>
      </p:pic>
      <p:sp>
        <p:nvSpPr>
          <p:cNvPr id="16" name="Text 12"/>
          <p:cNvSpPr/>
          <p:nvPr/>
        </p:nvSpPr>
        <p:spPr>
          <a:xfrm>
            <a:off x="7624286" y="2266950"/>
            <a:ext cx="3785949" cy="298252"/>
          </a:xfrm>
          <a:prstGeom prst="rect">
            <a:avLst/>
          </a:prstGeom>
          <a:noFill/>
          <a:ln/>
        </p:spPr>
        <p:txBody>
          <a:bodyPr wrap="none" lIns="0" tIns="0" rIns="0" bIns="0" rtlCol="0" anchor="t"/>
          <a:lstStyle/>
          <a:p>
            <a:pPr marL="0" indent="0" algn="l">
              <a:lnSpc>
                <a:spcPts val="2300"/>
              </a:lnSpc>
              <a:buNone/>
            </a:pPr>
            <a:r>
              <a:rPr lang="en-US" b="1" dirty="0">
                <a:solidFill>
                  <a:srgbClr val="4B4A4A"/>
                </a:solidFill>
                <a:latin typeface="Noto Serif SC Bold" pitchFamily="34" charset="0"/>
                <a:ea typeface="Noto Serif SC Bold" pitchFamily="34" charset="-122"/>
                <a:cs typeface="Noto Serif SC Bold" pitchFamily="34" charset="-120"/>
              </a:rPr>
              <a:t>Không truy cập được trang web</a:t>
            </a:r>
            <a:endParaRPr lang="en-US" dirty="0"/>
          </a:p>
        </p:txBody>
      </p:sp>
      <p:sp>
        <p:nvSpPr>
          <p:cNvPr id="17" name="Text 13"/>
          <p:cNvSpPr/>
          <p:nvPr/>
        </p:nvSpPr>
        <p:spPr>
          <a:xfrm>
            <a:off x="7624286" y="2679621"/>
            <a:ext cx="6028968" cy="30527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Chắc chắn điện thoại và ESP32 </a:t>
            </a:r>
            <a:r>
              <a:rPr lang="en-US" b="1" dirty="0">
                <a:solidFill>
                  <a:srgbClr val="4B4A4A"/>
                </a:solidFill>
                <a:latin typeface="Geist" pitchFamily="34" charset="0"/>
                <a:ea typeface="Geist" pitchFamily="34" charset="-122"/>
                <a:cs typeface="Geist" pitchFamily="34" charset="-120"/>
              </a:rPr>
              <a:t>cùng mạng WiFi</a:t>
            </a:r>
            <a:endParaRPr lang="en-US" dirty="0"/>
          </a:p>
        </p:txBody>
      </p:sp>
      <p:sp>
        <p:nvSpPr>
          <p:cNvPr id="18" name="Text 14"/>
          <p:cNvSpPr/>
          <p:nvPr/>
        </p:nvSpPr>
        <p:spPr>
          <a:xfrm>
            <a:off x="7624286" y="3051691"/>
            <a:ext cx="6028968" cy="30527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Kiểm tra lại địa chỉ IP trên Serial Monitor</a:t>
            </a:r>
            <a:endParaRPr lang="en-US" dirty="0"/>
          </a:p>
        </p:txBody>
      </p:sp>
      <p:sp>
        <p:nvSpPr>
          <p:cNvPr id="19" name="Text 15"/>
          <p:cNvSpPr/>
          <p:nvPr/>
        </p:nvSpPr>
        <p:spPr>
          <a:xfrm>
            <a:off x="7624286" y="3423761"/>
            <a:ext cx="6028968" cy="31289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Thử thêm </a:t>
            </a:r>
            <a:r>
              <a:rPr lang="en-US" dirty="0">
                <a:solidFill>
                  <a:srgbClr val="4B4A4A"/>
                </a:solidFill>
                <a:highlight>
                  <a:srgbClr val="D8ECE5"/>
                </a:highlight>
                <a:latin typeface="Consolas" pitchFamily="34" charset="0"/>
                <a:ea typeface="Consolas" pitchFamily="34" charset="-122"/>
                <a:cs typeface="Consolas" pitchFamily="34" charset="-120"/>
              </a:rPr>
              <a:t>http://</a:t>
            </a:r>
            <a:r>
              <a:rPr lang="en-US" dirty="0">
                <a:solidFill>
                  <a:srgbClr val="4B4A4A"/>
                </a:solidFill>
                <a:latin typeface="Geist" pitchFamily="34" charset="0"/>
                <a:ea typeface="Geist" pitchFamily="34" charset="-122"/>
                <a:cs typeface="Geist" pitchFamily="34" charset="-120"/>
              </a:rPr>
              <a:t> vào trước IP</a:t>
            </a:r>
            <a:endParaRPr lang="en-US" dirty="0"/>
          </a:p>
        </p:txBody>
      </p:sp>
      <p:sp>
        <p:nvSpPr>
          <p:cNvPr id="20" name="Text 16"/>
          <p:cNvSpPr/>
          <p:nvPr/>
        </p:nvSpPr>
        <p:spPr>
          <a:xfrm>
            <a:off x="7624286" y="3803452"/>
            <a:ext cx="6028968" cy="30527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Tắt dữ liệu di động (4G/5G) trên điện thoại</a:t>
            </a:r>
            <a:endParaRPr lang="en-US" dirty="0"/>
          </a:p>
        </p:txBody>
      </p:sp>
      <p:sp>
        <p:nvSpPr>
          <p:cNvPr id="21" name="Text 17"/>
          <p:cNvSpPr/>
          <p:nvPr/>
        </p:nvSpPr>
        <p:spPr>
          <a:xfrm>
            <a:off x="7624286" y="4175522"/>
            <a:ext cx="6028968" cy="30527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Thử bật/tắt WiFi điện thoại một lần</a:t>
            </a:r>
            <a:endParaRPr lang="en-US" dirty="0"/>
          </a:p>
        </p:txBody>
      </p:sp>
      <p:sp>
        <p:nvSpPr>
          <p:cNvPr id="22" name="Shape 18"/>
          <p:cNvSpPr/>
          <p:nvPr/>
        </p:nvSpPr>
        <p:spPr>
          <a:xfrm>
            <a:off x="522789" y="5171599"/>
            <a:ext cx="6715972" cy="2532578"/>
          </a:xfrm>
          <a:prstGeom prst="roundRect">
            <a:avLst>
              <a:gd name="adj" fmla="val 4333"/>
            </a:avLst>
          </a:prstGeom>
          <a:solidFill>
            <a:srgbClr val="E5F9F2">
              <a:alpha val="95000"/>
            </a:srgbClr>
          </a:solidFill>
          <a:ln/>
        </p:spPr>
      </p:sp>
      <p:sp>
        <p:nvSpPr>
          <p:cNvPr id="23" name="Shape 19"/>
          <p:cNvSpPr/>
          <p:nvPr/>
        </p:nvSpPr>
        <p:spPr>
          <a:xfrm>
            <a:off x="522789" y="5148739"/>
            <a:ext cx="6456283" cy="91440"/>
          </a:xfrm>
          <a:prstGeom prst="roundRect">
            <a:avLst>
              <a:gd name="adj" fmla="val 187869"/>
            </a:avLst>
          </a:prstGeom>
          <a:solidFill>
            <a:srgbClr val="006747"/>
          </a:solidFill>
          <a:ln/>
        </p:spPr>
      </p:sp>
      <p:sp>
        <p:nvSpPr>
          <p:cNvPr id="24" name="Shape 20"/>
          <p:cNvSpPr/>
          <p:nvPr/>
        </p:nvSpPr>
        <p:spPr>
          <a:xfrm>
            <a:off x="3464645" y="4885373"/>
            <a:ext cx="572572" cy="572572"/>
          </a:xfrm>
          <a:prstGeom prst="roundRect">
            <a:avLst>
              <a:gd name="adj" fmla="val 159700"/>
            </a:avLst>
          </a:prstGeom>
          <a:solidFill>
            <a:srgbClr val="006747"/>
          </a:solidFill>
          <a:ln/>
        </p:spPr>
      </p:sp>
      <p:pic>
        <p:nvPicPr>
          <p:cNvPr id="2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36452" y="5057061"/>
            <a:ext cx="228957" cy="228957"/>
          </a:xfrm>
          <a:prstGeom prst="rect">
            <a:avLst/>
          </a:prstGeom>
        </p:spPr>
      </p:pic>
      <p:sp>
        <p:nvSpPr>
          <p:cNvPr id="26" name="Text 21"/>
          <p:cNvSpPr/>
          <p:nvPr/>
        </p:nvSpPr>
        <p:spPr>
          <a:xfrm>
            <a:off x="736506" y="5648682"/>
            <a:ext cx="4482346" cy="298252"/>
          </a:xfrm>
          <a:prstGeom prst="rect">
            <a:avLst/>
          </a:prstGeom>
          <a:noFill/>
          <a:ln/>
        </p:spPr>
        <p:txBody>
          <a:bodyPr wrap="none" lIns="0" tIns="0" rIns="0" bIns="0" rtlCol="0" anchor="t"/>
          <a:lstStyle/>
          <a:p>
            <a:pPr marL="0" indent="0" algn="l">
              <a:lnSpc>
                <a:spcPts val="2300"/>
              </a:lnSpc>
              <a:buNone/>
            </a:pPr>
            <a:r>
              <a:rPr lang="en-US" b="1" dirty="0">
                <a:solidFill>
                  <a:srgbClr val="4B4A4A"/>
                </a:solidFill>
                <a:latin typeface="Noto Serif SC Bold" pitchFamily="34" charset="0"/>
                <a:ea typeface="Noto Serif SC Bold" pitchFamily="34" charset="-122"/>
                <a:cs typeface="Noto Serif SC Bold" pitchFamily="34" charset="-120"/>
              </a:rPr>
              <a:t>Bấm nút nhưng LED không phản ứng</a:t>
            </a:r>
            <a:endParaRPr lang="en-US" dirty="0"/>
          </a:p>
        </p:txBody>
      </p:sp>
      <p:sp>
        <p:nvSpPr>
          <p:cNvPr id="27" name="Text 22"/>
          <p:cNvSpPr/>
          <p:nvPr/>
        </p:nvSpPr>
        <p:spPr>
          <a:xfrm>
            <a:off x="736506" y="6061353"/>
            <a:ext cx="6028849" cy="30527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Kiểm tra LED có nối đúng chân không (GPIO 2)</a:t>
            </a:r>
            <a:endParaRPr lang="en-US" dirty="0"/>
          </a:p>
        </p:txBody>
      </p:sp>
      <p:sp>
        <p:nvSpPr>
          <p:cNvPr id="28" name="Text 23"/>
          <p:cNvSpPr/>
          <p:nvPr/>
        </p:nvSpPr>
        <p:spPr>
          <a:xfrm>
            <a:off x="736506" y="6433423"/>
            <a:ext cx="6028849" cy="31289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Thử đổi sang chân khác và sửa </a:t>
            </a:r>
            <a:r>
              <a:rPr lang="en-US" dirty="0">
                <a:solidFill>
                  <a:srgbClr val="4B4A4A"/>
                </a:solidFill>
                <a:highlight>
                  <a:srgbClr val="D8ECE5"/>
                </a:highlight>
                <a:latin typeface="Consolas" pitchFamily="34" charset="0"/>
                <a:ea typeface="Consolas" pitchFamily="34" charset="-122"/>
                <a:cs typeface="Consolas" pitchFamily="34" charset="-120"/>
              </a:rPr>
              <a:t>LED_PIN</a:t>
            </a:r>
            <a:endParaRPr lang="en-US" dirty="0"/>
          </a:p>
        </p:txBody>
      </p:sp>
      <p:sp>
        <p:nvSpPr>
          <p:cNvPr id="29" name="Text 24"/>
          <p:cNvSpPr/>
          <p:nvPr/>
        </p:nvSpPr>
        <p:spPr>
          <a:xfrm>
            <a:off x="736506" y="6813113"/>
            <a:ext cx="6028849" cy="30527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Kiểm tra LED có bị hỏng không (thử nối trực tiếp vào 3.3V)</a:t>
            </a:r>
            <a:endParaRPr lang="en-US" dirty="0"/>
          </a:p>
        </p:txBody>
      </p:sp>
      <p:sp>
        <p:nvSpPr>
          <p:cNvPr id="30" name="Text 25"/>
          <p:cNvSpPr/>
          <p:nvPr/>
        </p:nvSpPr>
        <p:spPr>
          <a:xfrm>
            <a:off x="736506" y="7185184"/>
            <a:ext cx="6028849" cy="30527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Xem Serial Monitor có in ra thông báo "Da Bat Den!" không</a:t>
            </a:r>
            <a:endParaRPr lang="en-US" dirty="0"/>
          </a:p>
        </p:txBody>
      </p:sp>
      <p:sp>
        <p:nvSpPr>
          <p:cNvPr id="31" name="Shape 26"/>
          <p:cNvSpPr/>
          <p:nvPr/>
        </p:nvSpPr>
        <p:spPr>
          <a:xfrm>
            <a:off x="7410569" y="5171599"/>
            <a:ext cx="6456402" cy="2532578"/>
          </a:xfrm>
          <a:prstGeom prst="roundRect">
            <a:avLst>
              <a:gd name="adj" fmla="val 4333"/>
            </a:avLst>
          </a:prstGeom>
          <a:solidFill>
            <a:srgbClr val="E5F9F2">
              <a:alpha val="95000"/>
            </a:srgbClr>
          </a:solidFill>
          <a:ln/>
        </p:spPr>
      </p:sp>
      <p:sp>
        <p:nvSpPr>
          <p:cNvPr id="32" name="Shape 27"/>
          <p:cNvSpPr/>
          <p:nvPr/>
        </p:nvSpPr>
        <p:spPr>
          <a:xfrm>
            <a:off x="7410569" y="5148739"/>
            <a:ext cx="6456402" cy="91440"/>
          </a:xfrm>
          <a:prstGeom prst="roundRect">
            <a:avLst>
              <a:gd name="adj" fmla="val 187869"/>
            </a:avLst>
          </a:prstGeom>
          <a:solidFill>
            <a:srgbClr val="006747"/>
          </a:solidFill>
          <a:ln/>
        </p:spPr>
      </p:sp>
      <p:sp>
        <p:nvSpPr>
          <p:cNvPr id="33" name="Shape 28"/>
          <p:cNvSpPr/>
          <p:nvPr/>
        </p:nvSpPr>
        <p:spPr>
          <a:xfrm>
            <a:off x="10352425" y="4885373"/>
            <a:ext cx="572572" cy="572572"/>
          </a:xfrm>
          <a:prstGeom prst="roundRect">
            <a:avLst>
              <a:gd name="adj" fmla="val 159700"/>
            </a:avLst>
          </a:prstGeom>
          <a:solidFill>
            <a:srgbClr val="006747"/>
          </a:solidFill>
          <a:ln/>
        </p:spPr>
      </p:sp>
      <p:pic>
        <p:nvPicPr>
          <p:cNvPr id="3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524232" y="5057061"/>
            <a:ext cx="228957" cy="228957"/>
          </a:xfrm>
          <a:prstGeom prst="rect">
            <a:avLst/>
          </a:prstGeom>
        </p:spPr>
      </p:pic>
      <p:sp>
        <p:nvSpPr>
          <p:cNvPr id="35" name="Text 29"/>
          <p:cNvSpPr/>
          <p:nvPr/>
        </p:nvSpPr>
        <p:spPr>
          <a:xfrm>
            <a:off x="7624286" y="5648682"/>
            <a:ext cx="3134439" cy="298252"/>
          </a:xfrm>
          <a:prstGeom prst="rect">
            <a:avLst/>
          </a:prstGeom>
          <a:noFill/>
          <a:ln/>
        </p:spPr>
        <p:txBody>
          <a:bodyPr wrap="none" lIns="0" tIns="0" rIns="0" bIns="0" rtlCol="0" anchor="t"/>
          <a:lstStyle/>
          <a:p>
            <a:pPr marL="0" indent="0" algn="l">
              <a:lnSpc>
                <a:spcPts val="2300"/>
              </a:lnSpc>
              <a:buNone/>
            </a:pPr>
            <a:r>
              <a:rPr lang="en-US" b="1" dirty="0">
                <a:solidFill>
                  <a:srgbClr val="4B4A4A"/>
                </a:solidFill>
                <a:latin typeface="Noto Serif SC Bold" pitchFamily="34" charset="0"/>
                <a:ea typeface="Noto Serif SC Bold" pitchFamily="34" charset="-122"/>
                <a:cs typeface="Noto Serif SC Bold" pitchFamily="34" charset="-120"/>
              </a:rPr>
              <a:t>Trang web hiển thị lỗi 404</a:t>
            </a:r>
            <a:endParaRPr lang="en-US" dirty="0"/>
          </a:p>
        </p:txBody>
      </p:sp>
      <p:sp>
        <p:nvSpPr>
          <p:cNvPr id="36" name="Text 30"/>
          <p:cNvSpPr/>
          <p:nvPr/>
        </p:nvSpPr>
        <p:spPr>
          <a:xfrm>
            <a:off x="7624286" y="6061353"/>
            <a:ext cx="6028968" cy="30527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Chắc chắn đang gõ đúng địa chỉ IP (không phải tên miền)</a:t>
            </a:r>
            <a:endParaRPr lang="en-US" dirty="0"/>
          </a:p>
        </p:txBody>
      </p:sp>
      <p:sp>
        <p:nvSpPr>
          <p:cNvPr id="37" name="Text 31"/>
          <p:cNvSpPr/>
          <p:nvPr/>
        </p:nvSpPr>
        <p:spPr>
          <a:xfrm>
            <a:off x="7624286" y="6433423"/>
            <a:ext cx="6028968" cy="31289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Không thêm </a:t>
            </a:r>
            <a:r>
              <a:rPr lang="en-US" dirty="0">
                <a:solidFill>
                  <a:srgbClr val="4B4A4A"/>
                </a:solidFill>
                <a:highlight>
                  <a:srgbClr val="D8ECE5"/>
                </a:highlight>
                <a:latin typeface="Consolas" pitchFamily="34" charset="0"/>
                <a:ea typeface="Consolas" pitchFamily="34" charset="-122"/>
                <a:cs typeface="Consolas" pitchFamily="34" charset="-120"/>
              </a:rPr>
              <a:t>/index.html</a:t>
            </a:r>
            <a:r>
              <a:rPr lang="en-US" dirty="0">
                <a:solidFill>
                  <a:srgbClr val="4B4A4A"/>
                </a:solidFill>
                <a:latin typeface="Geist" pitchFamily="34" charset="0"/>
                <a:ea typeface="Geist" pitchFamily="34" charset="-122"/>
                <a:cs typeface="Geist" pitchFamily="34" charset="-120"/>
              </a:rPr>
              <a:t> vào cuối (chỉ cần IP thôi)</a:t>
            </a:r>
            <a:endParaRPr lang="en-US" dirty="0"/>
          </a:p>
        </p:txBody>
      </p:sp>
      <p:sp>
        <p:nvSpPr>
          <p:cNvPr id="38" name="Text 32"/>
          <p:cNvSpPr/>
          <p:nvPr/>
        </p:nvSpPr>
        <p:spPr>
          <a:xfrm>
            <a:off x="7624286" y="6813113"/>
            <a:ext cx="6028968" cy="312896"/>
          </a:xfrm>
          <a:prstGeom prst="rect">
            <a:avLst/>
          </a:prstGeom>
          <a:noFill/>
          <a:ln/>
        </p:spPr>
        <p:txBody>
          <a:bodyPr wrap="none" lIns="0" tIns="0" rIns="0" bIns="0" rtlCol="0" anchor="t"/>
          <a:lstStyle/>
          <a:p>
            <a:pPr marL="342900" indent="-342900" algn="l">
              <a:lnSpc>
                <a:spcPts val="2400"/>
              </a:lnSpc>
              <a:buSzPct val="100000"/>
              <a:buChar char="•"/>
            </a:pPr>
            <a:r>
              <a:rPr lang="en-US" dirty="0">
                <a:solidFill>
                  <a:srgbClr val="4B4A4A"/>
                </a:solidFill>
                <a:latin typeface="Geist" pitchFamily="34" charset="0"/>
                <a:ea typeface="Geist" pitchFamily="34" charset="-122"/>
                <a:cs typeface="Geist" pitchFamily="34" charset="-120"/>
              </a:rPr>
              <a:t>Kiểm tra code có </a:t>
            </a:r>
            <a:r>
              <a:rPr lang="en-US" dirty="0">
                <a:solidFill>
                  <a:srgbClr val="4B4A4A"/>
                </a:solidFill>
                <a:highlight>
                  <a:srgbClr val="D8ECE5"/>
                </a:highlight>
                <a:latin typeface="Consolas" pitchFamily="34" charset="0"/>
                <a:ea typeface="Consolas" pitchFamily="34" charset="-122"/>
                <a:cs typeface="Consolas" pitchFamily="34" charset="-120"/>
              </a:rPr>
              <a:t>server.on("/", handleRoot)</a:t>
            </a:r>
            <a:r>
              <a:rPr lang="en-US" dirty="0">
                <a:solidFill>
                  <a:srgbClr val="4B4A4A"/>
                </a:solidFill>
                <a:latin typeface="Geist" pitchFamily="34" charset="0"/>
                <a:ea typeface="Geist" pitchFamily="34" charset="-122"/>
                <a:cs typeface="Geist" pitchFamily="34" charset="-120"/>
              </a:rPr>
              <a:t> không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par>
                                <p:cTn id="69" presetID="10"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6" grpId="0" animBg="1"/>
      <p:bldP spid="17" grpId="0" animBg="1"/>
      <p:bldP spid="18" grpId="0" animBg="1"/>
      <p:bldP spid="19" grpId="0" animBg="1"/>
      <p:bldP spid="20" grpId="0" animBg="1"/>
      <p:bldP spid="21" grpId="0" animBg="1"/>
      <p:bldP spid="26" grpId="0" animBg="1"/>
      <p:bldP spid="27" grpId="0" animBg="1"/>
      <p:bldP spid="28" grpId="0" animBg="1"/>
      <p:bldP spid="29" grpId="0" animBg="1"/>
      <p:bldP spid="30" grpId="0" animBg="1"/>
      <p:bldP spid="35" grpId="0" animBg="1"/>
      <p:bldP spid="36" grpId="0" animBg="1"/>
      <p:bldP spid="37" grpId="0" animBg="1"/>
      <p:bldP spid="3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1148358" y="3379232"/>
            <a:ext cx="6847284" cy="855821"/>
          </a:xfrm>
          <a:prstGeom prst="rect">
            <a:avLst/>
          </a:prstGeom>
          <a:noFill/>
          <a:ln/>
        </p:spPr>
        <p:txBody>
          <a:bodyPr wrap="none" lIns="0" tIns="0" rIns="0" bIns="0" rtlCol="0" anchor="t"/>
          <a:lstStyle/>
          <a:p>
            <a:pPr marL="0" indent="0" algn="ctr">
              <a:lnSpc>
                <a:spcPts val="6700"/>
              </a:lnSpc>
              <a:buNone/>
            </a:pPr>
            <a:r>
              <a:rPr lang="en-US" sz="5350" b="1" dirty="0">
                <a:solidFill>
                  <a:srgbClr val="006747"/>
                </a:solidFill>
                <a:latin typeface="Noto Serif SC Bold" pitchFamily="34" charset="0"/>
                <a:ea typeface="Noto Serif SC Bold" pitchFamily="34" charset="-122"/>
                <a:cs typeface="Noto Serif SC Bold" pitchFamily="34" charset="-120"/>
              </a:rPr>
              <a:t>NÂNG CAO</a:t>
            </a:r>
            <a:endParaRPr lang="en-US" sz="5350" dirty="0"/>
          </a:p>
        </p:txBody>
      </p:sp>
      <p:sp>
        <p:nvSpPr>
          <p:cNvPr id="4" name="Text 1"/>
          <p:cNvSpPr/>
          <p:nvPr/>
        </p:nvSpPr>
        <p:spPr>
          <a:xfrm>
            <a:off x="793790" y="4532709"/>
            <a:ext cx="7556421" cy="317540"/>
          </a:xfrm>
          <a:prstGeom prst="rect">
            <a:avLst/>
          </a:prstGeom>
          <a:noFill/>
          <a:ln/>
        </p:spPr>
        <p:txBody>
          <a:bodyPr wrap="none" lIns="0" tIns="0" rIns="0" bIns="0" rtlCol="0" anchor="t"/>
          <a:lstStyle/>
          <a:p>
            <a:pPr marL="0" indent="0" algn="ctr">
              <a:lnSpc>
                <a:spcPts val="2500"/>
              </a:lnSpc>
              <a:buNone/>
            </a:pPr>
            <a:r>
              <a:rPr lang="en-US" sz="2000" b="1" dirty="0">
                <a:solidFill>
                  <a:srgbClr val="4B4A4A"/>
                </a:solidFill>
                <a:latin typeface="Geist" pitchFamily="34" charset="0"/>
                <a:ea typeface="Geist" pitchFamily="34" charset="-122"/>
                <a:cs typeface="Geist" pitchFamily="34" charset="-120"/>
              </a:rPr>
              <a:t>Phần 5: Bài tập về nhà và thử thách</a:t>
            </a:r>
            <a:endParaRPr lang="en-US" sz="2000"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718661" y="494109"/>
            <a:ext cx="10065782" cy="561499"/>
          </a:xfrm>
          <a:prstGeom prst="rect">
            <a:avLst/>
          </a:prstGeom>
          <a:noFill/>
          <a:ln/>
        </p:spPr>
        <p:txBody>
          <a:bodyPr wrap="none" lIns="0" tIns="0" rIns="0" bIns="0" rtlCol="0" anchor="t"/>
          <a:lstStyle/>
          <a:p>
            <a:pPr marL="0" indent="0" algn="l">
              <a:lnSpc>
                <a:spcPts val="4400"/>
              </a:lnSpc>
              <a:buNone/>
            </a:pPr>
            <a:r>
              <a:rPr lang="en-US" sz="3500" b="1" dirty="0">
                <a:solidFill>
                  <a:srgbClr val="006747"/>
                </a:solidFill>
                <a:latin typeface="Noto Serif SC Bold" pitchFamily="34" charset="0"/>
                <a:ea typeface="Noto Serif SC Bold" pitchFamily="34" charset="-122"/>
                <a:cs typeface="Noto Serif SC Bold" pitchFamily="34" charset="-120"/>
              </a:rPr>
              <a:t>Thử thách 1: Hiển thị nhiệt độ lên trang web</a:t>
            </a:r>
            <a:endParaRPr lang="en-US" sz="3500" dirty="0"/>
          </a:p>
        </p:txBody>
      </p:sp>
      <p:sp>
        <p:nvSpPr>
          <p:cNvPr id="3" name="Text 1"/>
          <p:cNvSpPr/>
          <p:nvPr/>
        </p:nvSpPr>
        <p:spPr>
          <a:xfrm>
            <a:off x="718661" y="1504712"/>
            <a:ext cx="2245876" cy="280630"/>
          </a:xfrm>
          <a:prstGeom prst="rect">
            <a:avLst/>
          </a:prstGeom>
          <a:noFill/>
          <a:ln/>
        </p:spPr>
        <p:txBody>
          <a:bodyPr wrap="none" lIns="0" tIns="0" rIns="0" bIns="0" rtlCol="0" anchor="t"/>
          <a:lstStyle/>
          <a:p>
            <a:pPr marL="0" indent="0" algn="l">
              <a:lnSpc>
                <a:spcPts val="2200"/>
              </a:lnSpc>
              <a:buNone/>
            </a:pPr>
            <a:r>
              <a:rPr lang="en-US" b="1" dirty="0">
                <a:solidFill>
                  <a:srgbClr val="006747"/>
                </a:solidFill>
                <a:latin typeface="Noto Serif SC Bold" pitchFamily="34" charset="0"/>
                <a:ea typeface="Noto Serif SC Bold" pitchFamily="34" charset="-122"/>
                <a:cs typeface="Noto Serif SC Bold" pitchFamily="34" charset="-120"/>
              </a:rPr>
              <a:t>Mục tiêu</a:t>
            </a:r>
            <a:endParaRPr lang="en-US" dirty="0"/>
          </a:p>
        </p:txBody>
      </p:sp>
      <p:sp>
        <p:nvSpPr>
          <p:cNvPr id="4" name="Text 2"/>
          <p:cNvSpPr/>
          <p:nvPr/>
        </p:nvSpPr>
        <p:spPr>
          <a:xfrm>
            <a:off x="718661" y="1965007"/>
            <a:ext cx="6377345" cy="582454"/>
          </a:xfrm>
          <a:prstGeom prst="rect">
            <a:avLst/>
          </a:prstGeom>
          <a:noFill/>
          <a:ln/>
        </p:spPr>
        <p:txBody>
          <a:bodyPr wrap="square" lIns="0" tIns="0" rIns="0" bIns="0" rtlCol="0" anchor="t"/>
          <a:lstStyle/>
          <a:p>
            <a:pPr marL="0" indent="0" algn="l">
              <a:lnSpc>
                <a:spcPts val="2250"/>
              </a:lnSpc>
              <a:buNone/>
            </a:pPr>
            <a:r>
              <a:rPr lang="en-US" dirty="0">
                <a:solidFill>
                  <a:srgbClr val="4B4A4A"/>
                </a:solidFill>
                <a:latin typeface="Geist" pitchFamily="34" charset="0"/>
                <a:ea typeface="Geist" pitchFamily="34" charset="-122"/>
                <a:cs typeface="Geist" pitchFamily="34" charset="-120"/>
              </a:rPr>
              <a:t>Hiện tại trang web chỉ điều khiển một chiều (Người → Đèn). Bây giờ, hãy làm cho nó truyền thông tin hai chiều (Người </a:t>
            </a:r>
            <a:r>
              <a:rPr lang="en-US" dirty="0">
                <a:solidFill>
                  <a:srgbClr val="000000"/>
                </a:solidFill>
                <a:latin typeface="Geist" pitchFamily="34" charset="0"/>
                <a:ea typeface="Geist" pitchFamily="34" charset="-122"/>
                <a:cs typeface="Geist" pitchFamily="34" charset="-120"/>
              </a:rPr>
              <a:t>↔</a:t>
            </a:r>
            <a:r>
              <a:rPr lang="en-US" dirty="0">
                <a:solidFill>
                  <a:srgbClr val="4B4A4A"/>
                </a:solidFill>
                <a:latin typeface="Geist" pitchFamily="34" charset="0"/>
                <a:ea typeface="Geist" pitchFamily="34" charset="-122"/>
                <a:cs typeface="Geist" pitchFamily="34" charset="-120"/>
              </a:rPr>
              <a:t> ESP32).</a:t>
            </a:r>
            <a:endParaRPr lang="en-US" dirty="0"/>
          </a:p>
        </p:txBody>
      </p:sp>
      <p:sp>
        <p:nvSpPr>
          <p:cNvPr id="5" name="Text 3"/>
          <p:cNvSpPr/>
          <p:nvPr/>
        </p:nvSpPr>
        <p:spPr>
          <a:xfrm>
            <a:off x="718661" y="3021966"/>
            <a:ext cx="6643687" cy="574834"/>
          </a:xfrm>
          <a:prstGeom prst="rect">
            <a:avLst/>
          </a:prstGeom>
          <a:noFill/>
          <a:ln/>
        </p:spPr>
        <p:txBody>
          <a:bodyPr wrap="square" lIns="0" tIns="0" rIns="0" bIns="0" rtlCol="0" anchor="t"/>
          <a:lstStyle/>
          <a:p>
            <a:pPr marL="0" indent="0" algn="l">
              <a:lnSpc>
                <a:spcPts val="2250"/>
              </a:lnSpc>
              <a:buNone/>
            </a:pPr>
            <a:r>
              <a:rPr lang="en-US" dirty="0">
                <a:solidFill>
                  <a:srgbClr val="4B4A4A"/>
                </a:solidFill>
                <a:latin typeface="Geist" pitchFamily="34" charset="0"/>
                <a:ea typeface="Geist" pitchFamily="34" charset="-122"/>
                <a:cs typeface="Geist" pitchFamily="34" charset="-120"/>
              </a:rPr>
              <a:t>Hiển thị </a:t>
            </a:r>
            <a:r>
              <a:rPr lang="en-US" b="1" dirty="0">
                <a:solidFill>
                  <a:srgbClr val="4B4A4A"/>
                </a:solidFill>
                <a:latin typeface="Geist" pitchFamily="34" charset="0"/>
                <a:ea typeface="Geist" pitchFamily="34" charset="-122"/>
                <a:cs typeface="Geist" pitchFamily="34" charset="-120"/>
              </a:rPr>
              <a:t>nhiệt độ</a:t>
            </a:r>
            <a:r>
              <a:rPr lang="en-US" dirty="0">
                <a:solidFill>
                  <a:srgbClr val="4B4A4A"/>
                </a:solidFill>
                <a:latin typeface="Geist" pitchFamily="34" charset="0"/>
                <a:ea typeface="Geist" pitchFamily="34" charset="-122"/>
                <a:cs typeface="Geist" pitchFamily="34" charset="-120"/>
              </a:rPr>
              <a:t> đọc từ cảm biến DHT11 lên trang web, để người dùng có thể theo dõi nhiệt độ phòng ngay trên điện thoại.</a:t>
            </a:r>
            <a:endParaRPr lang="en-US" dirty="0"/>
          </a:p>
        </p:txBody>
      </p:sp>
      <p:sp>
        <p:nvSpPr>
          <p:cNvPr id="6" name="Text 4"/>
          <p:cNvSpPr/>
          <p:nvPr/>
        </p:nvSpPr>
        <p:spPr>
          <a:xfrm>
            <a:off x="718661" y="4137417"/>
            <a:ext cx="2245876" cy="280630"/>
          </a:xfrm>
          <a:prstGeom prst="rect">
            <a:avLst/>
          </a:prstGeom>
          <a:noFill/>
          <a:ln/>
        </p:spPr>
        <p:txBody>
          <a:bodyPr wrap="none" lIns="0" tIns="0" rIns="0" bIns="0" rtlCol="0" anchor="t"/>
          <a:lstStyle/>
          <a:p>
            <a:pPr marL="0" indent="0" algn="l">
              <a:lnSpc>
                <a:spcPts val="2200"/>
              </a:lnSpc>
              <a:buNone/>
            </a:pPr>
            <a:r>
              <a:rPr lang="en-US" b="1" dirty="0">
                <a:solidFill>
                  <a:srgbClr val="006747"/>
                </a:solidFill>
                <a:latin typeface="Noto Serif SC Bold" pitchFamily="34" charset="0"/>
                <a:ea typeface="Noto Serif SC Bold" pitchFamily="34" charset="-122"/>
                <a:cs typeface="Noto Serif SC Bold" pitchFamily="34" charset="-120"/>
              </a:rPr>
              <a:t>Yêu cầu</a:t>
            </a:r>
            <a:endParaRPr lang="en-US" dirty="0"/>
          </a:p>
        </p:txBody>
      </p:sp>
      <p:sp>
        <p:nvSpPr>
          <p:cNvPr id="7" name="Text 5"/>
          <p:cNvSpPr/>
          <p:nvPr/>
        </p:nvSpPr>
        <p:spPr>
          <a:xfrm>
            <a:off x="718661" y="4597713"/>
            <a:ext cx="6377345" cy="287417"/>
          </a:xfrm>
          <a:prstGeom prst="rect">
            <a:avLst/>
          </a:prstGeom>
          <a:noFill/>
          <a:ln/>
        </p:spPr>
        <p:txBody>
          <a:bodyPr wrap="none" lIns="0" tIns="0" rIns="0" bIns="0" rtlCol="0" anchor="t"/>
          <a:lstStyle/>
          <a:p>
            <a:pPr marL="342900" indent="-342900" algn="l">
              <a:lnSpc>
                <a:spcPts val="2250"/>
              </a:lnSpc>
              <a:buSzPct val="100000"/>
              <a:buChar char="•"/>
            </a:pPr>
            <a:r>
              <a:rPr lang="en-US" dirty="0">
                <a:solidFill>
                  <a:srgbClr val="4B4A4A"/>
                </a:solidFill>
                <a:latin typeface="Geist" pitchFamily="34" charset="0"/>
                <a:ea typeface="Geist" pitchFamily="34" charset="-122"/>
                <a:cs typeface="Geist" pitchFamily="34" charset="-120"/>
              </a:rPr>
              <a:t>Nối cảm biến DHT11 vào ESP32</a:t>
            </a:r>
            <a:endParaRPr lang="en-US" dirty="0"/>
          </a:p>
        </p:txBody>
      </p:sp>
      <p:sp>
        <p:nvSpPr>
          <p:cNvPr id="8" name="Text 6"/>
          <p:cNvSpPr/>
          <p:nvPr/>
        </p:nvSpPr>
        <p:spPr>
          <a:xfrm>
            <a:off x="718661" y="4947995"/>
            <a:ext cx="6377345" cy="287417"/>
          </a:xfrm>
          <a:prstGeom prst="rect">
            <a:avLst/>
          </a:prstGeom>
          <a:noFill/>
          <a:ln/>
        </p:spPr>
        <p:txBody>
          <a:bodyPr wrap="none" lIns="0" tIns="0" rIns="0" bIns="0" rtlCol="0" anchor="t"/>
          <a:lstStyle/>
          <a:p>
            <a:pPr marL="342900" indent="-342900" algn="l">
              <a:lnSpc>
                <a:spcPts val="2250"/>
              </a:lnSpc>
              <a:buSzPct val="100000"/>
              <a:buChar char="•"/>
            </a:pPr>
            <a:r>
              <a:rPr lang="en-US" dirty="0">
                <a:solidFill>
                  <a:srgbClr val="4B4A4A"/>
                </a:solidFill>
                <a:latin typeface="Geist" pitchFamily="34" charset="0"/>
                <a:ea typeface="Geist" pitchFamily="34" charset="-122"/>
                <a:cs typeface="Geist" pitchFamily="34" charset="-120"/>
              </a:rPr>
              <a:t>Đọc giá trị nhiệt độ trong hàm </a:t>
            </a:r>
            <a:r>
              <a:rPr lang="en-US" dirty="0">
                <a:solidFill>
                  <a:srgbClr val="4B4A4A"/>
                </a:solidFill>
                <a:highlight>
                  <a:srgbClr val="D8ECE5"/>
                </a:highlight>
                <a:latin typeface="Consolas" pitchFamily="34" charset="0"/>
                <a:ea typeface="Consolas" pitchFamily="34" charset="-122"/>
                <a:cs typeface="Consolas" pitchFamily="34" charset="-120"/>
              </a:rPr>
              <a:t>getHTML()</a:t>
            </a:r>
            <a:endParaRPr lang="en-US" dirty="0"/>
          </a:p>
        </p:txBody>
      </p:sp>
      <p:sp>
        <p:nvSpPr>
          <p:cNvPr id="9" name="Text 7"/>
          <p:cNvSpPr/>
          <p:nvPr/>
        </p:nvSpPr>
        <p:spPr>
          <a:xfrm>
            <a:off x="718661" y="5298277"/>
            <a:ext cx="6377345" cy="287417"/>
          </a:xfrm>
          <a:prstGeom prst="rect">
            <a:avLst/>
          </a:prstGeom>
          <a:noFill/>
          <a:ln/>
        </p:spPr>
        <p:txBody>
          <a:bodyPr wrap="none" lIns="0" tIns="0" rIns="0" bIns="0" rtlCol="0" anchor="t"/>
          <a:lstStyle/>
          <a:p>
            <a:pPr marL="342900" indent="-342900" algn="l">
              <a:lnSpc>
                <a:spcPts val="2250"/>
              </a:lnSpc>
              <a:buSzPct val="100000"/>
              <a:buChar char="•"/>
            </a:pPr>
            <a:r>
              <a:rPr lang="en-US" dirty="0">
                <a:solidFill>
                  <a:srgbClr val="4B4A4A"/>
                </a:solidFill>
                <a:latin typeface="Geist" pitchFamily="34" charset="0"/>
                <a:ea typeface="Geist" pitchFamily="34" charset="-122"/>
                <a:cs typeface="Geist" pitchFamily="34" charset="-120"/>
              </a:rPr>
              <a:t>Thêm nhiệt độ vào chuỗi HTML trước khi gửi cho Client</a:t>
            </a:r>
            <a:endParaRPr lang="en-US" dirty="0"/>
          </a:p>
        </p:txBody>
      </p:sp>
      <p:sp>
        <p:nvSpPr>
          <p:cNvPr id="10" name="Text 8"/>
          <p:cNvSpPr/>
          <p:nvPr/>
        </p:nvSpPr>
        <p:spPr>
          <a:xfrm>
            <a:off x="7542014" y="1504712"/>
            <a:ext cx="2245876" cy="280630"/>
          </a:xfrm>
          <a:prstGeom prst="rect">
            <a:avLst/>
          </a:prstGeom>
          <a:noFill/>
          <a:ln/>
        </p:spPr>
        <p:txBody>
          <a:bodyPr wrap="none" lIns="0" tIns="0" rIns="0" bIns="0" rtlCol="0" anchor="t"/>
          <a:lstStyle/>
          <a:p>
            <a:pPr marL="0" indent="0" algn="l">
              <a:lnSpc>
                <a:spcPts val="2200"/>
              </a:lnSpc>
              <a:buNone/>
            </a:pPr>
            <a:r>
              <a:rPr lang="en-US" b="1" dirty="0">
                <a:solidFill>
                  <a:srgbClr val="006747"/>
                </a:solidFill>
                <a:latin typeface="Noto Serif SC Bold" pitchFamily="34" charset="0"/>
                <a:ea typeface="Noto Serif SC Bold" pitchFamily="34" charset="-122"/>
                <a:cs typeface="Noto Serif SC Bold" pitchFamily="34" charset="-120"/>
              </a:rPr>
              <a:t>Gợi ý code</a:t>
            </a:r>
            <a:endParaRPr lang="en-US" dirty="0"/>
          </a:p>
        </p:txBody>
      </p:sp>
      <p:sp>
        <p:nvSpPr>
          <p:cNvPr id="11" name="Shape 9"/>
          <p:cNvSpPr/>
          <p:nvPr/>
        </p:nvSpPr>
        <p:spPr>
          <a:xfrm>
            <a:off x="7542014" y="1987391"/>
            <a:ext cx="6377345" cy="4293156"/>
          </a:xfrm>
          <a:prstGeom prst="roundRect">
            <a:avLst>
              <a:gd name="adj" fmla="val 3767"/>
            </a:avLst>
          </a:prstGeom>
          <a:solidFill>
            <a:srgbClr val="D8ECE5"/>
          </a:solidFill>
          <a:ln/>
        </p:spPr>
      </p:sp>
      <p:sp>
        <p:nvSpPr>
          <p:cNvPr id="12" name="Shape 10"/>
          <p:cNvSpPr/>
          <p:nvPr/>
        </p:nvSpPr>
        <p:spPr>
          <a:xfrm>
            <a:off x="7533084" y="1987391"/>
            <a:ext cx="6395204" cy="4293156"/>
          </a:xfrm>
          <a:prstGeom prst="roundRect">
            <a:avLst>
              <a:gd name="adj" fmla="val 628"/>
            </a:avLst>
          </a:prstGeom>
          <a:solidFill>
            <a:srgbClr val="D8ECE5"/>
          </a:solidFill>
          <a:ln/>
        </p:spPr>
      </p:sp>
      <p:sp>
        <p:nvSpPr>
          <p:cNvPr id="13" name="Text 11"/>
          <p:cNvSpPr/>
          <p:nvPr/>
        </p:nvSpPr>
        <p:spPr>
          <a:xfrm>
            <a:off x="7712750" y="2122051"/>
            <a:ext cx="6035873" cy="4023836"/>
          </a:xfrm>
          <a:prstGeom prst="rect">
            <a:avLst/>
          </a:prstGeom>
          <a:noFill/>
          <a:ln/>
        </p:spPr>
        <p:txBody>
          <a:bodyPr wrap="square" lIns="0" tIns="0" rIns="0" bIns="0" rtlCol="0" anchor="t"/>
          <a:lstStyle/>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#include &lt;DHT.h&gt;</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#define DHTPIN 4</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#define DHTTYPE DHT11</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DHT dht(DHTPIN, DHTTYPE);</a:t>
            </a:r>
            <a:endParaRPr lang="en-US" dirty="0"/>
          </a:p>
          <a:p>
            <a:pPr marL="0" indent="0" algn="l">
              <a:lnSpc>
                <a:spcPts val="2250"/>
              </a:lnSpc>
              <a:buNone/>
            </a:pP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String getHTML() {</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float t = dht.readTemperature();</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String html = "...";</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html += "&lt;p&gt;Nhiet do phong: ";</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html += "&lt;b&gt;" + String(t) + " *C&lt;/b&gt;";</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html += "&lt;/p&gt;";</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 ... phần còn lại</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return html;</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14" name="Shape 12"/>
          <p:cNvSpPr/>
          <p:nvPr/>
        </p:nvSpPr>
        <p:spPr>
          <a:xfrm>
            <a:off x="718661" y="6684645"/>
            <a:ext cx="13193078" cy="1050846"/>
          </a:xfrm>
          <a:prstGeom prst="roundRect">
            <a:avLst>
              <a:gd name="adj" fmla="val 15388"/>
            </a:avLst>
          </a:prstGeom>
          <a:solidFill>
            <a:srgbClr val="B3FFE7"/>
          </a:solidFill>
          <a:ln/>
        </p:spPr>
      </p:sp>
      <p:pic>
        <p:nvPicPr>
          <p:cNvPr id="15" name="Image 0" descr="preencoded.png"/>
          <p:cNvPicPr>
            <a:picLocks noChangeAspect="1"/>
          </p:cNvPicPr>
          <p:nvPr/>
        </p:nvPicPr>
        <p:blipFill>
          <a:blip r:embed="rId3"/>
          <a:stretch>
            <a:fillRect/>
          </a:stretch>
        </p:blipFill>
        <p:spPr>
          <a:xfrm>
            <a:off x="898327" y="6957655"/>
            <a:ext cx="224552" cy="179665"/>
          </a:xfrm>
          <a:prstGeom prst="rect">
            <a:avLst/>
          </a:prstGeom>
        </p:spPr>
      </p:pic>
      <p:sp>
        <p:nvSpPr>
          <p:cNvPr id="16" name="Text 13"/>
          <p:cNvSpPr/>
          <p:nvPr/>
        </p:nvSpPr>
        <p:spPr>
          <a:xfrm>
            <a:off x="1302544" y="6909197"/>
            <a:ext cx="12429530" cy="574834"/>
          </a:xfrm>
          <a:prstGeom prst="rect">
            <a:avLst/>
          </a:prstGeom>
          <a:noFill/>
          <a:ln/>
        </p:spPr>
        <p:txBody>
          <a:bodyPr wrap="square" lIns="0" tIns="0" rIns="0" bIns="0" rtlCol="0" anchor="t"/>
          <a:lstStyle/>
          <a:p>
            <a:pPr marL="0" indent="0" algn="l">
              <a:lnSpc>
                <a:spcPts val="2250"/>
              </a:lnSpc>
              <a:buNone/>
            </a:pPr>
            <a:r>
              <a:rPr lang="en-US" b="1" dirty="0">
                <a:solidFill>
                  <a:srgbClr val="000000"/>
                </a:solidFill>
                <a:latin typeface="Geist" pitchFamily="34" charset="0"/>
                <a:ea typeface="Geist" pitchFamily="34" charset="-122"/>
                <a:cs typeface="Geist" pitchFamily="34" charset="-120"/>
              </a:rPr>
              <a:t>Lưu ý:</a:t>
            </a:r>
            <a:r>
              <a:rPr lang="en-US" dirty="0">
                <a:solidFill>
                  <a:srgbClr val="000000"/>
                </a:solidFill>
                <a:latin typeface="Geist" pitchFamily="34" charset="0"/>
                <a:ea typeface="Geist" pitchFamily="34" charset="-122"/>
                <a:cs typeface="Geist" pitchFamily="34" charset="-120"/>
              </a:rPr>
              <a:t> Với cách này, nhiệt độ chỉ cập nhật khi bạn bấm tải lại trang (F5) hoặc bấm nút BẬT/TẮT. Tuần sau chúng ta sẽ học cách cập nhật tự động bằng AJAX!</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3" grpId="0" animBg="1"/>
      <p:bldP spid="1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768906" y="528638"/>
            <a:ext cx="11905774" cy="600789"/>
          </a:xfrm>
          <a:prstGeom prst="rect">
            <a:avLst/>
          </a:prstGeom>
          <a:noFill/>
          <a:ln/>
        </p:spPr>
        <p:txBody>
          <a:bodyPr wrap="none" lIns="0" tIns="0" rIns="0" bIns="0" rtlCol="0" anchor="t"/>
          <a:lstStyle/>
          <a:p>
            <a:pPr marL="0" indent="0" algn="l">
              <a:lnSpc>
                <a:spcPts val="4700"/>
              </a:lnSpc>
              <a:buNone/>
            </a:pPr>
            <a:r>
              <a:rPr lang="en-US" sz="3750" b="1" dirty="0">
                <a:solidFill>
                  <a:srgbClr val="006747"/>
                </a:solidFill>
                <a:latin typeface="Noto Serif SC Bold" pitchFamily="34" charset="0"/>
                <a:ea typeface="Noto Serif SC Bold" pitchFamily="34" charset="-122"/>
                <a:cs typeface="Noto Serif SC Bold" pitchFamily="34" charset="-120"/>
              </a:rPr>
              <a:t>Thử thách 2: Thêm nút điều khiển cho nhiều đèn</a:t>
            </a:r>
            <a:endParaRPr lang="en-US" sz="3750" dirty="0"/>
          </a:p>
        </p:txBody>
      </p:sp>
      <p:sp>
        <p:nvSpPr>
          <p:cNvPr id="3" name="Text 1"/>
          <p:cNvSpPr/>
          <p:nvPr/>
        </p:nvSpPr>
        <p:spPr>
          <a:xfrm>
            <a:off x="768906" y="1609844"/>
            <a:ext cx="2403038" cy="300276"/>
          </a:xfrm>
          <a:prstGeom prst="rect">
            <a:avLst/>
          </a:prstGeom>
          <a:noFill/>
          <a:ln/>
        </p:spPr>
        <p:txBody>
          <a:bodyPr wrap="none" lIns="0" tIns="0" rIns="0" bIns="0" rtlCol="0" anchor="t"/>
          <a:lstStyle/>
          <a:p>
            <a:pPr marL="0" indent="0" algn="l">
              <a:lnSpc>
                <a:spcPts val="2350"/>
              </a:lnSpc>
              <a:buNone/>
            </a:pPr>
            <a:r>
              <a:rPr lang="en-US" b="1" dirty="0">
                <a:solidFill>
                  <a:srgbClr val="006747"/>
                </a:solidFill>
                <a:latin typeface="Noto Serif SC Bold" pitchFamily="34" charset="0"/>
                <a:ea typeface="Noto Serif SC Bold" pitchFamily="34" charset="-122"/>
                <a:cs typeface="Noto Serif SC Bold" pitchFamily="34" charset="-120"/>
              </a:rPr>
              <a:t>Mở rộng hệ thống</a:t>
            </a:r>
            <a:endParaRPr lang="en-US" dirty="0"/>
          </a:p>
        </p:txBody>
      </p:sp>
      <p:sp>
        <p:nvSpPr>
          <p:cNvPr id="4" name="Text 2"/>
          <p:cNvSpPr/>
          <p:nvPr/>
        </p:nvSpPr>
        <p:spPr>
          <a:xfrm>
            <a:off x="768906" y="2102287"/>
            <a:ext cx="12381610" cy="615315"/>
          </a:xfrm>
          <a:prstGeom prst="rect">
            <a:avLst/>
          </a:prstGeom>
          <a:noFill/>
          <a:ln/>
        </p:spPr>
        <p:txBody>
          <a:bodyPr wrap="square" lIns="0" tIns="0" rIns="0" bIns="0" rtlCol="0" anchor="t"/>
          <a:lstStyle/>
          <a:p>
            <a:pPr marL="0" indent="0" algn="l">
              <a:lnSpc>
                <a:spcPts val="2400"/>
              </a:lnSpc>
              <a:buNone/>
            </a:pPr>
            <a:r>
              <a:rPr lang="en-US" dirty="0">
                <a:solidFill>
                  <a:srgbClr val="4B4A4A"/>
                </a:solidFill>
                <a:latin typeface="Geist" pitchFamily="34" charset="0"/>
                <a:ea typeface="Geist" pitchFamily="34" charset="-122"/>
                <a:cs typeface="Geist" pitchFamily="34" charset="-120"/>
              </a:rPr>
              <a:t>Thử thêm một đèn LED thứ hai (ví dụ: chân GPIO 5) và tạo thêm hai nút điều khiển riêng biệt cho đèn đó.</a:t>
            </a:r>
            <a:endParaRPr lang="en-US" dirty="0"/>
          </a:p>
        </p:txBody>
      </p:sp>
      <p:sp>
        <p:nvSpPr>
          <p:cNvPr id="5" name="Text 3"/>
          <p:cNvSpPr/>
          <p:nvPr/>
        </p:nvSpPr>
        <p:spPr>
          <a:xfrm>
            <a:off x="768906" y="2909768"/>
            <a:ext cx="2403038" cy="300276"/>
          </a:xfrm>
          <a:prstGeom prst="rect">
            <a:avLst/>
          </a:prstGeom>
          <a:noFill/>
          <a:ln/>
        </p:spPr>
        <p:txBody>
          <a:bodyPr wrap="none" lIns="0" tIns="0" rIns="0" bIns="0" rtlCol="0" anchor="t"/>
          <a:lstStyle/>
          <a:p>
            <a:pPr marL="0" indent="0" algn="l">
              <a:lnSpc>
                <a:spcPts val="2350"/>
              </a:lnSpc>
              <a:buNone/>
            </a:pPr>
            <a:r>
              <a:rPr lang="en-US" b="1" dirty="0">
                <a:solidFill>
                  <a:srgbClr val="006747"/>
                </a:solidFill>
                <a:latin typeface="Noto Serif SC Bold" pitchFamily="34" charset="0"/>
                <a:ea typeface="Noto Serif SC Bold" pitchFamily="34" charset="-122"/>
                <a:cs typeface="Noto Serif SC Bold" pitchFamily="34" charset="-120"/>
              </a:rPr>
              <a:t>Các bước thực hiện</a:t>
            </a:r>
            <a:endParaRPr lang="en-US" dirty="0"/>
          </a:p>
        </p:txBody>
      </p:sp>
      <p:sp>
        <p:nvSpPr>
          <p:cNvPr id="6" name="Text 4"/>
          <p:cNvSpPr/>
          <p:nvPr/>
        </p:nvSpPr>
        <p:spPr>
          <a:xfrm>
            <a:off x="768906" y="3402211"/>
            <a:ext cx="7667982" cy="315278"/>
          </a:xfrm>
          <a:prstGeom prst="rect">
            <a:avLst/>
          </a:prstGeom>
          <a:noFill/>
          <a:ln/>
        </p:spPr>
        <p:txBody>
          <a:bodyPr wrap="none" lIns="0" tIns="0" rIns="0" bIns="0" rtlCol="0" anchor="t"/>
          <a:lstStyle/>
          <a:p>
            <a:pPr marL="342900" indent="-342900" algn="l">
              <a:lnSpc>
                <a:spcPts val="2400"/>
              </a:lnSpc>
              <a:buSzPct val="100000"/>
              <a:buFont typeface="+mj-lt"/>
              <a:buAutoNum type="arabicPeriod"/>
            </a:pPr>
            <a:r>
              <a:rPr lang="en-US" dirty="0">
                <a:solidFill>
                  <a:srgbClr val="4B4A4A"/>
                </a:solidFill>
                <a:latin typeface="Geist" pitchFamily="34" charset="0"/>
                <a:ea typeface="Geist" pitchFamily="34" charset="-122"/>
                <a:cs typeface="Geist" pitchFamily="34" charset="-120"/>
              </a:rPr>
              <a:t>Định nghĩa thêm </a:t>
            </a:r>
            <a:r>
              <a:rPr lang="en-US" dirty="0">
                <a:solidFill>
                  <a:srgbClr val="4B4A4A"/>
                </a:solidFill>
                <a:highlight>
                  <a:srgbClr val="D8ECE5"/>
                </a:highlight>
                <a:latin typeface="Consolas" pitchFamily="34" charset="0"/>
                <a:ea typeface="Consolas" pitchFamily="34" charset="-122"/>
                <a:cs typeface="Consolas" pitchFamily="34" charset="-120"/>
              </a:rPr>
              <a:t>#define LED2_PIN 5</a:t>
            </a:r>
            <a:endParaRPr lang="en-US" dirty="0"/>
          </a:p>
        </p:txBody>
      </p:sp>
      <p:sp>
        <p:nvSpPr>
          <p:cNvPr id="7" name="Text 5"/>
          <p:cNvSpPr/>
          <p:nvPr/>
        </p:nvSpPr>
        <p:spPr>
          <a:xfrm>
            <a:off x="768906" y="3784759"/>
            <a:ext cx="7667982" cy="315278"/>
          </a:xfrm>
          <a:prstGeom prst="rect">
            <a:avLst/>
          </a:prstGeom>
          <a:noFill/>
          <a:ln/>
        </p:spPr>
        <p:txBody>
          <a:bodyPr wrap="none" lIns="0" tIns="0" rIns="0" bIns="0" rtlCol="0" anchor="t"/>
          <a:lstStyle/>
          <a:p>
            <a:pPr marL="342900" indent="-342900" algn="l">
              <a:lnSpc>
                <a:spcPts val="2400"/>
              </a:lnSpc>
              <a:buSzPct val="100000"/>
              <a:buFont typeface="+mj-lt"/>
              <a:buAutoNum type="arabicPeriod" startAt="2"/>
            </a:pPr>
            <a:r>
              <a:rPr lang="en-US" dirty="0">
                <a:solidFill>
                  <a:srgbClr val="4B4A4A"/>
                </a:solidFill>
                <a:latin typeface="Geist" pitchFamily="34" charset="0"/>
                <a:ea typeface="Geist" pitchFamily="34" charset="-122"/>
                <a:cs typeface="Geist" pitchFamily="34" charset="-120"/>
              </a:rPr>
              <a:t>Trong </a:t>
            </a:r>
            <a:r>
              <a:rPr lang="en-US" dirty="0">
                <a:solidFill>
                  <a:srgbClr val="4B4A4A"/>
                </a:solidFill>
                <a:highlight>
                  <a:srgbClr val="D8ECE5"/>
                </a:highlight>
                <a:latin typeface="Consolas" pitchFamily="34" charset="0"/>
                <a:ea typeface="Consolas" pitchFamily="34" charset="-122"/>
                <a:cs typeface="Consolas" pitchFamily="34" charset="-120"/>
              </a:rPr>
              <a:t>setup()</a:t>
            </a:r>
            <a:r>
              <a:rPr lang="en-US" dirty="0">
                <a:solidFill>
                  <a:srgbClr val="4B4A4A"/>
                </a:solidFill>
                <a:latin typeface="Geist" pitchFamily="34" charset="0"/>
                <a:ea typeface="Geist" pitchFamily="34" charset="-122"/>
                <a:cs typeface="Geist" pitchFamily="34" charset="-120"/>
              </a:rPr>
              <a:t>, thêm </a:t>
            </a:r>
            <a:r>
              <a:rPr lang="en-US" dirty="0">
                <a:solidFill>
                  <a:srgbClr val="4B4A4A"/>
                </a:solidFill>
                <a:highlight>
                  <a:srgbClr val="D8ECE5"/>
                </a:highlight>
                <a:latin typeface="Consolas" pitchFamily="34" charset="0"/>
                <a:ea typeface="Consolas" pitchFamily="34" charset="-122"/>
                <a:cs typeface="Consolas" pitchFamily="34" charset="-120"/>
              </a:rPr>
              <a:t>pinMode(LED2_PIN, OUTPUT)</a:t>
            </a:r>
            <a:endParaRPr lang="en-US" dirty="0"/>
          </a:p>
        </p:txBody>
      </p:sp>
      <p:sp>
        <p:nvSpPr>
          <p:cNvPr id="8" name="Text 6"/>
          <p:cNvSpPr/>
          <p:nvPr/>
        </p:nvSpPr>
        <p:spPr>
          <a:xfrm>
            <a:off x="768906" y="4167307"/>
            <a:ext cx="7667982" cy="315278"/>
          </a:xfrm>
          <a:prstGeom prst="rect">
            <a:avLst/>
          </a:prstGeom>
          <a:noFill/>
          <a:ln/>
        </p:spPr>
        <p:txBody>
          <a:bodyPr wrap="none" lIns="0" tIns="0" rIns="0" bIns="0" rtlCol="0" anchor="t"/>
          <a:lstStyle/>
          <a:p>
            <a:pPr marL="342900" indent="-342900" algn="l">
              <a:lnSpc>
                <a:spcPts val="2400"/>
              </a:lnSpc>
              <a:buSzPct val="100000"/>
              <a:buFont typeface="+mj-lt"/>
              <a:buAutoNum type="arabicPeriod" startAt="3"/>
            </a:pPr>
            <a:r>
              <a:rPr lang="en-US" dirty="0">
                <a:solidFill>
                  <a:srgbClr val="4B4A4A"/>
                </a:solidFill>
                <a:latin typeface="Geist" pitchFamily="34" charset="0"/>
                <a:ea typeface="Geist" pitchFamily="34" charset="-122"/>
                <a:cs typeface="Geist" pitchFamily="34" charset="-120"/>
              </a:rPr>
              <a:t>Viết thêm 2 hàm: </a:t>
            </a:r>
            <a:r>
              <a:rPr lang="en-US" dirty="0">
                <a:solidFill>
                  <a:srgbClr val="4B4A4A"/>
                </a:solidFill>
                <a:highlight>
                  <a:srgbClr val="D8ECE5"/>
                </a:highlight>
                <a:latin typeface="Consolas" pitchFamily="34" charset="0"/>
                <a:ea typeface="Consolas" pitchFamily="34" charset="-122"/>
                <a:cs typeface="Consolas" pitchFamily="34" charset="-120"/>
              </a:rPr>
              <a:t>handleLed2On()</a:t>
            </a:r>
            <a:r>
              <a:rPr lang="en-US" dirty="0">
                <a:solidFill>
                  <a:srgbClr val="4B4A4A"/>
                </a:solidFill>
                <a:latin typeface="Geist" pitchFamily="34" charset="0"/>
                <a:ea typeface="Geist" pitchFamily="34" charset="-122"/>
                <a:cs typeface="Geist" pitchFamily="34" charset="-120"/>
              </a:rPr>
              <a:t> và </a:t>
            </a:r>
            <a:r>
              <a:rPr lang="en-US" dirty="0">
                <a:solidFill>
                  <a:srgbClr val="4B4A4A"/>
                </a:solidFill>
                <a:highlight>
                  <a:srgbClr val="D8ECE5"/>
                </a:highlight>
                <a:latin typeface="Consolas" pitchFamily="34" charset="0"/>
                <a:ea typeface="Consolas" pitchFamily="34" charset="-122"/>
                <a:cs typeface="Consolas" pitchFamily="34" charset="-120"/>
              </a:rPr>
              <a:t>handleLed2Off()</a:t>
            </a:r>
            <a:endParaRPr lang="en-US" dirty="0"/>
          </a:p>
        </p:txBody>
      </p:sp>
      <p:sp>
        <p:nvSpPr>
          <p:cNvPr id="9" name="Text 7"/>
          <p:cNvSpPr/>
          <p:nvPr/>
        </p:nvSpPr>
        <p:spPr>
          <a:xfrm>
            <a:off x="768906" y="4549854"/>
            <a:ext cx="7667982" cy="315278"/>
          </a:xfrm>
          <a:prstGeom prst="rect">
            <a:avLst/>
          </a:prstGeom>
          <a:noFill/>
          <a:ln/>
        </p:spPr>
        <p:txBody>
          <a:bodyPr wrap="none" lIns="0" tIns="0" rIns="0" bIns="0" rtlCol="0" anchor="t"/>
          <a:lstStyle/>
          <a:p>
            <a:pPr marL="342900" indent="-342900" algn="l">
              <a:lnSpc>
                <a:spcPts val="2400"/>
              </a:lnSpc>
              <a:buSzPct val="100000"/>
              <a:buFont typeface="+mj-lt"/>
              <a:buAutoNum type="arabicPeriod" startAt="4"/>
            </a:pPr>
            <a:r>
              <a:rPr lang="en-US" dirty="0">
                <a:solidFill>
                  <a:srgbClr val="4B4A4A"/>
                </a:solidFill>
                <a:latin typeface="Geist" pitchFamily="34" charset="0"/>
                <a:ea typeface="Geist" pitchFamily="34" charset="-122"/>
                <a:cs typeface="Geist" pitchFamily="34" charset="-120"/>
              </a:rPr>
              <a:t>Thêm routing: </a:t>
            </a:r>
            <a:r>
              <a:rPr lang="en-US" dirty="0">
                <a:solidFill>
                  <a:srgbClr val="4B4A4A"/>
                </a:solidFill>
                <a:highlight>
                  <a:srgbClr val="D8ECE5"/>
                </a:highlight>
                <a:latin typeface="Consolas" pitchFamily="34" charset="0"/>
                <a:ea typeface="Consolas" pitchFamily="34" charset="-122"/>
                <a:cs typeface="Consolas" pitchFamily="34" charset="-120"/>
              </a:rPr>
              <a:t>server.on("/led2on", handleLed2On)</a:t>
            </a:r>
            <a:endParaRPr lang="en-US" dirty="0"/>
          </a:p>
        </p:txBody>
      </p:sp>
      <p:sp>
        <p:nvSpPr>
          <p:cNvPr id="10" name="Text 8"/>
          <p:cNvSpPr/>
          <p:nvPr/>
        </p:nvSpPr>
        <p:spPr>
          <a:xfrm>
            <a:off x="768906" y="4932402"/>
            <a:ext cx="7667982" cy="307658"/>
          </a:xfrm>
          <a:prstGeom prst="rect">
            <a:avLst/>
          </a:prstGeom>
          <a:noFill/>
          <a:ln/>
        </p:spPr>
        <p:txBody>
          <a:bodyPr wrap="none" lIns="0" tIns="0" rIns="0" bIns="0" rtlCol="0" anchor="t"/>
          <a:lstStyle/>
          <a:p>
            <a:pPr marL="342900" indent="-342900" algn="l">
              <a:lnSpc>
                <a:spcPts val="2400"/>
              </a:lnSpc>
              <a:buSzPct val="100000"/>
              <a:buFont typeface="+mj-lt"/>
              <a:buAutoNum type="arabicPeriod" startAt="5"/>
            </a:pPr>
            <a:r>
              <a:rPr lang="en-US" dirty="0">
                <a:solidFill>
                  <a:srgbClr val="4B4A4A"/>
                </a:solidFill>
                <a:latin typeface="Geist" pitchFamily="34" charset="0"/>
                <a:ea typeface="Geist" pitchFamily="34" charset="-122"/>
                <a:cs typeface="Geist" pitchFamily="34" charset="-120"/>
              </a:rPr>
              <a:t>Cập nhật HTML: thêm 2 nút mới với href="/led2on" và "/led2off"</a:t>
            </a:r>
            <a:endParaRPr lang="en-US" dirty="0"/>
          </a:p>
        </p:txBody>
      </p:sp>
      <p:sp>
        <p:nvSpPr>
          <p:cNvPr id="11" name="Text 9"/>
          <p:cNvSpPr/>
          <p:nvPr/>
        </p:nvSpPr>
        <p:spPr>
          <a:xfrm>
            <a:off x="8436888" y="3690462"/>
            <a:ext cx="5366083" cy="922973"/>
          </a:xfrm>
          <a:prstGeom prst="rect">
            <a:avLst/>
          </a:prstGeom>
          <a:noFill/>
          <a:ln/>
        </p:spPr>
        <p:txBody>
          <a:bodyPr wrap="square" lIns="0" tIns="0" rIns="0" bIns="0" rtlCol="0" anchor="t"/>
          <a:lstStyle/>
          <a:p>
            <a:pPr marL="0" indent="0" algn="ctr">
              <a:lnSpc>
                <a:spcPts val="2400"/>
              </a:lnSpc>
              <a:buNone/>
            </a:pPr>
            <a:r>
              <a:rPr lang="en-US" i="1" dirty="0">
                <a:solidFill>
                  <a:srgbClr val="4B4A4A"/>
                </a:solidFill>
                <a:latin typeface="Geist" pitchFamily="34" charset="0"/>
                <a:ea typeface="Geist" pitchFamily="34" charset="-122"/>
                <a:cs typeface="Geist" pitchFamily="34" charset="-120"/>
              </a:rPr>
              <a:t>Với cách này, bạn có thể mở rộng ra 10, 20 thiết bị! Đây chính là nền tảng của một hệ thống Smart Home hoàn chỉnh.</a:t>
            </a:r>
            <a:endParaRPr lang="en-US" dirty="0"/>
          </a:p>
        </p:txBody>
      </p:sp>
      <p:sp>
        <p:nvSpPr>
          <p:cNvPr id="12" name="Text 10"/>
          <p:cNvSpPr/>
          <p:nvPr/>
        </p:nvSpPr>
        <p:spPr>
          <a:xfrm>
            <a:off x="768906" y="5595580"/>
            <a:ext cx="3209211" cy="300276"/>
          </a:xfrm>
          <a:prstGeom prst="rect">
            <a:avLst/>
          </a:prstGeom>
          <a:noFill/>
          <a:ln/>
        </p:spPr>
        <p:txBody>
          <a:bodyPr wrap="none" lIns="0" tIns="0" rIns="0" bIns="0" rtlCol="0" anchor="t"/>
          <a:lstStyle/>
          <a:p>
            <a:pPr marL="0" indent="0" algn="l">
              <a:lnSpc>
                <a:spcPts val="2350"/>
              </a:lnSpc>
              <a:buNone/>
            </a:pPr>
            <a:r>
              <a:rPr lang="en-US" b="1" dirty="0">
                <a:solidFill>
                  <a:srgbClr val="006747"/>
                </a:solidFill>
                <a:latin typeface="Noto Serif SC Bold" pitchFamily="34" charset="0"/>
                <a:ea typeface="Noto Serif SC Bold" pitchFamily="34" charset="-122"/>
                <a:cs typeface="Noto Serif SC Bold" pitchFamily="34" charset="-120"/>
              </a:rPr>
              <a:t>Ví dụ HTML cho LED thứ 2</a:t>
            </a:r>
            <a:endParaRPr lang="en-US" dirty="0"/>
          </a:p>
        </p:txBody>
      </p:sp>
      <p:sp>
        <p:nvSpPr>
          <p:cNvPr id="13" name="Shape 11"/>
          <p:cNvSpPr/>
          <p:nvPr/>
        </p:nvSpPr>
        <p:spPr>
          <a:xfrm>
            <a:off x="768906" y="6184106"/>
            <a:ext cx="13092589" cy="1518761"/>
          </a:xfrm>
          <a:prstGeom prst="roundRect">
            <a:avLst>
              <a:gd name="adj" fmla="val 11392"/>
            </a:avLst>
          </a:prstGeom>
          <a:solidFill>
            <a:srgbClr val="D8ECE5"/>
          </a:solidFill>
          <a:ln/>
        </p:spPr>
      </p:sp>
      <p:sp>
        <p:nvSpPr>
          <p:cNvPr id="14" name="Shape 12"/>
          <p:cNvSpPr/>
          <p:nvPr/>
        </p:nvSpPr>
        <p:spPr>
          <a:xfrm>
            <a:off x="759381" y="6184106"/>
            <a:ext cx="13111639" cy="1518761"/>
          </a:xfrm>
          <a:prstGeom prst="roundRect">
            <a:avLst>
              <a:gd name="adj" fmla="val 1899"/>
            </a:avLst>
          </a:prstGeom>
          <a:solidFill>
            <a:srgbClr val="D8ECE5"/>
          </a:solidFill>
          <a:ln/>
        </p:spPr>
      </p:sp>
      <p:sp>
        <p:nvSpPr>
          <p:cNvPr id="15" name="Text 13"/>
          <p:cNvSpPr/>
          <p:nvPr/>
        </p:nvSpPr>
        <p:spPr>
          <a:xfrm>
            <a:off x="951547" y="6328172"/>
            <a:ext cx="12727305" cy="1230630"/>
          </a:xfrm>
          <a:prstGeom prst="rect">
            <a:avLst/>
          </a:prstGeom>
          <a:noFill/>
          <a:ln/>
        </p:spPr>
        <p:txBody>
          <a:bodyPr wrap="square" lIns="0" tIns="0" rIns="0" bIns="0" rtlCol="0" anchor="t"/>
          <a:lstStyle/>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html += "&lt;hr&gt;";</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html += "&lt;h3&gt;LED 2 (GPIO 5)&lt;/h3&gt;";</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html += "&lt;a href=\"/led2on\"&gt;&lt;button class=\"button\"&gt;BAT LED 2&lt;/button&gt;&lt;/a&gt;";</a:t>
            </a:r>
            <a:endParaRPr lang="en-US" dirty="0"/>
          </a:p>
          <a:p>
            <a:pPr marL="0" indent="0" algn="l">
              <a:lnSpc>
                <a:spcPts val="2400"/>
              </a:lnSpc>
              <a:buNone/>
            </a:pPr>
            <a:r>
              <a:rPr lang="en-US" dirty="0">
                <a:solidFill>
                  <a:srgbClr val="4B4A4A"/>
                </a:solidFill>
                <a:highlight>
                  <a:srgbClr val="D8ECE5"/>
                </a:highlight>
                <a:latin typeface="Consolas" pitchFamily="34" charset="0"/>
                <a:ea typeface="Consolas" pitchFamily="34" charset="-122"/>
                <a:cs typeface="Consolas" pitchFamily="34" charset="-120"/>
              </a:rPr>
              <a:t>html += "&lt;a href=\"/led2off\"&gt;&lt;button class=\"button off\"&gt;TAT LED 2&lt;/button&gt;&lt;/a&gt;";</a:t>
            </a:r>
            <a:endParaRPr lang="en-US" dirty="0"/>
          </a:p>
        </p:txBody>
      </p:sp>
      <p:sp>
        <p:nvSpPr>
          <p:cNvPr id="16" name="Rectangle 15">
            <a:extLst>
              <a:ext uri="{FF2B5EF4-FFF2-40B4-BE49-F238E27FC236}">
                <a16:creationId xmlns:a16="http://schemas.microsoft.com/office/drawing/2014/main" id="{9C89346A-DD94-D50E-E7FF-62DBDC6047AE}"/>
              </a:ext>
            </a:extLst>
          </p:cNvPr>
          <p:cNvSpPr/>
          <p:nvPr/>
        </p:nvSpPr>
        <p:spPr>
          <a:xfrm>
            <a:off x="8241632" y="3523754"/>
            <a:ext cx="6051884" cy="1228487"/>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5" grpId="0" animBg="1"/>
      <p:bldP spid="1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793790" y="876300"/>
            <a:ext cx="11816953"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Thử thách 3: Tạo slider điều chỉnh độ sáng LED</a:t>
            </a:r>
            <a:endParaRPr lang="en-US" sz="3900" dirty="0"/>
          </a:p>
        </p:txBody>
      </p:sp>
      <p:sp>
        <p:nvSpPr>
          <p:cNvPr id="3" name="Text 1"/>
          <p:cNvSpPr/>
          <p:nvPr/>
        </p:nvSpPr>
        <p:spPr>
          <a:xfrm>
            <a:off x="793790" y="1992392"/>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Mục tiêu nâng cao</a:t>
            </a:r>
            <a:endParaRPr lang="en-US" dirty="0"/>
          </a:p>
        </p:txBody>
      </p:sp>
      <p:sp>
        <p:nvSpPr>
          <p:cNvPr id="4" name="Text 2"/>
          <p:cNvSpPr/>
          <p:nvPr/>
        </p:nvSpPr>
        <p:spPr>
          <a:xfrm>
            <a:off x="793790" y="2500908"/>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Thay vì chỉ BẬT/TẮT, bạn có thể điều chỉnh độ sáng LED từ 0-100% bằng một thanh trượt (slider).</a:t>
            </a:r>
            <a:endParaRPr lang="en-US" dirty="0"/>
          </a:p>
        </p:txBody>
      </p:sp>
      <p:sp>
        <p:nvSpPr>
          <p:cNvPr id="5" name="Text 3"/>
          <p:cNvSpPr/>
          <p:nvPr/>
        </p:nvSpPr>
        <p:spPr>
          <a:xfrm>
            <a:off x="793790" y="3334345"/>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Kiến thức cần có</a:t>
            </a:r>
            <a:endParaRPr lang="en-US" dirty="0"/>
          </a:p>
        </p:txBody>
      </p:sp>
      <p:sp>
        <p:nvSpPr>
          <p:cNvPr id="6" name="Text 4"/>
          <p:cNvSpPr/>
          <p:nvPr/>
        </p:nvSpPr>
        <p:spPr>
          <a:xfrm>
            <a:off x="793790" y="3842861"/>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PWM (Pulse Width Modulation):</a:t>
            </a:r>
            <a:r>
              <a:rPr lang="en-US" dirty="0">
                <a:solidFill>
                  <a:srgbClr val="4B4A4A"/>
                </a:solidFill>
                <a:latin typeface="Geist" pitchFamily="34" charset="0"/>
                <a:ea typeface="Geist" pitchFamily="34" charset="-122"/>
                <a:cs typeface="Geist" pitchFamily="34" charset="-120"/>
              </a:rPr>
              <a:t> Kỹ thuật điều chỉnh độ sáng LED</a:t>
            </a:r>
            <a:endParaRPr lang="en-US" dirty="0"/>
          </a:p>
        </p:txBody>
      </p:sp>
      <p:sp>
        <p:nvSpPr>
          <p:cNvPr id="7" name="Text 5"/>
          <p:cNvSpPr/>
          <p:nvPr/>
        </p:nvSpPr>
        <p:spPr>
          <a:xfrm>
            <a:off x="793790" y="454735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HTML Input Range:</a:t>
            </a:r>
            <a:r>
              <a:rPr lang="en-US" dirty="0">
                <a:solidFill>
                  <a:srgbClr val="4B4A4A"/>
                </a:solidFill>
                <a:latin typeface="Geist" pitchFamily="34" charset="0"/>
                <a:ea typeface="Geist" pitchFamily="34" charset="-122"/>
                <a:cs typeface="Geist" pitchFamily="34" charset="-120"/>
              </a:rPr>
              <a:t> Tạo thanh trượt trên web</a:t>
            </a:r>
            <a:endParaRPr lang="en-US" dirty="0"/>
          </a:p>
        </p:txBody>
      </p:sp>
      <p:sp>
        <p:nvSpPr>
          <p:cNvPr id="8" name="Text 6"/>
          <p:cNvSpPr/>
          <p:nvPr/>
        </p:nvSpPr>
        <p:spPr>
          <a:xfrm>
            <a:off x="793790" y="493430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JavaScript:</a:t>
            </a:r>
            <a:r>
              <a:rPr lang="en-US" dirty="0">
                <a:solidFill>
                  <a:srgbClr val="4B4A4A"/>
                </a:solidFill>
                <a:latin typeface="Geist" pitchFamily="34" charset="0"/>
                <a:ea typeface="Geist" pitchFamily="34" charset="-122"/>
                <a:cs typeface="Geist" pitchFamily="34" charset="-120"/>
              </a:rPr>
              <a:t> Gửi giá trị slider lên Server (sẽ học tuần sau)</a:t>
            </a:r>
            <a:endParaRPr lang="en-US" dirty="0"/>
          </a:p>
        </p:txBody>
      </p:sp>
      <p:sp>
        <p:nvSpPr>
          <p:cNvPr id="9" name="Text 7"/>
          <p:cNvSpPr/>
          <p:nvPr/>
        </p:nvSpPr>
        <p:spPr>
          <a:xfrm>
            <a:off x="7564874" y="1992392"/>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Gợi ý code</a:t>
            </a:r>
            <a:endParaRPr lang="en-US" dirty="0"/>
          </a:p>
        </p:txBody>
      </p:sp>
      <p:sp>
        <p:nvSpPr>
          <p:cNvPr id="10" name="Shape 8"/>
          <p:cNvSpPr/>
          <p:nvPr/>
        </p:nvSpPr>
        <p:spPr>
          <a:xfrm>
            <a:off x="7564874" y="2525792"/>
            <a:ext cx="6279356" cy="3790593"/>
          </a:xfrm>
          <a:prstGeom prst="roundRect">
            <a:avLst>
              <a:gd name="adj" fmla="val 4712"/>
            </a:avLst>
          </a:prstGeom>
          <a:solidFill>
            <a:srgbClr val="D8ECE5"/>
          </a:solidFill>
          <a:ln/>
        </p:spPr>
      </p:sp>
      <p:sp>
        <p:nvSpPr>
          <p:cNvPr id="11" name="Shape 9"/>
          <p:cNvSpPr/>
          <p:nvPr/>
        </p:nvSpPr>
        <p:spPr>
          <a:xfrm>
            <a:off x="7554992" y="2525792"/>
            <a:ext cx="6299121" cy="4187829"/>
          </a:xfrm>
          <a:prstGeom prst="roundRect">
            <a:avLst>
              <a:gd name="adj" fmla="val 785"/>
            </a:avLst>
          </a:prstGeom>
          <a:solidFill>
            <a:srgbClr val="D8ECE5"/>
          </a:solidFill>
          <a:ln/>
        </p:spPr>
      </p:sp>
      <p:sp>
        <p:nvSpPr>
          <p:cNvPr id="12" name="Text 10"/>
          <p:cNvSpPr/>
          <p:nvPr/>
        </p:nvSpPr>
        <p:spPr>
          <a:xfrm>
            <a:off x="7753350" y="2674620"/>
            <a:ext cx="5902404" cy="3492937"/>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HTML</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html += "&lt;input type='range' min='0' max='255' value='0' onchange='changeBrightness(this.value)'&gt;";</a:t>
            </a:r>
            <a:endParaRPr lang="en-US" dirty="0"/>
          </a:p>
          <a:p>
            <a:pPr marL="0" indent="0" algn="l">
              <a:lnSpc>
                <a:spcPts val="2500"/>
              </a:lnSpc>
              <a:buNone/>
            </a:pP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Hàm xử lý</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void handleBrightness()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String val = server.arg("value");</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int brightness = val.toInt();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analogWrite(LED_PIN, brightness);</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server.send(200, "text/plain", "OK");</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13" name="Text 11"/>
          <p:cNvSpPr/>
          <p:nvPr/>
        </p:nvSpPr>
        <p:spPr>
          <a:xfrm>
            <a:off x="7564874" y="7028259"/>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Đây là bài tập nâng cao, đòi hỏi hiểu biết về JavaScript. Đừng lo, chúng ta sẽ học chi tiết ở tuần 6!</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2" grpId="0" animBg="1"/>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31031" y="433745"/>
            <a:ext cx="9719191" cy="493038"/>
          </a:xfrm>
          <a:prstGeom prst="rect">
            <a:avLst/>
          </a:prstGeom>
          <a:noFill/>
          <a:ln/>
        </p:spPr>
        <p:txBody>
          <a:bodyPr wrap="none" lIns="0" tIns="0" rIns="0" bIns="0" rtlCol="0" anchor="t"/>
          <a:lstStyle/>
          <a:p>
            <a:pPr marL="0" indent="0" algn="l">
              <a:lnSpc>
                <a:spcPts val="3850"/>
              </a:lnSpc>
              <a:buNone/>
            </a:pPr>
            <a:r>
              <a:rPr lang="en-US" sz="3100" b="1" dirty="0">
                <a:solidFill>
                  <a:srgbClr val="006747"/>
                </a:solidFill>
                <a:latin typeface="Noto Serif SC Bold" pitchFamily="34" charset="0"/>
                <a:ea typeface="Noto Serif SC Bold" pitchFamily="34" charset="-122"/>
                <a:cs typeface="Noto Serif SC Bold" pitchFamily="34" charset="-120"/>
              </a:rPr>
              <a:t>Thử thách 4: Làm đẹp giao diện với CSS nâng cao</a:t>
            </a:r>
            <a:endParaRPr lang="en-US" sz="3100" dirty="0"/>
          </a:p>
        </p:txBody>
      </p:sp>
      <p:sp>
        <p:nvSpPr>
          <p:cNvPr id="3" name="Text 1"/>
          <p:cNvSpPr/>
          <p:nvPr/>
        </p:nvSpPr>
        <p:spPr>
          <a:xfrm>
            <a:off x="631031" y="1321118"/>
            <a:ext cx="2659975" cy="246459"/>
          </a:xfrm>
          <a:prstGeom prst="rect">
            <a:avLst/>
          </a:prstGeom>
          <a:noFill/>
          <a:ln/>
        </p:spPr>
        <p:txBody>
          <a:bodyPr wrap="none" lIns="0" tIns="0" rIns="0" bIns="0" rtlCol="0" anchor="t"/>
          <a:lstStyle/>
          <a:p>
            <a:pPr marL="0" indent="0" algn="l">
              <a:lnSpc>
                <a:spcPts val="1900"/>
              </a:lnSpc>
              <a:buNone/>
            </a:pPr>
            <a:r>
              <a:rPr lang="en-US" b="1" dirty="0">
                <a:solidFill>
                  <a:srgbClr val="006747"/>
                </a:solidFill>
                <a:latin typeface="Noto Serif SC Bold" pitchFamily="34" charset="0"/>
                <a:ea typeface="Noto Serif SC Bold" pitchFamily="34" charset="-122"/>
                <a:cs typeface="Noto Serif SC Bold" pitchFamily="34" charset="-120"/>
              </a:rPr>
              <a:t>Thêm màu sắc và hiệu ứng</a:t>
            </a:r>
            <a:endParaRPr lang="en-US" dirty="0"/>
          </a:p>
        </p:txBody>
      </p:sp>
      <p:sp>
        <p:nvSpPr>
          <p:cNvPr id="4" name="Text 2"/>
          <p:cNvSpPr/>
          <p:nvPr/>
        </p:nvSpPr>
        <p:spPr>
          <a:xfrm>
            <a:off x="631031" y="1725335"/>
            <a:ext cx="6491764" cy="252413"/>
          </a:xfrm>
          <a:prstGeom prst="rect">
            <a:avLst/>
          </a:prstGeom>
          <a:noFill/>
          <a:ln/>
        </p:spPr>
        <p:txBody>
          <a:bodyPr wrap="none" lIns="0" tIns="0" rIns="0" bIns="0" rtlCol="0" anchor="t"/>
          <a:lstStyle/>
          <a:p>
            <a:pPr marL="0" indent="0" algn="l">
              <a:lnSpc>
                <a:spcPts val="1950"/>
              </a:lnSpc>
              <a:buNone/>
            </a:pPr>
            <a:r>
              <a:rPr lang="en-US" dirty="0">
                <a:solidFill>
                  <a:srgbClr val="4B4A4A"/>
                </a:solidFill>
                <a:latin typeface="Geist" pitchFamily="34" charset="0"/>
                <a:ea typeface="Geist" pitchFamily="34" charset="-122"/>
                <a:cs typeface="Geist" pitchFamily="34" charset="-120"/>
              </a:rPr>
              <a:t>Giao diện hiện tại đã khá đẹp, nhưng bạn có thể làm nó chuyên nghiệp hơn với:</a:t>
            </a:r>
            <a:endParaRPr lang="en-US" dirty="0"/>
          </a:p>
        </p:txBody>
      </p:sp>
      <p:sp>
        <p:nvSpPr>
          <p:cNvPr id="5" name="Text 3"/>
          <p:cNvSpPr/>
          <p:nvPr/>
        </p:nvSpPr>
        <p:spPr>
          <a:xfrm>
            <a:off x="631031" y="2119670"/>
            <a:ext cx="6491764" cy="252413"/>
          </a:xfrm>
          <a:prstGeom prst="rect">
            <a:avLst/>
          </a:prstGeom>
          <a:noFill/>
          <a:ln/>
        </p:spPr>
        <p:txBody>
          <a:bodyPr wrap="none" lIns="0" tIns="0" rIns="0" bIns="0" rtlCol="0" anchor="t"/>
          <a:lstStyle/>
          <a:p>
            <a:pPr marL="342900" indent="-342900" algn="l">
              <a:lnSpc>
                <a:spcPts val="1950"/>
              </a:lnSpc>
              <a:buSzPct val="100000"/>
              <a:buChar char="•"/>
            </a:pPr>
            <a:r>
              <a:rPr lang="en-US" b="1" dirty="0">
                <a:solidFill>
                  <a:srgbClr val="4B4A4A"/>
                </a:solidFill>
                <a:latin typeface="Geist" pitchFamily="34" charset="0"/>
                <a:ea typeface="Geist" pitchFamily="34" charset="-122"/>
                <a:cs typeface="Geist" pitchFamily="34" charset="-120"/>
              </a:rPr>
              <a:t>Gradient background:</a:t>
            </a:r>
            <a:r>
              <a:rPr lang="en-US" dirty="0">
                <a:solidFill>
                  <a:srgbClr val="4B4A4A"/>
                </a:solidFill>
                <a:latin typeface="Geist" pitchFamily="34" charset="0"/>
                <a:ea typeface="Geist" pitchFamily="34" charset="-122"/>
                <a:cs typeface="Geist" pitchFamily="34" charset="-120"/>
              </a:rPr>
              <a:t> Nền chuyển màu mượt mà</a:t>
            </a:r>
            <a:endParaRPr lang="en-US" dirty="0"/>
          </a:p>
        </p:txBody>
      </p:sp>
      <p:sp>
        <p:nvSpPr>
          <p:cNvPr id="6" name="Text 4"/>
          <p:cNvSpPr/>
          <p:nvPr/>
        </p:nvSpPr>
        <p:spPr>
          <a:xfrm>
            <a:off x="631031" y="2516108"/>
            <a:ext cx="6491764" cy="252413"/>
          </a:xfrm>
          <a:prstGeom prst="rect">
            <a:avLst/>
          </a:prstGeom>
          <a:noFill/>
          <a:ln/>
        </p:spPr>
        <p:txBody>
          <a:bodyPr wrap="none" lIns="0" tIns="0" rIns="0" bIns="0" rtlCol="0" anchor="t"/>
          <a:lstStyle/>
          <a:p>
            <a:pPr marL="342900" indent="-342900" algn="l">
              <a:lnSpc>
                <a:spcPts val="1950"/>
              </a:lnSpc>
              <a:buSzPct val="100000"/>
              <a:buChar char="•"/>
            </a:pPr>
            <a:r>
              <a:rPr lang="en-US" b="1" dirty="0">
                <a:solidFill>
                  <a:srgbClr val="4B4A4A"/>
                </a:solidFill>
                <a:latin typeface="Geist" pitchFamily="34" charset="0"/>
                <a:ea typeface="Geist" pitchFamily="34" charset="-122"/>
                <a:cs typeface="Geist" pitchFamily="34" charset="-120"/>
              </a:rPr>
              <a:t>Animation:</a:t>
            </a:r>
            <a:r>
              <a:rPr lang="en-US" dirty="0">
                <a:solidFill>
                  <a:srgbClr val="4B4A4A"/>
                </a:solidFill>
                <a:latin typeface="Geist" pitchFamily="34" charset="0"/>
                <a:ea typeface="Geist" pitchFamily="34" charset="-122"/>
                <a:cs typeface="Geist" pitchFamily="34" charset="-120"/>
              </a:rPr>
              <a:t> Hiệu ứng khi hover chuột vào nút</a:t>
            </a:r>
            <a:endParaRPr lang="en-US" dirty="0"/>
          </a:p>
        </p:txBody>
      </p:sp>
      <p:sp>
        <p:nvSpPr>
          <p:cNvPr id="7" name="Text 5"/>
          <p:cNvSpPr/>
          <p:nvPr/>
        </p:nvSpPr>
        <p:spPr>
          <a:xfrm>
            <a:off x="631031" y="2925247"/>
            <a:ext cx="6491764" cy="252413"/>
          </a:xfrm>
          <a:prstGeom prst="rect">
            <a:avLst/>
          </a:prstGeom>
          <a:noFill/>
          <a:ln/>
        </p:spPr>
        <p:txBody>
          <a:bodyPr wrap="none" lIns="0" tIns="0" rIns="0" bIns="0" rtlCol="0" anchor="t"/>
          <a:lstStyle/>
          <a:p>
            <a:pPr marL="342900" indent="-342900" algn="l">
              <a:lnSpc>
                <a:spcPts val="1950"/>
              </a:lnSpc>
              <a:buSzPct val="100000"/>
              <a:buChar char="•"/>
            </a:pPr>
            <a:r>
              <a:rPr lang="en-US" b="1" dirty="0">
                <a:solidFill>
                  <a:srgbClr val="4B4A4A"/>
                </a:solidFill>
                <a:latin typeface="Geist" pitchFamily="34" charset="0"/>
                <a:ea typeface="Geist" pitchFamily="34" charset="-122"/>
                <a:cs typeface="Geist" pitchFamily="34" charset="-120"/>
              </a:rPr>
              <a:t>Icon:</a:t>
            </a:r>
            <a:r>
              <a:rPr lang="en-US" dirty="0">
                <a:solidFill>
                  <a:srgbClr val="4B4A4A"/>
                </a:solidFill>
                <a:latin typeface="Geist" pitchFamily="34" charset="0"/>
                <a:ea typeface="Geist" pitchFamily="34" charset="-122"/>
                <a:cs typeface="Geist" pitchFamily="34" charset="-120"/>
              </a:rPr>
              <a:t> Thêm emoji hoặc icon vào nút</a:t>
            </a:r>
            <a:endParaRPr lang="en-US" dirty="0"/>
          </a:p>
        </p:txBody>
      </p:sp>
      <p:sp>
        <p:nvSpPr>
          <p:cNvPr id="8" name="Text 6"/>
          <p:cNvSpPr/>
          <p:nvPr/>
        </p:nvSpPr>
        <p:spPr>
          <a:xfrm>
            <a:off x="631031" y="3321685"/>
            <a:ext cx="6491764" cy="252413"/>
          </a:xfrm>
          <a:prstGeom prst="rect">
            <a:avLst/>
          </a:prstGeom>
          <a:noFill/>
          <a:ln/>
        </p:spPr>
        <p:txBody>
          <a:bodyPr wrap="none" lIns="0" tIns="0" rIns="0" bIns="0" rtlCol="0" anchor="t"/>
          <a:lstStyle/>
          <a:p>
            <a:pPr marL="342900" indent="-342900" algn="l">
              <a:lnSpc>
                <a:spcPts val="1950"/>
              </a:lnSpc>
              <a:buSzPct val="100000"/>
              <a:buChar char="•"/>
            </a:pPr>
            <a:r>
              <a:rPr lang="en-US" b="1" dirty="0">
                <a:solidFill>
                  <a:srgbClr val="4B4A4A"/>
                </a:solidFill>
                <a:latin typeface="Geist" pitchFamily="34" charset="0"/>
                <a:ea typeface="Geist" pitchFamily="34" charset="-122"/>
                <a:cs typeface="Geist" pitchFamily="34" charset="-120"/>
              </a:rPr>
              <a:t>Responsive design:</a:t>
            </a:r>
            <a:r>
              <a:rPr lang="en-US" dirty="0">
                <a:solidFill>
                  <a:srgbClr val="4B4A4A"/>
                </a:solidFill>
                <a:latin typeface="Geist" pitchFamily="34" charset="0"/>
                <a:ea typeface="Geist" pitchFamily="34" charset="-122"/>
                <a:cs typeface="Geist" pitchFamily="34" charset="-120"/>
              </a:rPr>
              <a:t> Hiển thị đẹp trên mọi kích thước màn hình</a:t>
            </a:r>
            <a:endParaRPr lang="en-US" dirty="0"/>
          </a:p>
        </p:txBody>
      </p:sp>
      <p:pic>
        <p:nvPicPr>
          <p:cNvPr id="9" name="Image 0" descr="preencoded.png"/>
          <p:cNvPicPr>
            <a:picLocks noChangeAspect="1"/>
          </p:cNvPicPr>
          <p:nvPr/>
        </p:nvPicPr>
        <p:blipFill>
          <a:blip r:embed="rId3"/>
          <a:srcRect l="8462" t="7319" r="7025" b="11431"/>
          <a:stretch>
            <a:fillRect/>
          </a:stretch>
        </p:blipFill>
        <p:spPr>
          <a:xfrm>
            <a:off x="9016999" y="1160165"/>
            <a:ext cx="5486401" cy="4269065"/>
          </a:xfrm>
          <a:prstGeom prst="rect">
            <a:avLst/>
          </a:prstGeom>
        </p:spPr>
      </p:pic>
      <p:sp>
        <p:nvSpPr>
          <p:cNvPr id="10" name="Text 7"/>
          <p:cNvSpPr/>
          <p:nvPr/>
        </p:nvSpPr>
        <p:spPr>
          <a:xfrm>
            <a:off x="448905" y="5975526"/>
            <a:ext cx="1971913" cy="246459"/>
          </a:xfrm>
          <a:prstGeom prst="rect">
            <a:avLst/>
          </a:prstGeom>
          <a:noFill/>
          <a:ln/>
        </p:spPr>
        <p:txBody>
          <a:bodyPr wrap="none" lIns="0" tIns="0" rIns="0" bIns="0" rtlCol="0" anchor="t"/>
          <a:lstStyle/>
          <a:p>
            <a:pPr marL="0" indent="0" algn="l">
              <a:lnSpc>
                <a:spcPts val="1900"/>
              </a:lnSpc>
              <a:buNone/>
            </a:pPr>
            <a:r>
              <a:rPr lang="en-US" b="1" dirty="0">
                <a:solidFill>
                  <a:srgbClr val="006747"/>
                </a:solidFill>
                <a:latin typeface="Noto Serif SC Bold" pitchFamily="34" charset="0"/>
                <a:ea typeface="Noto Serif SC Bold" pitchFamily="34" charset="-122"/>
                <a:cs typeface="Noto Serif SC Bold" pitchFamily="34" charset="-120"/>
              </a:rPr>
              <a:t>Ví dụ CSS nâng cao</a:t>
            </a:r>
            <a:endParaRPr lang="en-US" dirty="0"/>
          </a:p>
        </p:txBody>
      </p:sp>
      <p:sp>
        <p:nvSpPr>
          <p:cNvPr id="12" name="Shape 9"/>
          <p:cNvSpPr/>
          <p:nvPr/>
        </p:nvSpPr>
        <p:spPr>
          <a:xfrm>
            <a:off x="1277103" y="6585743"/>
            <a:ext cx="11144369" cy="993696"/>
          </a:xfrm>
          <a:prstGeom prst="roundRect">
            <a:avLst>
              <a:gd name="adj" fmla="val 2381"/>
            </a:avLst>
          </a:prstGeom>
          <a:solidFill>
            <a:srgbClr val="D8ECE5"/>
          </a:solidFill>
          <a:ln/>
        </p:spPr>
      </p:sp>
      <p:sp>
        <p:nvSpPr>
          <p:cNvPr id="13" name="Text 10"/>
          <p:cNvSpPr/>
          <p:nvPr/>
        </p:nvSpPr>
        <p:spPr>
          <a:xfrm>
            <a:off x="1434862" y="6697662"/>
            <a:ext cx="10807938" cy="757238"/>
          </a:xfrm>
          <a:prstGeom prst="rect">
            <a:avLst/>
          </a:prstGeom>
          <a:noFill/>
          <a:ln/>
        </p:spPr>
        <p:txBody>
          <a:bodyPr wrap="square" lIns="0" tIns="0" rIns="0" bIns="0" rtlCol="0" anchor="t"/>
          <a:lstStyle/>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html += "body { background: linear-gradient(135deg, #667eea 0%, #764ba2 100%); }";</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html += ".button:hover { transform: scale(1.05); transition: 0.3s; }";</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html += ".button::before { content: '</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793790" y="985480"/>
            <a:ext cx="10630257"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Thử thách 5: Tạo trang đăng nhập bảo mật</a:t>
            </a:r>
            <a:endParaRPr lang="en-US" sz="3900" dirty="0"/>
          </a:p>
        </p:txBody>
      </p:sp>
      <p:sp>
        <p:nvSpPr>
          <p:cNvPr id="3" name="Text 1"/>
          <p:cNvSpPr/>
          <p:nvPr/>
        </p:nvSpPr>
        <p:spPr>
          <a:xfrm>
            <a:off x="793790" y="2101572"/>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Vấn đề bảo mật</a:t>
            </a:r>
            <a:endParaRPr lang="en-US" dirty="0"/>
          </a:p>
        </p:txBody>
      </p:sp>
      <p:sp>
        <p:nvSpPr>
          <p:cNvPr id="4" name="Text 2"/>
          <p:cNvSpPr/>
          <p:nvPr/>
        </p:nvSpPr>
        <p:spPr>
          <a:xfrm>
            <a:off x="793790" y="2610088"/>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Hiện tại, </a:t>
            </a:r>
            <a:r>
              <a:rPr lang="en-US" b="1" dirty="0">
                <a:solidFill>
                  <a:srgbClr val="4B4A4A"/>
                </a:solidFill>
                <a:latin typeface="Geist" pitchFamily="34" charset="0"/>
                <a:ea typeface="Geist" pitchFamily="34" charset="-122"/>
                <a:cs typeface="Geist" pitchFamily="34" charset="-120"/>
              </a:rPr>
              <a:t>bất kỳ ai</a:t>
            </a:r>
            <a:r>
              <a:rPr lang="en-US" dirty="0">
                <a:solidFill>
                  <a:srgbClr val="4B4A4A"/>
                </a:solidFill>
                <a:latin typeface="Geist" pitchFamily="34" charset="0"/>
                <a:ea typeface="Geist" pitchFamily="34" charset="-122"/>
                <a:cs typeface="Geist" pitchFamily="34" charset="-120"/>
              </a:rPr>
              <a:t> trong mạng WiFi đều có thể điều khiển đèn của bạn nếu biết địa chỉ IP. Điều này không an toàn!</a:t>
            </a:r>
            <a:endParaRPr lang="en-US" dirty="0"/>
          </a:p>
        </p:txBody>
      </p:sp>
      <p:sp>
        <p:nvSpPr>
          <p:cNvPr id="5" name="Text 3"/>
          <p:cNvSpPr/>
          <p:nvPr/>
        </p:nvSpPr>
        <p:spPr>
          <a:xfrm>
            <a:off x="793790" y="3443526"/>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Giải pháp</a:t>
            </a:r>
            <a:endParaRPr lang="en-US" dirty="0"/>
          </a:p>
        </p:txBody>
      </p:sp>
      <p:sp>
        <p:nvSpPr>
          <p:cNvPr id="6" name="Text 4"/>
          <p:cNvSpPr/>
          <p:nvPr/>
        </p:nvSpPr>
        <p:spPr>
          <a:xfrm>
            <a:off x="793790" y="3952042"/>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Tạo một trang đăng nhập đơn giản yêu cầu username và password. Chỉ những người biết mật khẩu mới được phép điều khiển.</a:t>
            </a:r>
            <a:endParaRPr lang="en-US" dirty="0"/>
          </a:p>
        </p:txBody>
      </p:sp>
      <p:sp>
        <p:nvSpPr>
          <p:cNvPr id="7" name="Text 5"/>
          <p:cNvSpPr/>
          <p:nvPr/>
        </p:nvSpPr>
        <p:spPr>
          <a:xfrm>
            <a:off x="793790" y="5026779"/>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Các bước thực hiện</a:t>
            </a:r>
            <a:endParaRPr lang="en-US" dirty="0"/>
          </a:p>
        </p:txBody>
      </p:sp>
      <p:sp>
        <p:nvSpPr>
          <p:cNvPr id="8" name="Text 6"/>
          <p:cNvSpPr/>
          <p:nvPr/>
        </p:nvSpPr>
        <p:spPr>
          <a:xfrm>
            <a:off x="793790" y="5535295"/>
            <a:ext cx="6279356" cy="325160"/>
          </a:xfrm>
          <a:prstGeom prst="rect">
            <a:avLst/>
          </a:prstGeom>
          <a:noFill/>
          <a:ln/>
        </p:spPr>
        <p:txBody>
          <a:bodyPr wrap="none" lIns="0" tIns="0" rIns="0" bIns="0" rtlCol="0" anchor="t"/>
          <a:lstStyle/>
          <a:p>
            <a:pPr marL="342900" indent="-342900" algn="l">
              <a:lnSpc>
                <a:spcPts val="2500"/>
              </a:lnSpc>
              <a:buSzPct val="100000"/>
              <a:buFont typeface="+mj-lt"/>
              <a:buAutoNum type="arabicPeriod"/>
            </a:pPr>
            <a:r>
              <a:rPr lang="en-US" dirty="0">
                <a:solidFill>
                  <a:srgbClr val="4B4A4A"/>
                </a:solidFill>
                <a:latin typeface="Geist" pitchFamily="34" charset="0"/>
                <a:ea typeface="Geist" pitchFamily="34" charset="-122"/>
                <a:cs typeface="Geist" pitchFamily="34" charset="-120"/>
              </a:rPr>
              <a:t>Tạo hàm </a:t>
            </a:r>
            <a:r>
              <a:rPr lang="en-US" dirty="0">
                <a:solidFill>
                  <a:srgbClr val="4B4A4A"/>
                </a:solidFill>
                <a:highlight>
                  <a:srgbClr val="D8ECE5"/>
                </a:highlight>
                <a:latin typeface="Consolas" pitchFamily="34" charset="0"/>
                <a:ea typeface="Consolas" pitchFamily="34" charset="-122"/>
                <a:cs typeface="Consolas" pitchFamily="34" charset="-120"/>
              </a:rPr>
              <a:t>handleLogin()</a:t>
            </a:r>
            <a:r>
              <a:rPr lang="en-US" dirty="0">
                <a:solidFill>
                  <a:srgbClr val="4B4A4A"/>
                </a:solidFill>
                <a:latin typeface="Geist" pitchFamily="34" charset="0"/>
                <a:ea typeface="Geist" pitchFamily="34" charset="-122"/>
                <a:cs typeface="Geist" pitchFamily="34" charset="-120"/>
              </a:rPr>
              <a:t> hiển thị form đăng nhập</a:t>
            </a:r>
            <a:endParaRPr lang="en-US" dirty="0"/>
          </a:p>
        </p:txBody>
      </p:sp>
      <p:sp>
        <p:nvSpPr>
          <p:cNvPr id="9" name="Text 7"/>
          <p:cNvSpPr/>
          <p:nvPr/>
        </p:nvSpPr>
        <p:spPr>
          <a:xfrm>
            <a:off x="793790" y="5929868"/>
            <a:ext cx="6279356" cy="32516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2"/>
            </a:pPr>
            <a:r>
              <a:rPr lang="en-US" dirty="0">
                <a:solidFill>
                  <a:srgbClr val="4B4A4A"/>
                </a:solidFill>
                <a:latin typeface="Geist" pitchFamily="34" charset="0"/>
                <a:ea typeface="Geist" pitchFamily="34" charset="-122"/>
                <a:cs typeface="Geist" pitchFamily="34" charset="-120"/>
              </a:rPr>
              <a:t>Dùng </a:t>
            </a:r>
            <a:r>
              <a:rPr lang="en-US" dirty="0">
                <a:solidFill>
                  <a:srgbClr val="4B4A4A"/>
                </a:solidFill>
                <a:highlight>
                  <a:srgbClr val="D8ECE5"/>
                </a:highlight>
                <a:latin typeface="Consolas" pitchFamily="34" charset="0"/>
                <a:ea typeface="Consolas" pitchFamily="34" charset="-122"/>
                <a:cs typeface="Consolas" pitchFamily="34" charset="-120"/>
              </a:rPr>
              <a:t>server.arg("username")</a:t>
            </a:r>
            <a:r>
              <a:rPr lang="en-US" dirty="0">
                <a:solidFill>
                  <a:srgbClr val="4B4A4A"/>
                </a:solidFill>
                <a:latin typeface="Geist" pitchFamily="34" charset="0"/>
                <a:ea typeface="Geist" pitchFamily="34" charset="-122"/>
                <a:cs typeface="Geist" pitchFamily="34" charset="-120"/>
              </a:rPr>
              <a:t> để lấy dữ liệu form</a:t>
            </a:r>
            <a:endParaRPr lang="en-US" dirty="0"/>
          </a:p>
        </p:txBody>
      </p:sp>
      <p:sp>
        <p:nvSpPr>
          <p:cNvPr id="10" name="Text 8"/>
          <p:cNvSpPr/>
          <p:nvPr/>
        </p:nvSpPr>
        <p:spPr>
          <a:xfrm>
            <a:off x="793790" y="6324441"/>
            <a:ext cx="6279356"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3"/>
            </a:pPr>
            <a:r>
              <a:rPr lang="en-US" dirty="0">
                <a:solidFill>
                  <a:srgbClr val="4B4A4A"/>
                </a:solidFill>
                <a:latin typeface="Geist" pitchFamily="34" charset="0"/>
                <a:ea typeface="Geist" pitchFamily="34" charset="-122"/>
                <a:cs typeface="Geist" pitchFamily="34" charset="-120"/>
              </a:rPr>
              <a:t>So sánh với username/password đã lưu sẵn</a:t>
            </a:r>
            <a:endParaRPr lang="en-US" dirty="0"/>
          </a:p>
        </p:txBody>
      </p:sp>
      <p:sp>
        <p:nvSpPr>
          <p:cNvPr id="11" name="Text 9"/>
          <p:cNvSpPr/>
          <p:nvPr/>
        </p:nvSpPr>
        <p:spPr>
          <a:xfrm>
            <a:off x="793790" y="6711394"/>
            <a:ext cx="6279356"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4"/>
            </a:pPr>
            <a:r>
              <a:rPr lang="en-US" dirty="0">
                <a:solidFill>
                  <a:srgbClr val="4B4A4A"/>
                </a:solidFill>
                <a:latin typeface="Geist" pitchFamily="34" charset="0"/>
                <a:ea typeface="Geist" pitchFamily="34" charset="-122"/>
                <a:cs typeface="Geist" pitchFamily="34" charset="-120"/>
              </a:rPr>
              <a:t>Nếu đúng, chuyển hướng đến trang điều khiển</a:t>
            </a:r>
            <a:endParaRPr lang="en-US" dirty="0"/>
          </a:p>
        </p:txBody>
      </p:sp>
      <p:sp>
        <p:nvSpPr>
          <p:cNvPr id="12" name="Text 10"/>
          <p:cNvSpPr/>
          <p:nvPr/>
        </p:nvSpPr>
        <p:spPr>
          <a:xfrm>
            <a:off x="793790" y="7098348"/>
            <a:ext cx="6279356"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5"/>
            </a:pPr>
            <a:r>
              <a:rPr lang="en-US" dirty="0">
                <a:solidFill>
                  <a:srgbClr val="4B4A4A"/>
                </a:solidFill>
                <a:latin typeface="Geist" pitchFamily="34" charset="0"/>
                <a:ea typeface="Geist" pitchFamily="34" charset="-122"/>
                <a:cs typeface="Geist" pitchFamily="34" charset="-120"/>
              </a:rPr>
              <a:t>Nếu sai, hiển thị thông báo lỗi</a:t>
            </a:r>
            <a:endParaRPr lang="en-US" dirty="0"/>
          </a:p>
        </p:txBody>
      </p:sp>
      <p:sp>
        <p:nvSpPr>
          <p:cNvPr id="13" name="Text 11"/>
          <p:cNvSpPr/>
          <p:nvPr/>
        </p:nvSpPr>
        <p:spPr>
          <a:xfrm>
            <a:off x="7564874" y="2101572"/>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Gợi ý code</a:t>
            </a:r>
            <a:endParaRPr lang="en-US" dirty="0"/>
          </a:p>
        </p:txBody>
      </p:sp>
      <p:sp>
        <p:nvSpPr>
          <p:cNvPr id="14" name="Shape 12"/>
          <p:cNvSpPr/>
          <p:nvPr/>
        </p:nvSpPr>
        <p:spPr>
          <a:xfrm>
            <a:off x="7564874" y="2634972"/>
            <a:ext cx="6279356" cy="3473053"/>
          </a:xfrm>
          <a:prstGeom prst="roundRect">
            <a:avLst>
              <a:gd name="adj" fmla="val 5143"/>
            </a:avLst>
          </a:prstGeom>
          <a:solidFill>
            <a:srgbClr val="D8ECE5"/>
          </a:solidFill>
          <a:ln/>
        </p:spPr>
      </p:sp>
      <p:sp>
        <p:nvSpPr>
          <p:cNvPr id="15" name="Shape 13"/>
          <p:cNvSpPr/>
          <p:nvPr/>
        </p:nvSpPr>
        <p:spPr>
          <a:xfrm>
            <a:off x="7554992" y="2634972"/>
            <a:ext cx="6299121" cy="3473053"/>
          </a:xfrm>
          <a:prstGeom prst="roundRect">
            <a:avLst>
              <a:gd name="adj" fmla="val 857"/>
            </a:avLst>
          </a:prstGeom>
          <a:solidFill>
            <a:srgbClr val="D8ECE5"/>
          </a:solidFill>
          <a:ln/>
        </p:spPr>
      </p:sp>
      <p:sp>
        <p:nvSpPr>
          <p:cNvPr id="16" name="Text 14"/>
          <p:cNvSpPr/>
          <p:nvPr/>
        </p:nvSpPr>
        <p:spPr>
          <a:xfrm>
            <a:off x="7753350" y="2783800"/>
            <a:ext cx="5902404" cy="3175397"/>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void handleLogin()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String user = server.arg("user");</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String pass = server.arg("pass");</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if(user=="admin" &amp;&amp; pass=="1234"){</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server.send(200, "text/html", getHTML());</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else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server.send(401, "text/html", "&lt;h1&gt;Login Failed&lt;/h1&gt;");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17" name="Text 15"/>
          <p:cNvSpPr/>
          <p:nvPr/>
        </p:nvSpPr>
        <p:spPr>
          <a:xfrm>
            <a:off x="7564874" y="6331268"/>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Lưu ý: Đây chỉ là bảo mật cơ bản. Trong thực tế, cần mã hóa mật khẩu và dùng HTTPS.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653296" y="449104"/>
            <a:ext cx="6676787" cy="510421"/>
          </a:xfrm>
          <a:prstGeom prst="rect">
            <a:avLst/>
          </a:prstGeom>
          <a:noFill/>
          <a:ln/>
        </p:spPr>
        <p:txBody>
          <a:bodyPr wrap="none" lIns="0" tIns="0" rIns="0" bIns="0" rtlCol="0" anchor="t"/>
          <a:lstStyle/>
          <a:p>
            <a:pPr marL="0" indent="0" algn="l">
              <a:lnSpc>
                <a:spcPts val="4000"/>
              </a:lnSpc>
              <a:buNone/>
            </a:pPr>
            <a:r>
              <a:rPr lang="en-US" sz="3200" b="1" dirty="0">
                <a:solidFill>
                  <a:srgbClr val="006747"/>
                </a:solidFill>
                <a:latin typeface="Noto Serif SC Bold" pitchFamily="34" charset="0"/>
                <a:ea typeface="Noto Serif SC Bold" pitchFamily="34" charset="-122"/>
                <a:cs typeface="Noto Serif SC Bold" pitchFamily="34" charset="-120"/>
              </a:rPr>
              <a:t>Mẹo tối ưu hiệu suất Web Server</a:t>
            </a:r>
            <a:endParaRPr lang="en-US" sz="3200" dirty="0"/>
          </a:p>
        </p:txBody>
      </p:sp>
      <p:sp>
        <p:nvSpPr>
          <p:cNvPr id="3" name="Shape 1"/>
          <p:cNvSpPr/>
          <p:nvPr/>
        </p:nvSpPr>
        <p:spPr>
          <a:xfrm>
            <a:off x="7303770" y="1286113"/>
            <a:ext cx="22860" cy="6494383"/>
          </a:xfrm>
          <a:prstGeom prst="roundRect">
            <a:avLst>
              <a:gd name="adj" fmla="val 643048"/>
            </a:avLst>
          </a:prstGeom>
          <a:solidFill>
            <a:srgbClr val="B7D5CA"/>
          </a:solidFill>
          <a:ln/>
        </p:spPr>
      </p:sp>
      <p:sp>
        <p:nvSpPr>
          <p:cNvPr id="4" name="Shape 2"/>
          <p:cNvSpPr/>
          <p:nvPr/>
        </p:nvSpPr>
        <p:spPr>
          <a:xfrm>
            <a:off x="304800" y="1286113"/>
            <a:ext cx="6987540" cy="2638425"/>
          </a:xfrm>
          <a:prstGeom prst="roundRect">
            <a:avLst>
              <a:gd name="adj" fmla="val 6359"/>
            </a:avLst>
          </a:prstGeom>
          <a:solidFill>
            <a:srgbClr val="D1EFE4"/>
          </a:solidFill>
          <a:ln w="7620">
            <a:solidFill>
              <a:srgbClr val="B7D5CA"/>
            </a:solidFill>
            <a:prstDash val="solid"/>
          </a:ln>
        </p:spPr>
      </p:sp>
      <p:sp>
        <p:nvSpPr>
          <p:cNvPr id="5" name="Text 3"/>
          <p:cNvSpPr/>
          <p:nvPr/>
        </p:nvSpPr>
        <p:spPr>
          <a:xfrm>
            <a:off x="4717137" y="1456968"/>
            <a:ext cx="2411968" cy="255151"/>
          </a:xfrm>
          <a:prstGeom prst="rect">
            <a:avLst/>
          </a:prstGeom>
          <a:noFill/>
          <a:ln/>
        </p:spPr>
        <p:txBody>
          <a:bodyPr wrap="none" lIns="0" tIns="0" rIns="0" bIns="0" rtlCol="0" anchor="t"/>
          <a:lstStyle/>
          <a:p>
            <a:pPr marL="0" indent="0" algn="r">
              <a:lnSpc>
                <a:spcPts val="2000"/>
              </a:lnSpc>
              <a:buNone/>
            </a:pPr>
            <a:r>
              <a:rPr lang="en-US" sz="1600" b="1" dirty="0">
                <a:solidFill>
                  <a:srgbClr val="4B4A4A"/>
                </a:solidFill>
                <a:latin typeface="Noto Serif SC Bold" pitchFamily="34" charset="0"/>
                <a:ea typeface="Noto Serif SC Bold" pitchFamily="34" charset="-122"/>
                <a:cs typeface="Noto Serif SC Bold" pitchFamily="34" charset="-120"/>
              </a:rPr>
              <a:t>Giảm kích thước HTML</a:t>
            </a:r>
            <a:endParaRPr lang="en-US" sz="1600" dirty="0"/>
          </a:p>
        </p:txBody>
      </p:sp>
      <p:sp>
        <p:nvSpPr>
          <p:cNvPr id="6" name="Text 4"/>
          <p:cNvSpPr/>
          <p:nvPr/>
        </p:nvSpPr>
        <p:spPr>
          <a:xfrm>
            <a:off x="801291" y="1810107"/>
            <a:ext cx="6327815" cy="261342"/>
          </a:xfrm>
          <a:prstGeom prst="rect">
            <a:avLst/>
          </a:prstGeom>
          <a:noFill/>
          <a:ln/>
        </p:spPr>
        <p:txBody>
          <a:bodyPr wrap="none" lIns="0" tIns="0" rIns="0" bIns="0" rtlCol="0" anchor="t"/>
          <a:lstStyle/>
          <a:p>
            <a:pPr marL="0" indent="0" algn="r">
              <a:lnSpc>
                <a:spcPts val="2050"/>
              </a:lnSpc>
              <a:buNone/>
            </a:pPr>
            <a:r>
              <a:rPr lang="en-US" sz="1600" dirty="0">
                <a:solidFill>
                  <a:srgbClr val="4B4A4A"/>
                </a:solidFill>
                <a:latin typeface="Geist" pitchFamily="34" charset="0"/>
                <a:ea typeface="Geist" pitchFamily="34" charset="-122"/>
                <a:cs typeface="Geist" pitchFamily="34" charset="-120"/>
              </a:rPr>
              <a:t>Code HTML hiện tại khá dài và tốn RAM. Bạn có thể rút gọn bằng cách:</a:t>
            </a:r>
            <a:endParaRPr lang="en-US" sz="1600" dirty="0"/>
          </a:p>
        </p:txBody>
      </p:sp>
      <p:sp>
        <p:nvSpPr>
          <p:cNvPr id="7" name="Text 5"/>
          <p:cNvSpPr/>
          <p:nvPr/>
        </p:nvSpPr>
        <p:spPr>
          <a:xfrm>
            <a:off x="801291" y="2169438"/>
            <a:ext cx="6327815" cy="261342"/>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4B4A4A"/>
                </a:solidFill>
                <a:latin typeface="Geist" pitchFamily="34" charset="0"/>
                <a:ea typeface="Geist" pitchFamily="34" charset="-122"/>
                <a:cs typeface="Geist" pitchFamily="34" charset="-120"/>
              </a:rPr>
              <a:t>Xóa bỏ khoảng trắng và xuống dòng không cần thiết</a:t>
            </a:r>
            <a:endParaRPr lang="en-US" sz="1600" dirty="0"/>
          </a:p>
        </p:txBody>
      </p:sp>
      <p:sp>
        <p:nvSpPr>
          <p:cNvPr id="8" name="Text 6"/>
          <p:cNvSpPr/>
          <p:nvPr/>
        </p:nvSpPr>
        <p:spPr>
          <a:xfrm>
            <a:off x="801291" y="2487930"/>
            <a:ext cx="6327815" cy="261342"/>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4B4A4A"/>
                </a:solidFill>
                <a:latin typeface="Geist" pitchFamily="34" charset="0"/>
                <a:ea typeface="Geist" pitchFamily="34" charset="-122"/>
                <a:cs typeface="Geist" pitchFamily="34" charset="-120"/>
              </a:rPr>
              <a:t>Dùng CSS inline thay vì file CSS riêng</a:t>
            </a:r>
            <a:endParaRPr lang="en-US" sz="1600" dirty="0"/>
          </a:p>
        </p:txBody>
      </p:sp>
      <p:sp>
        <p:nvSpPr>
          <p:cNvPr id="9" name="Text 7"/>
          <p:cNvSpPr/>
          <p:nvPr/>
        </p:nvSpPr>
        <p:spPr>
          <a:xfrm>
            <a:off x="801291" y="2806422"/>
            <a:ext cx="6327815" cy="261342"/>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4B4A4A"/>
                </a:solidFill>
                <a:latin typeface="Geist" pitchFamily="34" charset="0"/>
                <a:ea typeface="Geist" pitchFamily="34" charset="-122"/>
                <a:cs typeface="Geist" pitchFamily="34" charset="-120"/>
              </a:rPr>
              <a:t>Nén (minify) HTML trước khi gửi</a:t>
            </a:r>
            <a:endParaRPr lang="en-US" sz="1600" dirty="0"/>
          </a:p>
        </p:txBody>
      </p:sp>
      <p:sp>
        <p:nvSpPr>
          <p:cNvPr id="10" name="Text 8"/>
          <p:cNvSpPr/>
          <p:nvPr/>
        </p:nvSpPr>
        <p:spPr>
          <a:xfrm>
            <a:off x="801291" y="3165753"/>
            <a:ext cx="6327815" cy="261342"/>
          </a:xfrm>
          <a:prstGeom prst="rect">
            <a:avLst/>
          </a:prstGeom>
          <a:noFill/>
          <a:ln/>
        </p:spPr>
        <p:txBody>
          <a:bodyPr wrap="square" lIns="0" tIns="0" rIns="0" bIns="0" rtlCol="0" anchor="t"/>
          <a:lstStyle/>
          <a:p>
            <a:pPr marL="0" indent="0" algn="r">
              <a:lnSpc>
                <a:spcPts val="2050"/>
              </a:lnSpc>
              <a:buNone/>
            </a:pPr>
            <a:r>
              <a:rPr lang="en-US" sz="1600" dirty="0">
                <a:solidFill>
                  <a:srgbClr val="4B4A4A"/>
                </a:solidFill>
                <a:latin typeface="Geist" pitchFamily="34" charset="0"/>
                <a:ea typeface="Geist" pitchFamily="34" charset="-122"/>
                <a:cs typeface="Geist" pitchFamily="34" charset="-120"/>
              </a:rPr>
              <a:t>RAM của ESP32 có hạn (khoảng 320KB), nên code gọn nhẹ là rất quan trọng.</a:t>
            </a:r>
            <a:endParaRPr lang="en-US" sz="1600" dirty="0"/>
          </a:p>
        </p:txBody>
      </p:sp>
      <p:sp>
        <p:nvSpPr>
          <p:cNvPr id="11" name="Shape 9"/>
          <p:cNvSpPr/>
          <p:nvPr/>
        </p:nvSpPr>
        <p:spPr>
          <a:xfrm>
            <a:off x="7338060" y="3924538"/>
            <a:ext cx="6661904" cy="1903452"/>
          </a:xfrm>
          <a:prstGeom prst="rect">
            <a:avLst/>
          </a:prstGeom>
          <a:solidFill>
            <a:srgbClr val="D1EFE4"/>
          </a:solidFill>
          <a:ln w="7620">
            <a:solidFill>
              <a:srgbClr val="B7D5CA"/>
            </a:solidFill>
            <a:prstDash val="solid"/>
          </a:ln>
        </p:spPr>
      </p:sp>
      <p:sp>
        <p:nvSpPr>
          <p:cNvPr id="12" name="Text 10"/>
          <p:cNvSpPr/>
          <p:nvPr/>
        </p:nvSpPr>
        <p:spPr>
          <a:xfrm>
            <a:off x="7501295" y="4095393"/>
            <a:ext cx="3426262" cy="255151"/>
          </a:xfrm>
          <a:prstGeom prst="rect">
            <a:avLst/>
          </a:prstGeom>
          <a:noFill/>
          <a:ln/>
        </p:spPr>
        <p:txBody>
          <a:bodyPr wrap="none" lIns="0" tIns="0" rIns="0" bIns="0" rtlCol="0" anchor="t"/>
          <a:lstStyle/>
          <a:p>
            <a:pPr marL="0" indent="0" algn="l">
              <a:lnSpc>
                <a:spcPts val="2000"/>
              </a:lnSpc>
              <a:buNone/>
            </a:pPr>
            <a:r>
              <a:rPr lang="en-US" sz="1600" b="1" dirty="0">
                <a:solidFill>
                  <a:srgbClr val="4B4A4A"/>
                </a:solidFill>
                <a:latin typeface="Noto Serif SC Bold" pitchFamily="34" charset="0"/>
                <a:ea typeface="Noto Serif SC Bold" pitchFamily="34" charset="-122"/>
                <a:cs typeface="Noto Serif SC Bold" pitchFamily="34" charset="-120"/>
              </a:rPr>
              <a:t>Sử dụng SPIFFS để lưu file HTML</a:t>
            </a:r>
            <a:endParaRPr lang="en-US" sz="1600" dirty="0"/>
          </a:p>
        </p:txBody>
      </p:sp>
      <p:sp>
        <p:nvSpPr>
          <p:cNvPr id="13" name="Text 11"/>
          <p:cNvSpPr/>
          <p:nvPr/>
        </p:nvSpPr>
        <p:spPr>
          <a:xfrm>
            <a:off x="7501295" y="4448532"/>
            <a:ext cx="6327815" cy="522684"/>
          </a:xfrm>
          <a:prstGeom prst="rect">
            <a:avLst/>
          </a:prstGeom>
          <a:noFill/>
          <a:ln/>
        </p:spPr>
        <p:txBody>
          <a:bodyPr wrap="square" lIns="0" tIns="0" rIns="0" bIns="0" rtlCol="0" anchor="t"/>
          <a:lstStyle/>
          <a:p>
            <a:pPr marL="0" indent="0" algn="l">
              <a:lnSpc>
                <a:spcPts val="2050"/>
              </a:lnSpc>
              <a:buNone/>
            </a:pPr>
            <a:r>
              <a:rPr lang="en-US" sz="1600" dirty="0">
                <a:solidFill>
                  <a:srgbClr val="4B4A4A"/>
                </a:solidFill>
                <a:latin typeface="Geist" pitchFamily="34" charset="0"/>
                <a:ea typeface="Geist" pitchFamily="34" charset="-122"/>
                <a:cs typeface="Geist" pitchFamily="34" charset="-120"/>
              </a:rPr>
              <a:t>Thay vì viết HTML trong code, bạn có thể lưu file HTML riêng trong bộ nhớ Flash (SPIFFS) và đọc ra khi cần.</a:t>
            </a:r>
            <a:endParaRPr lang="en-US" sz="1600" dirty="0"/>
          </a:p>
        </p:txBody>
      </p:sp>
      <p:sp>
        <p:nvSpPr>
          <p:cNvPr id="14" name="Text 12"/>
          <p:cNvSpPr/>
          <p:nvPr/>
        </p:nvSpPr>
        <p:spPr>
          <a:xfrm>
            <a:off x="7501295" y="5069205"/>
            <a:ext cx="6327815" cy="261342"/>
          </a:xfrm>
          <a:prstGeom prst="rect">
            <a:avLst/>
          </a:prstGeom>
          <a:noFill/>
          <a:ln/>
        </p:spPr>
        <p:txBody>
          <a:bodyPr wrap="square" lIns="0" tIns="0" rIns="0" bIns="0" rtlCol="0" anchor="t"/>
          <a:lstStyle/>
          <a:p>
            <a:pPr marL="0" indent="0" algn="l">
              <a:lnSpc>
                <a:spcPts val="2050"/>
              </a:lnSpc>
              <a:buNone/>
            </a:pPr>
            <a:r>
              <a:rPr lang="en-US" sz="1600" dirty="0">
                <a:solidFill>
                  <a:srgbClr val="4B4A4A"/>
                </a:solidFill>
                <a:latin typeface="Geist" pitchFamily="34" charset="0"/>
                <a:ea typeface="Geist" pitchFamily="34" charset="-122"/>
                <a:cs typeface="Geist" pitchFamily="34" charset="-120"/>
              </a:rPr>
              <a:t>Ưu điểm: Dễ chỉnh sửa giao diện, không cần nạp lại code mỗi khi thay đổi CSS.</a:t>
            </a:r>
            <a:endParaRPr lang="en-US" sz="1600" dirty="0"/>
          </a:p>
        </p:txBody>
      </p:sp>
      <p:sp>
        <p:nvSpPr>
          <p:cNvPr id="15" name="Shape 13"/>
          <p:cNvSpPr/>
          <p:nvPr/>
        </p:nvSpPr>
        <p:spPr>
          <a:xfrm>
            <a:off x="630436" y="5827990"/>
            <a:ext cx="6661904" cy="1952506"/>
          </a:xfrm>
          <a:prstGeom prst="roundRect">
            <a:avLst>
              <a:gd name="adj" fmla="val 7529"/>
            </a:avLst>
          </a:prstGeom>
          <a:solidFill>
            <a:srgbClr val="D1EFE4"/>
          </a:solidFill>
          <a:ln w="7620">
            <a:solidFill>
              <a:srgbClr val="B7D5CA"/>
            </a:solidFill>
            <a:prstDash val="solid"/>
          </a:ln>
        </p:spPr>
      </p:sp>
      <p:sp>
        <p:nvSpPr>
          <p:cNvPr id="16" name="Text 14"/>
          <p:cNvSpPr/>
          <p:nvPr/>
        </p:nvSpPr>
        <p:spPr>
          <a:xfrm>
            <a:off x="4956453" y="5998845"/>
            <a:ext cx="2172653" cy="255151"/>
          </a:xfrm>
          <a:prstGeom prst="rect">
            <a:avLst/>
          </a:prstGeom>
          <a:noFill/>
          <a:ln/>
        </p:spPr>
        <p:txBody>
          <a:bodyPr wrap="none" lIns="0" tIns="0" rIns="0" bIns="0" rtlCol="0" anchor="t"/>
          <a:lstStyle/>
          <a:p>
            <a:pPr marL="0" indent="0" algn="r">
              <a:lnSpc>
                <a:spcPts val="2000"/>
              </a:lnSpc>
              <a:buNone/>
            </a:pPr>
            <a:r>
              <a:rPr lang="en-US" sz="1600" b="1" dirty="0">
                <a:solidFill>
                  <a:srgbClr val="4B4A4A"/>
                </a:solidFill>
                <a:latin typeface="Noto Serif SC Bold" pitchFamily="34" charset="0"/>
                <a:ea typeface="Noto Serif SC Bold" pitchFamily="34" charset="-122"/>
                <a:cs typeface="Noto Serif SC Bold" pitchFamily="34" charset="-120"/>
              </a:rPr>
              <a:t>Tăng tốc độ phản hồi</a:t>
            </a:r>
            <a:endParaRPr lang="en-US" sz="1600" dirty="0"/>
          </a:p>
        </p:txBody>
      </p:sp>
      <p:sp>
        <p:nvSpPr>
          <p:cNvPr id="17" name="Text 15"/>
          <p:cNvSpPr/>
          <p:nvPr/>
        </p:nvSpPr>
        <p:spPr>
          <a:xfrm>
            <a:off x="801291" y="6351984"/>
            <a:ext cx="6327815" cy="261342"/>
          </a:xfrm>
          <a:prstGeom prst="rect">
            <a:avLst/>
          </a:prstGeom>
          <a:noFill/>
          <a:ln/>
        </p:spPr>
        <p:txBody>
          <a:bodyPr wrap="none" lIns="0" tIns="0" rIns="0" bIns="0" rtlCol="0" anchor="t"/>
          <a:lstStyle/>
          <a:p>
            <a:pPr marL="0" indent="0" algn="r">
              <a:lnSpc>
                <a:spcPts val="2050"/>
              </a:lnSpc>
              <a:buNone/>
            </a:pPr>
            <a:r>
              <a:rPr lang="en-US" sz="1600" dirty="0">
                <a:solidFill>
                  <a:srgbClr val="4B4A4A"/>
                </a:solidFill>
                <a:latin typeface="Geist" pitchFamily="34" charset="0"/>
                <a:ea typeface="Geist" pitchFamily="34" charset="-122"/>
                <a:cs typeface="Geist" pitchFamily="34" charset="-120"/>
              </a:rPr>
              <a:t>Để Server phản hồi nhanh hơn:</a:t>
            </a:r>
            <a:endParaRPr lang="en-US" sz="1600" dirty="0"/>
          </a:p>
        </p:txBody>
      </p:sp>
      <p:sp>
        <p:nvSpPr>
          <p:cNvPr id="18" name="Text 16"/>
          <p:cNvSpPr/>
          <p:nvPr/>
        </p:nvSpPr>
        <p:spPr>
          <a:xfrm>
            <a:off x="801291" y="6711315"/>
            <a:ext cx="6327815" cy="261342"/>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4B4A4A"/>
                </a:solidFill>
                <a:latin typeface="Geist" pitchFamily="34" charset="0"/>
                <a:ea typeface="Geist" pitchFamily="34" charset="-122"/>
                <a:cs typeface="Geist" pitchFamily="34" charset="-120"/>
              </a:rPr>
              <a:t>Tránh dùng </a:t>
            </a:r>
            <a:r>
              <a:rPr lang="en-US" sz="1600" dirty="0">
                <a:solidFill>
                  <a:srgbClr val="4B4A4A"/>
                </a:solidFill>
                <a:highlight>
                  <a:srgbClr val="D8ECE5"/>
                </a:highlight>
                <a:latin typeface="Consolas" pitchFamily="34" charset="0"/>
                <a:ea typeface="Consolas" pitchFamily="34" charset="-122"/>
                <a:cs typeface="Consolas" pitchFamily="34" charset="-120"/>
              </a:rPr>
              <a:t>delay()</a:t>
            </a:r>
            <a:r>
              <a:rPr lang="en-US" sz="1600" dirty="0">
                <a:solidFill>
                  <a:srgbClr val="4B4A4A"/>
                </a:solidFill>
                <a:latin typeface="Geist" pitchFamily="34" charset="0"/>
                <a:ea typeface="Geist" pitchFamily="34" charset="-122"/>
                <a:cs typeface="Geist" pitchFamily="34" charset="-120"/>
              </a:rPr>
              <a:t> trong </a:t>
            </a:r>
            <a:r>
              <a:rPr lang="en-US" sz="1600" dirty="0">
                <a:solidFill>
                  <a:srgbClr val="4B4A4A"/>
                </a:solidFill>
                <a:highlight>
                  <a:srgbClr val="D8ECE5"/>
                </a:highlight>
                <a:latin typeface="Consolas" pitchFamily="34" charset="0"/>
                <a:ea typeface="Consolas" pitchFamily="34" charset="-122"/>
                <a:cs typeface="Consolas" pitchFamily="34" charset="-120"/>
              </a:rPr>
              <a:t>loop()</a:t>
            </a:r>
            <a:endParaRPr lang="en-US" sz="1600" dirty="0"/>
          </a:p>
        </p:txBody>
      </p:sp>
      <p:sp>
        <p:nvSpPr>
          <p:cNvPr id="19" name="Text 17"/>
          <p:cNvSpPr/>
          <p:nvPr/>
        </p:nvSpPr>
        <p:spPr>
          <a:xfrm>
            <a:off x="801291" y="7029807"/>
            <a:ext cx="6327815" cy="261342"/>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4B4A4A"/>
                </a:solidFill>
                <a:latin typeface="Geist" pitchFamily="34" charset="0"/>
                <a:ea typeface="Geist" pitchFamily="34" charset="-122"/>
                <a:cs typeface="Geist" pitchFamily="34" charset="-120"/>
              </a:rPr>
              <a:t>Xử lý logic nặng (đọc cảm biến, tính toán) ở thread riêng</a:t>
            </a:r>
            <a:endParaRPr lang="en-US" sz="1600" dirty="0"/>
          </a:p>
        </p:txBody>
      </p:sp>
      <p:sp>
        <p:nvSpPr>
          <p:cNvPr id="20" name="Text 18"/>
          <p:cNvSpPr/>
          <p:nvPr/>
        </p:nvSpPr>
        <p:spPr>
          <a:xfrm>
            <a:off x="801291" y="7348299"/>
            <a:ext cx="6327815" cy="261342"/>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4B4A4A"/>
                </a:solidFill>
                <a:latin typeface="Geist" pitchFamily="34" charset="0"/>
                <a:ea typeface="Geist" pitchFamily="34" charset="-122"/>
                <a:cs typeface="Geist" pitchFamily="34" charset="-120"/>
              </a:rPr>
              <a:t>Cache kết quả thay vì tính toán lại mỗi lần</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2353389" y="3494603"/>
            <a:ext cx="9923621" cy="1240393"/>
          </a:xfrm>
          <a:prstGeom prst="rect">
            <a:avLst/>
          </a:prstGeom>
          <a:noFill/>
          <a:ln/>
        </p:spPr>
        <p:txBody>
          <a:bodyPr wrap="none" lIns="0" tIns="0" rIns="0" bIns="0" rtlCol="0" anchor="t"/>
          <a:lstStyle/>
          <a:p>
            <a:pPr marL="0" indent="0" algn="ctr">
              <a:lnSpc>
                <a:spcPts val="9750"/>
              </a:lnSpc>
              <a:buNone/>
            </a:pPr>
            <a:r>
              <a:rPr lang="en-US" sz="7800" b="1" dirty="0">
                <a:solidFill>
                  <a:srgbClr val="006747"/>
                </a:solidFill>
                <a:latin typeface="Noto Serif SC Bold" pitchFamily="34" charset="0"/>
                <a:ea typeface="Noto Serif SC Bold" pitchFamily="34" charset="-122"/>
                <a:cs typeface="Noto Serif SC Bold" pitchFamily="34" charset="-120"/>
              </a:rPr>
              <a:t>LỜI KẾT</a:t>
            </a:r>
            <a:endParaRPr lang="en-US" sz="7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754023" y="518398"/>
            <a:ext cx="10973038" cy="589121"/>
          </a:xfrm>
          <a:prstGeom prst="rect">
            <a:avLst/>
          </a:prstGeom>
          <a:noFill/>
          <a:ln/>
        </p:spPr>
        <p:txBody>
          <a:bodyPr wrap="none" lIns="0" tIns="0" rIns="0" bIns="0" rtlCol="0" anchor="t"/>
          <a:lstStyle/>
          <a:p>
            <a:pPr marL="0" indent="0" algn="l">
              <a:lnSpc>
                <a:spcPts val="4600"/>
              </a:lnSpc>
              <a:buNone/>
            </a:pPr>
            <a:r>
              <a:rPr lang="en-US" sz="3700" b="1" dirty="0">
                <a:solidFill>
                  <a:srgbClr val="006747"/>
                </a:solidFill>
                <a:latin typeface="Noto Serif SC Bold" pitchFamily="34" charset="0"/>
                <a:ea typeface="Noto Serif SC Bold" pitchFamily="34" charset="-122"/>
                <a:cs typeface="Noto Serif SC Bold" pitchFamily="34" charset="-120"/>
              </a:rPr>
              <a:t>Chúc mừng! Bạn đã tạo ra thiết bị IoT đầu tiên</a:t>
            </a:r>
            <a:endParaRPr lang="en-US" sz="3700" dirty="0"/>
          </a:p>
        </p:txBody>
      </p:sp>
      <p:sp>
        <p:nvSpPr>
          <p:cNvPr id="3" name="Text 1"/>
          <p:cNvSpPr/>
          <p:nvPr/>
        </p:nvSpPr>
        <p:spPr>
          <a:xfrm>
            <a:off x="754023" y="1559957"/>
            <a:ext cx="7010281" cy="904399"/>
          </a:xfrm>
          <a:prstGeom prst="rect">
            <a:avLst/>
          </a:prstGeom>
          <a:noFill/>
          <a:ln/>
        </p:spPr>
        <p:txBody>
          <a:bodyPr wrap="square" lIns="0" tIns="0" rIns="0" bIns="0" rtlCol="0" anchor="t"/>
          <a:lstStyle/>
          <a:p>
            <a:pPr marL="0" indent="0" algn="l">
              <a:lnSpc>
                <a:spcPts val="2350"/>
              </a:lnSpc>
              <a:buNone/>
            </a:pPr>
            <a:r>
              <a:rPr lang="en-US" dirty="0">
                <a:solidFill>
                  <a:srgbClr val="4B4A4A"/>
                </a:solidFill>
                <a:latin typeface="Geist" pitchFamily="34" charset="0"/>
                <a:ea typeface="Geist" pitchFamily="34" charset="-122"/>
                <a:cs typeface="Geist" pitchFamily="34" charset="-120"/>
              </a:rPr>
              <a:t>Hôm nay là một cột mốc quan trọng trong hành trình học IoT của các em. Em đã không chỉ học lý thuyết, mà còn tự tay </a:t>
            </a:r>
            <a:r>
              <a:rPr lang="en-US" b="1" dirty="0">
                <a:solidFill>
                  <a:srgbClr val="4B4A4A"/>
                </a:solidFill>
                <a:latin typeface="Geist" pitchFamily="34" charset="0"/>
                <a:ea typeface="Geist" pitchFamily="34" charset="-122"/>
                <a:cs typeface="Geist" pitchFamily="34" charset="-120"/>
              </a:rPr>
              <a:t>tạo ra một thiết bị thông minh</a:t>
            </a:r>
            <a:r>
              <a:rPr lang="en-US" dirty="0">
                <a:solidFill>
                  <a:srgbClr val="4B4A4A"/>
                </a:solidFill>
                <a:latin typeface="Geist" pitchFamily="34" charset="0"/>
                <a:ea typeface="Geist" pitchFamily="34" charset="-122"/>
                <a:cs typeface="Geist" pitchFamily="34" charset="-120"/>
              </a:rPr>
              <a:t> có thể điều khiển từ xa qua WiFi!</a:t>
            </a:r>
            <a:endParaRPr lang="en-US" dirty="0"/>
          </a:p>
        </p:txBody>
      </p:sp>
      <p:sp>
        <p:nvSpPr>
          <p:cNvPr id="4" name="Text 2"/>
          <p:cNvSpPr/>
          <p:nvPr/>
        </p:nvSpPr>
        <p:spPr>
          <a:xfrm>
            <a:off x="754023" y="2652832"/>
            <a:ext cx="3055025" cy="294442"/>
          </a:xfrm>
          <a:prstGeom prst="rect">
            <a:avLst/>
          </a:prstGeom>
          <a:noFill/>
          <a:ln/>
        </p:spPr>
        <p:txBody>
          <a:bodyPr wrap="none" lIns="0" tIns="0" rIns="0" bIns="0" rtlCol="0" anchor="t"/>
          <a:lstStyle/>
          <a:p>
            <a:pPr marL="0" indent="0" algn="l">
              <a:lnSpc>
                <a:spcPts val="2300"/>
              </a:lnSpc>
              <a:buNone/>
            </a:pPr>
            <a:r>
              <a:rPr lang="en-US" b="1" dirty="0">
                <a:solidFill>
                  <a:srgbClr val="006747"/>
                </a:solidFill>
                <a:latin typeface="Noto Serif SC Bold" pitchFamily="34" charset="0"/>
                <a:ea typeface="Noto Serif SC Bold" pitchFamily="34" charset="-122"/>
                <a:cs typeface="Noto Serif SC Bold" pitchFamily="34" charset="-120"/>
              </a:rPr>
              <a:t>Những gì bạn đã đạt được</a:t>
            </a:r>
            <a:endParaRPr lang="en-US" dirty="0"/>
          </a:p>
        </p:txBody>
      </p:sp>
      <p:sp>
        <p:nvSpPr>
          <p:cNvPr id="5" name="Text 3"/>
          <p:cNvSpPr/>
          <p:nvPr/>
        </p:nvSpPr>
        <p:spPr>
          <a:xfrm>
            <a:off x="754023" y="3135749"/>
            <a:ext cx="7010281" cy="301466"/>
          </a:xfrm>
          <a:prstGeom prst="rect">
            <a:avLst/>
          </a:prstGeom>
          <a:noFill/>
          <a:ln/>
        </p:spPr>
        <p:txBody>
          <a:bodyPr wrap="none" lIns="0" tIns="0" rIns="0" bIns="0" rtlCol="0" anchor="t"/>
          <a:lstStyle/>
          <a:p>
            <a:pPr marL="342900" indent="-342900" algn="l">
              <a:lnSpc>
                <a:spcPts val="2350"/>
              </a:lnSpc>
              <a:buSzPct val="100000"/>
              <a:buChar char="•"/>
            </a:pPr>
            <a:r>
              <a:rPr lang="en-US" dirty="0">
                <a:solidFill>
                  <a:srgbClr val="4B4A4A"/>
                </a:solidFill>
                <a:latin typeface="Geist" pitchFamily="34" charset="0"/>
                <a:ea typeface="Geist" pitchFamily="34" charset="-122"/>
                <a:cs typeface="Geist" pitchFamily="34" charset="-120"/>
              </a:rPr>
              <a:t>Hiểu rõ cách ESP32 kết nối WiFi (chế độ Station)</a:t>
            </a:r>
            <a:endParaRPr lang="en-US" dirty="0"/>
          </a:p>
        </p:txBody>
      </p:sp>
      <p:sp>
        <p:nvSpPr>
          <p:cNvPr id="6" name="Text 4"/>
          <p:cNvSpPr/>
          <p:nvPr/>
        </p:nvSpPr>
        <p:spPr>
          <a:xfrm>
            <a:off x="754023" y="3503176"/>
            <a:ext cx="7010281" cy="301466"/>
          </a:xfrm>
          <a:prstGeom prst="rect">
            <a:avLst/>
          </a:prstGeom>
          <a:noFill/>
          <a:ln/>
        </p:spPr>
        <p:txBody>
          <a:bodyPr wrap="none" lIns="0" tIns="0" rIns="0" bIns="0" rtlCol="0" anchor="t"/>
          <a:lstStyle/>
          <a:p>
            <a:pPr marL="342900" indent="-342900" algn="l">
              <a:lnSpc>
                <a:spcPts val="2350"/>
              </a:lnSpc>
              <a:buSzPct val="100000"/>
              <a:buChar char="•"/>
            </a:pPr>
            <a:r>
              <a:rPr lang="en-US" dirty="0">
                <a:solidFill>
                  <a:srgbClr val="4B4A4A"/>
                </a:solidFill>
                <a:latin typeface="Geist" pitchFamily="34" charset="0"/>
                <a:ea typeface="Geist" pitchFamily="34" charset="-122"/>
                <a:cs typeface="Geist" pitchFamily="34" charset="-120"/>
              </a:rPr>
              <a:t>Nắm vững mô hình Client-Server và giao thức HTTP</a:t>
            </a:r>
            <a:endParaRPr lang="en-US" dirty="0"/>
          </a:p>
        </p:txBody>
      </p:sp>
      <p:sp>
        <p:nvSpPr>
          <p:cNvPr id="7" name="Text 5"/>
          <p:cNvSpPr/>
          <p:nvPr/>
        </p:nvSpPr>
        <p:spPr>
          <a:xfrm>
            <a:off x="754023" y="3870603"/>
            <a:ext cx="7010281" cy="301466"/>
          </a:xfrm>
          <a:prstGeom prst="rect">
            <a:avLst/>
          </a:prstGeom>
          <a:noFill/>
          <a:ln/>
        </p:spPr>
        <p:txBody>
          <a:bodyPr wrap="none" lIns="0" tIns="0" rIns="0" bIns="0" rtlCol="0" anchor="t"/>
          <a:lstStyle/>
          <a:p>
            <a:pPr marL="342900" indent="-342900" algn="l">
              <a:lnSpc>
                <a:spcPts val="2350"/>
              </a:lnSpc>
              <a:buSzPct val="100000"/>
              <a:buChar char="•"/>
            </a:pPr>
            <a:r>
              <a:rPr lang="en-US" dirty="0">
                <a:solidFill>
                  <a:srgbClr val="4B4A4A"/>
                </a:solidFill>
                <a:latin typeface="Geist" pitchFamily="34" charset="0"/>
                <a:ea typeface="Geist" pitchFamily="34" charset="-122"/>
                <a:cs typeface="Geist" pitchFamily="34" charset="-120"/>
              </a:rPr>
              <a:t>Tự tay viết code Web Server hoàn chỉnh</a:t>
            </a:r>
            <a:endParaRPr lang="en-US" dirty="0"/>
          </a:p>
        </p:txBody>
      </p:sp>
      <p:sp>
        <p:nvSpPr>
          <p:cNvPr id="8" name="Text 6"/>
          <p:cNvSpPr/>
          <p:nvPr/>
        </p:nvSpPr>
        <p:spPr>
          <a:xfrm>
            <a:off x="754023" y="4238030"/>
            <a:ext cx="7010281" cy="301466"/>
          </a:xfrm>
          <a:prstGeom prst="rect">
            <a:avLst/>
          </a:prstGeom>
          <a:noFill/>
          <a:ln/>
        </p:spPr>
        <p:txBody>
          <a:bodyPr wrap="none" lIns="0" tIns="0" rIns="0" bIns="0" rtlCol="0" anchor="t"/>
          <a:lstStyle/>
          <a:p>
            <a:pPr marL="342900" indent="-342900" algn="l">
              <a:lnSpc>
                <a:spcPts val="2350"/>
              </a:lnSpc>
              <a:buSzPct val="100000"/>
              <a:buChar char="•"/>
            </a:pPr>
            <a:r>
              <a:rPr lang="en-US" dirty="0">
                <a:solidFill>
                  <a:srgbClr val="4B4A4A"/>
                </a:solidFill>
                <a:latin typeface="Geist" pitchFamily="34" charset="0"/>
                <a:ea typeface="Geist" pitchFamily="34" charset="-122"/>
                <a:cs typeface="Geist" pitchFamily="34" charset="-120"/>
              </a:rPr>
              <a:t>Tạo giao diện web điều khiển thiết bị</a:t>
            </a:r>
            <a:endParaRPr lang="en-US" dirty="0"/>
          </a:p>
        </p:txBody>
      </p:sp>
      <p:sp>
        <p:nvSpPr>
          <p:cNvPr id="9" name="Text 7"/>
          <p:cNvSpPr/>
          <p:nvPr/>
        </p:nvSpPr>
        <p:spPr>
          <a:xfrm>
            <a:off x="754023" y="4605457"/>
            <a:ext cx="7010281" cy="301466"/>
          </a:xfrm>
          <a:prstGeom prst="rect">
            <a:avLst/>
          </a:prstGeom>
          <a:noFill/>
          <a:ln/>
        </p:spPr>
        <p:txBody>
          <a:bodyPr wrap="none" lIns="0" tIns="0" rIns="0" bIns="0" rtlCol="0" anchor="t"/>
          <a:lstStyle/>
          <a:p>
            <a:pPr marL="342900" indent="-342900" algn="l">
              <a:lnSpc>
                <a:spcPts val="2350"/>
              </a:lnSpc>
              <a:buSzPct val="100000"/>
              <a:buChar char="•"/>
            </a:pPr>
            <a:r>
              <a:rPr lang="en-US" dirty="0">
                <a:solidFill>
                  <a:srgbClr val="4B4A4A"/>
                </a:solidFill>
                <a:latin typeface="Geist" pitchFamily="34" charset="0"/>
                <a:ea typeface="Geist" pitchFamily="34" charset="-122"/>
                <a:cs typeface="Geist" pitchFamily="34" charset="-120"/>
              </a:rPr>
              <a:t>Giải quyết các vấn đề kỹ thuật thực tế</a:t>
            </a:r>
            <a:endParaRPr lang="en-US" dirty="0"/>
          </a:p>
        </p:txBody>
      </p:sp>
      <p:pic>
        <p:nvPicPr>
          <p:cNvPr id="10" name="Image 0" descr="preencoded.png"/>
          <p:cNvPicPr>
            <a:picLocks noChangeAspect="1"/>
          </p:cNvPicPr>
          <p:nvPr/>
        </p:nvPicPr>
        <p:blipFill>
          <a:blip r:embed="rId3"/>
          <a:stretch>
            <a:fillRect/>
          </a:stretch>
        </p:blipFill>
        <p:spPr>
          <a:xfrm>
            <a:off x="8231743" y="1602343"/>
            <a:ext cx="5652135" cy="4579501"/>
          </a:xfrm>
          <a:prstGeom prst="rect">
            <a:avLst/>
          </a:prstGeom>
        </p:spPr>
      </p:pic>
      <p:sp>
        <p:nvSpPr>
          <p:cNvPr id="11" name="Text 8"/>
          <p:cNvSpPr/>
          <p:nvPr/>
        </p:nvSpPr>
        <p:spPr>
          <a:xfrm>
            <a:off x="8514517" y="6427787"/>
            <a:ext cx="5369362" cy="904399"/>
          </a:xfrm>
          <a:prstGeom prst="rect">
            <a:avLst/>
          </a:prstGeom>
          <a:noFill/>
          <a:ln/>
        </p:spPr>
        <p:txBody>
          <a:bodyPr wrap="square" lIns="0" tIns="0" rIns="0" bIns="0" rtlCol="0" anchor="t"/>
          <a:lstStyle/>
          <a:p>
            <a:pPr marL="0" indent="0" algn="l">
              <a:lnSpc>
                <a:spcPts val="2350"/>
              </a:lnSpc>
              <a:buNone/>
            </a:pPr>
            <a:r>
              <a:rPr lang="en-US" b="1" dirty="0">
                <a:solidFill>
                  <a:srgbClr val="4B4A4A"/>
                </a:solidFill>
                <a:latin typeface="Geist" pitchFamily="34" charset="0"/>
                <a:ea typeface="Geist" pitchFamily="34" charset="-122"/>
                <a:cs typeface="Geist" pitchFamily="34" charset="-120"/>
              </a:rPr>
              <a:t>"Thiết bị Em vừa tạo ra có nguyên lý hoạt động giống hệt các sản phẩm Smart Home đắt tiền ngoài thị trường. Sự khác biệt chỉ là vỏ hộp đẹp và marketing thôi!"</a:t>
            </a:r>
            <a:endParaRPr lang="en-US" b="1" dirty="0"/>
          </a:p>
        </p:txBody>
      </p:sp>
      <p:sp>
        <p:nvSpPr>
          <p:cNvPr id="12" name="Text 9"/>
          <p:cNvSpPr/>
          <p:nvPr/>
        </p:nvSpPr>
        <p:spPr>
          <a:xfrm>
            <a:off x="8514517" y="7467957"/>
            <a:ext cx="5369362" cy="301466"/>
          </a:xfrm>
          <a:prstGeom prst="rect">
            <a:avLst/>
          </a:prstGeom>
          <a:noFill/>
          <a:ln/>
        </p:spPr>
        <p:txBody>
          <a:bodyPr wrap="none" lIns="0" tIns="0" rIns="0" bIns="0" rtlCol="0" anchor="t"/>
          <a:lstStyle/>
          <a:p>
            <a:pPr marL="0" indent="0" algn="r">
              <a:lnSpc>
                <a:spcPts val="2350"/>
              </a:lnSpc>
              <a:buNone/>
            </a:pPr>
            <a:endParaRPr lang="en-US" dirty="0"/>
          </a:p>
        </p:txBody>
      </p:sp>
      <p:sp>
        <p:nvSpPr>
          <p:cNvPr id="13" name="Shape 10"/>
          <p:cNvSpPr/>
          <p:nvPr/>
        </p:nvSpPr>
        <p:spPr>
          <a:xfrm>
            <a:off x="8231743" y="6393894"/>
            <a:ext cx="22860" cy="1375529"/>
          </a:xfrm>
          <a:prstGeom prst="rect">
            <a:avLst/>
          </a:prstGeom>
          <a:solidFill>
            <a:srgbClr val="006747"/>
          </a:solidFill>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835700" y="534888"/>
            <a:ext cx="10060186"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Nguyên lý này áp dụng cho vô số thiết bị</a:t>
            </a:r>
            <a:endParaRPr lang="en-US" sz="3900" dirty="0"/>
          </a:p>
        </p:txBody>
      </p:sp>
      <p:sp>
        <p:nvSpPr>
          <p:cNvPr id="3" name="Text 1"/>
          <p:cNvSpPr/>
          <p:nvPr/>
        </p:nvSpPr>
        <p:spPr>
          <a:xfrm>
            <a:off x="2353389" y="2093952"/>
            <a:ext cx="2480905" cy="310158"/>
          </a:xfrm>
          <a:prstGeom prst="rect">
            <a:avLst/>
          </a:prstGeom>
          <a:noFill/>
          <a:ln/>
        </p:spPr>
        <p:txBody>
          <a:bodyPr wrap="none" lIns="0" tIns="0" rIns="0" bIns="0" rtlCol="0" anchor="t"/>
          <a:lstStyle/>
          <a:p>
            <a:pPr marL="0" indent="0" algn="r">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Đèn thông minh</a:t>
            </a:r>
            <a:endParaRPr lang="en-US" dirty="0"/>
          </a:p>
        </p:txBody>
      </p:sp>
      <p:sp>
        <p:nvSpPr>
          <p:cNvPr id="4" name="Text 2"/>
          <p:cNvSpPr/>
          <p:nvPr/>
        </p:nvSpPr>
        <p:spPr>
          <a:xfrm>
            <a:off x="793790" y="2523172"/>
            <a:ext cx="4040505" cy="952619"/>
          </a:xfrm>
          <a:prstGeom prst="rect">
            <a:avLst/>
          </a:prstGeom>
          <a:noFill/>
          <a:ln/>
        </p:spPr>
        <p:txBody>
          <a:bodyPr wrap="square" lIns="0" tIns="0" rIns="0" bIns="0" rtlCol="0" anchor="t"/>
          <a:lstStyle/>
          <a:p>
            <a:pPr marL="0" indent="0" algn="r">
              <a:lnSpc>
                <a:spcPts val="2500"/>
              </a:lnSpc>
              <a:buNone/>
            </a:pPr>
            <a:r>
              <a:rPr lang="en-US" dirty="0">
                <a:solidFill>
                  <a:srgbClr val="4B4A4A"/>
                </a:solidFill>
                <a:latin typeface="Geist" pitchFamily="34" charset="0"/>
                <a:ea typeface="Geist" pitchFamily="34" charset="-122"/>
                <a:cs typeface="Geist" pitchFamily="34" charset="-120"/>
              </a:rPr>
              <a:t>Philips Hue, Xiaomi Yeelight - tất cả đều dùng ESP32 hoặc chip tương tự, chạy Web Server để điều khiển.</a:t>
            </a:r>
            <a:endParaRPr lang="en-US" dirty="0"/>
          </a:p>
        </p:txBody>
      </p:sp>
      <p:pic>
        <p:nvPicPr>
          <p:cNvPr id="5" name="Image 0" descr="preencoded.png"/>
          <p:cNvPicPr>
            <a:picLocks noChangeAspect="1"/>
          </p:cNvPicPr>
          <p:nvPr/>
        </p:nvPicPr>
        <p:blipFill>
          <a:blip r:embed="rId3"/>
          <a:stretch>
            <a:fillRect/>
          </a:stretch>
        </p:blipFill>
        <p:spPr>
          <a:xfrm>
            <a:off x="5032653" y="2070378"/>
            <a:ext cx="4564975" cy="4564975"/>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67641" y="2820650"/>
            <a:ext cx="296942" cy="296942"/>
          </a:xfrm>
          <a:prstGeom prst="rect">
            <a:avLst/>
          </a:prstGeom>
        </p:spPr>
      </p:pic>
      <p:sp>
        <p:nvSpPr>
          <p:cNvPr id="7" name="Text 3"/>
          <p:cNvSpPr/>
          <p:nvPr/>
        </p:nvSpPr>
        <p:spPr>
          <a:xfrm>
            <a:off x="9795986" y="2093952"/>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Ổ cắm WiFi</a:t>
            </a:r>
            <a:endParaRPr lang="en-US" dirty="0"/>
          </a:p>
        </p:txBody>
      </p:sp>
      <p:sp>
        <p:nvSpPr>
          <p:cNvPr id="8" name="Text 4"/>
          <p:cNvSpPr/>
          <p:nvPr/>
        </p:nvSpPr>
        <p:spPr>
          <a:xfrm>
            <a:off x="9795986" y="2523172"/>
            <a:ext cx="4040624"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TP-Link Kasa, Sonoff - bên trong là ESP8266 (anh em của ESP32), nguyên lý y hệt bài học hôm nay.</a:t>
            </a:r>
            <a:endParaRPr lang="en-US" dirty="0"/>
          </a:p>
        </p:txBody>
      </p:sp>
      <p:pic>
        <p:nvPicPr>
          <p:cNvPr id="9" name="Image 2" descr="preencoded.png"/>
          <p:cNvPicPr>
            <a:picLocks noChangeAspect="1"/>
          </p:cNvPicPr>
          <p:nvPr/>
        </p:nvPicPr>
        <p:blipFill>
          <a:blip r:embed="rId6"/>
          <a:stretch>
            <a:fillRect/>
          </a:stretch>
        </p:blipFill>
        <p:spPr>
          <a:xfrm>
            <a:off x="5032653" y="2070378"/>
            <a:ext cx="4564975" cy="4564975"/>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65460" y="2820650"/>
            <a:ext cx="296942" cy="296942"/>
          </a:xfrm>
          <a:prstGeom prst="rect">
            <a:avLst/>
          </a:prstGeom>
        </p:spPr>
      </p:pic>
      <p:sp>
        <p:nvSpPr>
          <p:cNvPr id="11" name="Text 5"/>
          <p:cNvSpPr/>
          <p:nvPr/>
        </p:nvSpPr>
        <p:spPr>
          <a:xfrm>
            <a:off x="9994463" y="3820597"/>
            <a:ext cx="2663904"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Điều hòa thông minh</a:t>
            </a:r>
            <a:endParaRPr lang="en-US" dirty="0"/>
          </a:p>
        </p:txBody>
      </p:sp>
      <p:sp>
        <p:nvSpPr>
          <p:cNvPr id="12" name="Text 6"/>
          <p:cNvSpPr/>
          <p:nvPr/>
        </p:nvSpPr>
        <p:spPr>
          <a:xfrm>
            <a:off x="9994463" y="4249817"/>
            <a:ext cx="3842147"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Nest, Ecobee - dùng vi điều khiển tương tự, kết nối WiFi để điều khiển từ xa.</a:t>
            </a:r>
            <a:endParaRPr lang="en-US" dirty="0"/>
          </a:p>
        </p:txBody>
      </p:sp>
      <p:pic>
        <p:nvPicPr>
          <p:cNvPr id="13" name="Image 4" descr="preencoded.png"/>
          <p:cNvPicPr>
            <a:picLocks noChangeAspect="1"/>
          </p:cNvPicPr>
          <p:nvPr/>
        </p:nvPicPr>
        <p:blipFill>
          <a:blip r:embed="rId9"/>
          <a:stretch>
            <a:fillRect/>
          </a:stretch>
        </p:blipFill>
        <p:spPr>
          <a:xfrm>
            <a:off x="5032653" y="2070378"/>
            <a:ext cx="4564975" cy="4564975"/>
          </a:xfrm>
          <a:prstGeom prst="rect">
            <a:avLst/>
          </a:prstGeom>
        </p:spPr>
      </p:pic>
      <p:pic>
        <p:nvPicPr>
          <p:cNvPr id="14"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764250" y="4204275"/>
            <a:ext cx="296942" cy="296942"/>
          </a:xfrm>
          <a:prstGeom prst="rect">
            <a:avLst/>
          </a:prstGeom>
        </p:spPr>
      </p:pic>
      <p:sp>
        <p:nvSpPr>
          <p:cNvPr id="15" name="Text 7"/>
          <p:cNvSpPr/>
          <p:nvPr/>
        </p:nvSpPr>
        <p:spPr>
          <a:xfrm>
            <a:off x="9795986" y="5388650"/>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Camera giám sát</a:t>
            </a:r>
            <a:endParaRPr lang="en-US" dirty="0"/>
          </a:p>
        </p:txBody>
      </p:sp>
      <p:sp>
        <p:nvSpPr>
          <p:cNvPr id="16" name="Text 8"/>
          <p:cNvSpPr/>
          <p:nvPr/>
        </p:nvSpPr>
        <p:spPr>
          <a:xfrm>
            <a:off x="9795986" y="5817870"/>
            <a:ext cx="4040624"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ESP32-CAM - mô-đun ESP32 tích hợp camera, stream video qua HTTP hoặc RTSP.</a:t>
            </a:r>
            <a:endParaRPr lang="en-US" dirty="0"/>
          </a:p>
        </p:txBody>
      </p:sp>
      <p:pic>
        <p:nvPicPr>
          <p:cNvPr id="17" name="Image 6" descr="preencoded.png"/>
          <p:cNvPicPr>
            <a:picLocks noChangeAspect="1"/>
          </p:cNvPicPr>
          <p:nvPr/>
        </p:nvPicPr>
        <p:blipFill>
          <a:blip r:embed="rId12"/>
          <a:stretch>
            <a:fillRect/>
          </a:stretch>
        </p:blipFill>
        <p:spPr>
          <a:xfrm>
            <a:off x="5032653" y="2070378"/>
            <a:ext cx="4564975" cy="4564975"/>
          </a:xfrm>
          <a:prstGeom prst="rect">
            <a:avLst/>
          </a:prstGeom>
        </p:spPr>
      </p:pic>
      <p:pic>
        <p:nvPicPr>
          <p:cNvPr id="18"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965460" y="5587901"/>
            <a:ext cx="296942" cy="296942"/>
          </a:xfrm>
          <a:prstGeom prst="rect">
            <a:avLst/>
          </a:prstGeom>
        </p:spPr>
      </p:pic>
      <p:sp>
        <p:nvSpPr>
          <p:cNvPr id="19" name="Text 9"/>
          <p:cNvSpPr/>
          <p:nvPr/>
        </p:nvSpPr>
        <p:spPr>
          <a:xfrm>
            <a:off x="2353389" y="5229820"/>
            <a:ext cx="2480905" cy="310158"/>
          </a:xfrm>
          <a:prstGeom prst="rect">
            <a:avLst/>
          </a:prstGeom>
          <a:noFill/>
          <a:ln/>
        </p:spPr>
        <p:txBody>
          <a:bodyPr wrap="none" lIns="0" tIns="0" rIns="0" bIns="0" rtlCol="0" anchor="t"/>
          <a:lstStyle/>
          <a:p>
            <a:pPr marL="0" indent="0" algn="r">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Khóa cửa điện tử</a:t>
            </a:r>
            <a:endParaRPr lang="en-US" dirty="0"/>
          </a:p>
        </p:txBody>
      </p:sp>
      <p:sp>
        <p:nvSpPr>
          <p:cNvPr id="20" name="Text 10"/>
          <p:cNvSpPr/>
          <p:nvPr/>
        </p:nvSpPr>
        <p:spPr>
          <a:xfrm>
            <a:off x="793790" y="5659041"/>
            <a:ext cx="4040505" cy="952619"/>
          </a:xfrm>
          <a:prstGeom prst="rect">
            <a:avLst/>
          </a:prstGeom>
          <a:noFill/>
          <a:ln/>
        </p:spPr>
        <p:txBody>
          <a:bodyPr wrap="square" lIns="0" tIns="0" rIns="0" bIns="0" rtlCol="0" anchor="t"/>
          <a:lstStyle/>
          <a:p>
            <a:pPr marL="0" indent="0" algn="r">
              <a:lnSpc>
                <a:spcPts val="2500"/>
              </a:lnSpc>
              <a:buNone/>
            </a:pPr>
            <a:r>
              <a:rPr lang="en-US" dirty="0">
                <a:solidFill>
                  <a:srgbClr val="4B4A4A"/>
                </a:solidFill>
                <a:latin typeface="Geist" pitchFamily="34" charset="0"/>
                <a:ea typeface="Geist" pitchFamily="34" charset="-122"/>
                <a:cs typeface="Geist" pitchFamily="34" charset="-120"/>
              </a:rPr>
              <a:t>Yale, August - kết hợp ESP32 với động cơ servo, mở khóa từ xa qua WiFi hoặc Bluetooth.</a:t>
            </a:r>
            <a:endParaRPr lang="en-US" dirty="0"/>
          </a:p>
        </p:txBody>
      </p:sp>
      <p:pic>
        <p:nvPicPr>
          <p:cNvPr id="21" name="Image 8" descr="preencoded.png"/>
          <p:cNvPicPr>
            <a:picLocks noChangeAspect="1"/>
          </p:cNvPicPr>
          <p:nvPr/>
        </p:nvPicPr>
        <p:blipFill>
          <a:blip r:embed="rId15"/>
          <a:stretch>
            <a:fillRect/>
          </a:stretch>
        </p:blipFill>
        <p:spPr>
          <a:xfrm>
            <a:off x="5032653" y="2070378"/>
            <a:ext cx="4564975" cy="4564975"/>
          </a:xfrm>
          <a:prstGeom prst="rect">
            <a:avLst/>
          </a:prstGeom>
        </p:spPr>
      </p:pic>
      <p:pic>
        <p:nvPicPr>
          <p:cNvPr id="22"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367641" y="5587901"/>
            <a:ext cx="296942" cy="296942"/>
          </a:xfrm>
          <a:prstGeom prst="rect">
            <a:avLst/>
          </a:prstGeom>
        </p:spPr>
      </p:pic>
      <p:sp>
        <p:nvSpPr>
          <p:cNvPr id="23" name="Text 11"/>
          <p:cNvSpPr/>
          <p:nvPr/>
        </p:nvSpPr>
        <p:spPr>
          <a:xfrm>
            <a:off x="2154912" y="3820597"/>
            <a:ext cx="2480905" cy="310158"/>
          </a:xfrm>
          <a:prstGeom prst="rect">
            <a:avLst/>
          </a:prstGeom>
          <a:noFill/>
          <a:ln/>
        </p:spPr>
        <p:txBody>
          <a:bodyPr wrap="none" lIns="0" tIns="0" rIns="0" bIns="0" rtlCol="0" anchor="t"/>
          <a:lstStyle/>
          <a:p>
            <a:pPr marL="0" indent="0" algn="r">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Hệ thống tưới cây</a:t>
            </a:r>
            <a:endParaRPr lang="en-US" dirty="0"/>
          </a:p>
        </p:txBody>
      </p:sp>
      <p:sp>
        <p:nvSpPr>
          <p:cNvPr id="24" name="Text 12"/>
          <p:cNvSpPr/>
          <p:nvPr/>
        </p:nvSpPr>
        <p:spPr>
          <a:xfrm>
            <a:off x="793790" y="4249817"/>
            <a:ext cx="3842028" cy="635079"/>
          </a:xfrm>
          <a:prstGeom prst="rect">
            <a:avLst/>
          </a:prstGeom>
          <a:noFill/>
          <a:ln/>
        </p:spPr>
        <p:txBody>
          <a:bodyPr wrap="square" lIns="0" tIns="0" rIns="0" bIns="0" rtlCol="0" anchor="t"/>
          <a:lstStyle/>
          <a:p>
            <a:pPr marL="0" indent="0" algn="r">
              <a:lnSpc>
                <a:spcPts val="2500"/>
              </a:lnSpc>
              <a:buNone/>
            </a:pPr>
            <a:r>
              <a:rPr lang="en-US" dirty="0">
                <a:solidFill>
                  <a:srgbClr val="4B4A4A"/>
                </a:solidFill>
                <a:latin typeface="Geist" pitchFamily="34" charset="0"/>
                <a:ea typeface="Geist" pitchFamily="34" charset="-122"/>
                <a:cs typeface="Geist" pitchFamily="34" charset="-120"/>
              </a:rPr>
              <a:t>Rachio, Rain Bird - điều khiển van nước qua WiFi, lên lịch tưới tự động.</a:t>
            </a:r>
            <a:endParaRPr lang="en-US" dirty="0"/>
          </a:p>
        </p:txBody>
      </p:sp>
      <p:pic>
        <p:nvPicPr>
          <p:cNvPr id="25" name="Image 10" descr="preencoded.png"/>
          <p:cNvPicPr>
            <a:picLocks noChangeAspect="1"/>
          </p:cNvPicPr>
          <p:nvPr/>
        </p:nvPicPr>
        <p:blipFill>
          <a:blip r:embed="rId18"/>
          <a:stretch>
            <a:fillRect/>
          </a:stretch>
        </p:blipFill>
        <p:spPr>
          <a:xfrm>
            <a:off x="5032653" y="2070378"/>
            <a:ext cx="4564975" cy="4564975"/>
          </a:xfrm>
          <a:prstGeom prst="rect">
            <a:avLst/>
          </a:prstGeom>
        </p:spPr>
      </p:pic>
      <p:pic>
        <p:nvPicPr>
          <p:cNvPr id="26" name="Image 11"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568851" y="4204275"/>
            <a:ext cx="296942" cy="296942"/>
          </a:xfrm>
          <a:prstGeom prst="rect">
            <a:avLst/>
          </a:prstGeom>
        </p:spPr>
      </p:pic>
      <p:sp>
        <p:nvSpPr>
          <p:cNvPr id="27" name="Text 13"/>
          <p:cNvSpPr/>
          <p:nvPr/>
        </p:nvSpPr>
        <p:spPr>
          <a:xfrm>
            <a:off x="793790" y="7243842"/>
            <a:ext cx="13042821" cy="317540"/>
          </a:xfrm>
          <a:prstGeom prst="rect">
            <a:avLst/>
          </a:prstGeom>
          <a:noFill/>
          <a:ln/>
        </p:spPr>
        <p:txBody>
          <a:bodyPr wrap="none" lIns="0" tIns="0" rIns="0" bIns="0" rtlCol="0" anchor="t"/>
          <a:lstStyle/>
          <a:p>
            <a:pPr marL="0" indent="0" algn="ctr">
              <a:lnSpc>
                <a:spcPts val="2500"/>
              </a:lnSpc>
              <a:buNone/>
            </a:pPr>
            <a:r>
              <a:rPr lang="en-US" dirty="0">
                <a:solidFill>
                  <a:srgbClr val="4B4A4A"/>
                </a:solidFill>
                <a:latin typeface="Geist" pitchFamily="34" charset="0"/>
                <a:ea typeface="Geist" pitchFamily="34" charset="-122"/>
                <a:cs typeface="Geist" pitchFamily="34" charset="-120"/>
              </a:rPr>
              <a:t>Tất cả những thiết bị "xịn xò" này đều dựa trên </a:t>
            </a:r>
            <a:r>
              <a:rPr lang="en-US" b="1" dirty="0">
                <a:solidFill>
                  <a:srgbClr val="4B4A4A"/>
                </a:solidFill>
                <a:latin typeface="Geist" pitchFamily="34" charset="0"/>
                <a:ea typeface="Geist" pitchFamily="34" charset="-122"/>
                <a:cs typeface="Geist" pitchFamily="34" charset="-120"/>
              </a:rPr>
              <a:t>nền tảng bạn vừa học</a:t>
            </a:r>
            <a:r>
              <a:rPr lang="en-US" dirty="0">
                <a:solidFill>
                  <a:srgbClr val="4B4A4A"/>
                </a:solidFill>
                <a:latin typeface="Geist" pitchFamily="34" charset="0"/>
                <a:ea typeface="Geist" pitchFamily="34" charset="-122"/>
                <a:cs typeface="Geist" pitchFamily="34" charset="-120"/>
              </a:rPr>
              <a:t>. Bạn hoàn toàn có thể tự chế tạo phiên bản DIY của chúng!</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793790" y="600432"/>
            <a:ext cx="8435340"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So sánh với sản phẩm thương mại</a:t>
            </a:r>
            <a:endParaRPr lang="en-US" sz="3900" dirty="0"/>
          </a:p>
        </p:txBody>
      </p:sp>
      <p:sp>
        <p:nvSpPr>
          <p:cNvPr id="3" name="Shape 1"/>
          <p:cNvSpPr/>
          <p:nvPr/>
        </p:nvSpPr>
        <p:spPr>
          <a:xfrm>
            <a:off x="793790" y="1617345"/>
            <a:ext cx="13042821" cy="5153382"/>
          </a:xfrm>
          <a:prstGeom prst="roundRect">
            <a:avLst>
              <a:gd name="adj" fmla="val 3466"/>
            </a:avLst>
          </a:prstGeom>
          <a:noFill/>
          <a:ln w="7620">
            <a:solidFill>
              <a:srgbClr val="000000">
                <a:alpha val="8000"/>
              </a:srgbClr>
            </a:solidFill>
            <a:prstDash val="solid"/>
          </a:ln>
        </p:spPr>
      </p:sp>
      <p:sp>
        <p:nvSpPr>
          <p:cNvPr id="4" name="Shape 2"/>
          <p:cNvSpPr/>
          <p:nvPr/>
        </p:nvSpPr>
        <p:spPr>
          <a:xfrm>
            <a:off x="801410" y="1624965"/>
            <a:ext cx="13027581" cy="570905"/>
          </a:xfrm>
          <a:prstGeom prst="rect">
            <a:avLst/>
          </a:prstGeom>
          <a:solidFill>
            <a:srgbClr val="FFFFFF">
              <a:alpha val="4000"/>
            </a:srgbClr>
          </a:solidFill>
          <a:ln/>
        </p:spPr>
      </p:sp>
      <p:sp>
        <p:nvSpPr>
          <p:cNvPr id="5" name="Text 3"/>
          <p:cNvSpPr/>
          <p:nvPr/>
        </p:nvSpPr>
        <p:spPr>
          <a:xfrm>
            <a:off x="999887" y="1751648"/>
            <a:ext cx="3507700"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Tiêu chí</a:t>
            </a:r>
            <a:endParaRPr lang="en-US" dirty="0"/>
          </a:p>
        </p:txBody>
      </p:sp>
      <p:sp>
        <p:nvSpPr>
          <p:cNvPr id="6" name="Text 4"/>
          <p:cNvSpPr/>
          <p:nvPr/>
        </p:nvSpPr>
        <p:spPr>
          <a:xfrm>
            <a:off x="4911923" y="1751648"/>
            <a:ext cx="4155281"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Dự án DIY của bạn</a:t>
            </a:r>
            <a:endParaRPr lang="en-US" dirty="0"/>
          </a:p>
        </p:txBody>
      </p:sp>
      <p:sp>
        <p:nvSpPr>
          <p:cNvPr id="7" name="Text 5"/>
          <p:cNvSpPr/>
          <p:nvPr/>
        </p:nvSpPr>
        <p:spPr>
          <a:xfrm>
            <a:off x="9471541" y="1751648"/>
            <a:ext cx="4159091"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Sản phẩm thương mại</a:t>
            </a:r>
            <a:endParaRPr lang="en-US" dirty="0"/>
          </a:p>
        </p:txBody>
      </p:sp>
      <p:sp>
        <p:nvSpPr>
          <p:cNvPr id="8" name="Shape 6"/>
          <p:cNvSpPr/>
          <p:nvPr/>
        </p:nvSpPr>
        <p:spPr>
          <a:xfrm>
            <a:off x="801410" y="2195870"/>
            <a:ext cx="13027581" cy="570905"/>
          </a:xfrm>
          <a:prstGeom prst="rect">
            <a:avLst/>
          </a:prstGeom>
          <a:solidFill>
            <a:srgbClr val="000000">
              <a:alpha val="4000"/>
            </a:srgbClr>
          </a:solidFill>
          <a:ln/>
        </p:spPr>
      </p:sp>
      <p:sp>
        <p:nvSpPr>
          <p:cNvPr id="9" name="Text 7"/>
          <p:cNvSpPr/>
          <p:nvPr/>
        </p:nvSpPr>
        <p:spPr>
          <a:xfrm>
            <a:off x="999887" y="2322552"/>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Chi phí</a:t>
            </a:r>
            <a:endParaRPr lang="en-US" dirty="0"/>
          </a:p>
        </p:txBody>
      </p:sp>
      <p:sp>
        <p:nvSpPr>
          <p:cNvPr id="10" name="Text 8"/>
          <p:cNvSpPr/>
          <p:nvPr/>
        </p:nvSpPr>
        <p:spPr>
          <a:xfrm>
            <a:off x="4911923" y="2322552"/>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~100,000 VNĐ (mạch ESP32)</a:t>
            </a:r>
            <a:endParaRPr lang="en-US" dirty="0"/>
          </a:p>
        </p:txBody>
      </p:sp>
      <p:sp>
        <p:nvSpPr>
          <p:cNvPr id="11" name="Text 9"/>
          <p:cNvSpPr/>
          <p:nvPr/>
        </p:nvSpPr>
        <p:spPr>
          <a:xfrm>
            <a:off x="9471541" y="2322552"/>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500,000 - 2,000,000 VNĐ</a:t>
            </a:r>
            <a:endParaRPr lang="en-US" dirty="0"/>
          </a:p>
        </p:txBody>
      </p:sp>
      <p:sp>
        <p:nvSpPr>
          <p:cNvPr id="12" name="Shape 10"/>
          <p:cNvSpPr/>
          <p:nvPr/>
        </p:nvSpPr>
        <p:spPr>
          <a:xfrm>
            <a:off x="801410" y="2766774"/>
            <a:ext cx="13027581" cy="570905"/>
          </a:xfrm>
          <a:prstGeom prst="rect">
            <a:avLst/>
          </a:prstGeom>
          <a:solidFill>
            <a:srgbClr val="FFFFFF">
              <a:alpha val="4000"/>
            </a:srgbClr>
          </a:solidFill>
          <a:ln/>
        </p:spPr>
      </p:sp>
      <p:sp>
        <p:nvSpPr>
          <p:cNvPr id="13" name="Text 11"/>
          <p:cNvSpPr/>
          <p:nvPr/>
        </p:nvSpPr>
        <p:spPr>
          <a:xfrm>
            <a:off x="999887" y="2893457"/>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Nguyên lý hoạt động</a:t>
            </a:r>
            <a:endParaRPr lang="en-US" dirty="0"/>
          </a:p>
        </p:txBody>
      </p:sp>
      <p:sp>
        <p:nvSpPr>
          <p:cNvPr id="14" name="Text 12"/>
          <p:cNvSpPr/>
          <p:nvPr/>
        </p:nvSpPr>
        <p:spPr>
          <a:xfrm>
            <a:off x="4911923" y="2893457"/>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ESP32 + Web Server + WiFi</a:t>
            </a:r>
            <a:endParaRPr lang="en-US" dirty="0"/>
          </a:p>
        </p:txBody>
      </p:sp>
      <p:sp>
        <p:nvSpPr>
          <p:cNvPr id="15" name="Text 13"/>
          <p:cNvSpPr/>
          <p:nvPr/>
        </p:nvSpPr>
        <p:spPr>
          <a:xfrm>
            <a:off x="9471541" y="2893457"/>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ESP32/ESP8266 + Web Server + WiFi</a:t>
            </a:r>
            <a:endParaRPr lang="en-US" dirty="0"/>
          </a:p>
        </p:txBody>
      </p:sp>
      <p:sp>
        <p:nvSpPr>
          <p:cNvPr id="16" name="Shape 14"/>
          <p:cNvSpPr/>
          <p:nvPr/>
        </p:nvSpPr>
        <p:spPr>
          <a:xfrm>
            <a:off x="801410" y="3337679"/>
            <a:ext cx="13027581" cy="570905"/>
          </a:xfrm>
          <a:prstGeom prst="rect">
            <a:avLst/>
          </a:prstGeom>
          <a:solidFill>
            <a:srgbClr val="000000">
              <a:alpha val="4000"/>
            </a:srgbClr>
          </a:solidFill>
          <a:ln/>
        </p:spPr>
      </p:sp>
      <p:sp>
        <p:nvSpPr>
          <p:cNvPr id="17" name="Text 15"/>
          <p:cNvSpPr/>
          <p:nvPr/>
        </p:nvSpPr>
        <p:spPr>
          <a:xfrm>
            <a:off x="999887" y="3464362"/>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Tính năng</a:t>
            </a:r>
            <a:endParaRPr lang="en-US" dirty="0"/>
          </a:p>
        </p:txBody>
      </p:sp>
      <p:sp>
        <p:nvSpPr>
          <p:cNvPr id="18" name="Text 16"/>
          <p:cNvSpPr/>
          <p:nvPr/>
        </p:nvSpPr>
        <p:spPr>
          <a:xfrm>
            <a:off x="4911923" y="3464362"/>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Bật/tắt đèn từ xa</a:t>
            </a:r>
            <a:endParaRPr lang="en-US" dirty="0"/>
          </a:p>
        </p:txBody>
      </p:sp>
      <p:sp>
        <p:nvSpPr>
          <p:cNvPr id="19" name="Text 17"/>
          <p:cNvSpPr/>
          <p:nvPr/>
        </p:nvSpPr>
        <p:spPr>
          <a:xfrm>
            <a:off x="9471541" y="3464362"/>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Bật/tắt + lên lịch + thống kê</a:t>
            </a:r>
            <a:endParaRPr lang="en-US" dirty="0"/>
          </a:p>
        </p:txBody>
      </p:sp>
      <p:sp>
        <p:nvSpPr>
          <p:cNvPr id="20" name="Shape 18"/>
          <p:cNvSpPr/>
          <p:nvPr/>
        </p:nvSpPr>
        <p:spPr>
          <a:xfrm>
            <a:off x="801410" y="3908584"/>
            <a:ext cx="13027581" cy="570905"/>
          </a:xfrm>
          <a:prstGeom prst="rect">
            <a:avLst/>
          </a:prstGeom>
          <a:solidFill>
            <a:srgbClr val="FFFFFF">
              <a:alpha val="4000"/>
            </a:srgbClr>
          </a:solidFill>
          <a:ln/>
        </p:spPr>
      </p:sp>
      <p:sp>
        <p:nvSpPr>
          <p:cNvPr id="21" name="Text 19"/>
          <p:cNvSpPr/>
          <p:nvPr/>
        </p:nvSpPr>
        <p:spPr>
          <a:xfrm>
            <a:off x="999887" y="4035266"/>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Giao diện</a:t>
            </a:r>
            <a:endParaRPr lang="en-US" dirty="0"/>
          </a:p>
        </p:txBody>
      </p:sp>
      <p:sp>
        <p:nvSpPr>
          <p:cNvPr id="22" name="Text 20"/>
          <p:cNvSpPr/>
          <p:nvPr/>
        </p:nvSpPr>
        <p:spPr>
          <a:xfrm>
            <a:off x="4911923" y="4035266"/>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Web đơn giản (tự thiết kế)</a:t>
            </a:r>
            <a:endParaRPr lang="en-US" dirty="0"/>
          </a:p>
        </p:txBody>
      </p:sp>
      <p:sp>
        <p:nvSpPr>
          <p:cNvPr id="23" name="Text 21"/>
          <p:cNvSpPr/>
          <p:nvPr/>
        </p:nvSpPr>
        <p:spPr>
          <a:xfrm>
            <a:off x="9471541" y="4035266"/>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App mobile đẹp mắt</a:t>
            </a:r>
            <a:endParaRPr lang="en-US" dirty="0"/>
          </a:p>
        </p:txBody>
      </p:sp>
      <p:sp>
        <p:nvSpPr>
          <p:cNvPr id="24" name="Shape 22"/>
          <p:cNvSpPr/>
          <p:nvPr/>
        </p:nvSpPr>
        <p:spPr>
          <a:xfrm>
            <a:off x="801410" y="4479488"/>
            <a:ext cx="13027581" cy="570905"/>
          </a:xfrm>
          <a:prstGeom prst="rect">
            <a:avLst/>
          </a:prstGeom>
          <a:solidFill>
            <a:srgbClr val="000000">
              <a:alpha val="4000"/>
            </a:srgbClr>
          </a:solidFill>
          <a:ln/>
        </p:spPr>
      </p:sp>
      <p:sp>
        <p:nvSpPr>
          <p:cNvPr id="25" name="Text 23"/>
          <p:cNvSpPr/>
          <p:nvPr/>
        </p:nvSpPr>
        <p:spPr>
          <a:xfrm>
            <a:off x="999887" y="4606171"/>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Bảo mật</a:t>
            </a:r>
            <a:endParaRPr lang="en-US" dirty="0"/>
          </a:p>
        </p:txBody>
      </p:sp>
      <p:sp>
        <p:nvSpPr>
          <p:cNvPr id="26" name="Text 24"/>
          <p:cNvSpPr/>
          <p:nvPr/>
        </p:nvSpPr>
        <p:spPr>
          <a:xfrm>
            <a:off x="4911923" y="4606171"/>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Cơ bản (có thể nâng cấp)</a:t>
            </a:r>
            <a:endParaRPr lang="en-US" dirty="0"/>
          </a:p>
        </p:txBody>
      </p:sp>
      <p:sp>
        <p:nvSpPr>
          <p:cNvPr id="27" name="Text 25"/>
          <p:cNvSpPr/>
          <p:nvPr/>
        </p:nvSpPr>
        <p:spPr>
          <a:xfrm>
            <a:off x="9471541" y="4606171"/>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Mã hóa, xác thực 2 lớp</a:t>
            </a:r>
            <a:endParaRPr lang="en-US" dirty="0"/>
          </a:p>
        </p:txBody>
      </p:sp>
      <p:sp>
        <p:nvSpPr>
          <p:cNvPr id="28" name="Shape 26"/>
          <p:cNvSpPr/>
          <p:nvPr/>
        </p:nvSpPr>
        <p:spPr>
          <a:xfrm>
            <a:off x="801410" y="5050393"/>
            <a:ext cx="13027581" cy="570905"/>
          </a:xfrm>
          <a:prstGeom prst="rect">
            <a:avLst/>
          </a:prstGeom>
          <a:solidFill>
            <a:srgbClr val="FFFFFF">
              <a:alpha val="4000"/>
            </a:srgbClr>
          </a:solidFill>
          <a:ln/>
        </p:spPr>
      </p:sp>
      <p:sp>
        <p:nvSpPr>
          <p:cNvPr id="29" name="Text 27"/>
          <p:cNvSpPr/>
          <p:nvPr/>
        </p:nvSpPr>
        <p:spPr>
          <a:xfrm>
            <a:off x="999887" y="5177076"/>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Độ tin cậy</a:t>
            </a:r>
            <a:endParaRPr lang="en-US" dirty="0"/>
          </a:p>
        </p:txBody>
      </p:sp>
      <p:sp>
        <p:nvSpPr>
          <p:cNvPr id="30" name="Text 28"/>
          <p:cNvSpPr/>
          <p:nvPr/>
        </p:nvSpPr>
        <p:spPr>
          <a:xfrm>
            <a:off x="4911923" y="5177076"/>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Phụ thuộc vào code (có thể tối ưu)</a:t>
            </a:r>
            <a:endParaRPr lang="en-US" dirty="0"/>
          </a:p>
        </p:txBody>
      </p:sp>
      <p:sp>
        <p:nvSpPr>
          <p:cNvPr id="31" name="Text 29"/>
          <p:cNvSpPr/>
          <p:nvPr/>
        </p:nvSpPr>
        <p:spPr>
          <a:xfrm>
            <a:off x="9471541" y="5177076"/>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Đã qua kiểm nghiệm kỹ lưỡng</a:t>
            </a:r>
            <a:endParaRPr lang="en-US" dirty="0"/>
          </a:p>
        </p:txBody>
      </p:sp>
      <p:sp>
        <p:nvSpPr>
          <p:cNvPr id="32" name="Shape 30"/>
          <p:cNvSpPr/>
          <p:nvPr/>
        </p:nvSpPr>
        <p:spPr>
          <a:xfrm>
            <a:off x="801410" y="5621298"/>
            <a:ext cx="13027581" cy="570905"/>
          </a:xfrm>
          <a:prstGeom prst="rect">
            <a:avLst/>
          </a:prstGeom>
          <a:solidFill>
            <a:srgbClr val="000000">
              <a:alpha val="4000"/>
            </a:srgbClr>
          </a:solidFill>
          <a:ln/>
        </p:spPr>
      </p:sp>
      <p:sp>
        <p:nvSpPr>
          <p:cNvPr id="33" name="Text 31"/>
          <p:cNvSpPr/>
          <p:nvPr/>
        </p:nvSpPr>
        <p:spPr>
          <a:xfrm>
            <a:off x="999887" y="5747980"/>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Tùy chỉnh</a:t>
            </a:r>
            <a:endParaRPr lang="en-US" dirty="0"/>
          </a:p>
        </p:txBody>
      </p:sp>
      <p:sp>
        <p:nvSpPr>
          <p:cNvPr id="34" name="Text 32"/>
          <p:cNvSpPr/>
          <p:nvPr/>
        </p:nvSpPr>
        <p:spPr>
          <a:xfrm>
            <a:off x="4911923" y="5747980"/>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Hoàn toàn tự do ✓</a:t>
            </a:r>
            <a:endParaRPr lang="en-US" dirty="0"/>
          </a:p>
        </p:txBody>
      </p:sp>
      <p:sp>
        <p:nvSpPr>
          <p:cNvPr id="35" name="Text 33"/>
          <p:cNvSpPr/>
          <p:nvPr/>
        </p:nvSpPr>
        <p:spPr>
          <a:xfrm>
            <a:off x="9471541" y="5747980"/>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Bị giới hạn bởi nhà sản xuất ✗</a:t>
            </a:r>
            <a:endParaRPr lang="en-US" dirty="0"/>
          </a:p>
        </p:txBody>
      </p:sp>
      <p:sp>
        <p:nvSpPr>
          <p:cNvPr id="36" name="Shape 34"/>
          <p:cNvSpPr/>
          <p:nvPr/>
        </p:nvSpPr>
        <p:spPr>
          <a:xfrm>
            <a:off x="801410" y="6192203"/>
            <a:ext cx="13027581" cy="570905"/>
          </a:xfrm>
          <a:prstGeom prst="rect">
            <a:avLst/>
          </a:prstGeom>
          <a:solidFill>
            <a:srgbClr val="FFFFFF">
              <a:alpha val="4000"/>
            </a:srgbClr>
          </a:solidFill>
          <a:ln/>
        </p:spPr>
      </p:sp>
      <p:sp>
        <p:nvSpPr>
          <p:cNvPr id="37" name="Text 35"/>
          <p:cNvSpPr/>
          <p:nvPr/>
        </p:nvSpPr>
        <p:spPr>
          <a:xfrm>
            <a:off x="999887" y="6318885"/>
            <a:ext cx="3507700"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Học hỏi</a:t>
            </a:r>
            <a:endParaRPr lang="en-US" dirty="0"/>
          </a:p>
        </p:txBody>
      </p:sp>
      <p:sp>
        <p:nvSpPr>
          <p:cNvPr id="38" name="Text 36"/>
          <p:cNvSpPr/>
          <p:nvPr/>
        </p:nvSpPr>
        <p:spPr>
          <a:xfrm>
            <a:off x="4911923" y="6318885"/>
            <a:ext cx="415528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Hiểu rõ từng chi tiết ✓</a:t>
            </a:r>
            <a:endParaRPr lang="en-US" dirty="0"/>
          </a:p>
        </p:txBody>
      </p:sp>
      <p:sp>
        <p:nvSpPr>
          <p:cNvPr id="39" name="Text 37"/>
          <p:cNvSpPr/>
          <p:nvPr/>
        </p:nvSpPr>
        <p:spPr>
          <a:xfrm>
            <a:off x="9471541" y="6318885"/>
            <a:ext cx="415909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Chỉ biết sử dụng ✗</a:t>
            </a:r>
            <a:endParaRPr lang="en-US" dirty="0"/>
          </a:p>
        </p:txBody>
      </p:sp>
      <p:sp>
        <p:nvSpPr>
          <p:cNvPr id="40" name="Text 38"/>
          <p:cNvSpPr/>
          <p:nvPr/>
        </p:nvSpPr>
        <p:spPr>
          <a:xfrm>
            <a:off x="793790" y="699396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Như bạn thấy, về mặt nguyên lý, dự án của bạn </a:t>
            </a:r>
            <a:r>
              <a:rPr lang="en-US" b="1" dirty="0">
                <a:solidFill>
                  <a:srgbClr val="4B4A4A"/>
                </a:solidFill>
                <a:latin typeface="Geist" pitchFamily="34" charset="0"/>
                <a:ea typeface="Geist" pitchFamily="34" charset="-122"/>
                <a:cs typeface="Geist" pitchFamily="34" charset="-120"/>
              </a:rPr>
              <a:t>không thua kém</a:t>
            </a:r>
            <a:r>
              <a:rPr lang="en-US" dirty="0">
                <a:solidFill>
                  <a:srgbClr val="4B4A4A"/>
                </a:solidFill>
                <a:latin typeface="Geist" pitchFamily="34" charset="0"/>
                <a:ea typeface="Geist" pitchFamily="34" charset="-122"/>
                <a:cs typeface="Geist" pitchFamily="34" charset="-120"/>
              </a:rPr>
              <a:t> sản phẩm thương mại. Điểm khác biệt nằm ở độ hoàn thiện, giao diện, và marketing. Nhưng nền tảng kỹ thuật? Hoàn toàn giống nhau!</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793790" y="1625560"/>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Lời khuyên</a:t>
            </a:r>
            <a:endParaRPr lang="en-US" sz="3900" dirty="0"/>
          </a:p>
        </p:txBody>
      </p:sp>
      <p:sp>
        <p:nvSpPr>
          <p:cNvPr id="3" name="Text 1"/>
          <p:cNvSpPr/>
          <p:nvPr/>
        </p:nvSpPr>
        <p:spPr>
          <a:xfrm>
            <a:off x="951746" y="2766536"/>
            <a:ext cx="4797504"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"Đừng dừng lại ở việc chạy đúng code"</a:t>
            </a:r>
            <a:endParaRPr lang="en-US" dirty="0"/>
          </a:p>
        </p:txBody>
      </p:sp>
      <p:sp>
        <p:nvSpPr>
          <p:cNvPr id="4" name="Text 2"/>
          <p:cNvSpPr/>
          <p:nvPr/>
        </p:nvSpPr>
        <p:spPr>
          <a:xfrm>
            <a:off x="951746" y="3275052"/>
            <a:ext cx="5981700"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Nhiều bạn sẽ hài lòng khi thấy LED nhấp nháy theo lệnh. Nhưng đó chỉ là bước đầu tiên! Hãy đặt câu hỏi:</a:t>
            </a:r>
            <a:endParaRPr lang="en-US" dirty="0"/>
          </a:p>
        </p:txBody>
      </p:sp>
      <p:sp>
        <p:nvSpPr>
          <p:cNvPr id="5" name="Text 3"/>
          <p:cNvSpPr/>
          <p:nvPr/>
        </p:nvSpPr>
        <p:spPr>
          <a:xfrm>
            <a:off x="951746" y="4088725"/>
            <a:ext cx="5981700"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Tại sao phải dùng cổng 80?</a:t>
            </a:r>
            <a:endParaRPr lang="en-US" dirty="0"/>
          </a:p>
        </p:txBody>
      </p:sp>
      <p:sp>
        <p:nvSpPr>
          <p:cNvPr id="6" name="Text 4"/>
          <p:cNvSpPr/>
          <p:nvPr/>
        </p:nvSpPr>
        <p:spPr>
          <a:xfrm>
            <a:off x="951746" y="4475678"/>
            <a:ext cx="5981700"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Nếu muốn bảo mật, làm thế nào?</a:t>
            </a:r>
            <a:endParaRPr lang="en-US" dirty="0"/>
          </a:p>
        </p:txBody>
      </p:sp>
      <p:sp>
        <p:nvSpPr>
          <p:cNvPr id="7" name="Text 5"/>
          <p:cNvSpPr/>
          <p:nvPr/>
        </p:nvSpPr>
        <p:spPr>
          <a:xfrm>
            <a:off x="951746" y="4862632"/>
            <a:ext cx="5981700"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Làm sao để điều khiển từ xa qua Internet (không chỉ LAN)?</a:t>
            </a:r>
            <a:endParaRPr lang="en-US" dirty="0"/>
          </a:p>
        </p:txBody>
      </p:sp>
      <p:sp>
        <p:nvSpPr>
          <p:cNvPr id="8" name="Text 6"/>
          <p:cNvSpPr/>
          <p:nvPr/>
        </p:nvSpPr>
        <p:spPr>
          <a:xfrm>
            <a:off x="951746" y="5249585"/>
            <a:ext cx="5981700"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Có thể thêm cảm biến nào khác?</a:t>
            </a:r>
            <a:endParaRPr lang="en-US" dirty="0"/>
          </a:p>
        </p:txBody>
      </p:sp>
      <p:sp>
        <p:nvSpPr>
          <p:cNvPr id="9" name="Text 7"/>
          <p:cNvSpPr/>
          <p:nvPr/>
        </p:nvSpPr>
        <p:spPr>
          <a:xfrm>
            <a:off x="951746" y="5745718"/>
            <a:ext cx="5981700"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Sự tò mò và ham học hỏi sẽ đưa các em tiến xa hơn bất kỳ bài giảng nào.</a:t>
            </a:r>
            <a:endParaRPr lang="en-US" dirty="0"/>
          </a:p>
        </p:txBody>
      </p:sp>
      <p:sp>
        <p:nvSpPr>
          <p:cNvPr id="10" name="Shape 8"/>
          <p:cNvSpPr/>
          <p:nvPr/>
        </p:nvSpPr>
        <p:spPr>
          <a:xfrm>
            <a:off x="654090" y="2766536"/>
            <a:ext cx="22860" cy="3614261"/>
          </a:xfrm>
          <a:prstGeom prst="rect">
            <a:avLst/>
          </a:prstGeom>
          <a:solidFill>
            <a:srgbClr val="006747"/>
          </a:solidFill>
          <a:ln/>
        </p:spPr>
      </p:sp>
      <p:sp>
        <p:nvSpPr>
          <p:cNvPr id="11" name="Text 9"/>
          <p:cNvSpPr/>
          <p:nvPr/>
        </p:nvSpPr>
        <p:spPr>
          <a:xfrm>
            <a:off x="7862530" y="2766536"/>
            <a:ext cx="3710226"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"Hãy khoe project của mình!"</a:t>
            </a:r>
            <a:endParaRPr lang="en-US" dirty="0"/>
          </a:p>
        </p:txBody>
      </p:sp>
      <p:sp>
        <p:nvSpPr>
          <p:cNvPr id="12" name="Text 10"/>
          <p:cNvSpPr/>
          <p:nvPr/>
        </p:nvSpPr>
        <p:spPr>
          <a:xfrm>
            <a:off x="7862530" y="3275052"/>
            <a:ext cx="6518950"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Đừng ngại chia sẻ những gì em làm được, dù còn đơn sơ. Đăng lên group Facebook, YouTube, hoặc GitHub. Em sẽ nhận được:</a:t>
            </a:r>
            <a:endParaRPr lang="en-US" dirty="0"/>
          </a:p>
        </p:txBody>
      </p:sp>
      <p:sp>
        <p:nvSpPr>
          <p:cNvPr id="13" name="Text 11"/>
          <p:cNvSpPr/>
          <p:nvPr/>
        </p:nvSpPr>
        <p:spPr>
          <a:xfrm>
            <a:off x="7862530" y="4088725"/>
            <a:ext cx="5981700"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Phản hồi và góp ý từ cộng đồng</a:t>
            </a:r>
            <a:endParaRPr lang="en-US" dirty="0"/>
          </a:p>
        </p:txBody>
      </p:sp>
      <p:sp>
        <p:nvSpPr>
          <p:cNvPr id="14" name="Text 12"/>
          <p:cNvSpPr/>
          <p:nvPr/>
        </p:nvSpPr>
        <p:spPr>
          <a:xfrm>
            <a:off x="7862530" y="4475678"/>
            <a:ext cx="5981700"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Động lực để tiếp tục phát triển</a:t>
            </a:r>
            <a:endParaRPr lang="en-US" dirty="0"/>
          </a:p>
        </p:txBody>
      </p:sp>
      <p:sp>
        <p:nvSpPr>
          <p:cNvPr id="15" name="Text 13"/>
          <p:cNvSpPr/>
          <p:nvPr/>
        </p:nvSpPr>
        <p:spPr>
          <a:xfrm>
            <a:off x="7862530" y="4862632"/>
            <a:ext cx="5981700"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Kết nối với những người cùng đam mê</a:t>
            </a:r>
            <a:endParaRPr lang="en-US" dirty="0"/>
          </a:p>
        </p:txBody>
      </p:sp>
      <p:sp>
        <p:nvSpPr>
          <p:cNvPr id="16" name="Text 14"/>
          <p:cNvSpPr/>
          <p:nvPr/>
        </p:nvSpPr>
        <p:spPr>
          <a:xfrm>
            <a:off x="7862530" y="5249585"/>
            <a:ext cx="5981700"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Portfolio để xin việc sau này!</a:t>
            </a:r>
            <a:endParaRPr lang="en-US" dirty="0"/>
          </a:p>
        </p:txBody>
      </p:sp>
      <p:sp>
        <p:nvSpPr>
          <p:cNvPr id="17" name="Text 15"/>
          <p:cNvSpPr/>
          <p:nvPr/>
        </p:nvSpPr>
        <p:spPr>
          <a:xfrm>
            <a:off x="7862530" y="5745718"/>
            <a:ext cx="5981700"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Nhiều công ty công nghệ rất thích ứng viên có project thực tế hơn là chỉ có bằng cấp.</a:t>
            </a:r>
            <a:endParaRPr lang="en-US" dirty="0"/>
          </a:p>
        </p:txBody>
      </p:sp>
      <p:sp>
        <p:nvSpPr>
          <p:cNvPr id="18" name="Shape 16"/>
          <p:cNvSpPr/>
          <p:nvPr/>
        </p:nvSpPr>
        <p:spPr>
          <a:xfrm>
            <a:off x="7564874" y="2766536"/>
            <a:ext cx="22860" cy="3614261"/>
          </a:xfrm>
          <a:prstGeom prst="rect">
            <a:avLst/>
          </a:prstGeom>
          <a:solidFill>
            <a:srgbClr val="006747"/>
          </a:solidFill>
          <a:ln/>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793790" y="1015365"/>
            <a:ext cx="6411158"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Câu hỏi thường gặp (FAQ)</a:t>
            </a:r>
            <a:endParaRPr lang="en-US" sz="3900" dirty="0"/>
          </a:p>
        </p:txBody>
      </p:sp>
      <p:sp>
        <p:nvSpPr>
          <p:cNvPr id="3" name="Shape 1"/>
          <p:cNvSpPr/>
          <p:nvPr/>
        </p:nvSpPr>
        <p:spPr>
          <a:xfrm>
            <a:off x="793790" y="2032278"/>
            <a:ext cx="6422231" cy="2650569"/>
          </a:xfrm>
          <a:prstGeom prst="roundRect">
            <a:avLst>
              <a:gd name="adj" fmla="val 6739"/>
            </a:avLst>
          </a:prstGeom>
          <a:solidFill>
            <a:srgbClr val="E5F9F2">
              <a:alpha val="95000"/>
            </a:srgbClr>
          </a:solidFill>
          <a:ln w="22860">
            <a:solidFill>
              <a:srgbClr val="B7D5CA"/>
            </a:solidFill>
            <a:prstDash val="solid"/>
          </a:ln>
        </p:spPr>
      </p:sp>
      <p:pic>
        <p:nvPicPr>
          <p:cNvPr id="4" name="Image 0" descr="preencoded.png"/>
          <p:cNvPicPr>
            <a:picLocks noChangeAspect="1"/>
          </p:cNvPicPr>
          <p:nvPr/>
        </p:nvPicPr>
        <p:blipFill>
          <a:blip r:embed="rId3"/>
          <a:stretch>
            <a:fillRect/>
          </a:stretch>
        </p:blipFill>
        <p:spPr>
          <a:xfrm>
            <a:off x="697587" y="1936075"/>
            <a:ext cx="238125" cy="238125"/>
          </a:xfrm>
          <a:prstGeom prst="rect">
            <a:avLst/>
          </a:prstGeom>
        </p:spPr>
      </p:pic>
      <p:pic>
        <p:nvPicPr>
          <p:cNvPr id="5" name="Image 1" descr="preencoded.png"/>
          <p:cNvPicPr>
            <a:picLocks noChangeAspect="1"/>
          </p:cNvPicPr>
          <p:nvPr/>
        </p:nvPicPr>
        <p:blipFill>
          <a:blip r:embed="rId4"/>
          <a:stretch>
            <a:fillRect/>
          </a:stretch>
        </p:blipFill>
        <p:spPr>
          <a:xfrm>
            <a:off x="7074098" y="4540925"/>
            <a:ext cx="238125" cy="238125"/>
          </a:xfrm>
          <a:prstGeom prst="rect">
            <a:avLst/>
          </a:prstGeom>
        </p:spPr>
      </p:pic>
      <p:sp>
        <p:nvSpPr>
          <p:cNvPr id="6" name="Text 2"/>
          <p:cNvSpPr/>
          <p:nvPr/>
        </p:nvSpPr>
        <p:spPr>
          <a:xfrm>
            <a:off x="1114306" y="2352794"/>
            <a:ext cx="5781199"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Q: Tại sao phải dùng WiFi 2.4GHz mà không phải 5GHz?</a:t>
            </a:r>
            <a:endParaRPr lang="en-US" sz="1950" dirty="0"/>
          </a:p>
        </p:txBody>
      </p:sp>
      <p:sp>
        <p:nvSpPr>
          <p:cNvPr id="7" name="Text 3"/>
          <p:cNvSpPr/>
          <p:nvPr/>
        </p:nvSpPr>
        <p:spPr>
          <a:xfrm>
            <a:off x="1114306" y="3092172"/>
            <a:ext cx="5781199" cy="127015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A: ESP32 chỉ có radio WiFi hỗ trợ tần số 2.4GHz. Tần số 5GHz tuy nhanh hơn nhưng yêu cầu phần cứng khác, làm tăng giá thành và tiêu thụ điện nhiều hơn. Đối với IoT, 2.4GHz là đủ và tiết kiệm pin hơn.</a:t>
            </a:r>
            <a:endParaRPr lang="en-US" dirty="0"/>
          </a:p>
        </p:txBody>
      </p:sp>
      <p:sp>
        <p:nvSpPr>
          <p:cNvPr id="8" name="Shape 4"/>
          <p:cNvSpPr/>
          <p:nvPr/>
        </p:nvSpPr>
        <p:spPr>
          <a:xfrm>
            <a:off x="7414379" y="2032278"/>
            <a:ext cx="6422231" cy="2650569"/>
          </a:xfrm>
          <a:prstGeom prst="roundRect">
            <a:avLst>
              <a:gd name="adj" fmla="val 6739"/>
            </a:avLst>
          </a:prstGeom>
          <a:solidFill>
            <a:srgbClr val="E5F9F2">
              <a:alpha val="95000"/>
            </a:srgbClr>
          </a:solidFill>
          <a:ln w="22860">
            <a:solidFill>
              <a:srgbClr val="B7D5CA"/>
            </a:solidFill>
            <a:prstDash val="solid"/>
          </a:ln>
        </p:spPr>
      </p:sp>
      <p:pic>
        <p:nvPicPr>
          <p:cNvPr id="9" name="Image 2" descr="preencoded.png"/>
          <p:cNvPicPr>
            <a:picLocks noChangeAspect="1"/>
          </p:cNvPicPr>
          <p:nvPr/>
        </p:nvPicPr>
        <p:blipFill>
          <a:blip r:embed="rId3"/>
          <a:stretch>
            <a:fillRect/>
          </a:stretch>
        </p:blipFill>
        <p:spPr>
          <a:xfrm>
            <a:off x="7318177" y="1936075"/>
            <a:ext cx="238125" cy="238125"/>
          </a:xfrm>
          <a:prstGeom prst="rect">
            <a:avLst/>
          </a:prstGeom>
        </p:spPr>
      </p:pic>
      <p:pic>
        <p:nvPicPr>
          <p:cNvPr id="10" name="Image 3" descr="preencoded.png"/>
          <p:cNvPicPr>
            <a:picLocks noChangeAspect="1"/>
          </p:cNvPicPr>
          <p:nvPr/>
        </p:nvPicPr>
        <p:blipFill>
          <a:blip r:embed="rId4"/>
          <a:stretch>
            <a:fillRect/>
          </a:stretch>
        </p:blipFill>
        <p:spPr>
          <a:xfrm>
            <a:off x="13694688" y="4540925"/>
            <a:ext cx="238125" cy="238125"/>
          </a:xfrm>
          <a:prstGeom prst="rect">
            <a:avLst/>
          </a:prstGeom>
        </p:spPr>
      </p:pic>
      <p:sp>
        <p:nvSpPr>
          <p:cNvPr id="11" name="Text 5"/>
          <p:cNvSpPr/>
          <p:nvPr/>
        </p:nvSpPr>
        <p:spPr>
          <a:xfrm>
            <a:off x="7734895" y="2352794"/>
            <a:ext cx="5457944"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Q: Làm sao để điều khiển từ xa (ngoài nhà)?</a:t>
            </a:r>
            <a:endParaRPr lang="en-US" sz="1950" dirty="0"/>
          </a:p>
        </p:txBody>
      </p:sp>
      <p:sp>
        <p:nvSpPr>
          <p:cNvPr id="12" name="Text 6"/>
          <p:cNvSpPr/>
          <p:nvPr/>
        </p:nvSpPr>
        <p:spPr>
          <a:xfrm>
            <a:off x="7734895" y="2782014"/>
            <a:ext cx="5781199" cy="127015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A: Bài này chỉ cho phép điều khiển trong mạng LAN. Để điều khiển từ Internet, bạn cần: (1) Cấu hình Port Forwarding trên Router, hoặc (2) Dùng dịch vụ Cloud như Blynk, Firebase (sẽ học tuần sau).</a:t>
            </a:r>
            <a:endParaRPr lang="en-US" dirty="0"/>
          </a:p>
        </p:txBody>
      </p:sp>
      <p:sp>
        <p:nvSpPr>
          <p:cNvPr id="13" name="Shape 7"/>
          <p:cNvSpPr/>
          <p:nvPr/>
        </p:nvSpPr>
        <p:spPr>
          <a:xfrm>
            <a:off x="793790" y="4881205"/>
            <a:ext cx="6422231" cy="2333030"/>
          </a:xfrm>
          <a:prstGeom prst="roundRect">
            <a:avLst>
              <a:gd name="adj" fmla="val 7656"/>
            </a:avLst>
          </a:prstGeom>
          <a:solidFill>
            <a:srgbClr val="E5F9F2">
              <a:alpha val="95000"/>
            </a:srgbClr>
          </a:solidFill>
          <a:ln w="22860">
            <a:solidFill>
              <a:srgbClr val="B7D5CA"/>
            </a:solidFill>
            <a:prstDash val="solid"/>
          </a:ln>
        </p:spPr>
      </p:sp>
      <p:pic>
        <p:nvPicPr>
          <p:cNvPr id="14" name="Image 4" descr="preencoded.png"/>
          <p:cNvPicPr>
            <a:picLocks noChangeAspect="1"/>
          </p:cNvPicPr>
          <p:nvPr/>
        </p:nvPicPr>
        <p:blipFill>
          <a:blip r:embed="rId3"/>
          <a:stretch>
            <a:fillRect/>
          </a:stretch>
        </p:blipFill>
        <p:spPr>
          <a:xfrm>
            <a:off x="697587" y="4785003"/>
            <a:ext cx="238125" cy="238125"/>
          </a:xfrm>
          <a:prstGeom prst="rect">
            <a:avLst/>
          </a:prstGeom>
        </p:spPr>
      </p:pic>
      <p:pic>
        <p:nvPicPr>
          <p:cNvPr id="15" name="Image 5" descr="preencoded.png"/>
          <p:cNvPicPr>
            <a:picLocks noChangeAspect="1"/>
          </p:cNvPicPr>
          <p:nvPr/>
        </p:nvPicPr>
        <p:blipFill>
          <a:blip r:embed="rId4"/>
          <a:stretch>
            <a:fillRect/>
          </a:stretch>
        </p:blipFill>
        <p:spPr>
          <a:xfrm>
            <a:off x="7074098" y="7072313"/>
            <a:ext cx="238125" cy="238125"/>
          </a:xfrm>
          <a:prstGeom prst="rect">
            <a:avLst/>
          </a:prstGeom>
        </p:spPr>
      </p:pic>
      <p:sp>
        <p:nvSpPr>
          <p:cNvPr id="16" name="Text 8"/>
          <p:cNvSpPr/>
          <p:nvPr/>
        </p:nvSpPr>
        <p:spPr>
          <a:xfrm>
            <a:off x="1114306" y="5201722"/>
            <a:ext cx="5781199"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Q: ESP32 có thể hỗ trợ bao nhiêu kết nối đồng thời?</a:t>
            </a:r>
            <a:endParaRPr lang="en-US" sz="1950" dirty="0"/>
          </a:p>
        </p:txBody>
      </p:sp>
      <p:sp>
        <p:nvSpPr>
          <p:cNvPr id="17" name="Text 9"/>
          <p:cNvSpPr/>
          <p:nvPr/>
        </p:nvSpPr>
        <p:spPr>
          <a:xfrm>
            <a:off x="1114306" y="5941100"/>
            <a:ext cx="5781199"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A: Mặc định ESP32 hỗ trợ tối đa 4 kết nối đồng thời. Bạn có thể tăng lên bằng cách cấu hình, nhưng RAM có hạn nên không nên vượt quá 10 kết nối.</a:t>
            </a:r>
            <a:endParaRPr lang="en-US" dirty="0"/>
          </a:p>
        </p:txBody>
      </p:sp>
      <p:sp>
        <p:nvSpPr>
          <p:cNvPr id="18" name="Shape 10"/>
          <p:cNvSpPr/>
          <p:nvPr/>
        </p:nvSpPr>
        <p:spPr>
          <a:xfrm>
            <a:off x="7414379" y="4881205"/>
            <a:ext cx="6422231" cy="2333030"/>
          </a:xfrm>
          <a:prstGeom prst="roundRect">
            <a:avLst>
              <a:gd name="adj" fmla="val 7656"/>
            </a:avLst>
          </a:prstGeom>
          <a:solidFill>
            <a:srgbClr val="E5F9F2">
              <a:alpha val="95000"/>
            </a:srgbClr>
          </a:solidFill>
          <a:ln w="22860">
            <a:solidFill>
              <a:srgbClr val="B7D5CA"/>
            </a:solidFill>
            <a:prstDash val="solid"/>
          </a:ln>
        </p:spPr>
      </p:sp>
      <p:pic>
        <p:nvPicPr>
          <p:cNvPr id="19" name="Image 6" descr="preencoded.png"/>
          <p:cNvPicPr>
            <a:picLocks noChangeAspect="1"/>
          </p:cNvPicPr>
          <p:nvPr/>
        </p:nvPicPr>
        <p:blipFill>
          <a:blip r:embed="rId3"/>
          <a:stretch>
            <a:fillRect/>
          </a:stretch>
        </p:blipFill>
        <p:spPr>
          <a:xfrm>
            <a:off x="7318177" y="4785003"/>
            <a:ext cx="238125" cy="238125"/>
          </a:xfrm>
          <a:prstGeom prst="rect">
            <a:avLst/>
          </a:prstGeom>
        </p:spPr>
      </p:pic>
      <p:pic>
        <p:nvPicPr>
          <p:cNvPr id="20" name="Image 7" descr="preencoded.png"/>
          <p:cNvPicPr>
            <a:picLocks noChangeAspect="1"/>
          </p:cNvPicPr>
          <p:nvPr/>
        </p:nvPicPr>
        <p:blipFill>
          <a:blip r:embed="rId4"/>
          <a:stretch>
            <a:fillRect/>
          </a:stretch>
        </p:blipFill>
        <p:spPr>
          <a:xfrm>
            <a:off x="13694688" y="7072313"/>
            <a:ext cx="238125" cy="238125"/>
          </a:xfrm>
          <a:prstGeom prst="rect">
            <a:avLst/>
          </a:prstGeom>
        </p:spPr>
      </p:pic>
      <p:sp>
        <p:nvSpPr>
          <p:cNvPr id="21" name="Text 11"/>
          <p:cNvSpPr/>
          <p:nvPr/>
        </p:nvSpPr>
        <p:spPr>
          <a:xfrm>
            <a:off x="7734895" y="5201722"/>
            <a:ext cx="5781199"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Q: Có thể dùng HTTPS (bảo mật) thay vì HTTP không?</a:t>
            </a:r>
            <a:endParaRPr lang="en-US" sz="1950" dirty="0"/>
          </a:p>
        </p:txBody>
      </p:sp>
      <p:sp>
        <p:nvSpPr>
          <p:cNvPr id="22" name="Text 12"/>
          <p:cNvSpPr/>
          <p:nvPr/>
        </p:nvSpPr>
        <p:spPr>
          <a:xfrm>
            <a:off x="7734895" y="5941100"/>
            <a:ext cx="5781199"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A: Có thể, nhưng phức tạp hơn. Bạn cần tạo certificate SSL/TLS và cấu hình Web Server. ESP32 hỗ trợ HTTPS, nhưng sẽ tốn nhiều RAM và CPU hơn.</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793790" y="1714857"/>
            <a:ext cx="7782878"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Lời nhắn cuối: Khoe project đi!</a:t>
            </a:r>
            <a:endParaRPr lang="en-US" sz="3900" dirty="0"/>
          </a:p>
        </p:txBody>
      </p:sp>
      <p:sp>
        <p:nvSpPr>
          <p:cNvPr id="3" name="Text 1"/>
          <p:cNvSpPr/>
          <p:nvPr/>
        </p:nvSpPr>
        <p:spPr>
          <a:xfrm>
            <a:off x="793790" y="2811185"/>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4B4A4A"/>
                </a:solidFill>
                <a:latin typeface="Geist" pitchFamily="34" charset="0"/>
                <a:ea typeface="Geist" pitchFamily="34" charset="-122"/>
                <a:cs typeface="Geist" pitchFamily="34" charset="-120"/>
              </a:rPr>
              <a:t>Hãy mang mạch về nhà, kết nối vào WiFi, và </a:t>
            </a:r>
            <a:r>
              <a:rPr lang="en-US" sz="1550" b="1" dirty="0">
                <a:solidFill>
                  <a:srgbClr val="4B4A4A"/>
                </a:solidFill>
                <a:latin typeface="Geist" pitchFamily="34" charset="0"/>
                <a:ea typeface="Geist" pitchFamily="34" charset="-122"/>
                <a:cs typeface="Geist" pitchFamily="34" charset="-120"/>
              </a:rPr>
              <a:t>khoe với gia đình</a:t>
            </a:r>
            <a:r>
              <a:rPr lang="en-US" sz="1550" dirty="0">
                <a:solidFill>
                  <a:srgbClr val="4B4A4A"/>
                </a:solidFill>
                <a:latin typeface="Geist" pitchFamily="34" charset="0"/>
                <a:ea typeface="Geist" pitchFamily="34" charset="-122"/>
                <a:cs typeface="Geist" pitchFamily="34" charset="-120"/>
              </a:rPr>
              <a:t> cách bạn có thể tắt đèn bằng điện thoại!</a:t>
            </a:r>
            <a:endParaRPr lang="en-US" sz="1550" dirty="0"/>
          </a:p>
        </p:txBody>
      </p:sp>
      <p:sp>
        <p:nvSpPr>
          <p:cNvPr id="4" name="Text 2"/>
          <p:cNvSpPr/>
          <p:nvPr/>
        </p:nvSpPr>
        <p:spPr>
          <a:xfrm>
            <a:off x="793790" y="3624858"/>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4B4A4A"/>
                </a:solidFill>
                <a:latin typeface="Geist" pitchFamily="34" charset="0"/>
                <a:ea typeface="Geist" pitchFamily="34" charset="-122"/>
                <a:cs typeface="Geist" pitchFamily="34" charset="-120"/>
              </a:rPr>
              <a:t>Đây không chỉ là một bài tập trên lớp. Đây là </a:t>
            </a:r>
            <a:r>
              <a:rPr lang="en-US" sz="1550" b="1" dirty="0">
                <a:solidFill>
                  <a:srgbClr val="4B4A4A"/>
                </a:solidFill>
                <a:latin typeface="Geist" pitchFamily="34" charset="0"/>
                <a:ea typeface="Geist" pitchFamily="34" charset="-122"/>
                <a:cs typeface="Geist" pitchFamily="34" charset="-120"/>
              </a:rPr>
              <a:t>thành quả</a:t>
            </a:r>
            <a:r>
              <a:rPr lang="en-US" sz="1550" dirty="0">
                <a:solidFill>
                  <a:srgbClr val="4B4A4A"/>
                </a:solidFill>
                <a:latin typeface="Geist" pitchFamily="34" charset="0"/>
                <a:ea typeface="Geist" pitchFamily="34" charset="-122"/>
                <a:cs typeface="Geist" pitchFamily="34" charset="-120"/>
              </a:rPr>
              <a:t> của bạn - một thiết bị IoT thực sự mà bạn tự tay tạo ra từ đầu.</a:t>
            </a:r>
            <a:endParaRPr lang="en-US" sz="1550" dirty="0"/>
          </a:p>
        </p:txBody>
      </p:sp>
      <p:sp>
        <p:nvSpPr>
          <p:cNvPr id="5" name="Text 3"/>
          <p:cNvSpPr/>
          <p:nvPr/>
        </p:nvSpPr>
        <p:spPr>
          <a:xfrm>
            <a:off x="793790" y="4458295"/>
            <a:ext cx="3096458" cy="310158"/>
          </a:xfrm>
          <a:prstGeom prst="rect">
            <a:avLst/>
          </a:prstGeom>
          <a:noFill/>
          <a:ln/>
        </p:spPr>
        <p:txBody>
          <a:bodyPr wrap="non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Chia sẻ trên mạng xã hội</a:t>
            </a:r>
            <a:endParaRPr lang="en-US" sz="1950" dirty="0"/>
          </a:p>
        </p:txBody>
      </p:sp>
      <p:sp>
        <p:nvSpPr>
          <p:cNvPr id="6" name="Text 4"/>
          <p:cNvSpPr/>
          <p:nvPr/>
        </p:nvSpPr>
        <p:spPr>
          <a:xfrm>
            <a:off x="793790" y="496681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B4A4A"/>
                </a:solidFill>
                <a:latin typeface="Geist" pitchFamily="34" charset="0"/>
                <a:ea typeface="Geist" pitchFamily="34" charset="-122"/>
                <a:cs typeface="Geist" pitchFamily="34" charset="-120"/>
              </a:rPr>
              <a:t>Quay video demo và đăng lên Facebook/YouTube</a:t>
            </a:r>
            <a:endParaRPr lang="en-US" sz="1550" dirty="0"/>
          </a:p>
        </p:txBody>
      </p:sp>
      <p:sp>
        <p:nvSpPr>
          <p:cNvPr id="7" name="Text 5"/>
          <p:cNvSpPr/>
          <p:nvPr/>
        </p:nvSpPr>
        <p:spPr>
          <a:xfrm>
            <a:off x="793790" y="535376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B4A4A"/>
                </a:solidFill>
                <a:latin typeface="Geist" pitchFamily="34" charset="0"/>
                <a:ea typeface="Geist" pitchFamily="34" charset="-122"/>
                <a:cs typeface="Geist" pitchFamily="34" charset="-120"/>
              </a:rPr>
              <a:t>Chụp ảnh mạch và code, chia sẻ trong group IoT</a:t>
            </a:r>
            <a:endParaRPr lang="en-US" sz="1550" dirty="0"/>
          </a:p>
        </p:txBody>
      </p:sp>
      <p:sp>
        <p:nvSpPr>
          <p:cNvPr id="8" name="Text 6"/>
          <p:cNvSpPr/>
          <p:nvPr/>
        </p:nvSpPr>
        <p:spPr>
          <a:xfrm>
            <a:off x="793790" y="574071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B4A4A"/>
                </a:solidFill>
                <a:latin typeface="Geist" pitchFamily="34" charset="0"/>
                <a:ea typeface="Geist" pitchFamily="34" charset="-122"/>
                <a:cs typeface="Geist" pitchFamily="34" charset="-120"/>
              </a:rPr>
              <a:t>Viết blog về trải nghiệm của bạn</a:t>
            </a:r>
            <a:endParaRPr lang="en-US" sz="1550" dirty="0"/>
          </a:p>
        </p:txBody>
      </p:sp>
      <p:sp>
        <p:nvSpPr>
          <p:cNvPr id="9" name="Text 7"/>
          <p:cNvSpPr/>
          <p:nvPr/>
        </p:nvSpPr>
        <p:spPr>
          <a:xfrm>
            <a:off x="793790" y="612767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B4A4A"/>
                </a:solidFill>
                <a:latin typeface="Geist" pitchFamily="34" charset="0"/>
                <a:ea typeface="Geist" pitchFamily="34" charset="-122"/>
                <a:cs typeface="Geist" pitchFamily="34" charset="-120"/>
              </a:rPr>
              <a:t>Tag @GammaApp và hashtag #ESP32Vietnam để được share</a:t>
            </a:r>
            <a:endParaRPr lang="en-US" sz="1550" dirty="0"/>
          </a:p>
        </p:txBody>
      </p:sp>
      <p:sp>
        <p:nvSpPr>
          <p:cNvPr id="10" name="Text 8"/>
          <p:cNvSpPr/>
          <p:nvPr/>
        </p:nvSpPr>
        <p:spPr>
          <a:xfrm>
            <a:off x="7862530" y="2855833"/>
            <a:ext cx="5981700" cy="952619"/>
          </a:xfrm>
          <a:prstGeom prst="rect">
            <a:avLst/>
          </a:prstGeom>
          <a:noFill/>
          <a:ln/>
        </p:spPr>
        <p:txBody>
          <a:bodyPr wrap="square" lIns="0" tIns="0" rIns="0" bIns="0" rtlCol="0" anchor="t"/>
          <a:lstStyle/>
          <a:p>
            <a:pPr marL="0" indent="0" algn="l">
              <a:lnSpc>
                <a:spcPts val="2500"/>
              </a:lnSpc>
              <a:buNone/>
            </a:pPr>
            <a:r>
              <a:rPr lang="en-US" sz="1550" i="1" dirty="0">
                <a:solidFill>
                  <a:srgbClr val="4B4A4A"/>
                </a:solidFill>
                <a:latin typeface="Geist" pitchFamily="34" charset="0"/>
                <a:ea typeface="Geist" pitchFamily="34" charset="-122"/>
                <a:cs typeface="Geist" pitchFamily="34" charset="-120"/>
              </a:rPr>
              <a:t>"Thiết bị em vừa tạo ra hôm nay có nguyên lý hoạt động </a:t>
            </a:r>
            <a:r>
              <a:rPr lang="en-US" sz="1550" b="1" i="1" dirty="0">
                <a:solidFill>
                  <a:srgbClr val="4B4A4A"/>
                </a:solidFill>
                <a:latin typeface="Geist" pitchFamily="34" charset="0"/>
                <a:ea typeface="Geist" pitchFamily="34" charset="-122"/>
                <a:cs typeface="Geist" pitchFamily="34" charset="-120"/>
              </a:rPr>
              <a:t>y hệt</a:t>
            </a:r>
            <a:r>
              <a:rPr lang="en-US" sz="1550" i="1" dirty="0">
                <a:solidFill>
                  <a:srgbClr val="4B4A4A"/>
                </a:solidFill>
                <a:latin typeface="Geist" pitchFamily="34" charset="0"/>
                <a:ea typeface="Geist" pitchFamily="34" charset="-122"/>
                <a:cs typeface="Geist" pitchFamily="34" charset="-120"/>
              </a:rPr>
              <a:t> các sản phẩm Smart Home đắt tiền như Philips Hue (2 triệu), TP-Link Smart Plug (500k).</a:t>
            </a:r>
            <a:endParaRPr lang="en-US" sz="1550" dirty="0"/>
          </a:p>
        </p:txBody>
      </p:sp>
      <p:sp>
        <p:nvSpPr>
          <p:cNvPr id="11" name="Text 9"/>
          <p:cNvSpPr/>
          <p:nvPr/>
        </p:nvSpPr>
        <p:spPr>
          <a:xfrm>
            <a:off x="7862530" y="3987046"/>
            <a:ext cx="5981700" cy="635079"/>
          </a:xfrm>
          <a:prstGeom prst="rect">
            <a:avLst/>
          </a:prstGeom>
          <a:noFill/>
          <a:ln/>
        </p:spPr>
        <p:txBody>
          <a:bodyPr wrap="square" lIns="0" tIns="0" rIns="0" bIns="0" rtlCol="0" anchor="t"/>
          <a:lstStyle/>
          <a:p>
            <a:pPr marL="0" indent="0" algn="l">
              <a:lnSpc>
                <a:spcPts val="2500"/>
              </a:lnSpc>
              <a:buNone/>
            </a:pPr>
            <a:r>
              <a:rPr lang="en-US" sz="1550" i="1" dirty="0">
                <a:solidFill>
                  <a:srgbClr val="4B4A4A"/>
                </a:solidFill>
                <a:latin typeface="Geist" pitchFamily="34" charset="0"/>
                <a:ea typeface="Geist" pitchFamily="34" charset="-122"/>
                <a:cs typeface="Geist" pitchFamily="34" charset="-120"/>
              </a:rPr>
              <a:t>Sự khác biệt? Chỉ là vỏ hộp đẹp và marketing thôi. Về mặt kỹ thuật, em đã ngang hàng với các kỹ sư của họ rồi đấy!"</a:t>
            </a:r>
            <a:endParaRPr lang="en-US" sz="1550" dirty="0"/>
          </a:p>
        </p:txBody>
      </p:sp>
      <p:sp>
        <p:nvSpPr>
          <p:cNvPr id="12" name="Text 10"/>
          <p:cNvSpPr/>
          <p:nvPr/>
        </p:nvSpPr>
        <p:spPr>
          <a:xfrm>
            <a:off x="7862530" y="4800719"/>
            <a:ext cx="5981700" cy="317540"/>
          </a:xfrm>
          <a:prstGeom prst="rect">
            <a:avLst/>
          </a:prstGeom>
          <a:noFill/>
          <a:ln/>
        </p:spPr>
        <p:txBody>
          <a:bodyPr wrap="none" lIns="0" tIns="0" rIns="0" bIns="0" rtlCol="0" anchor="t"/>
          <a:lstStyle/>
          <a:p>
            <a:pPr marL="0" indent="0" algn="r">
              <a:lnSpc>
                <a:spcPts val="2500"/>
              </a:lnSpc>
              <a:buNone/>
            </a:pPr>
            <a:endParaRPr lang="en-US" sz="1550" dirty="0"/>
          </a:p>
        </p:txBody>
      </p:sp>
      <p:sp>
        <p:nvSpPr>
          <p:cNvPr id="13" name="Shape 11"/>
          <p:cNvSpPr/>
          <p:nvPr/>
        </p:nvSpPr>
        <p:spPr>
          <a:xfrm>
            <a:off x="7564874" y="2855833"/>
            <a:ext cx="22860" cy="2262426"/>
          </a:xfrm>
          <a:prstGeom prst="rect">
            <a:avLst/>
          </a:prstGeom>
          <a:solidFill>
            <a:srgbClr val="006747"/>
          </a:solidFill>
          <a:ln/>
        </p:spPr>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793790" y="1347549"/>
            <a:ext cx="5018008"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Cộng đồng và hỗ trợ</a:t>
            </a:r>
            <a:endParaRPr lang="en-US" sz="3900" dirty="0"/>
          </a:p>
        </p:txBody>
      </p:sp>
      <p:sp>
        <p:nvSpPr>
          <p:cNvPr id="3" name="Shape 1"/>
          <p:cNvSpPr/>
          <p:nvPr/>
        </p:nvSpPr>
        <p:spPr>
          <a:xfrm>
            <a:off x="793790" y="2364462"/>
            <a:ext cx="4215289" cy="3976688"/>
          </a:xfrm>
          <a:prstGeom prst="roundRect">
            <a:avLst>
              <a:gd name="adj" fmla="val 4492"/>
            </a:avLst>
          </a:prstGeom>
          <a:solidFill>
            <a:srgbClr val="D1EFE4"/>
          </a:solidFill>
          <a:ln w="7620">
            <a:solidFill>
              <a:srgbClr val="B7D5CA"/>
            </a:solidFill>
            <a:prstDash val="solid"/>
          </a:ln>
        </p:spPr>
      </p:sp>
      <p:sp>
        <p:nvSpPr>
          <p:cNvPr id="4" name="Shape 2"/>
          <p:cNvSpPr/>
          <p:nvPr/>
        </p:nvSpPr>
        <p:spPr>
          <a:xfrm>
            <a:off x="999768" y="2570440"/>
            <a:ext cx="595313" cy="595313"/>
          </a:xfrm>
          <a:prstGeom prst="roundRect">
            <a:avLst>
              <a:gd name="adj" fmla="val 15358451"/>
            </a:avLst>
          </a:prstGeom>
          <a:solidFill>
            <a:srgbClr val="006747"/>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3479" y="2734032"/>
            <a:ext cx="267891" cy="267891"/>
          </a:xfrm>
          <a:prstGeom prst="rect">
            <a:avLst/>
          </a:prstGeom>
        </p:spPr>
      </p:pic>
      <p:sp>
        <p:nvSpPr>
          <p:cNvPr id="6" name="Text 3"/>
          <p:cNvSpPr/>
          <p:nvPr/>
        </p:nvSpPr>
        <p:spPr>
          <a:xfrm>
            <a:off x="999768" y="336411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Group Facebook</a:t>
            </a:r>
            <a:endParaRPr lang="en-US" sz="1950" dirty="0"/>
          </a:p>
        </p:txBody>
      </p:sp>
      <p:sp>
        <p:nvSpPr>
          <p:cNvPr id="7" name="Text 4"/>
          <p:cNvSpPr/>
          <p:nvPr/>
        </p:nvSpPr>
        <p:spPr>
          <a:xfrm>
            <a:off x="999768" y="3793331"/>
            <a:ext cx="3803333" cy="1270159"/>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Arduino Việt Nam</a:t>
            </a:r>
            <a:r>
              <a:rPr lang="en-US" sz="1550" dirty="0">
                <a:solidFill>
                  <a:srgbClr val="4B4A4A"/>
                </a:solidFill>
                <a:latin typeface="Geist" pitchFamily="34" charset="0"/>
                <a:ea typeface="Geist" pitchFamily="34" charset="-122"/>
                <a:cs typeface="Geist" pitchFamily="34" charset="-120"/>
              </a:rPr>
              <a:t> - Cộng đồng Arduino/ESP32 lớn nhất VN, hơn 50k thành viên. Đặt câu hỏi, chia sẻ project, tìm người cùng đam mê.</a:t>
            </a:r>
            <a:endParaRPr lang="en-US" sz="1550" dirty="0"/>
          </a:p>
        </p:txBody>
      </p:sp>
      <p:sp>
        <p:nvSpPr>
          <p:cNvPr id="8" name="Text 5"/>
          <p:cNvSpPr/>
          <p:nvPr/>
        </p:nvSpPr>
        <p:spPr>
          <a:xfrm>
            <a:off x="999768" y="5182553"/>
            <a:ext cx="3803333" cy="952619"/>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IoT Maker Vietnam</a:t>
            </a:r>
            <a:r>
              <a:rPr lang="en-US" sz="1550" dirty="0">
                <a:solidFill>
                  <a:srgbClr val="4B4A4A"/>
                </a:solidFill>
                <a:latin typeface="Geist" pitchFamily="34" charset="0"/>
                <a:ea typeface="Geist" pitchFamily="34" charset="-122"/>
                <a:cs typeface="Geist" pitchFamily="34" charset="-120"/>
              </a:rPr>
              <a:t> - Tập trung vào các dự án IoT thực tế, nhiều workshop và hội thảo.</a:t>
            </a:r>
            <a:endParaRPr lang="en-US" sz="1550" dirty="0"/>
          </a:p>
        </p:txBody>
      </p:sp>
      <p:sp>
        <p:nvSpPr>
          <p:cNvPr id="9" name="Shape 6"/>
          <p:cNvSpPr/>
          <p:nvPr/>
        </p:nvSpPr>
        <p:spPr>
          <a:xfrm>
            <a:off x="5207437" y="2364462"/>
            <a:ext cx="4215408" cy="3976688"/>
          </a:xfrm>
          <a:prstGeom prst="roundRect">
            <a:avLst>
              <a:gd name="adj" fmla="val 4492"/>
            </a:avLst>
          </a:prstGeom>
          <a:solidFill>
            <a:srgbClr val="D1EFE4"/>
          </a:solidFill>
          <a:ln w="7620">
            <a:solidFill>
              <a:srgbClr val="B7D5CA"/>
            </a:solidFill>
            <a:prstDash val="solid"/>
          </a:ln>
        </p:spPr>
      </p:sp>
      <p:sp>
        <p:nvSpPr>
          <p:cNvPr id="10" name="Shape 7"/>
          <p:cNvSpPr/>
          <p:nvPr/>
        </p:nvSpPr>
        <p:spPr>
          <a:xfrm>
            <a:off x="5413415" y="2570440"/>
            <a:ext cx="595313" cy="595313"/>
          </a:xfrm>
          <a:prstGeom prst="roundRect">
            <a:avLst>
              <a:gd name="adj" fmla="val 15358451"/>
            </a:avLst>
          </a:prstGeom>
          <a:solidFill>
            <a:srgbClr val="006747"/>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77126" y="2734032"/>
            <a:ext cx="267891" cy="267891"/>
          </a:xfrm>
          <a:prstGeom prst="rect">
            <a:avLst/>
          </a:prstGeom>
        </p:spPr>
      </p:pic>
      <p:sp>
        <p:nvSpPr>
          <p:cNvPr id="12" name="Text 8"/>
          <p:cNvSpPr/>
          <p:nvPr/>
        </p:nvSpPr>
        <p:spPr>
          <a:xfrm>
            <a:off x="5413415" y="336411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Diễn đàn &amp; Forum</a:t>
            </a:r>
            <a:endParaRPr lang="en-US" sz="1950" dirty="0"/>
          </a:p>
        </p:txBody>
      </p:sp>
      <p:sp>
        <p:nvSpPr>
          <p:cNvPr id="13" name="Text 9"/>
          <p:cNvSpPr/>
          <p:nvPr/>
        </p:nvSpPr>
        <p:spPr>
          <a:xfrm>
            <a:off x="5413415" y="3793331"/>
            <a:ext cx="3803452" cy="635079"/>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Arduino.cc Forum</a:t>
            </a:r>
            <a:r>
              <a:rPr lang="en-US" sz="1550" dirty="0">
                <a:solidFill>
                  <a:srgbClr val="4B4A4A"/>
                </a:solidFill>
                <a:latin typeface="Geist" pitchFamily="34" charset="0"/>
                <a:ea typeface="Geist" pitchFamily="34" charset="-122"/>
                <a:cs typeface="Geist" pitchFamily="34" charset="-120"/>
              </a:rPr>
              <a:t> - Forum quốc tế, câu trả lời nhanh và chất lượng cao.</a:t>
            </a:r>
            <a:endParaRPr lang="en-US" sz="1550" dirty="0"/>
          </a:p>
        </p:txBody>
      </p:sp>
      <p:sp>
        <p:nvSpPr>
          <p:cNvPr id="14" name="Text 10"/>
          <p:cNvSpPr/>
          <p:nvPr/>
        </p:nvSpPr>
        <p:spPr>
          <a:xfrm>
            <a:off x="5413415" y="4547473"/>
            <a:ext cx="3803452" cy="635079"/>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ESP32.com</a:t>
            </a:r>
            <a:r>
              <a:rPr lang="en-US" sz="1550" dirty="0">
                <a:solidFill>
                  <a:srgbClr val="4B4A4A"/>
                </a:solidFill>
                <a:latin typeface="Geist" pitchFamily="34" charset="0"/>
                <a:ea typeface="Geist" pitchFamily="34" charset="-122"/>
                <a:cs typeface="Geist" pitchFamily="34" charset="-120"/>
              </a:rPr>
              <a:t> - Forum chuyên về ESP32, từ cơ bản đến nâng cao.</a:t>
            </a:r>
            <a:endParaRPr lang="en-US" sz="1550" dirty="0"/>
          </a:p>
        </p:txBody>
      </p:sp>
      <p:sp>
        <p:nvSpPr>
          <p:cNvPr id="15" name="Shape 11"/>
          <p:cNvSpPr/>
          <p:nvPr/>
        </p:nvSpPr>
        <p:spPr>
          <a:xfrm>
            <a:off x="9621203" y="2364462"/>
            <a:ext cx="4215289" cy="3976688"/>
          </a:xfrm>
          <a:prstGeom prst="roundRect">
            <a:avLst>
              <a:gd name="adj" fmla="val 4492"/>
            </a:avLst>
          </a:prstGeom>
          <a:solidFill>
            <a:srgbClr val="D1EFE4"/>
          </a:solidFill>
          <a:ln w="7620">
            <a:solidFill>
              <a:srgbClr val="B7D5CA"/>
            </a:solidFill>
            <a:prstDash val="solid"/>
          </a:ln>
        </p:spPr>
      </p:sp>
      <p:sp>
        <p:nvSpPr>
          <p:cNvPr id="16" name="Shape 12"/>
          <p:cNvSpPr/>
          <p:nvPr/>
        </p:nvSpPr>
        <p:spPr>
          <a:xfrm>
            <a:off x="9827181" y="2570440"/>
            <a:ext cx="595313" cy="595313"/>
          </a:xfrm>
          <a:prstGeom prst="roundRect">
            <a:avLst>
              <a:gd name="adj" fmla="val 15358451"/>
            </a:avLst>
          </a:prstGeom>
          <a:solidFill>
            <a:srgbClr val="006747"/>
          </a:solidFill>
          <a:ln/>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90892" y="2734032"/>
            <a:ext cx="267891" cy="267891"/>
          </a:xfrm>
          <a:prstGeom prst="rect">
            <a:avLst/>
          </a:prstGeom>
        </p:spPr>
      </p:pic>
      <p:sp>
        <p:nvSpPr>
          <p:cNvPr id="18" name="Text 13"/>
          <p:cNvSpPr/>
          <p:nvPr/>
        </p:nvSpPr>
        <p:spPr>
          <a:xfrm>
            <a:off x="9827181" y="336411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YouTube Channels</a:t>
            </a:r>
            <a:endParaRPr lang="en-US" sz="1950" dirty="0"/>
          </a:p>
        </p:txBody>
      </p:sp>
      <p:sp>
        <p:nvSpPr>
          <p:cNvPr id="19" name="Text 14"/>
          <p:cNvSpPr/>
          <p:nvPr/>
        </p:nvSpPr>
        <p:spPr>
          <a:xfrm>
            <a:off x="9827181" y="3793331"/>
            <a:ext cx="3803333" cy="635079"/>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Random Nerd Tutorials</a:t>
            </a:r>
            <a:r>
              <a:rPr lang="en-US" sz="1550" dirty="0">
                <a:solidFill>
                  <a:srgbClr val="4B4A4A"/>
                </a:solidFill>
                <a:latin typeface="Geist" pitchFamily="34" charset="0"/>
                <a:ea typeface="Geist" pitchFamily="34" charset="-122"/>
                <a:cs typeface="Geist" pitchFamily="34" charset="-120"/>
              </a:rPr>
              <a:t> (EN) - Channel chất lượng cao về ESP32.</a:t>
            </a:r>
            <a:endParaRPr lang="en-US" sz="1550" dirty="0"/>
          </a:p>
        </p:txBody>
      </p:sp>
      <p:sp>
        <p:nvSpPr>
          <p:cNvPr id="20" name="Text 15"/>
          <p:cNvSpPr/>
          <p:nvPr/>
        </p:nvSpPr>
        <p:spPr>
          <a:xfrm>
            <a:off x="9827181" y="4547473"/>
            <a:ext cx="3803333" cy="635079"/>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Điện tử Arduino</a:t>
            </a:r>
            <a:r>
              <a:rPr lang="en-US" sz="1550" dirty="0">
                <a:solidFill>
                  <a:srgbClr val="4B4A4A"/>
                </a:solidFill>
                <a:latin typeface="Geist" pitchFamily="34" charset="0"/>
                <a:ea typeface="Geist" pitchFamily="34" charset="-122"/>
                <a:cs typeface="Geist" pitchFamily="34" charset="-120"/>
              </a:rPr>
              <a:t> (VN) - Hướng dẫn chi tiết bằng tiếng Việt.</a:t>
            </a:r>
            <a:endParaRPr lang="en-US" sz="1550" dirty="0"/>
          </a:p>
        </p:txBody>
      </p:sp>
      <p:sp>
        <p:nvSpPr>
          <p:cNvPr id="21" name="Text 16"/>
          <p:cNvSpPr/>
          <p:nvPr/>
        </p:nvSpPr>
        <p:spPr>
          <a:xfrm>
            <a:off x="793790" y="6564392"/>
            <a:ext cx="13042821" cy="317540"/>
          </a:xfrm>
          <a:prstGeom prst="rect">
            <a:avLst/>
          </a:prstGeom>
          <a:noFill/>
          <a:ln/>
        </p:spPr>
        <p:txBody>
          <a:bodyPr wrap="none" lIns="0" tIns="0" rIns="0" bIns="0" rtlCol="0" anchor="t"/>
          <a:lstStyle/>
          <a:p>
            <a:pPr marL="0" indent="0" algn="ctr">
              <a:lnSpc>
                <a:spcPts val="2500"/>
              </a:lnSpc>
              <a:buNone/>
            </a:pPr>
            <a:r>
              <a:rPr lang="en-US" sz="1550" dirty="0">
                <a:solidFill>
                  <a:srgbClr val="4B4A4A"/>
                </a:solidFill>
                <a:latin typeface="Geist" pitchFamily="34" charset="0"/>
                <a:ea typeface="Geist" pitchFamily="34" charset="-122"/>
                <a:cs typeface="Geist" pitchFamily="34" charset="-120"/>
              </a:rPr>
              <a:t>Đừng ngại hỏi! Cộng đồng IoT rất thân thiện và luôn sẵn sàng giúp đỡ người mới. Mỗi câu hỏi của bạn cũng giúp người khác học hỏi.</a:t>
            </a:r>
            <a:endParaRPr lang="en-US" sz="15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762119" y="523875"/>
            <a:ext cx="8754428" cy="595432"/>
          </a:xfrm>
          <a:prstGeom prst="rect">
            <a:avLst/>
          </a:prstGeom>
          <a:noFill/>
          <a:ln/>
        </p:spPr>
        <p:txBody>
          <a:bodyPr wrap="none" lIns="0" tIns="0" rIns="0" bIns="0" rtlCol="0" anchor="t"/>
          <a:lstStyle/>
          <a:p>
            <a:pPr marL="0" indent="0" algn="l">
              <a:lnSpc>
                <a:spcPts val="4650"/>
              </a:lnSpc>
              <a:buNone/>
            </a:pPr>
            <a:r>
              <a:rPr lang="en-US" sz="3750" b="1" dirty="0">
                <a:solidFill>
                  <a:srgbClr val="006747"/>
                </a:solidFill>
                <a:latin typeface="Noto Serif SC Bold" pitchFamily="34" charset="0"/>
                <a:ea typeface="Noto Serif SC Bold" pitchFamily="34" charset="-122"/>
                <a:cs typeface="Noto Serif SC Bold" pitchFamily="34" charset="-120"/>
              </a:rPr>
              <a:t>Review: Kiến thức đã học qua 5 tuần</a:t>
            </a:r>
            <a:endParaRPr lang="en-US" sz="3750" dirty="0"/>
          </a:p>
        </p:txBody>
      </p:sp>
      <p:sp>
        <p:nvSpPr>
          <p:cNvPr id="3" name="Shape 1"/>
          <p:cNvSpPr/>
          <p:nvPr/>
        </p:nvSpPr>
        <p:spPr>
          <a:xfrm>
            <a:off x="7303770" y="1500307"/>
            <a:ext cx="22860" cy="5688925"/>
          </a:xfrm>
          <a:prstGeom prst="roundRect">
            <a:avLst>
              <a:gd name="adj" fmla="val 750140"/>
            </a:avLst>
          </a:prstGeom>
          <a:solidFill>
            <a:srgbClr val="B7D5CA"/>
          </a:solidFill>
          <a:ln/>
        </p:spPr>
      </p:sp>
      <p:sp>
        <p:nvSpPr>
          <p:cNvPr id="4" name="Shape 2"/>
          <p:cNvSpPr/>
          <p:nvPr/>
        </p:nvSpPr>
        <p:spPr>
          <a:xfrm>
            <a:off x="6552248" y="1703189"/>
            <a:ext cx="571500" cy="22860"/>
          </a:xfrm>
          <a:prstGeom prst="roundRect">
            <a:avLst>
              <a:gd name="adj" fmla="val 750140"/>
            </a:avLst>
          </a:prstGeom>
          <a:solidFill>
            <a:srgbClr val="B7D5CA"/>
          </a:solidFill>
          <a:ln/>
        </p:spPr>
      </p:sp>
      <p:sp>
        <p:nvSpPr>
          <p:cNvPr id="5" name="Shape 3"/>
          <p:cNvSpPr/>
          <p:nvPr/>
        </p:nvSpPr>
        <p:spPr>
          <a:xfrm>
            <a:off x="7100888" y="1500307"/>
            <a:ext cx="428625" cy="428625"/>
          </a:xfrm>
          <a:prstGeom prst="roundRect">
            <a:avLst>
              <a:gd name="adj" fmla="val 40007"/>
            </a:avLst>
          </a:prstGeom>
          <a:solidFill>
            <a:srgbClr val="D1EFE4"/>
          </a:solidFill>
          <a:ln w="7620">
            <a:solidFill>
              <a:srgbClr val="B7D5CA"/>
            </a:solidFill>
            <a:prstDash val="solid"/>
          </a:ln>
        </p:spPr>
      </p:sp>
      <p:sp>
        <p:nvSpPr>
          <p:cNvPr id="6" name="Text 4"/>
          <p:cNvSpPr/>
          <p:nvPr/>
        </p:nvSpPr>
        <p:spPr>
          <a:xfrm>
            <a:off x="7172325" y="1536025"/>
            <a:ext cx="285750" cy="357188"/>
          </a:xfrm>
          <a:prstGeom prst="rect">
            <a:avLst/>
          </a:prstGeom>
          <a:noFill/>
          <a:ln/>
        </p:spPr>
        <p:txBody>
          <a:bodyPr wrap="none" lIns="0" tIns="0" rIns="0" bIns="0" rtlCol="0" anchor="t"/>
          <a:lstStyle/>
          <a:p>
            <a:pPr marL="0" indent="0" algn="ctr">
              <a:lnSpc>
                <a:spcPts val="2250"/>
              </a:lnSpc>
              <a:buNone/>
            </a:pPr>
            <a:r>
              <a:rPr lang="en-US" sz="2250" b="1" dirty="0">
                <a:solidFill>
                  <a:srgbClr val="4B4A4A"/>
                </a:solidFill>
                <a:latin typeface="Noto Serif SC Bold" pitchFamily="34" charset="0"/>
                <a:ea typeface="Noto Serif SC Bold" pitchFamily="34" charset="-122"/>
                <a:cs typeface="Noto Serif SC Bold" pitchFamily="34" charset="-120"/>
              </a:rPr>
              <a:t>1</a:t>
            </a:r>
            <a:endParaRPr lang="en-US" sz="2250" dirty="0"/>
          </a:p>
        </p:txBody>
      </p:sp>
      <p:sp>
        <p:nvSpPr>
          <p:cNvPr id="7" name="Text 5"/>
          <p:cNvSpPr/>
          <p:nvPr/>
        </p:nvSpPr>
        <p:spPr>
          <a:xfrm>
            <a:off x="3763208" y="1565791"/>
            <a:ext cx="2599372" cy="297656"/>
          </a:xfrm>
          <a:prstGeom prst="rect">
            <a:avLst/>
          </a:prstGeom>
          <a:noFill/>
          <a:ln/>
        </p:spPr>
        <p:txBody>
          <a:bodyPr wrap="none" lIns="0" tIns="0" rIns="0" bIns="0" rtlCol="0" anchor="t"/>
          <a:lstStyle/>
          <a:p>
            <a:pPr marL="0" indent="0" algn="r">
              <a:lnSpc>
                <a:spcPts val="2300"/>
              </a:lnSpc>
              <a:buNone/>
            </a:pPr>
            <a:r>
              <a:rPr lang="en-US" sz="1850" b="1" dirty="0">
                <a:solidFill>
                  <a:srgbClr val="4B4A4A"/>
                </a:solidFill>
                <a:latin typeface="Noto Serif SC Bold" pitchFamily="34" charset="0"/>
                <a:ea typeface="Noto Serif SC Bold" pitchFamily="34" charset="-122"/>
                <a:cs typeface="Noto Serif SC Bold" pitchFamily="34" charset="-120"/>
              </a:rPr>
              <a:t>Tuần 1: Giới thiệu IoT</a:t>
            </a:r>
            <a:endParaRPr lang="en-US" sz="1850" dirty="0"/>
          </a:p>
        </p:txBody>
      </p:sp>
      <p:sp>
        <p:nvSpPr>
          <p:cNvPr id="8" name="Text 6"/>
          <p:cNvSpPr/>
          <p:nvPr/>
        </p:nvSpPr>
        <p:spPr>
          <a:xfrm>
            <a:off x="762119" y="1977747"/>
            <a:ext cx="5600462" cy="304800"/>
          </a:xfrm>
          <a:prstGeom prst="rect">
            <a:avLst/>
          </a:prstGeom>
          <a:noFill/>
          <a:ln/>
        </p:spPr>
        <p:txBody>
          <a:bodyPr wrap="none" lIns="0" tIns="0" rIns="0" bIns="0" rtlCol="0" anchor="t"/>
          <a:lstStyle/>
          <a:p>
            <a:pPr marL="0" indent="0" algn="r">
              <a:lnSpc>
                <a:spcPts val="2400"/>
              </a:lnSpc>
              <a:buNone/>
            </a:pPr>
            <a:r>
              <a:rPr lang="en-US" sz="1500" dirty="0">
                <a:solidFill>
                  <a:srgbClr val="4B4A4A"/>
                </a:solidFill>
                <a:latin typeface="Geist" pitchFamily="34" charset="0"/>
                <a:ea typeface="Geist" pitchFamily="34" charset="-122"/>
                <a:cs typeface="Geist" pitchFamily="34" charset="-120"/>
              </a:rPr>
              <a:t>Khái niệm IoT, các thành phần, ứng dụng thực tế</a:t>
            </a:r>
            <a:endParaRPr lang="en-US" sz="1500" dirty="0"/>
          </a:p>
        </p:txBody>
      </p:sp>
      <p:sp>
        <p:nvSpPr>
          <p:cNvPr id="9" name="Shape 7"/>
          <p:cNvSpPr/>
          <p:nvPr/>
        </p:nvSpPr>
        <p:spPr>
          <a:xfrm>
            <a:off x="7506653" y="2846308"/>
            <a:ext cx="571500" cy="22860"/>
          </a:xfrm>
          <a:prstGeom prst="roundRect">
            <a:avLst>
              <a:gd name="adj" fmla="val 750140"/>
            </a:avLst>
          </a:prstGeom>
          <a:solidFill>
            <a:srgbClr val="B7D5CA"/>
          </a:solidFill>
          <a:ln/>
        </p:spPr>
      </p:sp>
      <p:sp>
        <p:nvSpPr>
          <p:cNvPr id="10" name="Shape 8"/>
          <p:cNvSpPr/>
          <p:nvPr/>
        </p:nvSpPr>
        <p:spPr>
          <a:xfrm>
            <a:off x="7100888" y="2643426"/>
            <a:ext cx="428625" cy="428625"/>
          </a:xfrm>
          <a:prstGeom prst="roundRect">
            <a:avLst>
              <a:gd name="adj" fmla="val 40007"/>
            </a:avLst>
          </a:prstGeom>
          <a:solidFill>
            <a:srgbClr val="D1EFE4"/>
          </a:solidFill>
          <a:ln w="7620">
            <a:solidFill>
              <a:srgbClr val="B7D5CA"/>
            </a:solidFill>
            <a:prstDash val="solid"/>
          </a:ln>
        </p:spPr>
      </p:sp>
      <p:sp>
        <p:nvSpPr>
          <p:cNvPr id="11" name="Text 9"/>
          <p:cNvSpPr/>
          <p:nvPr/>
        </p:nvSpPr>
        <p:spPr>
          <a:xfrm>
            <a:off x="7172325" y="2679144"/>
            <a:ext cx="285750" cy="357188"/>
          </a:xfrm>
          <a:prstGeom prst="rect">
            <a:avLst/>
          </a:prstGeom>
          <a:noFill/>
          <a:ln/>
        </p:spPr>
        <p:txBody>
          <a:bodyPr wrap="none" lIns="0" tIns="0" rIns="0" bIns="0" rtlCol="0" anchor="t"/>
          <a:lstStyle/>
          <a:p>
            <a:pPr marL="0" indent="0" algn="ctr">
              <a:lnSpc>
                <a:spcPts val="2250"/>
              </a:lnSpc>
              <a:buNone/>
            </a:pPr>
            <a:r>
              <a:rPr lang="en-US" sz="2250" b="1" dirty="0">
                <a:solidFill>
                  <a:srgbClr val="4B4A4A"/>
                </a:solidFill>
                <a:latin typeface="Noto Serif SC Bold" pitchFamily="34" charset="0"/>
                <a:ea typeface="Noto Serif SC Bold" pitchFamily="34" charset="-122"/>
                <a:cs typeface="Noto Serif SC Bold" pitchFamily="34" charset="-120"/>
              </a:rPr>
              <a:t>2</a:t>
            </a:r>
            <a:endParaRPr lang="en-US" sz="2250" dirty="0"/>
          </a:p>
        </p:txBody>
      </p:sp>
      <p:sp>
        <p:nvSpPr>
          <p:cNvPr id="12" name="Text 10"/>
          <p:cNvSpPr/>
          <p:nvPr/>
        </p:nvSpPr>
        <p:spPr>
          <a:xfrm>
            <a:off x="8267819" y="2708910"/>
            <a:ext cx="2960370" cy="297656"/>
          </a:xfrm>
          <a:prstGeom prst="rect">
            <a:avLst/>
          </a:prstGeom>
          <a:noFill/>
          <a:ln/>
        </p:spPr>
        <p:txBody>
          <a:bodyPr wrap="none" lIns="0" tIns="0" rIns="0" bIns="0" rtlCol="0" anchor="t"/>
          <a:lstStyle/>
          <a:p>
            <a:pPr marL="0" indent="0" algn="l">
              <a:lnSpc>
                <a:spcPts val="2300"/>
              </a:lnSpc>
              <a:buNone/>
            </a:pPr>
            <a:r>
              <a:rPr lang="en-US" sz="1850" b="1" dirty="0">
                <a:solidFill>
                  <a:srgbClr val="4B4A4A"/>
                </a:solidFill>
                <a:latin typeface="Noto Serif SC Bold" pitchFamily="34" charset="0"/>
                <a:ea typeface="Noto Serif SC Bold" pitchFamily="34" charset="-122"/>
                <a:cs typeface="Noto Serif SC Bold" pitchFamily="34" charset="-120"/>
              </a:rPr>
              <a:t>Tuần 2: Làm quen ESP32</a:t>
            </a:r>
            <a:endParaRPr lang="en-US" sz="1850" dirty="0"/>
          </a:p>
        </p:txBody>
      </p:sp>
      <p:sp>
        <p:nvSpPr>
          <p:cNvPr id="13" name="Text 11"/>
          <p:cNvSpPr/>
          <p:nvPr/>
        </p:nvSpPr>
        <p:spPr>
          <a:xfrm>
            <a:off x="8267819" y="3120866"/>
            <a:ext cx="5600462" cy="304800"/>
          </a:xfrm>
          <a:prstGeom prst="rect">
            <a:avLst/>
          </a:prstGeom>
          <a:noFill/>
          <a:ln/>
        </p:spPr>
        <p:txBody>
          <a:bodyPr wrap="none" lIns="0" tIns="0" rIns="0" bIns="0" rtlCol="0" anchor="t"/>
          <a:lstStyle/>
          <a:p>
            <a:pPr marL="0" indent="0" algn="l">
              <a:lnSpc>
                <a:spcPts val="2400"/>
              </a:lnSpc>
              <a:buNone/>
            </a:pPr>
            <a:r>
              <a:rPr lang="en-US" sz="1500" dirty="0">
                <a:solidFill>
                  <a:srgbClr val="4B4A4A"/>
                </a:solidFill>
                <a:latin typeface="Geist" pitchFamily="34" charset="0"/>
                <a:ea typeface="Geist" pitchFamily="34" charset="-122"/>
                <a:cs typeface="Geist" pitchFamily="34" charset="-120"/>
              </a:rPr>
              <a:t>Cấu trúc phần cứng, nạp code, điều khiển LED/Button</a:t>
            </a:r>
            <a:endParaRPr lang="en-US" sz="1500" dirty="0"/>
          </a:p>
        </p:txBody>
      </p:sp>
      <p:sp>
        <p:nvSpPr>
          <p:cNvPr id="14" name="Shape 12"/>
          <p:cNvSpPr/>
          <p:nvPr/>
        </p:nvSpPr>
        <p:spPr>
          <a:xfrm>
            <a:off x="6552248" y="3831669"/>
            <a:ext cx="571500" cy="22860"/>
          </a:xfrm>
          <a:prstGeom prst="roundRect">
            <a:avLst>
              <a:gd name="adj" fmla="val 750140"/>
            </a:avLst>
          </a:prstGeom>
          <a:solidFill>
            <a:srgbClr val="B7D5CA"/>
          </a:solidFill>
          <a:ln/>
        </p:spPr>
      </p:sp>
      <p:sp>
        <p:nvSpPr>
          <p:cNvPr id="15" name="Shape 13"/>
          <p:cNvSpPr/>
          <p:nvPr/>
        </p:nvSpPr>
        <p:spPr>
          <a:xfrm>
            <a:off x="7100888" y="3628787"/>
            <a:ext cx="428625" cy="428625"/>
          </a:xfrm>
          <a:prstGeom prst="roundRect">
            <a:avLst>
              <a:gd name="adj" fmla="val 40007"/>
            </a:avLst>
          </a:prstGeom>
          <a:solidFill>
            <a:srgbClr val="D1EFE4"/>
          </a:solidFill>
          <a:ln w="7620">
            <a:solidFill>
              <a:srgbClr val="B7D5CA"/>
            </a:solidFill>
            <a:prstDash val="solid"/>
          </a:ln>
        </p:spPr>
      </p:sp>
      <p:sp>
        <p:nvSpPr>
          <p:cNvPr id="16" name="Text 14"/>
          <p:cNvSpPr/>
          <p:nvPr/>
        </p:nvSpPr>
        <p:spPr>
          <a:xfrm>
            <a:off x="7172325" y="3664506"/>
            <a:ext cx="285750" cy="357188"/>
          </a:xfrm>
          <a:prstGeom prst="rect">
            <a:avLst/>
          </a:prstGeom>
          <a:noFill/>
          <a:ln/>
        </p:spPr>
        <p:txBody>
          <a:bodyPr wrap="none" lIns="0" tIns="0" rIns="0" bIns="0" rtlCol="0" anchor="t"/>
          <a:lstStyle/>
          <a:p>
            <a:pPr marL="0" indent="0" algn="ctr">
              <a:lnSpc>
                <a:spcPts val="2250"/>
              </a:lnSpc>
              <a:buNone/>
            </a:pPr>
            <a:r>
              <a:rPr lang="en-US" sz="2250" b="1" dirty="0">
                <a:solidFill>
                  <a:srgbClr val="4B4A4A"/>
                </a:solidFill>
                <a:latin typeface="Noto Serif SC Bold" pitchFamily="34" charset="0"/>
                <a:ea typeface="Noto Serif SC Bold" pitchFamily="34" charset="-122"/>
                <a:cs typeface="Noto Serif SC Bold" pitchFamily="34" charset="-120"/>
              </a:rPr>
              <a:t>3</a:t>
            </a:r>
            <a:endParaRPr lang="en-US" sz="2250" dirty="0"/>
          </a:p>
        </p:txBody>
      </p:sp>
      <p:sp>
        <p:nvSpPr>
          <p:cNvPr id="17" name="Text 15"/>
          <p:cNvSpPr/>
          <p:nvPr/>
        </p:nvSpPr>
        <p:spPr>
          <a:xfrm>
            <a:off x="3980974" y="3694271"/>
            <a:ext cx="2381607" cy="297656"/>
          </a:xfrm>
          <a:prstGeom prst="rect">
            <a:avLst/>
          </a:prstGeom>
          <a:noFill/>
          <a:ln/>
        </p:spPr>
        <p:txBody>
          <a:bodyPr wrap="none" lIns="0" tIns="0" rIns="0" bIns="0" rtlCol="0" anchor="t"/>
          <a:lstStyle/>
          <a:p>
            <a:pPr marL="0" indent="0" algn="r">
              <a:lnSpc>
                <a:spcPts val="2300"/>
              </a:lnSpc>
              <a:buNone/>
            </a:pPr>
            <a:r>
              <a:rPr lang="en-US" sz="1850" b="1" dirty="0">
                <a:solidFill>
                  <a:srgbClr val="4B4A4A"/>
                </a:solidFill>
                <a:latin typeface="Noto Serif SC Bold" pitchFamily="34" charset="0"/>
                <a:ea typeface="Noto Serif SC Bold" pitchFamily="34" charset="-122"/>
                <a:cs typeface="Noto Serif SC Bold" pitchFamily="34" charset="-120"/>
              </a:rPr>
              <a:t>Tuần 3: Cảm biến</a:t>
            </a:r>
            <a:endParaRPr lang="en-US" sz="1850" dirty="0"/>
          </a:p>
        </p:txBody>
      </p:sp>
      <p:sp>
        <p:nvSpPr>
          <p:cNvPr id="18" name="Text 16"/>
          <p:cNvSpPr/>
          <p:nvPr/>
        </p:nvSpPr>
        <p:spPr>
          <a:xfrm>
            <a:off x="762119" y="4106228"/>
            <a:ext cx="5600462" cy="304800"/>
          </a:xfrm>
          <a:prstGeom prst="rect">
            <a:avLst/>
          </a:prstGeom>
          <a:noFill/>
          <a:ln/>
        </p:spPr>
        <p:txBody>
          <a:bodyPr wrap="none" lIns="0" tIns="0" rIns="0" bIns="0" rtlCol="0" anchor="t"/>
          <a:lstStyle/>
          <a:p>
            <a:pPr marL="0" indent="0" algn="r">
              <a:lnSpc>
                <a:spcPts val="2400"/>
              </a:lnSpc>
              <a:buNone/>
            </a:pPr>
            <a:r>
              <a:rPr lang="en-US" sz="1500" dirty="0">
                <a:solidFill>
                  <a:srgbClr val="4B4A4A"/>
                </a:solidFill>
                <a:latin typeface="Geist" pitchFamily="34" charset="0"/>
                <a:ea typeface="Geist" pitchFamily="34" charset="-122"/>
                <a:cs typeface="Geist" pitchFamily="34" charset="-120"/>
              </a:rPr>
              <a:t>DHT11 (nhiệt độ, độ ẩm), cảm biến ánh sáng, chuyển động</a:t>
            </a:r>
            <a:endParaRPr lang="en-US" sz="1500" dirty="0"/>
          </a:p>
        </p:txBody>
      </p:sp>
      <p:sp>
        <p:nvSpPr>
          <p:cNvPr id="19" name="Shape 17"/>
          <p:cNvSpPr/>
          <p:nvPr/>
        </p:nvSpPr>
        <p:spPr>
          <a:xfrm>
            <a:off x="7506653" y="4817031"/>
            <a:ext cx="571500" cy="22860"/>
          </a:xfrm>
          <a:prstGeom prst="roundRect">
            <a:avLst>
              <a:gd name="adj" fmla="val 750140"/>
            </a:avLst>
          </a:prstGeom>
          <a:solidFill>
            <a:srgbClr val="B7D5CA"/>
          </a:solidFill>
          <a:ln/>
        </p:spPr>
      </p:sp>
      <p:sp>
        <p:nvSpPr>
          <p:cNvPr id="20" name="Shape 18"/>
          <p:cNvSpPr/>
          <p:nvPr/>
        </p:nvSpPr>
        <p:spPr>
          <a:xfrm>
            <a:off x="7100888" y="4614148"/>
            <a:ext cx="428625" cy="428625"/>
          </a:xfrm>
          <a:prstGeom prst="roundRect">
            <a:avLst>
              <a:gd name="adj" fmla="val 40007"/>
            </a:avLst>
          </a:prstGeom>
          <a:solidFill>
            <a:srgbClr val="D1EFE4"/>
          </a:solidFill>
          <a:ln w="7620">
            <a:solidFill>
              <a:srgbClr val="B7D5CA"/>
            </a:solidFill>
            <a:prstDash val="solid"/>
          </a:ln>
        </p:spPr>
      </p:sp>
      <p:sp>
        <p:nvSpPr>
          <p:cNvPr id="21" name="Text 19"/>
          <p:cNvSpPr/>
          <p:nvPr/>
        </p:nvSpPr>
        <p:spPr>
          <a:xfrm>
            <a:off x="7172325" y="4649867"/>
            <a:ext cx="285750" cy="357188"/>
          </a:xfrm>
          <a:prstGeom prst="rect">
            <a:avLst/>
          </a:prstGeom>
          <a:noFill/>
          <a:ln/>
        </p:spPr>
        <p:txBody>
          <a:bodyPr wrap="none" lIns="0" tIns="0" rIns="0" bIns="0" rtlCol="0" anchor="t"/>
          <a:lstStyle/>
          <a:p>
            <a:pPr marL="0" indent="0" algn="ctr">
              <a:lnSpc>
                <a:spcPts val="2250"/>
              </a:lnSpc>
              <a:buNone/>
            </a:pPr>
            <a:r>
              <a:rPr lang="en-US" sz="2250" b="1" dirty="0">
                <a:solidFill>
                  <a:srgbClr val="4B4A4A"/>
                </a:solidFill>
                <a:latin typeface="Noto Serif SC Bold" pitchFamily="34" charset="0"/>
                <a:ea typeface="Noto Serif SC Bold" pitchFamily="34" charset="-122"/>
                <a:cs typeface="Noto Serif SC Bold" pitchFamily="34" charset="-120"/>
              </a:rPr>
              <a:t>4</a:t>
            </a:r>
            <a:endParaRPr lang="en-US" sz="2250" dirty="0"/>
          </a:p>
        </p:txBody>
      </p:sp>
      <p:sp>
        <p:nvSpPr>
          <p:cNvPr id="22" name="Text 20"/>
          <p:cNvSpPr/>
          <p:nvPr/>
        </p:nvSpPr>
        <p:spPr>
          <a:xfrm>
            <a:off x="8267819" y="4679633"/>
            <a:ext cx="2800588" cy="297656"/>
          </a:xfrm>
          <a:prstGeom prst="rect">
            <a:avLst/>
          </a:prstGeom>
          <a:noFill/>
          <a:ln/>
        </p:spPr>
        <p:txBody>
          <a:bodyPr wrap="none" lIns="0" tIns="0" rIns="0" bIns="0" rtlCol="0" anchor="t"/>
          <a:lstStyle/>
          <a:p>
            <a:pPr marL="0" indent="0" algn="l">
              <a:lnSpc>
                <a:spcPts val="2300"/>
              </a:lnSpc>
              <a:buNone/>
            </a:pPr>
            <a:r>
              <a:rPr lang="en-US" sz="1850" b="1" dirty="0">
                <a:solidFill>
                  <a:srgbClr val="4B4A4A"/>
                </a:solidFill>
                <a:latin typeface="Noto Serif SC Bold" pitchFamily="34" charset="0"/>
                <a:ea typeface="Noto Serif SC Bold" pitchFamily="34" charset="-122"/>
                <a:cs typeface="Noto Serif SC Bold" pitchFamily="34" charset="-120"/>
              </a:rPr>
              <a:t>Tuần 4: Giao tiếp Serial</a:t>
            </a:r>
            <a:endParaRPr lang="en-US" sz="1850" dirty="0"/>
          </a:p>
        </p:txBody>
      </p:sp>
      <p:sp>
        <p:nvSpPr>
          <p:cNvPr id="23" name="Text 21"/>
          <p:cNvSpPr/>
          <p:nvPr/>
        </p:nvSpPr>
        <p:spPr>
          <a:xfrm>
            <a:off x="8267819" y="5091589"/>
            <a:ext cx="5600462" cy="304800"/>
          </a:xfrm>
          <a:prstGeom prst="rect">
            <a:avLst/>
          </a:prstGeom>
          <a:noFill/>
          <a:ln/>
        </p:spPr>
        <p:txBody>
          <a:bodyPr wrap="none" lIns="0" tIns="0" rIns="0" bIns="0" rtlCol="0" anchor="t"/>
          <a:lstStyle/>
          <a:p>
            <a:pPr marL="0" indent="0" algn="l">
              <a:lnSpc>
                <a:spcPts val="2400"/>
              </a:lnSpc>
              <a:buNone/>
            </a:pPr>
            <a:r>
              <a:rPr lang="en-US" sz="1500" dirty="0">
                <a:solidFill>
                  <a:srgbClr val="4B4A4A"/>
                </a:solidFill>
                <a:latin typeface="Geist" pitchFamily="34" charset="0"/>
                <a:ea typeface="Geist" pitchFamily="34" charset="-122"/>
                <a:cs typeface="Geist" pitchFamily="34" charset="-120"/>
              </a:rPr>
              <a:t>UART, I2C, SPI - truyền dữ liệu giữa các thiết bị</a:t>
            </a:r>
            <a:endParaRPr lang="en-US" sz="1500" dirty="0"/>
          </a:p>
        </p:txBody>
      </p:sp>
      <p:sp>
        <p:nvSpPr>
          <p:cNvPr id="24" name="Shape 22"/>
          <p:cNvSpPr/>
          <p:nvPr/>
        </p:nvSpPr>
        <p:spPr>
          <a:xfrm>
            <a:off x="6552248" y="5802392"/>
            <a:ext cx="571500" cy="22860"/>
          </a:xfrm>
          <a:prstGeom prst="roundRect">
            <a:avLst>
              <a:gd name="adj" fmla="val 750140"/>
            </a:avLst>
          </a:prstGeom>
          <a:solidFill>
            <a:srgbClr val="B7D5CA"/>
          </a:solidFill>
          <a:ln/>
        </p:spPr>
      </p:sp>
      <p:sp>
        <p:nvSpPr>
          <p:cNvPr id="25" name="Shape 23"/>
          <p:cNvSpPr/>
          <p:nvPr/>
        </p:nvSpPr>
        <p:spPr>
          <a:xfrm>
            <a:off x="7100888" y="5599509"/>
            <a:ext cx="428625" cy="428625"/>
          </a:xfrm>
          <a:prstGeom prst="roundRect">
            <a:avLst>
              <a:gd name="adj" fmla="val 40007"/>
            </a:avLst>
          </a:prstGeom>
          <a:solidFill>
            <a:srgbClr val="D1EFE4"/>
          </a:solidFill>
          <a:ln w="7620">
            <a:solidFill>
              <a:srgbClr val="B7D5CA"/>
            </a:solidFill>
            <a:prstDash val="solid"/>
          </a:ln>
        </p:spPr>
      </p:sp>
      <p:sp>
        <p:nvSpPr>
          <p:cNvPr id="26" name="Text 24"/>
          <p:cNvSpPr/>
          <p:nvPr/>
        </p:nvSpPr>
        <p:spPr>
          <a:xfrm>
            <a:off x="7172325" y="5635228"/>
            <a:ext cx="285750" cy="357188"/>
          </a:xfrm>
          <a:prstGeom prst="rect">
            <a:avLst/>
          </a:prstGeom>
          <a:noFill/>
          <a:ln/>
        </p:spPr>
        <p:txBody>
          <a:bodyPr wrap="none" lIns="0" tIns="0" rIns="0" bIns="0" rtlCol="0" anchor="t"/>
          <a:lstStyle/>
          <a:p>
            <a:pPr marL="0" indent="0" algn="ctr">
              <a:lnSpc>
                <a:spcPts val="2250"/>
              </a:lnSpc>
              <a:buNone/>
            </a:pPr>
            <a:r>
              <a:rPr lang="en-US" sz="2250" b="1" dirty="0">
                <a:solidFill>
                  <a:srgbClr val="4B4A4A"/>
                </a:solidFill>
                <a:latin typeface="Noto Serif SC Bold" pitchFamily="34" charset="0"/>
                <a:ea typeface="Noto Serif SC Bold" pitchFamily="34" charset="-122"/>
                <a:cs typeface="Noto Serif SC Bold" pitchFamily="34" charset="-120"/>
              </a:rPr>
              <a:t>5</a:t>
            </a:r>
            <a:endParaRPr lang="en-US" sz="2250" dirty="0"/>
          </a:p>
        </p:txBody>
      </p:sp>
      <p:sp>
        <p:nvSpPr>
          <p:cNvPr id="27" name="Text 25"/>
          <p:cNvSpPr/>
          <p:nvPr/>
        </p:nvSpPr>
        <p:spPr>
          <a:xfrm>
            <a:off x="1866305" y="5664994"/>
            <a:ext cx="4496276" cy="297656"/>
          </a:xfrm>
          <a:prstGeom prst="rect">
            <a:avLst/>
          </a:prstGeom>
          <a:noFill/>
          <a:ln/>
        </p:spPr>
        <p:txBody>
          <a:bodyPr wrap="none" lIns="0" tIns="0" rIns="0" bIns="0" rtlCol="0" anchor="t"/>
          <a:lstStyle/>
          <a:p>
            <a:pPr marL="0" indent="0" algn="r">
              <a:lnSpc>
                <a:spcPts val="2300"/>
              </a:lnSpc>
              <a:buNone/>
            </a:pPr>
            <a:r>
              <a:rPr lang="en-US" sz="1850" b="1" dirty="0">
                <a:solidFill>
                  <a:srgbClr val="4B4A4A"/>
                </a:solidFill>
                <a:latin typeface="Noto Serif SC Bold" pitchFamily="34" charset="0"/>
                <a:ea typeface="Noto Serif SC Bold" pitchFamily="34" charset="-122"/>
                <a:cs typeface="Noto Serif SC Bold" pitchFamily="34" charset="-120"/>
              </a:rPr>
              <a:t>Tuần 5 (hôm nay): WiFi &amp; Web Server</a:t>
            </a:r>
            <a:endParaRPr lang="en-US" sz="1850" dirty="0"/>
          </a:p>
        </p:txBody>
      </p:sp>
      <p:sp>
        <p:nvSpPr>
          <p:cNvPr id="28" name="Text 26"/>
          <p:cNvSpPr/>
          <p:nvPr/>
        </p:nvSpPr>
        <p:spPr>
          <a:xfrm>
            <a:off x="762119" y="6076950"/>
            <a:ext cx="5600462" cy="304800"/>
          </a:xfrm>
          <a:prstGeom prst="rect">
            <a:avLst/>
          </a:prstGeom>
          <a:noFill/>
          <a:ln/>
        </p:spPr>
        <p:txBody>
          <a:bodyPr wrap="none" lIns="0" tIns="0" rIns="0" bIns="0" rtlCol="0" anchor="t"/>
          <a:lstStyle/>
          <a:p>
            <a:pPr marL="0" indent="0" algn="r">
              <a:lnSpc>
                <a:spcPts val="2400"/>
              </a:lnSpc>
              <a:buNone/>
            </a:pPr>
            <a:r>
              <a:rPr lang="en-US" sz="1500" dirty="0">
                <a:solidFill>
                  <a:srgbClr val="4B4A4A"/>
                </a:solidFill>
                <a:latin typeface="Geist" pitchFamily="34" charset="0"/>
                <a:ea typeface="Geist" pitchFamily="34" charset="-122"/>
                <a:cs typeface="Geist" pitchFamily="34" charset="-120"/>
              </a:rPr>
              <a:t>Kết nối mạng, tạo Web Server, điều khiển qua HTTP</a:t>
            </a:r>
            <a:endParaRPr lang="en-US" sz="1500" dirty="0"/>
          </a:p>
        </p:txBody>
      </p:sp>
      <p:sp>
        <p:nvSpPr>
          <p:cNvPr id="29" name="Text 27"/>
          <p:cNvSpPr/>
          <p:nvPr/>
        </p:nvSpPr>
        <p:spPr>
          <a:xfrm>
            <a:off x="762119" y="7403544"/>
            <a:ext cx="13106162" cy="304800"/>
          </a:xfrm>
          <a:prstGeom prst="rect">
            <a:avLst/>
          </a:prstGeom>
          <a:noFill/>
          <a:ln/>
        </p:spPr>
        <p:txBody>
          <a:bodyPr wrap="none" lIns="0" tIns="0" rIns="0" bIns="0" rtlCol="0" anchor="t"/>
          <a:lstStyle/>
          <a:p>
            <a:pPr marL="0" indent="0" algn="ctr">
              <a:lnSpc>
                <a:spcPts val="2400"/>
              </a:lnSpc>
              <a:buNone/>
            </a:pPr>
            <a:r>
              <a:rPr lang="en-US" sz="1500" dirty="0">
                <a:solidFill>
                  <a:srgbClr val="4B4A4A"/>
                </a:solidFill>
                <a:latin typeface="Geist" pitchFamily="34" charset="0"/>
                <a:ea typeface="Geist" pitchFamily="34" charset="-122"/>
                <a:cs typeface="Geist" pitchFamily="34" charset="-120"/>
              </a:rPr>
              <a:t>Từ những kiến thức đơn giản ban đầu (nhấp nháy LED), bây giờ bạn đã có thể tạo ra một </a:t>
            </a:r>
            <a:r>
              <a:rPr lang="en-US" sz="1500" b="1" dirty="0">
                <a:solidFill>
                  <a:srgbClr val="4B4A4A"/>
                </a:solidFill>
                <a:latin typeface="Geist" pitchFamily="34" charset="0"/>
                <a:ea typeface="Geist" pitchFamily="34" charset="-122"/>
                <a:cs typeface="Geist" pitchFamily="34" charset="-120"/>
              </a:rPr>
              <a:t>hệ thống IoT hoàn chỉnh</a:t>
            </a:r>
            <a:r>
              <a:rPr lang="en-US" sz="1500" dirty="0">
                <a:solidFill>
                  <a:srgbClr val="4B4A4A"/>
                </a:solidFill>
                <a:latin typeface="Geist" pitchFamily="34" charset="0"/>
                <a:ea typeface="Geist" pitchFamily="34" charset="-122"/>
                <a:cs typeface="Geist" pitchFamily="34" charset="-120"/>
              </a:rPr>
              <a:t> kết nối Internet!</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1109543"/>
            <a:ext cx="6279356" cy="3532108"/>
          </a:xfrm>
          <a:prstGeom prst="rect">
            <a:avLst/>
          </a:prstGeom>
        </p:spPr>
      </p:pic>
      <p:sp>
        <p:nvSpPr>
          <p:cNvPr id="3" name="Text 0"/>
          <p:cNvSpPr/>
          <p:nvPr/>
        </p:nvSpPr>
        <p:spPr>
          <a:xfrm>
            <a:off x="7564874" y="1064895"/>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4B4A4A"/>
                </a:solidFill>
                <a:latin typeface="Geist" pitchFamily="34" charset="0"/>
                <a:ea typeface="Geist" pitchFamily="34" charset="-122"/>
                <a:cs typeface="Geist" pitchFamily="34" charset="-120"/>
              </a:rPr>
              <a:t>Cảm ơn các bạn đã kiên nhẫn theo dõi bài giảng dài hôm nay! Tuần 5 là một trong những tuần quan trọng nhất trong khóa học IoT này.</a:t>
            </a:r>
            <a:endParaRPr lang="en-US" sz="1550" dirty="0"/>
          </a:p>
        </p:txBody>
      </p:sp>
      <p:sp>
        <p:nvSpPr>
          <p:cNvPr id="4" name="Text 1"/>
          <p:cNvSpPr/>
          <p:nvPr/>
        </p:nvSpPr>
        <p:spPr>
          <a:xfrm>
            <a:off x="7564874" y="1878568"/>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4B4A4A"/>
                </a:solidFill>
                <a:latin typeface="Geist" pitchFamily="34" charset="0"/>
                <a:ea typeface="Geist" pitchFamily="34" charset="-122"/>
                <a:cs typeface="Geist" pitchFamily="34" charset="-120"/>
              </a:rPr>
              <a:t>Từ hôm nay, các bạn đã chính thức bước vào thế giới của </a:t>
            </a:r>
            <a:r>
              <a:rPr lang="en-US" sz="1550" b="1" dirty="0">
                <a:solidFill>
                  <a:srgbClr val="4B4A4A"/>
                </a:solidFill>
                <a:latin typeface="Geist" pitchFamily="34" charset="0"/>
                <a:ea typeface="Geist" pitchFamily="34" charset="-122"/>
                <a:cs typeface="Geist" pitchFamily="34" charset="-120"/>
              </a:rPr>
              <a:t>Internet of Things</a:t>
            </a:r>
            <a:r>
              <a:rPr lang="en-US" sz="1550" dirty="0">
                <a:solidFill>
                  <a:srgbClr val="4B4A4A"/>
                </a:solidFill>
                <a:latin typeface="Geist" pitchFamily="34" charset="0"/>
                <a:ea typeface="Geist" pitchFamily="34" charset="-122"/>
                <a:cs typeface="Geist" pitchFamily="34" charset="-120"/>
              </a:rPr>
              <a:t> - không còn là lý thuyết suông, mà là những thiết bị thật, kết nối thật, điều khiển thật.</a:t>
            </a:r>
            <a:endParaRPr lang="en-US" sz="1550" dirty="0"/>
          </a:p>
        </p:txBody>
      </p:sp>
      <p:sp>
        <p:nvSpPr>
          <p:cNvPr id="5" name="Text 2"/>
          <p:cNvSpPr/>
          <p:nvPr/>
        </p:nvSpPr>
        <p:spPr>
          <a:xfrm>
            <a:off x="7564874" y="3029545"/>
            <a:ext cx="3610332" cy="310158"/>
          </a:xfrm>
          <a:prstGeom prst="rect">
            <a:avLst/>
          </a:prstGeom>
          <a:noFill/>
          <a:ln/>
        </p:spPr>
        <p:txBody>
          <a:bodyPr wrap="non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Một số lời khuyên cuối cùng:</a:t>
            </a:r>
            <a:endParaRPr lang="en-US" sz="1950" dirty="0"/>
          </a:p>
        </p:txBody>
      </p:sp>
      <p:sp>
        <p:nvSpPr>
          <p:cNvPr id="6" name="Text 3"/>
          <p:cNvSpPr/>
          <p:nvPr/>
        </p:nvSpPr>
        <p:spPr>
          <a:xfrm>
            <a:off x="7564874" y="3538061"/>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B4A4A"/>
                </a:solidFill>
                <a:latin typeface="Geist" pitchFamily="34" charset="0"/>
                <a:ea typeface="Geist" pitchFamily="34" charset="-122"/>
                <a:cs typeface="Geist" pitchFamily="34" charset="-120"/>
              </a:rPr>
              <a:t>Thực hành nhiều hơn xem video:</a:t>
            </a:r>
            <a:r>
              <a:rPr lang="en-US" sz="1550" dirty="0">
                <a:solidFill>
                  <a:srgbClr val="4B4A4A"/>
                </a:solidFill>
                <a:latin typeface="Geist" pitchFamily="34" charset="0"/>
                <a:ea typeface="Geist" pitchFamily="34" charset="-122"/>
                <a:cs typeface="Geist" pitchFamily="34" charset="-120"/>
              </a:rPr>
              <a:t> Tự tay code sẽ giúp bạn nhớ lâu hơn gấp 10 lần</a:t>
            </a:r>
            <a:endParaRPr lang="en-US" sz="1550" dirty="0"/>
          </a:p>
        </p:txBody>
      </p:sp>
      <p:sp>
        <p:nvSpPr>
          <p:cNvPr id="7" name="Text 4"/>
          <p:cNvSpPr/>
          <p:nvPr/>
        </p:nvSpPr>
        <p:spPr>
          <a:xfrm>
            <a:off x="7564874" y="4242554"/>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B4A4A"/>
                </a:solidFill>
                <a:latin typeface="Geist" pitchFamily="34" charset="0"/>
                <a:ea typeface="Geist" pitchFamily="34" charset="-122"/>
                <a:cs typeface="Geist" pitchFamily="34" charset="-120"/>
              </a:rPr>
              <a:t>Đừng sợ làm hỏng:</a:t>
            </a:r>
            <a:r>
              <a:rPr lang="en-US" sz="1550" dirty="0">
                <a:solidFill>
                  <a:srgbClr val="4B4A4A"/>
                </a:solidFill>
                <a:latin typeface="Geist" pitchFamily="34" charset="0"/>
                <a:ea typeface="Geist" pitchFamily="34" charset="-122"/>
                <a:cs typeface="Geist" pitchFamily="34" charset="-120"/>
              </a:rPr>
              <a:t> ESP32 rất bền, khó cháy. Cứ thử nghiệm thoải mái!</a:t>
            </a:r>
            <a:endParaRPr lang="en-US" sz="1550" dirty="0"/>
          </a:p>
        </p:txBody>
      </p:sp>
      <p:sp>
        <p:nvSpPr>
          <p:cNvPr id="8" name="Text 5"/>
          <p:cNvSpPr/>
          <p:nvPr/>
        </p:nvSpPr>
        <p:spPr>
          <a:xfrm>
            <a:off x="7564874" y="4947047"/>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B4A4A"/>
                </a:solidFill>
                <a:latin typeface="Geist" pitchFamily="34" charset="0"/>
                <a:ea typeface="Geist" pitchFamily="34" charset="-122"/>
                <a:cs typeface="Geist" pitchFamily="34" charset="-120"/>
              </a:rPr>
              <a:t>Ghi chép lại:</a:t>
            </a:r>
            <a:r>
              <a:rPr lang="en-US" sz="1550" dirty="0">
                <a:solidFill>
                  <a:srgbClr val="4B4A4A"/>
                </a:solidFill>
                <a:latin typeface="Geist" pitchFamily="34" charset="0"/>
                <a:ea typeface="Geist" pitchFamily="34" charset="-122"/>
                <a:cs typeface="Geist" pitchFamily="34" charset="-120"/>
              </a:rPr>
              <a:t> Viết notebook hoặc blog để ghi lại những gì học được</a:t>
            </a:r>
            <a:endParaRPr lang="en-US" sz="1550" dirty="0"/>
          </a:p>
        </p:txBody>
      </p:sp>
      <p:sp>
        <p:nvSpPr>
          <p:cNvPr id="9" name="Text 6"/>
          <p:cNvSpPr/>
          <p:nvPr/>
        </p:nvSpPr>
        <p:spPr>
          <a:xfrm>
            <a:off x="7564874" y="5651540"/>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4B4A4A"/>
                </a:solidFill>
                <a:latin typeface="Geist" pitchFamily="34" charset="0"/>
                <a:ea typeface="Geist" pitchFamily="34" charset="-122"/>
                <a:cs typeface="Geist" pitchFamily="34" charset="-120"/>
              </a:rPr>
              <a:t>Tham gia cộng đồng:</a:t>
            </a:r>
            <a:r>
              <a:rPr lang="en-US" sz="1550" dirty="0">
                <a:solidFill>
                  <a:srgbClr val="4B4A4A"/>
                </a:solidFill>
                <a:latin typeface="Geist" pitchFamily="34" charset="0"/>
                <a:ea typeface="Geist" pitchFamily="34" charset="-122"/>
                <a:cs typeface="Geist" pitchFamily="34" charset="-120"/>
              </a:rPr>
              <a:t> Bạn sẽ học được rất nhiều từ người khác</a:t>
            </a:r>
            <a:endParaRPr lang="en-US" sz="1550" dirty="0"/>
          </a:p>
        </p:txBody>
      </p:sp>
      <p:sp>
        <p:nvSpPr>
          <p:cNvPr id="10" name="Text 7"/>
          <p:cNvSpPr/>
          <p:nvPr/>
        </p:nvSpPr>
        <p:spPr>
          <a:xfrm>
            <a:off x="1091446" y="6484977"/>
            <a:ext cx="12745164" cy="635079"/>
          </a:xfrm>
          <a:prstGeom prst="rect">
            <a:avLst/>
          </a:prstGeom>
          <a:noFill/>
          <a:ln/>
        </p:spPr>
        <p:txBody>
          <a:bodyPr wrap="square" lIns="0" tIns="0" rIns="0" bIns="0" rtlCol="0" anchor="t"/>
          <a:lstStyle/>
          <a:p>
            <a:pPr marL="0" indent="0" algn="ctr">
              <a:lnSpc>
                <a:spcPts val="2500"/>
              </a:lnSpc>
              <a:buNone/>
            </a:pPr>
            <a:r>
              <a:rPr lang="en-US" dirty="0">
                <a:solidFill>
                  <a:srgbClr val="4B4A4A"/>
                </a:solidFill>
                <a:latin typeface="Geist" pitchFamily="34" charset="0"/>
                <a:ea typeface="Geist" pitchFamily="34" charset="-122"/>
                <a:cs typeface="Geist" pitchFamily="34" charset="-120"/>
              </a:rPr>
              <a:t>"Sự khác biệt giữa một kỹ sư giỏi và một kỹ sư tầm thường không phải ở kiến thức lý thuyết, mà ở khả năng </a:t>
            </a:r>
            <a:r>
              <a:rPr lang="en-US" b="1" dirty="0">
                <a:solidFill>
                  <a:srgbClr val="4B4A4A"/>
                </a:solidFill>
                <a:latin typeface="Geist" pitchFamily="34" charset="0"/>
                <a:ea typeface="Geist" pitchFamily="34" charset="-122"/>
                <a:cs typeface="Geist" pitchFamily="34" charset="-120"/>
              </a:rPr>
              <a:t>biến ý tưởng thành hiện thực</a:t>
            </a:r>
            <a:r>
              <a:rPr lang="en-US" dirty="0">
                <a:solidFill>
                  <a:srgbClr val="4B4A4A"/>
                </a:solidFill>
                <a:latin typeface="Geist" pitchFamily="34" charset="0"/>
                <a:ea typeface="Geist" pitchFamily="34" charset="-122"/>
                <a:cs typeface="Geist" pitchFamily="34" charset="-120"/>
              </a:rPr>
              <a:t>. Hôm nay các bạn đã chứng minh được điều đó!"</a:t>
            </a:r>
            <a:endParaRPr lang="en-US" dirty="0"/>
          </a:p>
        </p:txBody>
      </p:sp>
      <p:sp>
        <p:nvSpPr>
          <p:cNvPr id="11" name="Shape 8"/>
          <p:cNvSpPr/>
          <p:nvPr/>
        </p:nvSpPr>
        <p:spPr>
          <a:xfrm>
            <a:off x="793790" y="6261735"/>
            <a:ext cx="22860" cy="1081564"/>
          </a:xfrm>
          <a:prstGeom prst="rect">
            <a:avLst/>
          </a:prstGeom>
          <a:solidFill>
            <a:srgbClr val="006747"/>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632</TotalTime>
  <Words>8017</Words>
  <Application>Microsoft Office PowerPoint</Application>
  <PresentationFormat>Custom</PresentationFormat>
  <Paragraphs>733</Paragraphs>
  <Slides>52</Slides>
  <Notes>52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Noto Serif SC Light</vt:lpstr>
      <vt:lpstr>Consolas</vt:lpstr>
      <vt:lpstr>Arial</vt:lpstr>
      <vt:lpstr>Geist</vt:lpstr>
      <vt:lpstr>Noto Serif SC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Mr Trần</cp:lastModifiedBy>
  <cp:revision>5</cp:revision>
  <dcterms:created xsi:type="dcterms:W3CDTF">2025-12-31T02:22:09Z</dcterms:created>
  <dcterms:modified xsi:type="dcterms:W3CDTF">2026-03-13T06:48:57Z</dcterms:modified>
</cp:coreProperties>
</file>